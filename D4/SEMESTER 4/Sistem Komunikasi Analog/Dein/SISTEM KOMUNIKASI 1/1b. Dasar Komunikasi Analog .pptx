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  <p:sldMasterId id="2147483708" r:id="rId4"/>
    <p:sldMasterId id="2147483721" r:id="rId5"/>
    <p:sldMasterId id="2147483734" r:id="rId6"/>
    <p:sldMasterId id="2147483746" r:id="rId7"/>
    <p:sldMasterId id="2147483758" r:id="rId8"/>
    <p:sldMasterId id="2147483770" r:id="rId9"/>
    <p:sldMasterId id="2147483782" r:id="rId10"/>
  </p:sldMasterIdLst>
  <p:notesMasterIdLst>
    <p:notesMasterId r:id="rId95"/>
  </p:notesMasterIdLst>
  <p:sldIdLst>
    <p:sldId id="378" r:id="rId11"/>
    <p:sldId id="295" r:id="rId12"/>
    <p:sldId id="297" r:id="rId13"/>
    <p:sldId id="299" r:id="rId14"/>
    <p:sldId id="300" r:id="rId15"/>
    <p:sldId id="301" r:id="rId16"/>
    <p:sldId id="302" r:id="rId17"/>
    <p:sldId id="304" r:id="rId18"/>
    <p:sldId id="305" r:id="rId19"/>
    <p:sldId id="306" r:id="rId20"/>
    <p:sldId id="307" r:id="rId21"/>
    <p:sldId id="308" r:id="rId22"/>
    <p:sldId id="309" r:id="rId23"/>
    <p:sldId id="257" r:id="rId24"/>
    <p:sldId id="258" r:id="rId25"/>
    <p:sldId id="259" r:id="rId26"/>
    <p:sldId id="288" r:id="rId27"/>
    <p:sldId id="287" r:id="rId28"/>
    <p:sldId id="311" r:id="rId29"/>
    <p:sldId id="310" r:id="rId30"/>
    <p:sldId id="260" r:id="rId31"/>
    <p:sldId id="266" r:id="rId32"/>
    <p:sldId id="264" r:id="rId33"/>
    <p:sldId id="292" r:id="rId34"/>
    <p:sldId id="265" r:id="rId35"/>
    <p:sldId id="267" r:id="rId36"/>
    <p:sldId id="270" r:id="rId37"/>
    <p:sldId id="271" r:id="rId38"/>
    <p:sldId id="272" r:id="rId39"/>
    <p:sldId id="273" r:id="rId40"/>
    <p:sldId id="274" r:id="rId41"/>
    <p:sldId id="313" r:id="rId42"/>
    <p:sldId id="314" r:id="rId43"/>
    <p:sldId id="315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35" r:id="rId53"/>
    <p:sldId id="336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9" r:id="rId63"/>
    <p:sldId id="342" r:id="rId64"/>
    <p:sldId id="338" r:id="rId65"/>
    <p:sldId id="333" r:id="rId66"/>
    <p:sldId id="340" r:id="rId67"/>
    <p:sldId id="343" r:id="rId68"/>
    <p:sldId id="344" r:id="rId69"/>
    <p:sldId id="350" r:id="rId70"/>
    <p:sldId id="346" r:id="rId71"/>
    <p:sldId id="345" r:id="rId72"/>
    <p:sldId id="348" r:id="rId73"/>
    <p:sldId id="352" r:id="rId74"/>
    <p:sldId id="353" r:id="rId75"/>
    <p:sldId id="354" r:id="rId76"/>
    <p:sldId id="355" r:id="rId77"/>
    <p:sldId id="356" r:id="rId78"/>
    <p:sldId id="357" r:id="rId79"/>
    <p:sldId id="358" r:id="rId80"/>
    <p:sldId id="359" r:id="rId81"/>
    <p:sldId id="361" r:id="rId82"/>
    <p:sldId id="362" r:id="rId83"/>
    <p:sldId id="363" r:id="rId84"/>
    <p:sldId id="364" r:id="rId85"/>
    <p:sldId id="366" r:id="rId86"/>
    <p:sldId id="367" r:id="rId87"/>
    <p:sldId id="369" r:id="rId88"/>
    <p:sldId id="370" r:id="rId89"/>
    <p:sldId id="372" r:id="rId90"/>
    <p:sldId id="373" r:id="rId91"/>
    <p:sldId id="374" r:id="rId92"/>
    <p:sldId id="375" r:id="rId93"/>
    <p:sldId id="376" r:id="rId94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84" Type="http://schemas.openxmlformats.org/officeDocument/2006/relationships/slide" Target="slides/slide74.xml"/><Relationship Id="rId89" Type="http://schemas.openxmlformats.org/officeDocument/2006/relationships/slide" Target="slides/slide79.xml"/><Relationship Id="rId16" Type="http://schemas.openxmlformats.org/officeDocument/2006/relationships/slide" Target="slides/slide6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0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80" Type="http://schemas.openxmlformats.org/officeDocument/2006/relationships/slide" Target="slides/slide70.xml"/><Relationship Id="rId85" Type="http://schemas.openxmlformats.org/officeDocument/2006/relationships/slide" Target="slides/slide7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83" Type="http://schemas.openxmlformats.org/officeDocument/2006/relationships/slide" Target="slides/slide73.xml"/><Relationship Id="rId88" Type="http://schemas.openxmlformats.org/officeDocument/2006/relationships/slide" Target="slides/slide78.xml"/><Relationship Id="rId91" Type="http://schemas.openxmlformats.org/officeDocument/2006/relationships/slide" Target="slides/slide81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slide" Target="slides/slide71.xml"/><Relationship Id="rId86" Type="http://schemas.openxmlformats.org/officeDocument/2006/relationships/slide" Target="slides/slide76.xml"/><Relationship Id="rId94" Type="http://schemas.openxmlformats.org/officeDocument/2006/relationships/slide" Target="slides/slide84.xml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9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92" Type="http://schemas.openxmlformats.org/officeDocument/2006/relationships/slide" Target="slides/slide8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slide" Target="slides/slide77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56" Type="http://schemas.openxmlformats.org/officeDocument/2006/relationships/slide" Target="slides/slide46.xml"/><Relationship Id="rId77" Type="http://schemas.openxmlformats.org/officeDocument/2006/relationships/slide" Target="slides/slide6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93" Type="http://schemas.openxmlformats.org/officeDocument/2006/relationships/slide" Target="slides/slide83.xml"/><Relationship Id="rId98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13793" units="1/cm"/>
        </inkml:channelProperties>
      </inkml:inkSource>
      <inkml:timestamp xml:id="ts0" timeString="2014-11-24T04:39:10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14461 4167,'-25'0,"1"0,24 25,-25 0,0-25,0 0,25 25,-25-25,0 0,25 24,-24-24,-1 0,0 0,25 25,-25-25,25 25,-25-25,1 0,-1 0,25 25,-25-25,-25 25,26-25,-1 0,0 24,0 1,0-25,1 25,-1 0,0-25,25 25,-25-25,0 0,25 24,-24-24,24 25,-25-25,25 25,-25-25,0 0,25 25,-25-25,25 25,-24-25,-1 0,0 0,0 24,0-24,1 25,-1-25,0 0,25 25,-25 0,0-25,1 25,-1-25,25 24,-25-24,0 0,0 25,1 0,-1-25,25 25,-25-25,0 0,25 25,-25-25,0 0</inkml:trace>
  <inkml:trace contextRef="#ctx0" brushRef="#br0" timeOffset="1888.2579">13171 4638,'0'25,"0"0,0 0,0 0,-25-25,25 24,0 1,0 0,0 0,-24-25,24 25,0 0,0-1</inkml:trace>
  <inkml:trace contextRef="#ctx0" brushRef="#br0" timeOffset="3088.0564">13122 4911,'24'0,"1"0,50 0,-50 0,-1 0,-24 25,25-25,0 0,0 0,0 0,-1 0,1 0,-25 25,25-25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3839C-A9CC-408E-A9CD-4B18E77E6E90}" type="datetimeFigureOut">
              <a:rPr lang="id-ID" smtClean="0"/>
              <a:t>06/06/2016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B7E4D-E9F2-4BB8-9C76-DAFE9874AC7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4162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wav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wav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06/06/2016</a:t>
            </a:fld>
            <a:endParaRPr lang="id-ID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d-ID">
              <a:solidFill>
                <a:srgbClr val="2DA2BF">
                  <a:tint val="2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575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1892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312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66955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001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7787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65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02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44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061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911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06/06/2016</a:t>
            </a:fld>
            <a:endParaRPr lang="id-ID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d-ID">
              <a:solidFill>
                <a:srgbClr val="2DA2BF">
                  <a:tint val="2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42065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80960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056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97236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799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16356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8242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887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576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6293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3826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06/06/2016</a:t>
            </a:fld>
            <a:endParaRPr lang="id-ID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d-ID">
              <a:solidFill>
                <a:srgbClr val="2DA2BF">
                  <a:tint val="2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75979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448573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680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54136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020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86223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5075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299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>
                <a:solidFill>
                  <a:prstClr val="white"/>
                </a:solidFill>
              </a:rPr>
              <a:pPr/>
              <a:t>06/06/2016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d-ID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>
                <a:solidFill>
                  <a:prstClr val="white"/>
                </a:solidFill>
              </a:rPr>
              <a:pPr/>
              <a:t>‹#›</a:t>
            </a:fld>
            <a:endParaRPr lang="id-ID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581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7728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1365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0378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8714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7016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5345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3024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969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2167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1485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1212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6382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6671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EF6E0-579F-481E-8F72-A9274BEA3D7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514241"/>
      </p:ext>
    </p:extLst>
  </p:cSld>
  <p:clrMapOvr>
    <a:masterClrMapping/>
  </p:clrMapOvr>
  <p:transition spd="slow">
    <p:dissolve/>
    <p:sndAc>
      <p:stSnd>
        <p:snd r:embed="rId1" name="arrow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4152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74410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8566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0469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1861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9480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8575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042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9984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357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9127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EF6E0-579F-481E-8F72-A9274BEA3D7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531028"/>
      </p:ext>
    </p:extLst>
  </p:cSld>
  <p:clrMapOvr>
    <a:masterClrMapping/>
  </p:clrMapOvr>
  <p:transition spd="slow">
    <p:dissolve/>
    <p:sndAc>
      <p:stSnd>
        <p:snd r:embed="rId1" name="arrow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5081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43672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7157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24531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30949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16265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211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44536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2099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84597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6209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88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4634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99228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917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3815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4835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9393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482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605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1789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06404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5337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50874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02597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37651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33337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80557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14517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67568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96806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58982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37307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99327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66696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76790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720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36644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38559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13377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96399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06335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15596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8839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17932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59378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41256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19126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0154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58862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59494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39354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6200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21006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84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37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9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>
                <a:solidFill>
                  <a:prstClr val="black"/>
                </a:solidFill>
              </a:rPr>
              <a:pPr/>
              <a:t>06/06/2016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621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76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0A074-6CA9-42ED-B9CA-D176A91DFE4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52E2D-7F20-4CBB-BB67-E8CC1391C8B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16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74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07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C620E-1AA3-4EA0-B622-F06661A1A7A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2F4A5-5602-4D0B-82F6-C40263447B0D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47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37A65-AC58-4220-B265-8ED159BC8FFA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E5B9A-1B1A-4124-B613-CEE438DFA680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5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8BC88-E9B5-480F-8E72-68B76C466E74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06/06/2016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E71EC-7B8F-44CC-AAE7-1ED3AEA006CA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38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0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8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5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5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5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12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5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8.emf"/><Relationship Id="rId4" Type="http://schemas.openxmlformats.org/officeDocument/2006/relationships/oleObject" Target="../embeddings/oleObject13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5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4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61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64.wmf"/><Relationship Id="rId9" Type="http://schemas.openxmlformats.org/officeDocument/2006/relationships/image" Target="../media/image65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69.png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67.w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9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9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9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9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9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9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9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9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9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9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9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89.e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9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9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97.xml"/><Relationship Id="rId4" Type="http://schemas.openxmlformats.org/officeDocument/2006/relationships/image" Target="../media/image92.emf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9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9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9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EN00654_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857223" y="3571876"/>
            <a:ext cx="714379" cy="857256"/>
          </a:xfrm>
          <a:prstGeom prst="rect">
            <a:avLst/>
          </a:prstGeom>
          <a:noFill/>
        </p:spPr>
      </p:pic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945335" y="2081561"/>
            <a:ext cx="1562128" cy="12747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2483632" y="2643182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3017032" y="2063131"/>
            <a:ext cx="1447800" cy="12747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069425" y="251399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</a:rPr>
              <a:t>Modulator</a:t>
            </a:r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>
            <a:off x="4463648" y="2643182"/>
            <a:ext cx="6405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" name="AutoShape 13"/>
          <p:cNvSpPr>
            <a:spLocks noChangeArrowheads="1"/>
          </p:cNvSpPr>
          <p:nvPr/>
        </p:nvSpPr>
        <p:spPr bwMode="auto">
          <a:xfrm>
            <a:off x="4900626" y="2440158"/>
            <a:ext cx="4057680" cy="1500198"/>
          </a:xfrm>
          <a:prstGeom prst="irregularSeal2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7647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d-ID">
              <a:solidFill>
                <a:prstClr val="black"/>
              </a:solidFill>
            </a:endParaRPr>
          </a:p>
        </p:txBody>
      </p:sp>
      <p:sp>
        <p:nvSpPr>
          <p:cNvPr id="9" name="Line 15"/>
          <p:cNvSpPr>
            <a:spLocks noChangeShapeType="1"/>
          </p:cNvSpPr>
          <p:nvPr/>
        </p:nvSpPr>
        <p:spPr bwMode="auto">
          <a:xfrm>
            <a:off x="6832600" y="4651285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4631526" y="4925722"/>
            <a:ext cx="1676408" cy="1357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4783925" y="5413320"/>
            <a:ext cx="16629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prstClr val="black"/>
                </a:solidFill>
                <a:latin typeface="Times New Roman" pitchFamily="18" charset="0"/>
              </a:rPr>
              <a:t>Demodulator</a:t>
            </a:r>
          </a:p>
        </p:txBody>
      </p:sp>
      <p:sp>
        <p:nvSpPr>
          <p:cNvPr id="12" name="Line 20"/>
          <p:cNvSpPr>
            <a:spLocks noChangeShapeType="1"/>
          </p:cNvSpPr>
          <p:nvPr/>
        </p:nvSpPr>
        <p:spPr bwMode="auto">
          <a:xfrm flipH="1">
            <a:off x="6286500" y="558924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5845988" y="2910929"/>
            <a:ext cx="160495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Times New Roman" pitchFamily="18" charset="0"/>
              </a:rPr>
              <a:t>Transmission Channel</a:t>
            </a:r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 flipH="1">
            <a:off x="4098125" y="558924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5" name="Rectangle 24"/>
          <p:cNvSpPr>
            <a:spLocks noChangeArrowheads="1"/>
          </p:cNvSpPr>
          <p:nvPr/>
        </p:nvSpPr>
        <p:spPr bwMode="auto">
          <a:xfrm>
            <a:off x="2416947" y="4902165"/>
            <a:ext cx="1681178" cy="1357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6" name="Text Box 35"/>
          <p:cNvSpPr txBox="1">
            <a:spLocks noChangeArrowheads="1"/>
          </p:cNvSpPr>
          <p:nvPr/>
        </p:nvSpPr>
        <p:spPr bwMode="auto">
          <a:xfrm>
            <a:off x="1048909" y="2373949"/>
            <a:ext cx="14287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Input transducer</a:t>
            </a:r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3168947" y="1532563"/>
            <a:ext cx="1755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latin typeface="Times New Roman" pitchFamily="18" charset="0"/>
              </a:rPr>
              <a:t>Transmitter</a:t>
            </a:r>
          </a:p>
        </p:txBody>
      </p:sp>
      <p:sp>
        <p:nvSpPr>
          <p:cNvPr id="18" name="Text Box 38"/>
          <p:cNvSpPr txBox="1">
            <a:spLocks noChangeArrowheads="1"/>
          </p:cNvSpPr>
          <p:nvPr/>
        </p:nvSpPr>
        <p:spPr bwMode="auto">
          <a:xfrm>
            <a:off x="4067172" y="4437652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latin typeface="Times New Roman" pitchFamily="18" charset="0"/>
              </a:rPr>
              <a:t>Receiver</a:t>
            </a:r>
          </a:p>
        </p:txBody>
      </p:sp>
      <p:sp>
        <p:nvSpPr>
          <p:cNvPr id="19" name="Text Box 39"/>
          <p:cNvSpPr txBox="1">
            <a:spLocks noChangeArrowheads="1"/>
          </p:cNvSpPr>
          <p:nvPr/>
        </p:nvSpPr>
        <p:spPr bwMode="auto">
          <a:xfrm>
            <a:off x="2676508" y="5260151"/>
            <a:ext cx="129858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Output transducer</a:t>
            </a: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>
            <a:off x="3635896" y="334645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3168947" y="3752202"/>
            <a:ext cx="11430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prstClr val="black"/>
                </a:solidFill>
                <a:latin typeface="Times New Roman" pitchFamily="18" charset="0"/>
              </a:rPr>
              <a:t>Carrier</a:t>
            </a:r>
          </a:p>
        </p:txBody>
      </p:sp>
      <p:sp>
        <p:nvSpPr>
          <p:cNvPr id="24" name="Freeform 50"/>
          <p:cNvSpPr>
            <a:spLocks/>
          </p:cNvSpPr>
          <p:nvPr/>
        </p:nvSpPr>
        <p:spPr bwMode="auto">
          <a:xfrm>
            <a:off x="4900625" y="1805025"/>
            <a:ext cx="1021557" cy="857256"/>
          </a:xfrm>
          <a:custGeom>
            <a:avLst/>
            <a:gdLst>
              <a:gd name="T0" fmla="*/ 0 w 576"/>
              <a:gd name="T1" fmla="*/ 272 h 464"/>
              <a:gd name="T2" fmla="*/ 96 w 576"/>
              <a:gd name="T3" fmla="*/ 32 h 464"/>
              <a:gd name="T4" fmla="*/ 144 w 576"/>
              <a:gd name="T5" fmla="*/ 464 h 464"/>
              <a:gd name="T6" fmla="*/ 240 w 576"/>
              <a:gd name="T7" fmla="*/ 32 h 464"/>
              <a:gd name="T8" fmla="*/ 288 w 576"/>
              <a:gd name="T9" fmla="*/ 464 h 464"/>
              <a:gd name="T10" fmla="*/ 384 w 576"/>
              <a:gd name="T11" fmla="*/ 32 h 464"/>
              <a:gd name="T12" fmla="*/ 432 w 576"/>
              <a:gd name="T13" fmla="*/ 464 h 464"/>
              <a:gd name="T14" fmla="*/ 528 w 576"/>
              <a:gd name="T15" fmla="*/ 32 h 464"/>
              <a:gd name="T16" fmla="*/ 576 w 576"/>
              <a:gd name="T17" fmla="*/ 416 h 46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76"/>
              <a:gd name="T28" fmla="*/ 0 h 464"/>
              <a:gd name="T29" fmla="*/ 576 w 576"/>
              <a:gd name="T30" fmla="*/ 464 h 46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76" h="464">
                <a:moveTo>
                  <a:pt x="0" y="272"/>
                </a:moveTo>
                <a:cubicBezTo>
                  <a:pt x="36" y="136"/>
                  <a:pt x="72" y="0"/>
                  <a:pt x="96" y="32"/>
                </a:cubicBezTo>
                <a:cubicBezTo>
                  <a:pt x="120" y="64"/>
                  <a:pt x="120" y="464"/>
                  <a:pt x="144" y="464"/>
                </a:cubicBezTo>
                <a:cubicBezTo>
                  <a:pt x="168" y="464"/>
                  <a:pt x="216" y="32"/>
                  <a:pt x="240" y="32"/>
                </a:cubicBezTo>
                <a:cubicBezTo>
                  <a:pt x="264" y="32"/>
                  <a:pt x="264" y="464"/>
                  <a:pt x="288" y="464"/>
                </a:cubicBezTo>
                <a:cubicBezTo>
                  <a:pt x="312" y="464"/>
                  <a:pt x="360" y="32"/>
                  <a:pt x="384" y="32"/>
                </a:cubicBezTo>
                <a:cubicBezTo>
                  <a:pt x="408" y="32"/>
                  <a:pt x="408" y="464"/>
                  <a:pt x="432" y="464"/>
                </a:cubicBezTo>
                <a:cubicBezTo>
                  <a:pt x="456" y="464"/>
                  <a:pt x="504" y="40"/>
                  <a:pt x="528" y="32"/>
                </a:cubicBezTo>
                <a:cubicBezTo>
                  <a:pt x="552" y="24"/>
                  <a:pt x="568" y="344"/>
                  <a:pt x="576" y="4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5" name="Freeform 53"/>
          <p:cNvSpPr>
            <a:spLocks/>
          </p:cNvSpPr>
          <p:nvPr/>
        </p:nvSpPr>
        <p:spPr bwMode="auto">
          <a:xfrm>
            <a:off x="6307934" y="3844277"/>
            <a:ext cx="1143008" cy="857256"/>
          </a:xfrm>
          <a:custGeom>
            <a:avLst/>
            <a:gdLst>
              <a:gd name="T0" fmla="*/ 0 w 576"/>
              <a:gd name="T1" fmla="*/ 272 h 464"/>
              <a:gd name="T2" fmla="*/ 96 w 576"/>
              <a:gd name="T3" fmla="*/ 32 h 464"/>
              <a:gd name="T4" fmla="*/ 144 w 576"/>
              <a:gd name="T5" fmla="*/ 464 h 464"/>
              <a:gd name="T6" fmla="*/ 240 w 576"/>
              <a:gd name="T7" fmla="*/ 32 h 464"/>
              <a:gd name="T8" fmla="*/ 288 w 576"/>
              <a:gd name="T9" fmla="*/ 464 h 464"/>
              <a:gd name="T10" fmla="*/ 384 w 576"/>
              <a:gd name="T11" fmla="*/ 32 h 464"/>
              <a:gd name="T12" fmla="*/ 432 w 576"/>
              <a:gd name="T13" fmla="*/ 464 h 464"/>
              <a:gd name="T14" fmla="*/ 528 w 576"/>
              <a:gd name="T15" fmla="*/ 32 h 464"/>
              <a:gd name="T16" fmla="*/ 576 w 576"/>
              <a:gd name="T17" fmla="*/ 416 h 46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76"/>
              <a:gd name="T28" fmla="*/ 0 h 464"/>
              <a:gd name="T29" fmla="*/ 576 w 576"/>
              <a:gd name="T30" fmla="*/ 464 h 46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76" h="464">
                <a:moveTo>
                  <a:pt x="0" y="272"/>
                </a:moveTo>
                <a:cubicBezTo>
                  <a:pt x="36" y="136"/>
                  <a:pt x="72" y="0"/>
                  <a:pt x="96" y="32"/>
                </a:cubicBezTo>
                <a:cubicBezTo>
                  <a:pt x="120" y="64"/>
                  <a:pt x="120" y="464"/>
                  <a:pt x="144" y="464"/>
                </a:cubicBezTo>
                <a:cubicBezTo>
                  <a:pt x="168" y="464"/>
                  <a:pt x="216" y="32"/>
                  <a:pt x="240" y="32"/>
                </a:cubicBezTo>
                <a:cubicBezTo>
                  <a:pt x="264" y="32"/>
                  <a:pt x="264" y="464"/>
                  <a:pt x="288" y="464"/>
                </a:cubicBezTo>
                <a:cubicBezTo>
                  <a:pt x="312" y="464"/>
                  <a:pt x="360" y="32"/>
                  <a:pt x="384" y="32"/>
                </a:cubicBezTo>
                <a:cubicBezTo>
                  <a:pt x="408" y="32"/>
                  <a:pt x="408" y="464"/>
                  <a:pt x="432" y="464"/>
                </a:cubicBezTo>
                <a:cubicBezTo>
                  <a:pt x="456" y="464"/>
                  <a:pt x="504" y="40"/>
                  <a:pt x="528" y="32"/>
                </a:cubicBezTo>
                <a:cubicBezTo>
                  <a:pt x="552" y="24"/>
                  <a:pt x="568" y="344"/>
                  <a:pt x="576" y="416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6" name="Text Box 55"/>
          <p:cNvSpPr txBox="1">
            <a:spLocks noChangeArrowheads="1"/>
          </p:cNvSpPr>
          <p:nvPr/>
        </p:nvSpPr>
        <p:spPr bwMode="auto">
          <a:xfrm>
            <a:off x="6017687" y="2185704"/>
            <a:ext cx="33764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 err="1">
                <a:solidFill>
                  <a:prstClr val="black"/>
                </a:solidFill>
                <a:latin typeface="Times New Roman" pitchFamily="18" charset="0"/>
              </a:rPr>
              <a:t>EM</a:t>
            </a:r>
            <a:r>
              <a:rPr lang="en-US" b="1" dirty="0">
                <a:solidFill>
                  <a:prstClr val="black"/>
                </a:solidFill>
                <a:latin typeface="Times New Roman" pitchFamily="18" charset="0"/>
              </a:rPr>
              <a:t> waves (modulated signal)</a:t>
            </a:r>
          </a:p>
        </p:txBody>
      </p:sp>
      <p:sp>
        <p:nvSpPr>
          <p:cNvPr id="27" name="Text Box 57"/>
          <p:cNvSpPr txBox="1">
            <a:spLocks noChangeArrowheads="1"/>
          </p:cNvSpPr>
          <p:nvPr/>
        </p:nvSpPr>
        <p:spPr bwMode="auto">
          <a:xfrm>
            <a:off x="1382054" y="1080113"/>
            <a:ext cx="242889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</a:rPr>
              <a:t>Baseband signal (electrical signal)</a:t>
            </a:r>
          </a:p>
        </p:txBody>
      </p:sp>
      <p:sp>
        <p:nvSpPr>
          <p:cNvPr id="28" name="Line 58"/>
          <p:cNvSpPr>
            <a:spLocks noChangeShapeType="1"/>
          </p:cNvSpPr>
          <p:nvPr/>
        </p:nvSpPr>
        <p:spPr bwMode="auto">
          <a:xfrm>
            <a:off x="2668657" y="1595568"/>
            <a:ext cx="45719" cy="100013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9" name="Text Box 59"/>
          <p:cNvSpPr txBox="1">
            <a:spLocks noChangeArrowheads="1"/>
          </p:cNvSpPr>
          <p:nvPr/>
        </p:nvSpPr>
        <p:spPr bwMode="auto">
          <a:xfrm>
            <a:off x="3198011" y="6210205"/>
            <a:ext cx="202883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</a:rPr>
              <a:t>Baseband signal (electrical signal)</a:t>
            </a:r>
          </a:p>
        </p:txBody>
      </p:sp>
      <p:sp>
        <p:nvSpPr>
          <p:cNvPr id="30" name="Line 60"/>
          <p:cNvSpPr>
            <a:spLocks noChangeShapeType="1"/>
          </p:cNvSpPr>
          <p:nvPr/>
        </p:nvSpPr>
        <p:spPr bwMode="auto">
          <a:xfrm flipV="1">
            <a:off x="4311955" y="5615621"/>
            <a:ext cx="45719" cy="70326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1" name="Rectangle 2"/>
          <p:cNvSpPr txBox="1">
            <a:spLocks noChangeArrowheads="1"/>
          </p:cNvSpPr>
          <p:nvPr/>
        </p:nvSpPr>
        <p:spPr>
          <a:xfrm>
            <a:off x="59526" y="585409"/>
            <a:ext cx="9144000" cy="419725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id-ID" sz="2800" b="1" dirty="0" smtClean="0">
                <a:solidFill>
                  <a:prstClr val="black"/>
                </a:solidFill>
              </a:rPr>
              <a:t>2.1 Blok Diagram Sistem Komunikasi Analog</a:t>
            </a:r>
            <a:endParaRPr lang="en-US" sz="2800" b="1" dirty="0" smtClean="0">
              <a:solidFill>
                <a:prstClr val="black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47791" y="-16839"/>
            <a:ext cx="7704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Bab II. Dasar Sistem Komunikasi Analog</a:t>
            </a:r>
          </a:p>
        </p:txBody>
      </p:sp>
    </p:spTree>
    <p:extLst>
      <p:ext uri="{BB962C8B-B14F-4D97-AF65-F5344CB8AC3E}">
        <p14:creationId xmlns:p14="http://schemas.microsoft.com/office/powerpoint/2010/main" val="2803668218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665124"/>
            <a:ext cx="914400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2.2. Elemen Pemancar dan Penerima Radio</a:t>
            </a:r>
          </a:p>
          <a:p>
            <a:r>
              <a:rPr lang="id-ID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Elemen-elemen dasar pemancar dan penerima radio terlihat seperti</a:t>
            </a:r>
          </a:p>
          <a:p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gambar berikut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288" y="1927008"/>
            <a:ext cx="8479200" cy="4526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428744" y="-5367"/>
            <a:ext cx="7704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600" b="1" dirty="0" smtClean="0">
                <a:solidFill>
                  <a:prstClr val="black"/>
                </a:solidFill>
                <a:latin typeface="Calibri"/>
              </a:rPr>
              <a:t>Bab II. Dasar Sistem Komunikasi Analog</a:t>
            </a:r>
            <a:endParaRPr lang="id-ID" sz="36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3277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59" y="357164"/>
            <a:ext cx="8922232" cy="514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9658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63193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Prinsip kerja setiap blok elemen adalah :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57158" y="500042"/>
            <a:ext cx="864399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Sumber sinyal informasi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Mengubah sinyal informasi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menjadi sinyal elektrik, misal mikrofon, camera video,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dan lain-lain.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285720" y="2071678"/>
            <a:ext cx="864399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 dan filter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Menguatkan sinyal informasi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berfrekuensi rendah dan menyaring (LPF = Low Pass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Filter) sinyal-sinyal dari luar yang tidak dikehendaki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untuk membatasi bandwidth-nya.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274472" y="4071942"/>
            <a:ext cx="886952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Menghasilkan frekuensi pembawa (carrier) atau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kelipatanya.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4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1" y="0"/>
            <a:ext cx="9143999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Penguat tegangan RF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 Menguatkan tegangan sinyal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pembawa berfrekuensi tinggi output dari osilator ke level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yang diperlukan untuk diberikan ke input modulator.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0" y="1428736"/>
            <a:ext cx="9144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Modulator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memodulasi/menumpangkan sinyal informasi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berfrekuensi rendah kedalam sinyal pembawa berfrekuensi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tinggi untuk menghasilkan sinyal termodulasi yang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berfrekuensi tinggi pula..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342900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Penguat daya RF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Menguatkan daya sinyal termodulasi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untuk selanjutnya diberikan ke antena pemancar.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1" y="4500570"/>
            <a:ext cx="9143999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Antena pemancar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Mengubah energi (arus/tegangan)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elektrik menjadi sinyal gelombang elektromagnetik dengan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polarisasi tertentu untuk dipancarkan ke udara</a:t>
            </a:r>
            <a:r>
              <a:rPr lang="id-ID" sz="1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lang="id-ID" dirty="0" smtClean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32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/>
          <p:cNvSpPr>
            <a:spLocks noChangeArrowheads="1"/>
          </p:cNvSpPr>
          <p:nvPr/>
        </p:nvSpPr>
        <p:spPr bwMode="auto">
          <a:xfrm>
            <a:off x="1" y="0"/>
            <a:ext cx="914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Antena penerima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Mengubah sinyal gelombang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elektromaknetik yang dipancarkan oleh pemancar menjadi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gelombang sinyal elektrik</a:t>
            </a:r>
            <a:r>
              <a:rPr lang="id-ID" sz="1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lang="id-ID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1" y="1643050"/>
            <a:ext cx="914399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Penuat tegangan RF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Menguatkan tegangan sinyal  RF ke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level yang sesuai/cocok untuk diberikan ke input mixer,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penguat ini juga dilengkapi dengan rangkaian pre-selector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yang berfungsi untuk memilih frekuensi-frekuensi RF yang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dikehendaki dan mem-blok frekuensi-frekuensi RF lain yang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tidak dikehendaki.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0" y="4572008"/>
            <a:ext cx="900115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Osilator RF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Ditala untuk menghasilkan frekuensi RF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pembawa. 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9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 noChangeArrowheads="1"/>
          </p:cNvSpPr>
          <p:nvPr/>
        </p:nvSpPr>
        <p:spPr bwMode="auto">
          <a:xfrm>
            <a:off x="0" y="0"/>
            <a:ext cx="9144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Mixer :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merupakan perangkat non linear, mencampur siyal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RF output penguat tegangan dengan sinyal RF output osilator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untuk mendapatkan sinyal IF (Intermediate Frequency) yang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dikehendaki.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0" y="1785926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Penguat IF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Menguatkan daya sinyal IF ke level yang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cocok untuk diberikan ke input detektor.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0" y="2786058"/>
            <a:ext cx="914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Detektor/demodulator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Mengambil kembali sinyal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informasi yang berfrekuensi rendah dari sinyal pembawanya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yang berfrekuensi tinggi.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4214818"/>
            <a:ext cx="914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Penguat audio/video :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Menguatkan daya sinyal informasi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(audio, video) ke level yang cocok untuk input transducer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penerima ( loud speaker, tabung gambar , dll).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-1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d-ID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Modulasi dan Demodulasi.</a:t>
            </a:r>
          </a:p>
          <a:p>
            <a:r>
              <a:rPr lang="id-ID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Modulasi 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mengubah sifat utama suatu gelombang sinyal</a:t>
            </a:r>
          </a:p>
          <a:p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yaitu sinyal pembawa (</a:t>
            </a:r>
            <a:r>
              <a:rPr lang="id-ID" sz="2800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carrier)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yangberfrekuensi</a:t>
            </a:r>
          </a:p>
          <a:p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tinggi oleh gelomban</a:t>
            </a:r>
            <a:r>
              <a:rPr lang="en-U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lain yaitu gelombang </a:t>
            </a:r>
          </a:p>
          <a:p>
            <a:pPr>
              <a:spcAft>
                <a:spcPts val="600"/>
              </a:spcAft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sinyal informasi yang berfrekuensi rendah. </a:t>
            </a:r>
          </a:p>
          <a:p>
            <a:r>
              <a:rPr lang="id-ID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Modulasi: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proses menumpangkan sinyal informasi yang </a:t>
            </a:r>
          </a:p>
          <a:p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berfrekuensi rendah kedalam sinyal pembawa </a:t>
            </a:r>
          </a:p>
          <a:p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(</a:t>
            </a:r>
            <a:r>
              <a:rPr lang="id-ID" sz="2800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carrier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yang berfrekuensi tinggi agar dapat </a:t>
            </a:r>
          </a:p>
          <a:p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dikirim/ dipancarkan dari </a:t>
            </a:r>
            <a:r>
              <a:rPr lang="id-ID" sz="2800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transmitter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ke </a:t>
            </a:r>
            <a:r>
              <a:rPr lang="id-ID" sz="2800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reciever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yang jauh jaraknya. </a:t>
            </a:r>
          </a:p>
          <a:p>
            <a:pPr lvl="0"/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Demodulasi :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proses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memperoleh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kembali sinyal informasi </a:t>
            </a:r>
            <a:endParaRPr lang="id-ID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spcAft>
                <a:spcPts val="600"/>
              </a:spcAft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dari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gelombang pembawanya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Proses modulasi terjadi di Pengirim, proses demodulasi terjadi di penerima</a:t>
            </a:r>
          </a:p>
          <a:p>
            <a:pPr lvl="0"/>
            <a:endParaRPr lang="id-ID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73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709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Perangkat yang digunakan untuk proses modulasi disebut </a:t>
            </a:r>
          </a:p>
          <a:p>
            <a:r>
              <a:rPr lang="id-ID" sz="25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modulator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proses modulasi ini berlangsung di sisi pengirim </a:t>
            </a:r>
          </a:p>
          <a:p>
            <a:pPr>
              <a:spcAft>
                <a:spcPts val="1200"/>
              </a:spcAft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(</a:t>
            </a:r>
            <a:r>
              <a:rPr lang="id-ID" sz="2500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transmitter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Sinyal </a:t>
            </a:r>
            <a:r>
              <a:rPr lang="id-ID" sz="25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informasi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berfrekuensi rendah disebut sebagai sinyal yang</a:t>
            </a:r>
          </a:p>
          <a:p>
            <a:r>
              <a:rPr lang="id-ID" sz="2500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25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id-ID" sz="2500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emodulasi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sinyal </a:t>
            </a:r>
            <a:r>
              <a:rPr lang="id-ID" sz="25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pembawa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berfrekuensi tinggi disebut sebagai</a:t>
            </a:r>
          </a:p>
          <a:p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sinyal yang </a:t>
            </a:r>
            <a:r>
              <a:rPr lang="id-ID" sz="2500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dimodulasi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sedangkan output modulator yaitu sinyal </a:t>
            </a:r>
          </a:p>
          <a:p>
            <a:pPr>
              <a:spcAft>
                <a:spcPts val="1200"/>
              </a:spcAft>
            </a:pPr>
            <a:r>
              <a:rPr lang="id-ID" sz="25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hasil proses modulasi 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disebut sebagai sinyal </a:t>
            </a:r>
            <a:r>
              <a:rPr lang="id-ID" sz="2500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termodulasi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Sinyal informasi dapat berbentuk sebagai audio (suara manusia</a:t>
            </a:r>
          </a:p>
          <a:p>
            <a:r>
              <a:rPr lang="id-ID" sz="2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frek 300 s/d 3400 HZ), musik (frek 20 s/d 20.000 Hz)  , sinyal </a:t>
            </a:r>
          </a:p>
          <a:p>
            <a:pPr>
              <a:spcAft>
                <a:spcPts val="1200"/>
              </a:spcAft>
            </a:pPr>
            <a:r>
              <a:rPr lang="id-ID" sz="2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video,  sinyal gambar, dll.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 penerima (reciever) terjadi proses </a:t>
            </a:r>
            <a:r>
              <a:rPr lang="id-ID" sz="25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demodulasi,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proses mem-</a:t>
            </a:r>
          </a:p>
          <a:p>
            <a:pPr>
              <a:spcAft>
                <a:spcPts val="1200"/>
              </a:spcAft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peroleh kembali sinyal informasi dari gelombang pembawanya.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Perangkat </a:t>
            </a:r>
            <a:r>
              <a:rPr lang="id-ID" sz="2500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demodulasi</a:t>
            </a: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ini disebut sebagai </a:t>
            </a:r>
            <a:r>
              <a:rPr lang="id-ID" sz="25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demodulator</a:t>
            </a:r>
          </a:p>
        </p:txBody>
      </p:sp>
    </p:spTree>
    <p:extLst>
      <p:ext uri="{BB962C8B-B14F-4D97-AF65-F5344CB8AC3E}">
        <p14:creationId xmlns:p14="http://schemas.microsoft.com/office/powerpoint/2010/main" val="114722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43240" y="6000768"/>
            <a:ext cx="38122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prstClr val="black"/>
                </a:solidFill>
              </a:rPr>
              <a:t>Diagram Blok Modulator</a:t>
            </a:r>
            <a:endParaRPr lang="id-ID" sz="2400" b="1" dirty="0">
              <a:solidFill>
                <a:prstClr val="black"/>
              </a:solidFill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1" y="0"/>
            <a:ext cx="8915400" cy="592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6680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86116" y="6215082"/>
            <a:ext cx="35557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000" b="1" dirty="0" smtClean="0">
                <a:solidFill>
                  <a:prstClr val="black"/>
                </a:solidFill>
              </a:rPr>
              <a:t>Diagram Blok Demodulator</a:t>
            </a:r>
            <a:endParaRPr lang="id-ID" sz="2000" b="1" dirty="0">
              <a:solidFill>
                <a:prstClr val="black"/>
              </a:solidFill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" y="214291"/>
            <a:ext cx="8915400" cy="585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0686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7112" y="194032"/>
            <a:ext cx="9144000" cy="6509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ts val="1200"/>
              </a:spcAft>
            </a:pPr>
            <a:r>
              <a:rPr lang="id-ID" sz="25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0"/>
                <a:cs typeface="Times New Roman" pitchFamily="18" charset="0"/>
              </a:rPr>
              <a:t>Perlunya Proses Modulasi &amp; Demodulasi :</a:t>
            </a:r>
            <a:endParaRPr lang="id-ID" sz="25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Agar jangkauan transmisi jauh</a:t>
            </a:r>
            <a:endParaRPr lang="id-ID" sz="25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Menghindari terjadinya interferensi</a:t>
            </a:r>
            <a:endParaRPr lang="id-ID" sz="25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Ukuran antena kecil</a:t>
            </a:r>
            <a:endParaRPr lang="id-ID" sz="25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5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Dapat dimultiplex.</a:t>
            </a:r>
          </a:p>
          <a:p>
            <a:r>
              <a:rPr lang="id-ID" sz="25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Metoda/teknik modulasi 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5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Modulasi analog 	: AM, SSB dan FM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5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Modulasi </a:t>
            </a:r>
            <a:r>
              <a:rPr lang="id-ID" sz="2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lang="id-ID" sz="25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: ASK, FSK, PSK dan QAM</a:t>
            </a:r>
            <a:endParaRPr lang="id-ID" sz="25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Modulasi </a:t>
            </a:r>
            <a:r>
              <a:rPr lang="id-ID" sz="25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pulsa</a:t>
            </a:r>
            <a:r>
              <a:rPr lang="id-ID" sz="2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id-ID" sz="25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PCM, dll</a:t>
            </a:r>
          </a:p>
          <a:p>
            <a:r>
              <a:rPr lang="id-ID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	=  Amplitudo Modulation (Modulasi Amplitudo)</a:t>
            </a:r>
          </a:p>
          <a:p>
            <a:r>
              <a:rPr lang="id-ID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SSB	=  Single Side Band</a:t>
            </a:r>
          </a:p>
          <a:p>
            <a:r>
              <a:rPr lang="id-ID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	=  Frequency Modulation (Modulasi Frekuensi)</a:t>
            </a:r>
          </a:p>
          <a:p>
            <a:r>
              <a:rPr lang="id-ID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	=  Amplitudo Shift Keying</a:t>
            </a:r>
          </a:p>
          <a:p>
            <a:r>
              <a:rPr lang="id-ID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FSK	=  Frequency Shift keying</a:t>
            </a:r>
          </a:p>
          <a:p>
            <a:r>
              <a:rPr lang="id-ID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PSK	=  Phase Shift Keying</a:t>
            </a:r>
          </a:p>
          <a:p>
            <a:r>
              <a:rPr lang="id-ID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QAM	=  Quadratur Amplitudo Modulation</a:t>
            </a:r>
          </a:p>
          <a:p>
            <a:r>
              <a:rPr lang="id-ID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PCM	=  Pulse Amplitudo Modulation</a:t>
            </a:r>
          </a:p>
          <a:p>
            <a:endParaRPr lang="id-ID" sz="28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47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9653"/>
            <a:ext cx="9324528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Modulasi analog 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Sinyal informasi berbentuk sinyal analog,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Sinyal pembawa (carrier) berbentuk sinyal analog dan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Sinyal termodulasi (AM, SSB, dan FM) merupakan sinyal</a:t>
            </a:r>
          </a:p>
          <a:p>
            <a:pPr>
              <a:spcAft>
                <a:spcPts val="1200"/>
              </a:spcAft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analog. </a:t>
            </a:r>
            <a:endParaRPr lang="id-ID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Modulasi digital :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Sinyal informasi berbentuk sinyal</a:t>
            </a:r>
            <a:r>
              <a:rPr 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digital,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Sinyal pembawa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(carrier) berbentuk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analog dan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Sinyal termodulasi (ASK, FSK, PSK dan QAM) </a:t>
            </a:r>
          </a:p>
          <a:p>
            <a:pPr lvl="0">
              <a:spcAft>
                <a:spcPts val="1200"/>
              </a:spcAft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merupakan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analog. </a:t>
            </a:r>
            <a:endParaRPr lang="id-ID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id-ID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Modulasi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pulsa :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informasi berbentuk sinyal analog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termodulasi (PCM) berbentuk sinyal digital</a:t>
            </a:r>
            <a:endParaRPr lang="id-ID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0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b="1" dirty="0" smtClean="0"/>
              <a:t>2.4 Modulasi Amplitudo</a:t>
            </a:r>
            <a:endParaRPr lang="id-ID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20574" y="619567"/>
            <a:ext cx="942978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id-ID" sz="3200" dirty="0" smtClean="0"/>
              <a:t> </a:t>
            </a: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Modulasi </a:t>
            </a:r>
            <a:r>
              <a:rPr lang="id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amplitudo ( AM = Amplitudo Modulation)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Suatu teknik modulasi, dimana amplitudo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sesaat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gelombang sinyal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pembawa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(carrier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), diubah-ubah sesuai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dengan 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amplitudo sesaat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gelombang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sinyal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informasi.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" y="2312338"/>
            <a:ext cx="95012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Gelombang sinyal pembawa berfrekuensi tinggi, gelombang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sinyal informasi berfrekuensi rendah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7812360" y="142853"/>
            <a:ext cx="1143008" cy="571504"/>
          </a:xfrm>
          <a:prstGeom prst="smileyFac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 5"/>
          <p:cNvSpPr/>
          <p:nvPr/>
        </p:nvSpPr>
        <p:spPr>
          <a:xfrm>
            <a:off x="20574" y="3645024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Beberapa jenis /macam teknik modulasi amplitudo :</a:t>
            </a:r>
            <a:endParaRPr lang="id-ID" sz="28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AM-DSB-FC (AM)	: </a:t>
            </a:r>
            <a:r>
              <a:rPr lang="id-ID" sz="22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Amplitudo Modulation Double Side Band Full </a:t>
            </a:r>
            <a:endParaRPr lang="id-ID" sz="2200" dirty="0" smtClean="0">
              <a:solidFill>
                <a:prstClr val="black"/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2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Carrier</a:t>
            </a:r>
            <a:endParaRPr lang="id-ID" sz="2200" dirty="0">
              <a:solidFill>
                <a:prstClr val="black"/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AM-SSB-SC (SSB)	: Amplitudo </a:t>
            </a:r>
            <a:r>
              <a:rPr lang="id-ID" sz="22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Modulation Single Side Band Suppressed </a:t>
            </a:r>
            <a:endParaRPr lang="id-ID" sz="2200" dirty="0" smtClean="0">
              <a:solidFill>
                <a:prstClr val="black"/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2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Carrier</a:t>
            </a:r>
            <a:endParaRPr lang="id-ID" sz="2200" dirty="0">
              <a:solidFill>
                <a:prstClr val="black"/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AM-VSB		: Amplitudo </a:t>
            </a:r>
            <a:r>
              <a:rPr lang="id-ID" sz="22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Modulation Vestigial Side Band, yang </a:t>
            </a:r>
            <a:endParaRPr lang="id-ID" sz="2200" dirty="0" smtClean="0">
              <a:solidFill>
                <a:prstClr val="black"/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2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digunakan </a:t>
            </a:r>
            <a:r>
              <a:rPr lang="en-US" sz="2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sistem</a:t>
            </a:r>
            <a:r>
              <a:rPr lang="en-US" sz="2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televisi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memodulasi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22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US" sz="22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gambar</a:t>
            </a:r>
            <a:r>
              <a:rPr lang="en-US" sz="2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(video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id-ID" sz="2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88640"/>
            <a:ext cx="342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 AM-DSB-FC :</a:t>
            </a:r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79512" y="691768"/>
            <a:ext cx="8964488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Modulator AM merupakan perangkat nonlinier.</a:t>
            </a: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Modulator memiliki dua input dan satu output. </a:t>
            </a:r>
          </a:p>
          <a:p>
            <a:pPr marL="457200" marR="0" lvl="0" indent="-45720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Input pertama sinyal gelombang informasi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(t).</a:t>
            </a:r>
          </a:p>
          <a:p>
            <a:pPr marL="457200" marR="0" lvl="0" indent="-45720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nput kedua gelombang sinyal pembawa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(t).</a:t>
            </a:r>
          </a:p>
          <a:p>
            <a:pPr marL="457200" marR="0" lvl="0" indent="-45720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Output gelombang sinyal termodulasi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AM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(t). </a:t>
            </a:r>
          </a:p>
          <a:p>
            <a:pPr marL="457200" marR="0" lvl="0" indent="-45720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(t) =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Sinω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t. </a:t>
            </a:r>
          </a:p>
          <a:p>
            <a:pPr marL="457200" marR="0" lvl="0" indent="-45720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(t) =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Sinω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t.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" name="Smiley Face 4"/>
          <p:cNvSpPr/>
          <p:nvPr/>
        </p:nvSpPr>
        <p:spPr>
          <a:xfrm>
            <a:off x="7786710" y="5214950"/>
            <a:ext cx="1143008" cy="571504"/>
          </a:xfrm>
          <a:prstGeom prst="smileyFac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280" y="0"/>
            <a:ext cx="9069720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5692260"/>
            <a:ext cx="7740000" cy="1165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0" y="5214950"/>
            <a:ext cx="4214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b="1" dirty="0" smtClean="0">
                <a:latin typeface="Times New Roman" pitchFamily="18" charset="0"/>
                <a:cs typeface="Times New Roman" pitchFamily="18" charset="0"/>
              </a:rPr>
              <a:t>Persamaan Gel AM-DSB-FC :</a:t>
            </a:r>
            <a:endParaRPr lang="id-ID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http://www.asc-csa.gc.ca/images/telecom_amplitude_am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9160151" cy="547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32656"/>
            <a:ext cx="8773929" cy="5256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3528" y="0"/>
            <a:ext cx="36409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id-ID" sz="2000" b="1" dirty="0">
                <a:solidFill>
                  <a:prstClr val="black"/>
                </a:solidFill>
                <a:latin typeface="Arial"/>
              </a:rPr>
              <a:t>Modulator AM ( AM-DSB-FC)</a:t>
            </a:r>
            <a:endParaRPr lang="en-US" altLang="id-ID" sz="2000" dirty="0">
              <a:solidFill>
                <a:prstClr val="black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51520" y="1146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altLang="id-ID" sz="2000" b="1" dirty="0" smtClean="0">
                <a:solidFill>
                  <a:prstClr val="black"/>
                </a:solidFill>
                <a:latin typeface="Arial"/>
              </a:rPr>
              <a:t>Modulator AM ( AM-DSB-FC)</a:t>
            </a:r>
            <a:endParaRPr lang="en-US" altLang="id-ID" sz="2000" dirty="0" smtClean="0">
              <a:solidFill>
                <a:prstClr val="black"/>
              </a:solidFill>
              <a:latin typeface="Arial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42192"/>
            <a:ext cx="7564760" cy="478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/>
          <a:srcRect l="36516" t="63644" r="47716" b="24233"/>
          <a:stretch/>
        </p:blipFill>
        <p:spPr bwMode="auto">
          <a:xfrm>
            <a:off x="351876" y="4668236"/>
            <a:ext cx="1368152" cy="57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/>
          <p:nvPr/>
        </p:nvPicPr>
        <p:blipFill rotWithShape="1">
          <a:blip r:embed="rId4"/>
          <a:srcRect l="77562" t="57733" r="10626" b="30053"/>
          <a:stretch/>
        </p:blipFill>
        <p:spPr bwMode="auto">
          <a:xfrm>
            <a:off x="6441504" y="4956269"/>
            <a:ext cx="108012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 rotWithShape="1">
          <a:blip r:embed="rId4"/>
          <a:srcRect l="14175" t="56494" r="70863" b="26711"/>
          <a:stretch/>
        </p:blipFill>
        <p:spPr bwMode="auto">
          <a:xfrm>
            <a:off x="6441504" y="2978681"/>
            <a:ext cx="1368152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51876" y="435606"/>
            <a:ext cx="87154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Modulator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level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rendah: </a:t>
            </a:r>
          </a:p>
          <a:p>
            <a:pPr lvl="2">
              <a:buFont typeface="Wingdings" pitchFamily="2" charset="2"/>
              <a:buChar char="ü"/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Proses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modulasi dibentuk pada tingkat awal rangkaian, </a:t>
            </a:r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Wingdings" pitchFamily="2" charset="2"/>
              <a:buChar char="ü"/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Modulator merupakan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rangkaian penguat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kelas A</a:t>
            </a:r>
          </a:p>
          <a:p>
            <a:pPr lvl="2">
              <a:buFont typeface="Wingdings" pitchFamily="2" charset="2"/>
              <a:buChar char="ü"/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Modulator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daya rendah. </a:t>
            </a:r>
          </a:p>
        </p:txBody>
      </p:sp>
    </p:spTree>
    <p:extLst>
      <p:ext uri="{BB962C8B-B14F-4D97-AF65-F5344CB8AC3E}">
        <p14:creationId xmlns:p14="http://schemas.microsoft.com/office/powerpoint/2010/main" val="321394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51520" y="1146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id-ID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Modulator AM ( AM-DSB-FC)</a:t>
            </a:r>
            <a:endParaRPr kumimoji="0" lang="en-US" altLang="id-ID" sz="20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9592" y="2069108"/>
            <a:ext cx="6967500" cy="458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66932" y="483930"/>
            <a:ext cx="87154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Modulator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level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tinggi : </a:t>
            </a:r>
          </a:p>
          <a:p>
            <a:pPr lvl="2">
              <a:buFont typeface="Wingdings" pitchFamily="2" charset="2"/>
              <a:buChar char="ü"/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Proses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modulasi dibentuk pada titik akhir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rangkaian </a:t>
            </a:r>
          </a:p>
          <a:p>
            <a:pPr lvl="2">
              <a:buFont typeface="Wingdings" pitchFamily="2" charset="2"/>
              <a:buChar char="ü"/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Modulator merupakan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penguat kelas C </a:t>
            </a:r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Wingdings" pitchFamily="2" charset="2"/>
              <a:buChar char="ü"/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Modulator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daya menengah dan daya tinggi. 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l="14175" t="56494" r="70863" b="26711"/>
          <a:stretch/>
        </p:blipFill>
        <p:spPr bwMode="auto">
          <a:xfrm>
            <a:off x="5940152" y="4437112"/>
            <a:ext cx="1368152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8960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14290"/>
            <a:ext cx="8784000" cy="65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0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034391"/>
              </p:ext>
            </p:extLst>
          </p:nvPr>
        </p:nvGraphicFramePr>
        <p:xfrm>
          <a:off x="84138" y="719138"/>
          <a:ext cx="37258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8" name="Equation" r:id="rId3" imgW="1562040" imgH="203040" progId="Equation.3">
                  <p:embed/>
                </p:oleObj>
              </mc:Choice>
              <mc:Fallback>
                <p:oleObj name="Equation" r:id="rId3" imgW="1562040" imgH="203040" progId="Equation.3">
                  <p:embed/>
                  <p:pic>
                    <p:nvPicPr>
                      <p:cNvPr id="0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8" y="719138"/>
                        <a:ext cx="372586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20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031858"/>
              </p:ext>
            </p:extLst>
          </p:nvPr>
        </p:nvGraphicFramePr>
        <p:xfrm>
          <a:off x="1115616" y="1310701"/>
          <a:ext cx="28463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9" name="Equation" r:id="rId5" imgW="1193760" imgH="203040" progId="Equation.3">
                  <p:embed/>
                </p:oleObj>
              </mc:Choice>
              <mc:Fallback>
                <p:oleObj name="Equation" r:id="rId5" imgW="1193760" imgH="203040" progId="Equation.3">
                  <p:embed/>
                  <p:pic>
                    <p:nvPicPr>
                      <p:cNvPr id="0" name="Object 2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310701"/>
                        <a:ext cx="284638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20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443940"/>
              </p:ext>
            </p:extLst>
          </p:nvPr>
        </p:nvGraphicFramePr>
        <p:xfrm>
          <a:off x="192088" y="1927225"/>
          <a:ext cx="8907462" cy="392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0" name="Equation" r:id="rId7" imgW="3784320" imgH="1726920" progId="Equation.3">
                  <p:embed/>
                </p:oleObj>
              </mc:Choice>
              <mc:Fallback>
                <p:oleObj name="Equation" r:id="rId7" imgW="3784320" imgH="1726920" progId="Equation.3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8" y="1927225"/>
                        <a:ext cx="8907462" cy="392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7528" y="5886284"/>
            <a:ext cx="5500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Dimana m = Indeks modulasi,</a:t>
            </a:r>
            <a:endParaRPr lang="id-ID" sz="32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150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74239"/>
              </p:ext>
            </p:extLst>
          </p:nvPr>
        </p:nvGraphicFramePr>
        <p:xfrm>
          <a:off x="5868144" y="5497339"/>
          <a:ext cx="1830388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1" name="Equation" r:id="rId9" imgW="495000" imgH="431640" progId="Equation.3">
                  <p:embed/>
                </p:oleObj>
              </mc:Choice>
              <mc:Fallback>
                <p:oleObj name="Equation" r:id="rId9" imgW="4950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5497339"/>
                        <a:ext cx="1830388" cy="158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90570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Persamaan Matematis Gelombang AM-DSB-FC</a:t>
            </a:r>
            <a:endParaRPr kumimoji="0" lang="id-ID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0"/>
            <a:ext cx="90570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Persamaan Matematis Gelombang AM-DSB-FC</a:t>
            </a:r>
            <a:endParaRPr kumimoji="0" lang="id-ID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6073" y="714356"/>
            <a:ext cx="8567927" cy="12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2071678"/>
            <a:ext cx="8172000" cy="478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074"/>
          <p:cNvSpPr txBox="1">
            <a:spLocks noChangeArrowheads="1"/>
          </p:cNvSpPr>
          <p:nvPr/>
        </p:nvSpPr>
        <p:spPr bwMode="auto">
          <a:xfrm>
            <a:off x="15156" y="0"/>
            <a:ext cx="572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id-ID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AMPLITUDE MODULATION (DSB_FC)</a:t>
            </a:r>
          </a:p>
        </p:txBody>
      </p:sp>
      <p:graphicFrame>
        <p:nvGraphicFramePr>
          <p:cNvPr id="3" name="Object 30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719848"/>
              </p:ext>
            </p:extLst>
          </p:nvPr>
        </p:nvGraphicFramePr>
        <p:xfrm>
          <a:off x="863600" y="620713"/>
          <a:ext cx="54419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6" name="Equation" r:id="rId3" imgW="1917360" imgH="203040" progId="Equation.3">
                  <p:embed/>
                </p:oleObj>
              </mc:Choice>
              <mc:Fallback>
                <p:oleObj name="Equation" r:id="rId3" imgW="19173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620713"/>
                        <a:ext cx="5441950" cy="447675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0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454687"/>
              </p:ext>
            </p:extLst>
          </p:nvPr>
        </p:nvGraphicFramePr>
        <p:xfrm>
          <a:off x="790575" y="1231900"/>
          <a:ext cx="346075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7" name="Equation" r:id="rId5" imgW="1218960" imgH="393480" progId="Equation.3">
                  <p:embed/>
                </p:oleObj>
              </mc:Choice>
              <mc:Fallback>
                <p:oleObj name="Equation" r:id="rId5" imgW="1218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" y="1231900"/>
                        <a:ext cx="346075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0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413366"/>
              </p:ext>
            </p:extLst>
          </p:nvPr>
        </p:nvGraphicFramePr>
        <p:xfrm>
          <a:off x="773113" y="2262188"/>
          <a:ext cx="342265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8" name="Equation" r:id="rId7" imgW="1206360" imgH="393480" progId="Equation.3">
                  <p:embed/>
                </p:oleObj>
              </mc:Choice>
              <mc:Fallback>
                <p:oleObj name="Equation" r:id="rId7" imgW="1206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3" y="2262188"/>
                        <a:ext cx="3422650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0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879526"/>
              </p:ext>
            </p:extLst>
          </p:nvPr>
        </p:nvGraphicFramePr>
        <p:xfrm>
          <a:off x="2513013" y="3292475"/>
          <a:ext cx="30003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9" name="Equation" r:id="rId9" imgW="1320480" imgH="393480" progId="Equation.3">
                  <p:embed/>
                </p:oleObj>
              </mc:Choice>
              <mc:Fallback>
                <p:oleObj name="Equation" r:id="rId9" imgW="1320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3" y="3292475"/>
                        <a:ext cx="30003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0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206331"/>
              </p:ext>
            </p:extLst>
          </p:nvPr>
        </p:nvGraphicFramePr>
        <p:xfrm>
          <a:off x="846138" y="4340225"/>
          <a:ext cx="5513387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60" name="Equation" r:id="rId11" imgW="1942920" imgH="393480" progId="Equation.3">
                  <p:embed/>
                </p:oleObj>
              </mc:Choice>
              <mc:Fallback>
                <p:oleObj name="Equation" r:id="rId11" imgW="1942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4340225"/>
                        <a:ext cx="5513387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091"/>
          <p:cNvSpPr txBox="1">
            <a:spLocks noChangeArrowheads="1"/>
          </p:cNvSpPr>
          <p:nvPr/>
        </p:nvSpPr>
        <p:spPr bwMode="auto">
          <a:xfrm>
            <a:off x="438869" y="5590561"/>
            <a:ext cx="64059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d-ID" altLang="id-ID" sz="2400" kern="0" dirty="0">
                <a:solidFill>
                  <a:srgbClr val="000000"/>
                </a:solidFill>
              </a:rPr>
              <a:t>V</a:t>
            </a:r>
            <a:r>
              <a:rPr kumimoji="0" lang="en-US" altLang="id-ID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USF = PEAK AMPLITUDE OF THE UPPER SIDE FREQUENCY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d-ID" altLang="id-ID" sz="2400" kern="0" dirty="0">
                <a:solidFill>
                  <a:srgbClr val="000000"/>
                </a:solidFill>
              </a:rPr>
              <a:t>V</a:t>
            </a:r>
            <a:r>
              <a:rPr kumimoji="0" lang="en-US" altLang="id-ID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LSF = PEAK AMPLITUDE OF THE LOWER SIDE FREQUENCY</a:t>
            </a:r>
          </a:p>
        </p:txBody>
      </p:sp>
    </p:spTree>
    <p:extLst>
      <p:ext uri="{BB962C8B-B14F-4D97-AF65-F5344CB8AC3E}">
        <p14:creationId xmlns:p14="http://schemas.microsoft.com/office/powerpoint/2010/main" val="2823135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19" y="1"/>
            <a:ext cx="8856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2531" name="Object 4"/>
          <p:cNvGraphicFramePr>
            <a:graphicFrameLocks noChangeAspect="1"/>
          </p:cNvGraphicFramePr>
          <p:nvPr/>
        </p:nvGraphicFramePr>
        <p:xfrm>
          <a:off x="6858016" y="5000636"/>
          <a:ext cx="1830388" cy="158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4" name="Equation" r:id="rId4" imgW="495000" imgH="431640" progId="Equation.3">
                  <p:embed/>
                </p:oleObj>
              </mc:Choice>
              <mc:Fallback>
                <p:oleObj name="Equation" r:id="rId4" imgW="4950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16" y="5000636"/>
                        <a:ext cx="1830388" cy="158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0"/>
            <a:ext cx="182880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1785926"/>
            <a:ext cx="404812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57224" y="285728"/>
            <a:ext cx="571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/>
              <a:t>%</a:t>
            </a:r>
            <a:endParaRPr lang="id-ID" sz="4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71538" y="1928802"/>
            <a:ext cx="571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/>
              <a:t>%</a:t>
            </a:r>
            <a:endParaRPr lang="id-ID" sz="4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428992" y="357166"/>
            <a:ext cx="2286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/>
              <a:t>X 100 %</a:t>
            </a:r>
            <a:endParaRPr lang="id-ID" sz="4800" b="1" dirty="0"/>
          </a:p>
        </p:txBody>
      </p:sp>
      <p:sp>
        <p:nvSpPr>
          <p:cNvPr id="8" name="Rectangle 7"/>
          <p:cNvSpPr/>
          <p:nvPr/>
        </p:nvSpPr>
        <p:spPr>
          <a:xfrm>
            <a:off x="5572132" y="2071678"/>
            <a:ext cx="2214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b="1" dirty="0" smtClean="0"/>
              <a:t>X 100 %</a:t>
            </a:r>
            <a:endParaRPr lang="id-ID" sz="3600" b="1" dirty="0"/>
          </a:p>
        </p:txBody>
      </p:sp>
      <p:sp>
        <p:nvSpPr>
          <p:cNvPr id="9" name="Rectangle 8"/>
          <p:cNvSpPr/>
          <p:nvPr/>
        </p:nvSpPr>
        <p:spPr>
          <a:xfrm>
            <a:off x="0" y="4007703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dirty="0" smtClean="0"/>
              <a:t> </a:t>
            </a:r>
            <a:r>
              <a:rPr lang="id-ID" dirty="0" smtClean="0"/>
              <a:t> </a:t>
            </a:r>
            <a:r>
              <a:rPr lang="id-ID" sz="2800" dirty="0" smtClean="0">
                <a:latin typeface="Arial Narrow" panose="020B0606020202030204" pitchFamily="34" charset="0"/>
              </a:rPr>
              <a:t>Untuk Modulasi AM, indeks modulasi maksimum sebesar 1 atau </a:t>
            </a:r>
          </a:p>
          <a:p>
            <a:r>
              <a:rPr lang="id-ID" sz="2800" dirty="0" smtClean="0">
                <a:latin typeface="Arial Narrow" panose="020B0606020202030204" pitchFamily="34" charset="0"/>
              </a:rPr>
              <a:t>    100 %, jika indeks modulasi lebih besar dari 1 atau lebih besar dari</a:t>
            </a:r>
          </a:p>
          <a:p>
            <a:r>
              <a:rPr lang="id-ID" sz="2800" dirty="0" smtClean="0">
                <a:latin typeface="Arial Narrow" panose="020B0606020202030204" pitchFamily="34" charset="0"/>
              </a:rPr>
              <a:t>    100 %, maka akan terjadi </a:t>
            </a:r>
            <a:r>
              <a:rPr lang="id-ID" sz="2800" b="1" i="1" dirty="0" smtClean="0">
                <a:latin typeface="Arial Narrow" panose="020B0606020202030204" pitchFamily="34" charset="0"/>
              </a:rPr>
              <a:t>over modulasi</a:t>
            </a:r>
            <a:r>
              <a:rPr lang="id-ID" sz="2800" b="1" dirty="0" smtClean="0">
                <a:latin typeface="Arial Narrow" panose="020B0606020202030204" pitchFamily="34" charset="0"/>
              </a:rPr>
              <a:t>.</a:t>
            </a:r>
            <a:endParaRPr lang="id-ID" sz="2800" b="1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000" y="532301"/>
            <a:ext cx="8856000" cy="6325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1547664" y="0"/>
            <a:ext cx="6934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d-ID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Prosentase Modulasi 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544" y="6150114"/>
            <a:ext cx="3816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b="1" dirty="0" smtClean="0"/>
              <a:t>Catatan</a:t>
            </a:r>
          </a:p>
          <a:p>
            <a:r>
              <a:rPr lang="id-ID" sz="2000" b="1" dirty="0" smtClean="0"/>
              <a:t>Ec=Vc,               Em=Vm</a:t>
            </a:r>
            <a:endParaRPr lang="id-ID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14422"/>
            <a:ext cx="7772400" cy="198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685800" y="3357562"/>
            <a:ext cx="8458200" cy="2463800"/>
            <a:chOff x="432" y="2112"/>
            <a:chExt cx="5328" cy="1552"/>
          </a:xfrm>
        </p:grpSpPr>
        <p:sp>
          <p:nvSpPr>
            <p:cNvPr id="4" name="Text Box 20"/>
            <p:cNvSpPr txBox="1">
              <a:spLocks noChangeArrowheads="1"/>
            </p:cNvSpPr>
            <p:nvPr/>
          </p:nvSpPr>
          <p:spPr bwMode="auto">
            <a:xfrm>
              <a:off x="432" y="2478"/>
              <a:ext cx="20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Under modulated (&lt;100%)</a:t>
              </a:r>
            </a:p>
          </p:txBody>
        </p:sp>
        <p:sp>
          <p:nvSpPr>
            <p:cNvPr id="5" name="Text Box 21"/>
            <p:cNvSpPr txBox="1">
              <a:spLocks noChangeArrowheads="1"/>
            </p:cNvSpPr>
            <p:nvPr/>
          </p:nvSpPr>
          <p:spPr bwMode="auto">
            <a:xfrm>
              <a:off x="2576" y="2478"/>
              <a:ext cx="12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100% modulated</a:t>
              </a:r>
            </a:p>
          </p:txBody>
        </p:sp>
        <p:sp>
          <p:nvSpPr>
            <p:cNvPr id="6" name="Text Box 22"/>
            <p:cNvSpPr txBox="1">
              <a:spLocks noChangeArrowheads="1"/>
            </p:cNvSpPr>
            <p:nvPr/>
          </p:nvSpPr>
          <p:spPr bwMode="auto">
            <a:xfrm>
              <a:off x="1467" y="3120"/>
              <a:ext cx="1322" cy="54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solidFill>
                    <a:srgbClr val="0000FF"/>
                  </a:solidFill>
                </a:rPr>
                <a:t>Envelope</a:t>
              </a:r>
              <a:r>
                <a:rPr lang="en-US">
                  <a:solidFill>
                    <a:srgbClr val="0000FF"/>
                  </a:solidFill>
                </a:rPr>
                <a:t> D</a:t>
              </a:r>
              <a:r>
                <a:rPr lang="en-US" sz="2000">
                  <a:solidFill>
                    <a:srgbClr val="0000FF"/>
                  </a:solidFill>
                </a:rPr>
                <a:t>etector</a:t>
              </a:r>
            </a:p>
            <a:p>
              <a:pPr>
                <a:spcBef>
                  <a:spcPct val="50000"/>
                </a:spcBef>
              </a:pPr>
              <a:r>
                <a:rPr lang="en-US" sz="2000">
                  <a:solidFill>
                    <a:srgbClr val="0000FF"/>
                  </a:solidFill>
                </a:rPr>
                <a:t>Can be used</a:t>
              </a:r>
            </a:p>
          </p:txBody>
        </p:sp>
        <p:sp>
          <p:nvSpPr>
            <p:cNvPr id="7" name="Text Box 23"/>
            <p:cNvSpPr txBox="1">
              <a:spLocks noChangeArrowheads="1"/>
            </p:cNvSpPr>
            <p:nvPr/>
          </p:nvSpPr>
          <p:spPr bwMode="auto">
            <a:xfrm>
              <a:off x="4032" y="3120"/>
              <a:ext cx="1594" cy="54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0000FF"/>
                  </a:solidFill>
                </a:rPr>
                <a:t>Envelope Detector</a:t>
              </a:r>
            </a:p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0000FF"/>
                  </a:solidFill>
                </a:rPr>
                <a:t>Gives Distorted signal</a:t>
              </a:r>
            </a:p>
          </p:txBody>
        </p:sp>
        <p:sp>
          <p:nvSpPr>
            <p:cNvPr id="8" name="AutoShape 24"/>
            <p:cNvSpPr>
              <a:spLocks noChangeArrowheads="1"/>
            </p:cNvSpPr>
            <p:nvPr/>
          </p:nvSpPr>
          <p:spPr bwMode="auto">
            <a:xfrm>
              <a:off x="1339" y="2160"/>
              <a:ext cx="197" cy="262"/>
            </a:xfrm>
            <a:prstGeom prst="downArrow">
              <a:avLst>
                <a:gd name="adj1" fmla="val 50000"/>
                <a:gd name="adj2" fmla="val 33249"/>
              </a:avLst>
            </a:prstGeom>
            <a:solidFill>
              <a:srgbClr val="009900"/>
            </a:solidFill>
            <a:ln w="25400">
              <a:solidFill>
                <a:srgbClr val="00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9" name="AutoShape 25"/>
            <p:cNvSpPr>
              <a:spLocks noChangeArrowheads="1"/>
            </p:cNvSpPr>
            <p:nvPr/>
          </p:nvSpPr>
          <p:spPr bwMode="auto">
            <a:xfrm>
              <a:off x="3035" y="2112"/>
              <a:ext cx="181" cy="260"/>
            </a:xfrm>
            <a:prstGeom prst="downArrow">
              <a:avLst>
                <a:gd name="adj1" fmla="val 50000"/>
                <a:gd name="adj2" fmla="val 35912"/>
              </a:avLst>
            </a:prstGeom>
            <a:solidFill>
              <a:srgbClr val="009900"/>
            </a:solidFill>
            <a:ln w="25400">
              <a:solidFill>
                <a:srgbClr val="00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0" name="AutoShape 26"/>
            <p:cNvSpPr>
              <a:spLocks noChangeArrowheads="1"/>
            </p:cNvSpPr>
            <p:nvPr/>
          </p:nvSpPr>
          <p:spPr bwMode="auto">
            <a:xfrm>
              <a:off x="4695" y="2160"/>
              <a:ext cx="153" cy="244"/>
            </a:xfrm>
            <a:prstGeom prst="downArrow">
              <a:avLst>
                <a:gd name="adj1" fmla="val 50000"/>
                <a:gd name="adj2" fmla="val 39869"/>
              </a:avLst>
            </a:prstGeom>
            <a:solidFill>
              <a:srgbClr val="009900"/>
            </a:solidFill>
            <a:ln w="25400">
              <a:solidFill>
                <a:srgbClr val="00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1" name="AutoShape 27"/>
            <p:cNvSpPr>
              <a:spLocks noChangeArrowheads="1"/>
            </p:cNvSpPr>
            <p:nvPr/>
          </p:nvSpPr>
          <p:spPr bwMode="auto">
            <a:xfrm rot="-1945943">
              <a:off x="1357" y="2697"/>
              <a:ext cx="201" cy="357"/>
            </a:xfrm>
            <a:prstGeom prst="downArrow">
              <a:avLst>
                <a:gd name="adj1" fmla="val 50000"/>
                <a:gd name="adj2" fmla="val 44403"/>
              </a:avLst>
            </a:prstGeom>
            <a:solidFill>
              <a:srgbClr val="008000"/>
            </a:solidFill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2" name="AutoShape 28"/>
            <p:cNvSpPr>
              <a:spLocks noChangeArrowheads="1"/>
            </p:cNvSpPr>
            <p:nvPr/>
          </p:nvSpPr>
          <p:spPr bwMode="auto">
            <a:xfrm rot="1879359">
              <a:off x="2715" y="2711"/>
              <a:ext cx="201" cy="357"/>
            </a:xfrm>
            <a:prstGeom prst="downArrow">
              <a:avLst>
                <a:gd name="adj1" fmla="val 50000"/>
                <a:gd name="adj2" fmla="val 44403"/>
              </a:avLst>
            </a:prstGeom>
            <a:solidFill>
              <a:srgbClr val="008000"/>
            </a:solidFill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3" name="AutoShape 29"/>
            <p:cNvSpPr>
              <a:spLocks noChangeArrowheads="1"/>
            </p:cNvSpPr>
            <p:nvPr/>
          </p:nvSpPr>
          <p:spPr bwMode="auto">
            <a:xfrm>
              <a:off x="4758" y="2761"/>
              <a:ext cx="186" cy="263"/>
            </a:xfrm>
            <a:prstGeom prst="downArrow">
              <a:avLst>
                <a:gd name="adj1" fmla="val 50000"/>
                <a:gd name="adj2" fmla="val 35349"/>
              </a:avLst>
            </a:prstGeom>
            <a:solidFill>
              <a:srgbClr val="008000"/>
            </a:solidFill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4" name="Text Box 41"/>
            <p:cNvSpPr txBox="1">
              <a:spLocks noChangeArrowheads="1"/>
            </p:cNvSpPr>
            <p:nvPr/>
          </p:nvSpPr>
          <p:spPr bwMode="auto">
            <a:xfrm>
              <a:off x="3984" y="2496"/>
              <a:ext cx="17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Over Modulated (&gt;100%)</a:t>
              </a:r>
            </a:p>
          </p:txBody>
        </p:sp>
      </p:grp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1371600" y="285728"/>
            <a:ext cx="6934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id-ID" sz="32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Prosentase Modulasi AM</a:t>
            </a:r>
            <a:endParaRPr lang="en-US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0" y="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Spektrum, Bandwidth dan Daya  AM-DSB-FC   </a:t>
            </a:r>
            <a:endParaRPr kumimoji="0" lang="id-ID" sz="3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857232"/>
            <a:ext cx="7740000" cy="1165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20" y="2290865"/>
            <a:ext cx="7848872" cy="3842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608" y="3429000"/>
            <a:ext cx="8511100" cy="286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608" y="662272"/>
            <a:ext cx="8496440" cy="2439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5076056" y="717016"/>
            <a:ext cx="3892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Spektrum AM-DSB-FC</a:t>
            </a:r>
          </a:p>
          <a:p>
            <a:r>
              <a:rPr lang="id-ID" dirty="0" smtClean="0"/>
              <a:t>Untuk frekuensi sinyal informasi dari 0 s/d fm maks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5255696" y="4077072"/>
            <a:ext cx="3892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Spektrum AM-DSB-FC</a:t>
            </a:r>
          </a:p>
          <a:p>
            <a:r>
              <a:rPr lang="id-ID" dirty="0" smtClean="0"/>
              <a:t>Untuk frekuensi sinyal gelombang tunggal fm </a:t>
            </a:r>
            <a:endParaRPr lang="id-ID" dirty="0"/>
          </a:p>
        </p:txBody>
      </p:sp>
      <p:sp>
        <p:nvSpPr>
          <p:cNvPr id="2" name="Rectangle 1"/>
          <p:cNvSpPr/>
          <p:nvPr/>
        </p:nvSpPr>
        <p:spPr>
          <a:xfrm>
            <a:off x="208050" y="100069"/>
            <a:ext cx="43639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Gambar spektrum AM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560" y="764704"/>
            <a:ext cx="482453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560" y="3786967"/>
            <a:ext cx="4614813" cy="2734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292080" y="1268760"/>
            <a:ext cx="37862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200" dirty="0" smtClean="0"/>
              <a:t>Banwidth, </a:t>
            </a:r>
          </a:p>
          <a:p>
            <a:pPr algn="ctr"/>
            <a:r>
              <a:rPr lang="id-ID" sz="3200" dirty="0" smtClean="0"/>
              <a:t>Bw = 2 fm</a:t>
            </a:r>
            <a:endParaRPr lang="id-ID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5357786" y="4077072"/>
            <a:ext cx="37862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 smtClean="0"/>
              <a:t>Daya pancar total</a:t>
            </a:r>
          </a:p>
          <a:p>
            <a:r>
              <a:rPr lang="id-ID" sz="3200" dirty="0" smtClean="0"/>
              <a:t>AM-DSB-FC :</a:t>
            </a:r>
            <a:endParaRPr lang="id-ID" sz="3200" dirty="0"/>
          </a:p>
        </p:txBody>
      </p:sp>
      <p:graphicFrame>
        <p:nvGraphicFramePr>
          <p:cNvPr id="32770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93229"/>
              </p:ext>
            </p:extLst>
          </p:nvPr>
        </p:nvGraphicFramePr>
        <p:xfrm>
          <a:off x="5798505" y="5099000"/>
          <a:ext cx="2773363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3" name="Equation" r:id="rId5" imgW="1002960" imgH="482400" progId="Equation.3">
                  <p:embed/>
                </p:oleObj>
              </mc:Choice>
              <mc:Fallback>
                <p:oleObj name="Equation" r:id="rId5" imgW="1002960" imgH="4824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8505" y="5099000"/>
                        <a:ext cx="2773363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323528" y="58143"/>
            <a:ext cx="38884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200" dirty="0" smtClean="0">
                <a:solidFill>
                  <a:prstClr val="black"/>
                </a:solidFill>
              </a:rPr>
              <a:t>Banwidth AM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0" y="0"/>
            <a:ext cx="454464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Demodulasi Sinyal AM</a:t>
            </a: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2844" y="571480"/>
            <a:ext cx="90011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</a:rPr>
              <a:t> 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Demodulasi adalah proses memperoleh kembali sinyal informasi dari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sinyal pembawanya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2844" y="1420841"/>
            <a:ext cx="35004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Detektor  :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1.  Detektor selubung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2.  Detektor sinkron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639" y="2621170"/>
            <a:ext cx="850008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Detektor selubung : </a:t>
            </a:r>
            <a:r>
              <a:rPr lang="id-ID" sz="2400" b="1" i="1" dirty="0" smtClean="0">
                <a:solidFill>
                  <a:srgbClr val="FF0000"/>
                </a:solidFill>
              </a:rPr>
              <a:t>tidak dapat mendeteksi siyal </a:t>
            </a:r>
            <a:r>
              <a:rPr lang="id-ID" sz="2400" b="1" i="1" smtClean="0">
                <a:solidFill>
                  <a:srgbClr val="FF0000"/>
                </a:solidFill>
              </a:rPr>
              <a:t>AM-DSB-SC </a:t>
            </a:r>
            <a:endParaRPr lang="en-US" sz="2400" b="1" i="1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400" i="1">
                <a:solidFill>
                  <a:srgbClr val="FF0000"/>
                </a:solidFill>
              </a:rPr>
              <a:t> </a:t>
            </a:r>
            <a:r>
              <a:rPr lang="id-ID" sz="24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Detektor </a:t>
            </a:r>
            <a:r>
              <a:rPr lang="id-ID" sz="24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selubung</a:t>
            </a:r>
            <a:r>
              <a:rPr lang="en-US" sz="24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: hanya dapat mendeteksi sinyal AM-DSB-FC</a:t>
            </a:r>
            <a:endParaRPr lang="id-ID" sz="2400" i="1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55479"/>
            <a:ext cx="7560840" cy="3332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491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772" y="292024"/>
            <a:ext cx="8940228" cy="21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4673" y="2488144"/>
            <a:ext cx="8849327" cy="2304000"/>
          </a:xfrm>
          <a:prstGeom prst="rect">
            <a:avLst/>
          </a:prstGeom>
          <a:blipFill dpi="0" rotWithShape="0">
            <a:blip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11760" y="2924944"/>
            <a:ext cx="115252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81372" y="2720872"/>
            <a:ext cx="11715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/>
          <p:cNvSpPr/>
          <p:nvPr/>
        </p:nvSpPr>
        <p:spPr>
          <a:xfrm>
            <a:off x="203772" y="0"/>
            <a:ext cx="2448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Detektor selubung</a:t>
            </a:r>
            <a:endParaRPr lang="id-ID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4864264"/>
            <a:ext cx="8856000" cy="19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4860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220643"/>
            <a:ext cx="88924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Detektor Sinkron</a:t>
            </a:r>
            <a:r>
              <a:rPr lang="id-ID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id-ID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memerlukan sinyal pembawa yang sinkron </a:t>
            </a:r>
          </a:p>
          <a:p>
            <a:r>
              <a:rPr lang="id-ID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dengan sinyal pembawa di pengirim/modulator.</a:t>
            </a:r>
          </a:p>
          <a:p>
            <a:endParaRPr lang="id-ID" sz="24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Detektor Sinkron: </a:t>
            </a:r>
            <a:r>
              <a:rPr lang="id-ID" sz="2400" i="1" dirty="0" smtClean="0">
                <a:solidFill>
                  <a:srgbClr val="FF0000"/>
                </a:solidFill>
              </a:rPr>
              <a:t>dapat juga mendeteksi siyal AM-DSB-SC </a:t>
            </a:r>
            <a:endParaRPr lang="id-ID" sz="2400" i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520" y="2314014"/>
            <a:ext cx="8280920" cy="4026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195736" y="6328046"/>
            <a:ext cx="2856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Detektor Sinkron</a:t>
            </a:r>
            <a:endParaRPr lang="id-ID" sz="28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87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1"/>
            <a:ext cx="32499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Pemancar AM</a:t>
            </a: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642910" y="571480"/>
            <a:ext cx="509370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Pemancar AM-DSB-FC level rendah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Pemancar AM-DSB-FC level tinggi.</a:t>
            </a:r>
            <a:endParaRPr lang="id-ID" sz="24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500174"/>
            <a:ext cx="5279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Pemancar AM-DSB-FC level rendah :</a:t>
            </a:r>
            <a:endParaRPr lang="id-ID" sz="2400" dirty="0">
              <a:solidFill>
                <a:prstClr val="black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108000" cy="48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6701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4290"/>
            <a:ext cx="5055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Pemancar AM-DSB-FC level tinggi.</a:t>
            </a:r>
            <a:endParaRPr lang="id-ID" sz="24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00108"/>
            <a:ext cx="8928000" cy="57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0961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0"/>
            <a:ext cx="601196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12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Standar Siaran AM Komersial</a:t>
            </a: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24588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8459" y="928670"/>
            <a:ext cx="8885541" cy="592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3994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0042"/>
            <a:ext cx="63768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</a:rPr>
              <a:t> </a:t>
            </a:r>
            <a:r>
              <a:rPr lang="id-ID" b="1" dirty="0" smtClean="0">
                <a:solidFill>
                  <a:prstClr val="black"/>
                </a:solidFill>
              </a:rPr>
              <a:t> </a:t>
            </a: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Parameter-parameter Penerima </a:t>
            </a:r>
            <a:endParaRPr lang="id-ID" sz="3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4348" y="1428736"/>
            <a:ext cx="94298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id-ID" sz="2400" dirty="0" smtClean="0">
                <a:solidFill>
                  <a:prstClr val="black"/>
                </a:solidFill>
              </a:rPr>
              <a:t>  </a:t>
            </a:r>
            <a:r>
              <a:rPr lang="id-ID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Selektivitas</a:t>
            </a:r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: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merupakan kemampuan suatu penerima untuk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menerima band frekuensi yang diberikan dan membuang band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frekuensi lainnya yang tidak diperlukan.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4348" y="2857496"/>
            <a:ext cx="84296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Sensitivitas :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merupakan level sinyal RF minimum yang dapat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diterima oleh suatu penerima  yang masih dapat menghasilkan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sinyal yang </a:t>
            </a:r>
            <a:r>
              <a:rPr lang="id-ID" sz="2400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useable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untuk didemodulasi.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714348" y="4214818"/>
            <a:ext cx="842965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Fidelitas :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merupakan suatu kemampuan suatu penerima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untuk menghasilkan sinyal tiruan (sinyal informasi) yang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sesuai dengan sinyal informasi aslinya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21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2700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Penerima AM Superheterodyne</a:t>
            </a:r>
            <a:endParaRPr lang="id-ID" sz="3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472" y="571480"/>
            <a:ext cx="85725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</a:rPr>
              <a:t> </a:t>
            </a:r>
            <a:r>
              <a:rPr lang="id-ID" dirty="0" smtClean="0">
                <a:solidFill>
                  <a:prstClr val="black"/>
                </a:solidFill>
              </a:rPr>
              <a:t> </a:t>
            </a:r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Heterodyne : 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mencampur dua frekuensi dalam suatu perangkat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nonlinier atau </a:t>
            </a:r>
            <a:r>
              <a:rPr lang="id-ID" sz="24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men-translate s</a:t>
            </a:r>
            <a:r>
              <a:rPr lang="en-US" sz="24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id-ID" sz="24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atu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frekuensi ke frekuensi yang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lain dengan perangkat mixer non linier.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14488"/>
            <a:ext cx="9144000" cy="47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0" y="6427112"/>
            <a:ext cx="91440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000" b="1" i="1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Standar </a:t>
            </a:r>
            <a:r>
              <a:rPr lang="id-ID" sz="2000" b="1" i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frekuensi tengah sinyal AM-IF adalah 455 Khz, bandwidth sebesar 10 Khz</a:t>
            </a:r>
            <a:r>
              <a:rPr lang="id-ID" sz="2000" i="1" dirty="0" smtClean="0">
                <a:solidFill>
                  <a:srgbClr val="0070C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lang="id-ID" sz="2000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50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0" y="15032"/>
            <a:ext cx="41841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 2.5 </a:t>
            </a: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Single Side Band</a:t>
            </a:r>
            <a:endParaRPr lang="id-ID" sz="32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2910" y="642918"/>
            <a:ext cx="85010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id-ID" sz="2400" dirty="0" smtClean="0">
                <a:solidFill>
                  <a:prstClr val="black"/>
                </a:solidFill>
              </a:rPr>
              <a:t> </a:t>
            </a:r>
            <a:r>
              <a:rPr lang="id-ID" dirty="0" smtClean="0">
                <a:solidFill>
                  <a:prstClr val="black"/>
                </a:solidFill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pembawa dan salah satu band LSB atau USB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dihilangkan, sehinga sinyal yang dikirim hanya sinyal USB atau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id-ID" sz="24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</a:t>
            </a:r>
            <a:r>
              <a:rPr lang="en-US" sz="24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id-ID" sz="24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SB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saja.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2428860" y="6457890"/>
            <a:ext cx="36391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Diagram Blok Pembangkit SSB</a:t>
            </a:r>
            <a:endParaRPr lang="id-ID" sz="2000" b="1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785925"/>
            <a:ext cx="8676685" cy="47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4427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5214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Pembangkit Sinyal DSB, SSB 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Dengan Balanced Modulator</a:t>
            </a:r>
            <a:endParaRPr lang="id-ID" sz="2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3924" y="692696"/>
            <a:ext cx="89644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id-ID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Prinsip kerja </a:t>
            </a:r>
            <a:r>
              <a:rPr lang="id-ID" sz="2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balance </a:t>
            </a:r>
            <a:r>
              <a:rPr lang="id-ID" sz="2400" b="1" i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modulator:</a:t>
            </a:r>
            <a:r>
              <a:rPr lang="id-ID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egangan </a:t>
            </a:r>
            <a:r>
              <a:rPr lang="id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sinyal pembawa Vc(t) jauh lebih besar jika dibandingkan dengan tegangan sinyal infrmasi Vm(t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ioda </a:t>
            </a:r>
            <a:r>
              <a:rPr lang="id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D1, D2, D3, dan D4 hanya berfungsi sebagai sakelar 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elektronik </a:t>
            </a: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n/off </a:t>
            </a:r>
            <a:r>
              <a:rPr lang="id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dioda dikontrol oleh tegangan sinyal 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pembawa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inyal </a:t>
            </a:r>
            <a:r>
              <a:rPr lang="id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pembawa tidak ditransfer ke output 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modulator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inyal </a:t>
            </a:r>
            <a:r>
              <a:rPr lang="id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pembawa hanya berfungsi untuk meng-on/off-kan 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dioda</a:t>
            </a:r>
          </a:p>
          <a:p>
            <a:pPr marL="342900" indent="-342900"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id-ID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utput </a:t>
            </a:r>
            <a:r>
              <a:rPr lang="id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 balance modulator ini berupa sinyal DSB.</a:t>
            </a:r>
            <a:endParaRPr lang="id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560" y="4232126"/>
            <a:ext cx="6624736" cy="2509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51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576" y="3356992"/>
            <a:ext cx="7848872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07504" y="188640"/>
            <a:ext cx="9036496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Saat polaritas sinyal pembawa seperti ditunjukan gambar </a:t>
            </a: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(a), </a:t>
            </a: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D1 </a:t>
            </a: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dan D2 dibias maju </a:t>
            </a: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D1 </a:t>
            </a: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dan D2 merupakan sakelar tertutup </a:t>
            </a:r>
            <a:endParaRPr lang="id-ID" sz="24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D3 </a:t>
            </a: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dan D4 dibias mundur </a:t>
            </a:r>
            <a:endParaRPr lang="id-ID" sz="24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D3 </a:t>
            </a: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dan D4 merupakan sakelar </a:t>
            </a: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terbuka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inyal </a:t>
            </a: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informasi ditransfer langsung ke output modulator tanpa dibalik fasanya (sefasa).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17294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6324" y="3429000"/>
            <a:ext cx="8100392" cy="260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251520" y="0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Saat polaritas sinyal pembawa seperti ditunjukan gambar 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(b), </a:t>
            </a:r>
            <a:endParaRPr lang="id-ID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520" y="464369"/>
            <a:ext cx="8730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D1 dan D2 dibias mundur </a:t>
            </a:r>
          </a:p>
          <a:p>
            <a:pPr marL="800100" lvl="1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D3 </a:t>
            </a: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 D4 dibias </a:t>
            </a: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maju 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D1 </a:t>
            </a: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 D2 merupakan sakelar </a:t>
            </a: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terbuka </a:t>
            </a:r>
          </a:p>
          <a:p>
            <a:pPr marL="800100" lvl="1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D3 </a:t>
            </a: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 D4 merupakan sakelar tertutup </a:t>
            </a:r>
          </a:p>
          <a:p>
            <a:pPr marL="800100" lvl="1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id-ID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inyal </a:t>
            </a: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informasi ditransfer ke output modulator dengan beda fasa sebesar 180</a:t>
            </a:r>
            <a:r>
              <a:rPr lang="id-ID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id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id-ID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2059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8" y="3096552"/>
            <a:ext cx="8446487" cy="335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51520" y="116632"/>
            <a:ext cx="889248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Polaritas tegangan sinyal pembawa menentukan on/off dioda sehingga frekuensi sinyal informasi yang berfrekuensi f</a:t>
            </a:r>
            <a:r>
              <a:rPr lang="id-ID" sz="24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telah diubah oleh on/off dioda menjadi sebesar f</a:t>
            </a:r>
            <a:r>
              <a:rPr lang="id-ID" sz="24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id-ID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 balance modulator ini berupa sinyal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DSB selanjutnya diberikan ke input BPF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BPF berupa sinyal SSB</a:t>
            </a:r>
            <a:endParaRPr lang="id-ID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6892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0" y="0"/>
            <a:ext cx="33175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Pemancar SSB</a:t>
            </a: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2910" y="642918"/>
            <a:ext cx="291413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Metoda filter dan </a:t>
            </a:r>
          </a:p>
          <a:p>
            <a:pPr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Metoda geser fasa.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643050"/>
            <a:ext cx="2282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Metoda filter </a:t>
            </a:r>
            <a:endParaRPr lang="id-ID" sz="2400" dirty="0">
              <a:solidFill>
                <a:prstClr val="black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9144000" cy="47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0431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57166"/>
            <a:ext cx="2850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Metoda geser fasa</a:t>
            </a:r>
            <a:endParaRPr lang="id-ID" sz="2400" dirty="0">
              <a:solidFill>
                <a:prstClr val="black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14421"/>
            <a:ext cx="8856000" cy="554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244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ChangeArrowheads="1"/>
          </p:cNvSpPr>
          <p:nvPr/>
        </p:nvSpPr>
        <p:spPr bwMode="auto">
          <a:xfrm>
            <a:off x="0" y="0"/>
            <a:ext cx="333617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Penerima SSB</a:t>
            </a:r>
            <a:endParaRPr lang="id-ID" sz="3200" b="1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36712"/>
            <a:ext cx="8823280" cy="5099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633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6408712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id-ID" b="1" dirty="0" smtClean="0"/>
              <a:t>2.6 </a:t>
            </a:r>
            <a:r>
              <a:rPr lang="en-US" b="1" dirty="0" smtClean="0"/>
              <a:t>Vestigial Side Band (VSB)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844824"/>
            <a:ext cx="8748464" cy="2376264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buFont typeface="Wingdings" pitchFamily="2" charset="2"/>
              <a:buChar char="q"/>
            </a:pPr>
            <a:r>
              <a:rPr lang="en-US" sz="3600" smtClean="0">
                <a:latin typeface="+mj-lt"/>
              </a:rPr>
              <a:t> Merupakan kompromi (jalan tengah)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>
                <a:latin typeface="+mj-lt"/>
              </a:rPr>
              <a:t> </a:t>
            </a:r>
            <a:r>
              <a:rPr lang="en-US" sz="3600" smtClean="0">
                <a:latin typeface="+mj-lt"/>
              </a:rPr>
              <a:t>    antara SSB dan DSB</a:t>
            </a:r>
          </a:p>
          <a:p>
            <a:pPr algn="just" eaLnBrk="1" hangingPunct="1">
              <a:buFont typeface="Wingdings" pitchFamily="2" charset="2"/>
              <a:buChar char="q"/>
            </a:pPr>
            <a:r>
              <a:rPr lang="en-US" sz="3600" smtClean="0">
                <a:latin typeface="+mj-lt"/>
              </a:rPr>
              <a:t> Biasanya digunakan dalam transmisi sinyal</a:t>
            </a:r>
          </a:p>
          <a:p>
            <a:pPr marL="0" indent="0" algn="just" eaLnBrk="1" hangingPunct="1">
              <a:buNone/>
            </a:pPr>
            <a:r>
              <a:rPr lang="en-US" sz="3600">
                <a:latin typeface="+mj-lt"/>
              </a:rPr>
              <a:t> </a:t>
            </a:r>
            <a:r>
              <a:rPr lang="en-US" sz="3600" smtClean="0">
                <a:latin typeface="+mj-lt"/>
              </a:rPr>
              <a:t>    video pada televisi</a:t>
            </a:r>
          </a:p>
        </p:txBody>
      </p:sp>
    </p:spTree>
    <p:extLst>
      <p:ext uri="{BB962C8B-B14F-4D97-AF65-F5344CB8AC3E}">
        <p14:creationId xmlns:p14="http://schemas.microsoft.com/office/powerpoint/2010/main" val="354886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 l="2732" r="3786" b="26132"/>
          <a:stretch>
            <a:fillRect/>
          </a:stretch>
        </p:blipFill>
        <p:spPr bwMode="auto">
          <a:xfrm>
            <a:off x="107504" y="909820"/>
            <a:ext cx="8961120" cy="521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404149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400" kern="0" smtClean="0">
                <a:solidFill>
                  <a:srgbClr val="000000"/>
                </a:solidFill>
                <a:latin typeface="Comic Sans MS" pitchFamily="66" charset="0"/>
              </a:rPr>
              <a:t>Spektrum VSB</a:t>
            </a:r>
            <a:endParaRPr lang="en-US" kern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90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6635080" cy="1143000"/>
          </a:xfrm>
        </p:spPr>
        <p:txBody>
          <a:bodyPr/>
          <a:lstStyle/>
          <a:p>
            <a:pPr eaLnBrk="1" hangingPunct="1"/>
            <a:r>
              <a:rPr lang="en-US" b="1" smtClean="0"/>
              <a:t>Pembangkit Sinyal VSB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340768"/>
            <a:ext cx="8640960" cy="5517232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q"/>
            </a:pPr>
            <a:r>
              <a:rPr lang="en-US" smtClean="0">
                <a:latin typeface="Comic Sans MS" pitchFamily="66" charset="0"/>
              </a:rPr>
              <a:t>  </a:t>
            </a:r>
            <a:r>
              <a:rPr lang="en-US" smtClean="0">
                <a:latin typeface="+mj-lt"/>
              </a:rPr>
              <a:t>Sinyal VSB dapat dibangkitkan dengan</a:t>
            </a:r>
          </a:p>
          <a:p>
            <a:pPr marL="0" indent="0" algn="just" eaLnBrk="1" hangingPunct="1">
              <a:buNone/>
            </a:pPr>
            <a:r>
              <a:rPr lang="en-US">
                <a:latin typeface="+mj-lt"/>
              </a:rPr>
              <a:t> </a:t>
            </a:r>
            <a:r>
              <a:rPr lang="en-US" smtClean="0">
                <a:latin typeface="+mj-lt"/>
              </a:rPr>
              <a:t>    proses seperti terlihat pada diagram blok</a:t>
            </a:r>
          </a:p>
          <a:p>
            <a:pPr marL="0" indent="0" algn="just" eaLnBrk="1" hangingPunct="1">
              <a:buNone/>
            </a:pPr>
            <a:r>
              <a:rPr lang="en-US">
                <a:latin typeface="+mj-lt"/>
              </a:rPr>
              <a:t> </a:t>
            </a:r>
            <a:r>
              <a:rPr lang="en-US" smtClean="0">
                <a:latin typeface="+mj-lt"/>
              </a:rPr>
              <a:t>    berikut</a:t>
            </a:r>
          </a:p>
          <a:p>
            <a:pPr marL="0" indent="0" algn="just" eaLnBrk="1" hangingPunct="1">
              <a:buNone/>
            </a:pPr>
            <a:endParaRPr lang="en-US">
              <a:latin typeface="+mj-lt"/>
            </a:endParaRPr>
          </a:p>
          <a:p>
            <a:pPr marL="0" indent="0" algn="just" eaLnBrk="1" hangingPunct="1">
              <a:buNone/>
            </a:pPr>
            <a:endParaRPr lang="en-US" smtClean="0">
              <a:latin typeface="+mj-lt"/>
            </a:endParaRP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Comic Sans MS" pitchFamily="66" charset="0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sz="2800" smtClean="0">
              <a:latin typeface="Comic Sans MS" pitchFamily="66" charset="0"/>
            </a:endParaRPr>
          </a:p>
        </p:txBody>
      </p:sp>
      <p:graphicFrame>
        <p:nvGraphicFramePr>
          <p:cNvPr id="17410" name="Object 4"/>
          <p:cNvGraphicFramePr>
            <a:graphicFrameLocks noGrp="1" noChangeAspect="1"/>
          </p:cNvGraphicFramePr>
          <p:nvPr>
            <p:ph sz="half" idx="2"/>
            <p:extLst/>
          </p:nvPr>
        </p:nvGraphicFramePr>
        <p:xfrm>
          <a:off x="1116013" y="3213100"/>
          <a:ext cx="7772400" cy="3414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0" name="Visio" r:id="rId4" imgW="2273808" imgH="999134" progId="Visio.Drawing.6">
                  <p:embed/>
                </p:oleObj>
              </mc:Choice>
              <mc:Fallback>
                <p:oleObj name="Visio" r:id="rId4" imgW="2273808" imgH="99913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213100"/>
                        <a:ext cx="7772400" cy="3414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1073067"/>
      </p:ext>
    </p:extLst>
  </p:cSld>
  <p:clrMapOvr>
    <a:masterClrMapping/>
  </p:clrMapOvr>
  <p:transition spd="slow">
    <p:dissolve/>
    <p:sndAc>
      <p:stSnd>
        <p:snd r:embed="rId3" name="arrow.wav"/>
      </p:stSnd>
    </p:sndAc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472"/>
            <a:ext cx="6491064" cy="1143000"/>
          </a:xfrm>
        </p:spPr>
        <p:txBody>
          <a:bodyPr/>
          <a:lstStyle/>
          <a:p>
            <a:pPr eaLnBrk="1" hangingPunct="1"/>
            <a:r>
              <a:rPr lang="en-US" b="1" smtClean="0"/>
              <a:t>Demodulasi sinyal VSB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196752"/>
            <a:ext cx="8579296" cy="5544616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q"/>
            </a:pPr>
            <a:r>
              <a:rPr lang="en-US" smtClean="0">
                <a:latin typeface="Comic Sans MS" pitchFamily="66" charset="0"/>
              </a:rPr>
              <a:t> </a:t>
            </a:r>
            <a:r>
              <a:rPr lang="en-US" smtClean="0">
                <a:latin typeface="+mj-lt"/>
              </a:rPr>
              <a:t>Sinyal VSB dapat didemodulasi dengan</a:t>
            </a:r>
          </a:p>
          <a:p>
            <a:pPr marL="0" indent="0" algn="just" eaLnBrk="1" hangingPunct="1">
              <a:buNone/>
            </a:pPr>
            <a:r>
              <a:rPr lang="en-US">
                <a:latin typeface="+mj-lt"/>
              </a:rPr>
              <a:t> </a:t>
            </a:r>
            <a:r>
              <a:rPr lang="en-US" smtClean="0">
                <a:latin typeface="+mj-lt"/>
              </a:rPr>
              <a:t>   cara synchronous detection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Comic Sans MS" pitchFamily="66" charset="0"/>
            </a:endParaRPr>
          </a:p>
        </p:txBody>
      </p:sp>
      <p:graphicFrame>
        <p:nvGraphicFramePr>
          <p:cNvPr id="18434" name="Object 4"/>
          <p:cNvGraphicFramePr>
            <a:graphicFrameLocks noGrp="1" noChangeAspect="1"/>
          </p:cNvGraphicFramePr>
          <p:nvPr>
            <p:ph sz="half" idx="2"/>
            <p:extLst/>
          </p:nvPr>
        </p:nvGraphicFramePr>
        <p:xfrm>
          <a:off x="1116012" y="2840036"/>
          <a:ext cx="7315200" cy="3787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4" name="Visio" r:id="rId4" imgW="2243633" imgH="1161288" progId="Visio.Drawing.6">
                  <p:embed/>
                </p:oleObj>
              </mc:Choice>
              <mc:Fallback>
                <p:oleObj name="Visio" r:id="rId4" imgW="2243633" imgH="116128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2" y="2840036"/>
                        <a:ext cx="7315200" cy="3787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7399009"/>
      </p:ext>
    </p:extLst>
  </p:cSld>
  <p:clrMapOvr>
    <a:masterClrMapping/>
  </p:clrMapOvr>
  <p:transition spd="slow">
    <p:dissolve/>
    <p:sndAc>
      <p:stSnd>
        <p:snd r:embed="rId3" name="arrow.wav"/>
      </p:stSnd>
    </p:sndAc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38499"/>
            <a:ext cx="914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d-ID" sz="36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2.7</a:t>
            </a:r>
            <a:r>
              <a:rPr kumimoji="0" lang="id-ID" sz="36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Modulasi Frekuensi (FM)</a:t>
            </a:r>
            <a:endParaRPr kumimoji="0" lang="id-ID" sz="36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909390"/>
            <a:ext cx="9144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id-ID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Modulasi Frekuensi :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frekuensi sesaat gelombang sinyal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pembawa (carrier) berubah sebanding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dengan</a:t>
            </a: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aplitudo (tegangan)  sesaat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gelombang sinyal</a:t>
            </a:r>
            <a:r>
              <a:rPr kumimoji="0" lang="id-ID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informasi.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616" y="2996952"/>
            <a:ext cx="86764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Saat tegangan sinyal informasi = 0, </a:t>
            </a:r>
          </a:p>
          <a:p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frekuensi sinyal FM = fc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Saat tegangan sinyal informasi maksimum Vm maks, </a:t>
            </a:r>
          </a:p>
          <a:p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frekuensi sinyal FM = maksimum (f maks)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Saat tegangan sinyal informasi minimum Vm min, </a:t>
            </a:r>
          </a:p>
          <a:p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frekuensi sinyal FM = minimum (f minimum)</a:t>
            </a:r>
            <a:endParaRPr lang="id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62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39851"/>
            <a:ext cx="8496944" cy="5901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0331" y="116632"/>
            <a:ext cx="3329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Modulasi Frekuensi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431357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0" y="0"/>
            <a:ext cx="702788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Bentuk Gelombang PM dan FM</a:t>
            </a:r>
            <a:endParaRPr lang="id-ID" sz="36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646330"/>
            <a:ext cx="8892000" cy="6191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1781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9"/>
          <p:cNvSpPr txBox="1">
            <a:spLocks noChangeArrowheads="1"/>
          </p:cNvSpPr>
          <p:nvPr/>
        </p:nvSpPr>
        <p:spPr bwMode="auto">
          <a:xfrm>
            <a:off x="228289" y="1147999"/>
            <a:ext cx="36724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eaLnBrk="1" fontAlgn="base" hangingPunct="1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id-ID" altLang="id-ID" sz="2800" b="1" kern="0" dirty="0" smtClean="0">
                <a:solidFill>
                  <a:prstClr val="black"/>
                </a:solidFill>
              </a:rPr>
              <a:t>Sinyal informasi :</a:t>
            </a:r>
            <a:endParaRPr lang="en-GB" altLang="id-ID" sz="2800" b="1" kern="0" dirty="0" smtClean="0">
              <a:solidFill>
                <a:prstClr val="black"/>
              </a:solidFill>
            </a:endParaRPr>
          </a:p>
        </p:txBody>
      </p:sp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228289" y="2312502"/>
            <a:ext cx="38164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eaLnBrk="1" fontAlgn="base" hangingPunct="1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GB" altLang="id-ID" sz="2800" b="1" kern="0" dirty="0" smtClean="0">
                <a:solidFill>
                  <a:prstClr val="black"/>
                </a:solidFill>
              </a:rPr>
              <a:t>Carrier</a:t>
            </a:r>
            <a:r>
              <a:rPr lang="id-ID" altLang="id-ID" sz="2800" b="1" kern="0" dirty="0" smtClean="0">
                <a:solidFill>
                  <a:prstClr val="black"/>
                </a:solidFill>
              </a:rPr>
              <a:t>     :</a:t>
            </a:r>
            <a:endParaRPr lang="en-GB" altLang="id-ID" sz="2800" b="1" kern="0" dirty="0" smtClean="0">
              <a:solidFill>
                <a:prstClr val="black"/>
              </a:solidFill>
            </a:endParaRPr>
          </a:p>
        </p:txBody>
      </p:sp>
      <p:graphicFrame>
        <p:nvGraphicFramePr>
          <p:cNvPr id="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397133"/>
              </p:ext>
            </p:extLst>
          </p:nvPr>
        </p:nvGraphicFramePr>
        <p:xfrm>
          <a:off x="3563888" y="1136383"/>
          <a:ext cx="3648748" cy="691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2" name="Equation" r:id="rId3" imgW="1206360" imgH="228600" progId="Equation.3">
                  <p:embed/>
                </p:oleObj>
              </mc:Choice>
              <mc:Fallback>
                <p:oleObj name="Equation" r:id="rId3" imgW="12063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1136383"/>
                        <a:ext cx="3648748" cy="691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773515"/>
              </p:ext>
            </p:extLst>
          </p:nvPr>
        </p:nvGraphicFramePr>
        <p:xfrm>
          <a:off x="2627784" y="2283450"/>
          <a:ext cx="3405125" cy="688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3" name="Equation" r:id="rId5" imgW="1130040" imgH="228600" progId="Equation.3">
                  <p:embed/>
                </p:oleObj>
              </mc:Choice>
              <mc:Fallback>
                <p:oleObj name="Equation" r:id="rId5" imgW="1130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283450"/>
                        <a:ext cx="3405125" cy="6888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9"/>
          <p:cNvSpPr txBox="1">
            <a:spLocks noChangeArrowheads="1"/>
          </p:cNvSpPr>
          <p:nvPr/>
        </p:nvSpPr>
        <p:spPr bwMode="auto">
          <a:xfrm>
            <a:off x="230125" y="3744164"/>
            <a:ext cx="3670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eaLnBrk="1" fontAlgn="base" hangingPunct="1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id-ID" altLang="id-ID" sz="2800" b="1" kern="0" dirty="0" smtClean="0">
                <a:solidFill>
                  <a:prstClr val="black"/>
                </a:solidFill>
              </a:rPr>
              <a:t>Sinyal FM  :</a:t>
            </a:r>
            <a:endParaRPr lang="en-GB" altLang="id-ID" sz="2800" b="1" kern="0" dirty="0" smtClean="0">
              <a:solidFill>
                <a:prstClr val="black"/>
              </a:solidFill>
            </a:endParaRPr>
          </a:p>
        </p:txBody>
      </p:sp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816613"/>
              </p:ext>
            </p:extLst>
          </p:nvPr>
        </p:nvGraphicFramePr>
        <p:xfrm>
          <a:off x="2805113" y="3659188"/>
          <a:ext cx="5900737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4" name="Equation" r:id="rId7" imgW="1942920" imgH="228600" progId="Equation.3">
                  <p:embed/>
                </p:oleObj>
              </mc:Choice>
              <mc:Fallback>
                <p:oleObj name="Equation" r:id="rId7" imgW="19429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3659188"/>
                        <a:ext cx="5900737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1"/>
          <p:cNvSpPr txBox="1">
            <a:spLocks noChangeArrowheads="1"/>
          </p:cNvSpPr>
          <p:nvPr/>
        </p:nvSpPr>
        <p:spPr bwMode="auto">
          <a:xfrm>
            <a:off x="3131840" y="5193751"/>
            <a:ext cx="43204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id-ID" altLang="id-ID" b="1" kern="0" dirty="0" smtClean="0">
                <a:solidFill>
                  <a:prstClr val="black"/>
                </a:solidFill>
              </a:rPr>
              <a:t>Dimana m = indeks modulasi</a:t>
            </a:r>
            <a:endParaRPr lang="en-GB" altLang="id-ID" b="1" kern="0" dirty="0" smtClean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205" y="197541"/>
            <a:ext cx="7488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id-ID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Persamaan matematis sinyal FM</a:t>
            </a:r>
            <a:endParaRPr lang="id-ID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55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971176"/>
              </p:ext>
            </p:extLst>
          </p:nvPr>
        </p:nvGraphicFramePr>
        <p:xfrm>
          <a:off x="406846" y="112790"/>
          <a:ext cx="2551261" cy="173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0" name="Equation" r:id="rId3" imgW="672840" imgH="457200" progId="Equation.3">
                  <p:embed/>
                </p:oleObj>
              </mc:Choice>
              <mc:Fallback>
                <p:oleObj name="Equation" r:id="rId3" imgW="6728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46" y="112790"/>
                        <a:ext cx="2551261" cy="1733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264416"/>
              </p:ext>
            </p:extLst>
          </p:nvPr>
        </p:nvGraphicFramePr>
        <p:xfrm>
          <a:off x="2991643" y="1628800"/>
          <a:ext cx="2016224" cy="17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1" name="Equation" r:id="rId5" imgW="507960" imgH="431640" progId="Equation.3">
                  <p:embed/>
                </p:oleObj>
              </mc:Choice>
              <mc:Fallback>
                <p:oleObj name="Equation" r:id="rId5" imgW="507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1643" y="1628800"/>
                        <a:ext cx="2016224" cy="17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716802"/>
              </p:ext>
            </p:extLst>
          </p:nvPr>
        </p:nvGraphicFramePr>
        <p:xfrm>
          <a:off x="3779912" y="320214"/>
          <a:ext cx="2744072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2" name="Equation" r:id="rId7" imgW="622080" imgH="228600" progId="Equation.3">
                  <p:embed/>
                </p:oleObj>
              </mc:Choice>
              <mc:Fallback>
                <p:oleObj name="Equation" r:id="rId7" imgW="6220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20214"/>
                        <a:ext cx="2744072" cy="10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06846" y="3501008"/>
                <a:ext cx="8737154" cy="3076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Dimana : m	=   indeks modulasi</a:t>
                </a:r>
              </a:p>
              <a:p>
                <a:r>
                  <a:rPr lang="id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k	=   sensitivitas modulator FM [volt/hertz]</a:t>
                </a:r>
              </a:p>
              <a:p>
                <a:r>
                  <a:rPr lang="id-ID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Vm	=   tegangan maksimum sinyal informasi [volt]</a:t>
                </a:r>
              </a:p>
              <a:p>
                <a:r>
                  <a:rPr lang="id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fm	=   frekuensi maksimum sinyal informasi [hertz]\</a:t>
                </a:r>
              </a:p>
              <a:p>
                <a:r>
                  <a:rPr lang="id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id-ID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id-ID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=   </a:t>
                </a:r>
                <a:r>
                  <a:rPr lang="id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id-ID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impangan maksimum frekuensi FM</a:t>
                </a:r>
              </a:p>
              <a:p>
                <a:r>
                  <a:rPr lang="id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id-ID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=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d-ID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d-ID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maks</m:t>
                        </m:r>
                      </m:sub>
                    </m:sSub>
                    <m:r>
                      <a:rPr lang="id-ID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id-ID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fc</m:t>
                    </m:r>
                  </m:oMath>
                </a14:m>
                <a:endParaRPr lang="id-ID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d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id-ID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=   fc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d-ID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d-ID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id-ID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id-ID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46" y="3501008"/>
                <a:ext cx="8737154" cy="3076611"/>
              </a:xfrm>
              <a:prstGeom prst="rect">
                <a:avLst/>
              </a:prstGeom>
              <a:blipFill rotWithShape="0">
                <a:blip r:embed="rId9"/>
                <a:stretch>
                  <a:fillRect l="-1117" t="-1584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81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453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600" b="1" dirty="0" smtClean="0"/>
              <a:t> </a:t>
            </a:r>
            <a:r>
              <a:rPr lang="id-ID" b="1" dirty="0" smtClean="0"/>
              <a:t> </a:t>
            </a:r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Analisis </a:t>
            </a:r>
            <a:r>
              <a:rPr lang="id-ID" sz="3600" b="1" dirty="0">
                <a:latin typeface="Times New Roman" pitchFamily="18" charset="0"/>
                <a:cs typeface="Times New Roman" pitchFamily="18" charset="0"/>
              </a:rPr>
              <a:t>Sinyal FM</a:t>
            </a:r>
            <a:endParaRPr lang="id-ID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Box 29"/>
          <p:cNvSpPr txBox="1">
            <a:spLocks noChangeArrowheads="1"/>
          </p:cNvSpPr>
          <p:nvPr/>
        </p:nvSpPr>
        <p:spPr bwMode="auto">
          <a:xfrm>
            <a:off x="611560" y="836712"/>
            <a:ext cx="3670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eaLnBrk="1" fontAlgn="base" hangingPunct="1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id-ID" altLang="id-ID" sz="2800" b="1" kern="0" dirty="0" smtClean="0">
                <a:solidFill>
                  <a:prstClr val="black"/>
                </a:solidFill>
              </a:rPr>
              <a:t>Sinyal FM  :</a:t>
            </a:r>
            <a:endParaRPr lang="en-GB" altLang="id-ID" sz="2800" b="1" kern="0" dirty="0" smtClean="0">
              <a:solidFill>
                <a:prstClr val="black"/>
              </a:solidFill>
            </a:endParaRPr>
          </a:p>
        </p:txBody>
      </p:sp>
      <p:graphicFrame>
        <p:nvGraphicFramePr>
          <p:cNvPr id="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90836"/>
              </p:ext>
            </p:extLst>
          </p:nvPr>
        </p:nvGraphicFramePr>
        <p:xfrm>
          <a:off x="3094038" y="752475"/>
          <a:ext cx="59023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3" name="Equation" r:id="rId3" imgW="1942920" imgH="228600" progId="Equation.3">
                  <p:embed/>
                </p:oleObj>
              </mc:Choice>
              <mc:Fallback>
                <p:oleObj name="Equation" r:id="rId3" imgW="19429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752475"/>
                        <a:ext cx="590232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444169"/>
            <a:ext cx="7956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Dapat diselesaikan dengan persamaan fungsi Bessel :</a:t>
            </a:r>
            <a:endParaRPr lang="id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575084"/>
              </p:ext>
            </p:extLst>
          </p:nvPr>
        </p:nvGraphicFramePr>
        <p:xfrm>
          <a:off x="1115615" y="2042374"/>
          <a:ext cx="6180173" cy="954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4" name="Equation" r:id="rId5" imgW="3022560" imgH="431640" progId="Equation.DSMT4">
                  <p:embed/>
                </p:oleObj>
              </mc:Choice>
              <mc:Fallback>
                <p:oleObj name="Equation" r:id="rId5" imgW="3022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5" y="2042374"/>
                        <a:ext cx="6180173" cy="954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614" y="3071936"/>
            <a:ext cx="6102605" cy="10051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152054"/>
            <a:ext cx="9144001" cy="222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8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16632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Dalam bentuk tabel</a:t>
            </a:r>
            <a:endParaRPr lang="id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" y="642918"/>
            <a:ext cx="9143995" cy="62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285961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16632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Dalam bentuk kurva</a:t>
            </a:r>
            <a:endParaRPr lang="id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552" y="647244"/>
            <a:ext cx="8172400" cy="6226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276981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896" y="23912"/>
            <a:ext cx="8989104" cy="658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8806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0"/>
            <a:ext cx="914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Spektrum dan Bandwidth Sinyal FM</a:t>
            </a:r>
            <a:endParaRPr kumimoji="0" lang="id-ID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14282" y="857232"/>
            <a:ext cx="88905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Berdasarkan fungsi Bessel, bandwidth gelombang sinyal FM :</a:t>
            </a:r>
            <a:endParaRPr kumimoji="0" lang="id-ID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2500297" y="1571611"/>
            <a:ext cx="3564000" cy="104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Bw = 2.n.f</a:t>
            </a:r>
            <a:r>
              <a:rPr kumimoji="0" lang="id-ID" sz="4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</a:t>
            </a:r>
            <a:endParaRPr kumimoji="0" lang="id-ID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285720" y="2928934"/>
            <a:ext cx="84369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andwidth gelombang sinyal FM berdasar atas rumus Carlson :</a:t>
            </a:r>
            <a:endParaRPr kumimoji="0" lang="id-ID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3929065"/>
            <a:ext cx="4992000" cy="9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0002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7"/>
            <a:ext cx="8778240" cy="6583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54136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0" y="0"/>
            <a:ext cx="887871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d-ID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Contoh :</a:t>
            </a:r>
          </a:p>
          <a:p>
            <a:r>
              <a:rPr lang="id-ID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</a:t>
            </a:r>
            <a:r>
              <a:rPr lang="en-US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odulator</a:t>
            </a:r>
            <a:r>
              <a:rPr lang="id-ID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FM, deviasi frekuensi maksimum 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</a:t>
            </a: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f = 10 kHz, </a:t>
            </a:r>
            <a:endParaRPr lang="id-ID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r>
              <a:rPr lang="id-ID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frekuensi maksimum sinyal informasi </a:t>
            </a:r>
            <a:r>
              <a:rPr lang="en-US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f</a:t>
            </a:r>
            <a:r>
              <a:rPr lang="en-US" b="1" baseline="-250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10 kHz, </a:t>
            </a:r>
            <a:r>
              <a:rPr lang="id-ID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Tegangan sinyal carrier </a:t>
            </a:r>
            <a:r>
              <a:rPr lang="en-US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</a:t>
            </a:r>
            <a:r>
              <a:rPr lang="en-US" b="1" baseline="-250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10 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</a:t>
            </a:r>
            <a:r>
              <a:rPr lang="id-ID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olt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endParaRPr lang="id-ID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r>
              <a:rPr lang="id-ID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Dan frekuensi sinyal carrier 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f</a:t>
            </a:r>
            <a:r>
              <a:rPr lang="en-US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500 kHz, </a:t>
            </a:r>
            <a:r>
              <a:rPr lang="id-ID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dengan indeks modulasi 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m=1 </a:t>
            </a:r>
            <a:endParaRPr lang="en-US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pic>
        <p:nvPicPr>
          <p:cNvPr id="3" name="Picture 2" descr="f06-0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2777" t="13834" r="2777" b="15334"/>
          <a:stretch>
            <a:fillRect/>
          </a:stretch>
        </p:blipFill>
        <p:spPr bwMode="auto">
          <a:xfrm>
            <a:off x="12255" y="1219301"/>
            <a:ext cx="914212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641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6989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Pre-emphassi dan De-emphasis</a:t>
            </a:r>
            <a:endParaRPr lang="id-ID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525" y="476693"/>
            <a:ext cx="87154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>
                <a:solidFill>
                  <a:prstClr val="black"/>
                </a:solidFill>
              </a:rPr>
              <a:t>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Semakin tinggi frekuensi sinyal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audio (informasi),</a:t>
            </a:r>
          </a:p>
          <a:p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semakin besar pula level noisenya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525" y="1374748"/>
            <a:ext cx="1008263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Secara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alamiah, sinyal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audio (informasi) </a:t>
            </a:r>
            <a:r>
              <a:rPr lang="id-ID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yang ber-frekuensi </a:t>
            </a:r>
            <a:endParaRPr lang="en-US" sz="280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lebih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tinggi memiliki amplitudo </a:t>
            </a:r>
            <a:r>
              <a:rPr lang="id-ID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yang </a:t>
            </a:r>
            <a:r>
              <a:rPr lang="id-ID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lebih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rendah </a:t>
            </a:r>
            <a:r>
              <a:rPr lang="id-ID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jika </a:t>
            </a:r>
            <a:endParaRPr lang="en-US" sz="280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dibandingkan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dengan </a:t>
            </a:r>
            <a:r>
              <a:rPr lang="id-ID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</a:t>
            </a:r>
            <a:r>
              <a:rPr lang="id-ID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informasi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audio </a:t>
            </a:r>
            <a:r>
              <a:rPr lang="id-ID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yang </a:t>
            </a:r>
            <a:endParaRPr lang="en-US" sz="280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berfrekuensi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lebih </a:t>
            </a:r>
            <a:r>
              <a:rPr lang="id-ID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rendah</a:t>
            </a:r>
            <a:r>
              <a:rPr lang="id-ID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Frekuensi lebih tingi, lebih besar</a:t>
            </a:r>
          </a:p>
          <a:p>
            <a:r>
              <a:rPr lang="en-US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mendapatkan redaman selama transmisi</a:t>
            </a:r>
            <a:endParaRPr lang="id-ID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525" y="3638669"/>
            <a:ext cx="885828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Rangkaian </a:t>
            </a:r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pre-emphasis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berfungsi untuk </a:t>
            </a:r>
            <a:endParaRPr lang="id-ID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menaikan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audio (informasi) yang</a:t>
            </a:r>
          </a:p>
          <a:p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80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berfrekuenasi tinggi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sebelum diberikan ke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</a:p>
          <a:p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modulator (di pengirim)</a:t>
            </a:r>
            <a:endParaRPr lang="id-ID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647" y="5411450"/>
            <a:ext cx="992988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>
                <a:solidFill>
                  <a:prstClr val="black"/>
                </a:solidFill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Rangkaian </a:t>
            </a:r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de-emphasis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berfungsi untuk meredam </a:t>
            </a:r>
            <a:endParaRPr lang="id-ID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amplitudo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audio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berfrekuensi tinggi sebelum  </a:t>
            </a:r>
            <a:endParaRPr lang="id-ID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diberikan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ke tingkat input penguat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audio (di penerima)</a:t>
            </a:r>
            <a:endParaRPr lang="id-ID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88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 b="10000"/>
          <a:stretch>
            <a:fillRect/>
          </a:stretch>
        </p:blipFill>
        <p:spPr bwMode="auto">
          <a:xfrm>
            <a:off x="857224" y="0"/>
            <a:ext cx="7236000" cy="28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3429000"/>
            <a:ext cx="6372000" cy="32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571868" y="2857496"/>
            <a:ext cx="2282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800" b="1" dirty="0">
                <a:solidFill>
                  <a:prstClr val="black"/>
                </a:solidFill>
              </a:rPr>
              <a:t>Pre-emphasis </a:t>
            </a:r>
          </a:p>
        </p:txBody>
      </p:sp>
      <p:sp>
        <p:nvSpPr>
          <p:cNvPr id="5" name="Rectangle 4"/>
          <p:cNvSpPr/>
          <p:nvPr/>
        </p:nvSpPr>
        <p:spPr>
          <a:xfrm>
            <a:off x="2643174" y="6334780"/>
            <a:ext cx="21114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800" b="1" dirty="0">
                <a:solidFill>
                  <a:prstClr val="black"/>
                </a:solidFill>
              </a:rPr>
              <a:t>De-emphasis</a:t>
            </a:r>
          </a:p>
        </p:txBody>
      </p:sp>
    </p:spTree>
    <p:extLst>
      <p:ext uri="{BB962C8B-B14F-4D97-AF65-F5344CB8AC3E}">
        <p14:creationId xmlns:p14="http://schemas.microsoft.com/office/powerpoint/2010/main" val="218863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928669"/>
            <a:ext cx="8748000" cy="586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0" y="142852"/>
            <a:ext cx="7070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</a:rPr>
              <a:t> Kurva </a:t>
            </a:r>
            <a:r>
              <a:rPr lang="id-ID" sz="2800" dirty="0">
                <a:solidFill>
                  <a:prstClr val="black"/>
                </a:solidFill>
              </a:rPr>
              <a:t>Respon Pre-emphasis dan De-emphasis</a:t>
            </a:r>
          </a:p>
        </p:txBody>
      </p:sp>
    </p:spTree>
    <p:extLst>
      <p:ext uri="{BB962C8B-B14F-4D97-AF65-F5344CB8AC3E}">
        <p14:creationId xmlns:p14="http://schemas.microsoft.com/office/powerpoint/2010/main" val="315911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070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</a:rPr>
              <a:t> Kurva Respon Pre-emphasis dan De-emphasis</a:t>
            </a:r>
            <a:endParaRPr lang="id-ID" sz="2800" dirty="0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22" y="1142983"/>
            <a:ext cx="8746480" cy="5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0806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0"/>
            <a:ext cx="5561138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Rangkaian Modulator FM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(Pembangkit FM Langsung)</a:t>
            </a: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3362" y="1276448"/>
            <a:ext cx="864396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</a:rPr>
              <a:t>Yang disebut sebagai  Frequency-modulated oscillator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   Voltage Controlled Oscillator (VCO)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</a:rPr>
              <a:t>Perubahan tegangan input VCO akan mengubah frekuensi output VCO (frekuensi FM)</a:t>
            </a:r>
            <a:endParaRPr lang="id-ID" sz="2800" dirty="0">
              <a:solidFill>
                <a:prstClr val="black"/>
              </a:solidFill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270724"/>
            <a:ext cx="6446315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429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142984"/>
            <a:ext cx="7992000" cy="554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0" y="428604"/>
            <a:ext cx="47197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id-ID" sz="3200" dirty="0" smtClean="0">
                <a:solidFill>
                  <a:prstClr val="black"/>
                </a:solidFill>
              </a:rPr>
              <a:t>Modulator </a:t>
            </a:r>
            <a:r>
              <a:rPr lang="id-ID" sz="3200" dirty="0">
                <a:solidFill>
                  <a:prstClr val="black"/>
                </a:solidFill>
              </a:rPr>
              <a:t>FM Sederhana</a:t>
            </a:r>
          </a:p>
        </p:txBody>
      </p:sp>
    </p:spTree>
    <p:extLst>
      <p:ext uri="{BB962C8B-B14F-4D97-AF65-F5344CB8AC3E}">
        <p14:creationId xmlns:p14="http://schemas.microsoft.com/office/powerpoint/2010/main" val="401757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42852"/>
            <a:ext cx="67523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id-ID" sz="3200" dirty="0" smtClean="0">
                <a:solidFill>
                  <a:prstClr val="black"/>
                </a:solidFill>
              </a:rPr>
              <a:t>Modulator </a:t>
            </a:r>
            <a:r>
              <a:rPr lang="id-ID" sz="3200" dirty="0">
                <a:solidFill>
                  <a:prstClr val="black"/>
                </a:solidFill>
              </a:rPr>
              <a:t>FM dengan Dioda Varaktor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" y="836712"/>
            <a:ext cx="9108000" cy="5694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39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88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>
                <a:solidFill>
                  <a:prstClr val="black"/>
                </a:solidFill>
              </a:rPr>
              <a:t> PLL sebagai Modulator FM</a:t>
            </a:r>
            <a:endParaRPr lang="id-ID" sz="3200" dirty="0">
              <a:solidFill>
                <a:prstClr val="black"/>
              </a:solidFill>
            </a:endParaRPr>
          </a:p>
        </p:txBody>
      </p:sp>
      <p:pic>
        <p:nvPicPr>
          <p:cNvPr id="3" name="Picture 2" descr="http://www.2wijaya.com/2W/images/Mod%20FM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142984"/>
            <a:ext cx="8820000" cy="428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7779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026" y="547250"/>
            <a:ext cx="59745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>
                <a:solidFill>
                  <a:prstClr val="black"/>
                </a:solidFill>
              </a:rPr>
              <a:t> Pemancar </a:t>
            </a:r>
            <a:r>
              <a:rPr lang="id-ID" sz="3200" dirty="0">
                <a:solidFill>
                  <a:prstClr val="black"/>
                </a:solidFill>
              </a:rPr>
              <a:t>FM Metoda Amstrong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8" y="1126965"/>
            <a:ext cx="8602168" cy="54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31082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Pemancar F M</a:t>
            </a: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29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5523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>
                <a:solidFill>
                  <a:prstClr val="black"/>
                </a:solidFill>
              </a:rPr>
              <a:t> Pemancar </a:t>
            </a:r>
            <a:r>
              <a:rPr lang="id-ID" sz="3200" dirty="0">
                <a:solidFill>
                  <a:prstClr val="black"/>
                </a:solidFill>
              </a:rPr>
              <a:t>FM Metoda Crossby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571479"/>
            <a:ext cx="8928000" cy="62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237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350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</a:rPr>
              <a:t> Pemancar </a:t>
            </a:r>
            <a:r>
              <a:rPr lang="id-ID" sz="3200" b="1" dirty="0">
                <a:solidFill>
                  <a:prstClr val="black"/>
                </a:solidFill>
              </a:rPr>
              <a:t>FM Stereo</a:t>
            </a:r>
            <a:endParaRPr lang="id-ID" sz="3200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472" y="500042"/>
            <a:ext cx="61328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>
                <a:solidFill>
                  <a:prstClr val="black"/>
                </a:solidFill>
              </a:rPr>
              <a:t> Spektrum </a:t>
            </a:r>
            <a:r>
              <a:rPr lang="id-ID" sz="3200" dirty="0">
                <a:solidFill>
                  <a:prstClr val="black"/>
                </a:solidFill>
              </a:rPr>
              <a:t>Siyal Pemodulasi Stereo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990464"/>
            <a:ext cx="9171265" cy="5461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80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77071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id-ID" sz="3200" dirty="0" smtClean="0">
                <a:solidFill>
                  <a:prstClr val="black"/>
                </a:solidFill>
              </a:rPr>
              <a:t>  Diagram </a:t>
            </a:r>
            <a:r>
              <a:rPr lang="id-ID" sz="3200" dirty="0">
                <a:solidFill>
                  <a:prstClr val="black"/>
                </a:solidFill>
              </a:rPr>
              <a:t>Blok Sistem Pemancar FM Stereo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5"/>
            <a:ext cx="8928000" cy="61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7957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123086" y="692964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Standar siaran FM komersial : frekuensi pancar (88 </a:t>
            </a:r>
            <a:r>
              <a:rPr lang="id-ID" sz="2800" dirty="0" smtClean="0">
                <a:solidFill>
                  <a:prstClr val="black"/>
                </a:solidFill>
                <a:ea typeface="Calibri" pitchFamily="34" charset="0"/>
                <a:cs typeface="Times New Roman" pitchFamily="18" charset="0"/>
              </a:rPr>
              <a:t>–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108)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Mhz, Bw = 200 Khz, deviasi frekuesi maksimum 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136801"/>
              </p:ext>
            </p:extLst>
          </p:nvPr>
        </p:nvGraphicFramePr>
        <p:xfrm>
          <a:off x="7505784" y="1346890"/>
          <a:ext cx="285752" cy="285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9" name="Visio" r:id="rId3" imgW="419100" imgH="419100" progId="Visio.Drawing.11">
                  <p:embed/>
                </p:oleObj>
              </mc:Choice>
              <mc:Fallback>
                <p:oleObj name="Visio" r:id="rId3" imgW="419100" imgH="4191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784" y="1346890"/>
                        <a:ext cx="285752" cy="2857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7648660" y="1177740"/>
            <a:ext cx="207170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f=75 kh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z</a:t>
            </a: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113268" y="1854721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Transmisi sinyal audio sistem televisi : frekuensi, (54 s/d 88)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Mhz, (174 s/d 216) Mhz, (470 s/d 890) Mhz, Bw = 50 Khz.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37068" y="3163737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Narrow band public service channels : (108 s/d 174) Mhz,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890 Mhz keatas.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4419582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Narrow band armateur radio channels : (52 s/d 53) Mhz,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(146 s/d 147,5) Mhz dan (440 s/d 450) Mhz.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0" y="558924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Daya pancar : dari level mW (radio amatir) hingga 50 Kw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( siaran FM komersial)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2582" y="149900"/>
            <a:ext cx="52677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Standar siaran FM komersial </a:t>
            </a:r>
            <a:endParaRPr lang="id-ID" sz="2800" b="1" dirty="0"/>
          </a:p>
        </p:txBody>
      </p:sp>
    </p:spTree>
    <p:extLst>
      <p:ext uri="{BB962C8B-B14F-4D97-AF65-F5344CB8AC3E}">
        <p14:creationId xmlns:p14="http://schemas.microsoft.com/office/powerpoint/2010/main" val="212270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239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>
                <a:solidFill>
                  <a:prstClr val="black"/>
                </a:solidFill>
              </a:rPr>
              <a:t> Alokasi </a:t>
            </a:r>
            <a:r>
              <a:rPr lang="id-ID" sz="3200" dirty="0">
                <a:solidFill>
                  <a:prstClr val="black"/>
                </a:solidFill>
              </a:rPr>
              <a:t>Frekuensi Siaran FM Komersial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86950"/>
            <a:ext cx="8856983" cy="575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653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>
                <a:solidFill>
                  <a:prstClr val="black"/>
                </a:solidFill>
              </a:rPr>
              <a:t> </a:t>
            </a:r>
            <a:r>
              <a:rPr lang="id-ID" sz="3200" b="1" dirty="0" smtClean="0">
                <a:solidFill>
                  <a:prstClr val="black"/>
                </a:solidFill>
              </a:rPr>
              <a:t>Detektor FM : </a:t>
            </a:r>
            <a:r>
              <a:rPr lang="id-ID" sz="3200" dirty="0" smtClean="0">
                <a:solidFill>
                  <a:prstClr val="black"/>
                </a:solidFill>
              </a:rPr>
              <a:t>Dengan PLL (Phase Locked Loop)</a:t>
            </a:r>
            <a:endParaRPr lang="id-ID" sz="3200" dirty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3857628"/>
            <a:ext cx="90011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b="1" dirty="0" smtClean="0">
                <a:solidFill>
                  <a:prstClr val="black"/>
                </a:solidFill>
              </a:rPr>
              <a:t>The </a:t>
            </a:r>
            <a:r>
              <a:rPr lang="en-US" sz="2800" b="1" dirty="0" err="1" smtClean="0">
                <a:solidFill>
                  <a:prstClr val="black"/>
                </a:solidFill>
              </a:rPr>
              <a:t>PLL</a:t>
            </a:r>
            <a:r>
              <a:rPr lang="en-US" sz="2800" b="1" dirty="0" smtClean="0">
                <a:solidFill>
                  <a:prstClr val="black"/>
                </a:solidFill>
              </a:rPr>
              <a:t> detector works in the following manner:</a:t>
            </a:r>
            <a:endParaRPr lang="id-ID" sz="2800" b="1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158" y="4357694"/>
            <a:ext cx="878684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The voltage-controlled oscillator (</a:t>
            </a:r>
            <a:r>
              <a:rPr lang="en-US" sz="2800" dirty="0" err="1" smtClean="0">
                <a:solidFill>
                  <a:prstClr val="black"/>
                </a:solidFill>
              </a:rPr>
              <a:t>VCO</a:t>
            </a:r>
            <a:r>
              <a:rPr lang="en-US" sz="2800" dirty="0" smtClean="0">
                <a:solidFill>
                  <a:prstClr val="black"/>
                </a:solidFill>
              </a:rPr>
              <a:t>) free runs at the</a:t>
            </a:r>
            <a:endParaRPr lang="id-ID" sz="2800" dirty="0" smtClean="0">
              <a:solidFill>
                <a:prstClr val="black"/>
              </a:solidFill>
            </a:endParaRPr>
          </a:p>
          <a:p>
            <a:r>
              <a:rPr lang="id-ID" sz="2800" dirty="0" smtClean="0">
                <a:solidFill>
                  <a:prstClr val="black"/>
                </a:solidFill>
              </a:rPr>
              <a:t>  </a:t>
            </a:r>
            <a:r>
              <a:rPr lang="en-US" sz="2800" dirty="0" smtClean="0">
                <a:solidFill>
                  <a:prstClr val="black"/>
                </a:solidFill>
              </a:rPr>
              <a:t> 10.7-MHz intermediate</a:t>
            </a: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frequency.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85720" y="5473005"/>
            <a:ext cx="88582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>
                <a:solidFill>
                  <a:prstClr val="black"/>
                </a:solidFill>
              </a:rPr>
              <a:t>The incoming signal, if </a:t>
            </a:r>
            <a:r>
              <a:rPr lang="en-US" sz="2800" dirty="0" err="1" smtClean="0">
                <a:solidFill>
                  <a:prstClr val="black"/>
                </a:solidFill>
              </a:rPr>
              <a:t>unmodulated</a:t>
            </a:r>
            <a:r>
              <a:rPr lang="en-US" sz="2800" dirty="0" smtClean="0">
                <a:solidFill>
                  <a:prstClr val="black"/>
                </a:solidFill>
              </a:rPr>
              <a:t>, locks up with the</a:t>
            </a:r>
            <a:endParaRPr lang="id-ID" sz="2800" dirty="0" smtClean="0">
              <a:solidFill>
                <a:prstClr val="black"/>
              </a:solidFill>
            </a:endParaRPr>
          </a:p>
          <a:p>
            <a:r>
              <a:rPr lang="id-ID" sz="2800" dirty="0" smtClean="0">
                <a:solidFill>
                  <a:prstClr val="black"/>
                </a:solidFill>
              </a:rPr>
              <a:t>  </a:t>
            </a:r>
            <a:r>
              <a:rPr lang="en-US" sz="2800" dirty="0" err="1" smtClean="0">
                <a:solidFill>
                  <a:prstClr val="black"/>
                </a:solidFill>
              </a:rPr>
              <a:t>VCO</a:t>
            </a: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signal, causing there to be no signal (ac) output</a:t>
            </a: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from</a:t>
            </a:r>
            <a:endParaRPr lang="id-ID" sz="2800" dirty="0" smtClean="0">
              <a:solidFill>
                <a:prstClr val="black"/>
              </a:solidFill>
            </a:endParaRPr>
          </a:p>
          <a:p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 the </a:t>
            </a:r>
            <a:r>
              <a:rPr lang="en-US" sz="2800" dirty="0" err="1" smtClean="0">
                <a:solidFill>
                  <a:prstClr val="black"/>
                </a:solidFill>
              </a:rPr>
              <a:t>LPF</a:t>
            </a:r>
            <a:r>
              <a:rPr lang="en-US" sz="2800" dirty="0" smtClean="0">
                <a:solidFill>
                  <a:prstClr val="black"/>
                </a:solidFill>
              </a:rPr>
              <a:t> stage.</a:t>
            </a:r>
            <a:endParaRPr lang="id-ID" sz="2800" dirty="0">
              <a:solidFill>
                <a:prstClr val="black"/>
              </a:solidFill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24"/>
            <a:ext cx="9218216" cy="3761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2459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52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Now let us assume that the incoming signal has been</a:t>
            </a:r>
            <a:endParaRPr lang="id-ID" sz="2800" dirty="0" smtClean="0">
              <a:solidFill>
                <a:prstClr val="black"/>
              </a:solidFill>
            </a:endParaRPr>
          </a:p>
          <a:p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 modulated by a</a:t>
            </a: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single audio tone. </a:t>
            </a:r>
            <a:endParaRPr lang="id-ID" sz="2800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357298"/>
            <a:ext cx="964409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The phase detector will output an error voltage to the</a:t>
            </a: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err="1" smtClean="0">
                <a:solidFill>
                  <a:prstClr val="black"/>
                </a:solidFill>
              </a:rPr>
              <a:t>VCO</a:t>
            </a:r>
            <a:endParaRPr lang="id-ID" sz="2800" dirty="0" smtClean="0">
              <a:solidFill>
                <a:prstClr val="black"/>
              </a:solidFill>
            </a:endParaRPr>
          </a:p>
          <a:p>
            <a:r>
              <a:rPr lang="id-ID" sz="2800" dirty="0" smtClean="0">
                <a:solidFill>
                  <a:prstClr val="black"/>
                </a:solidFill>
              </a:rPr>
              <a:t>  </a:t>
            </a:r>
            <a:r>
              <a:rPr lang="en-US" sz="2800" dirty="0" smtClean="0">
                <a:solidFill>
                  <a:prstClr val="black"/>
                </a:solidFill>
              </a:rPr>
              <a:t>in an attempt to drive the </a:t>
            </a:r>
            <a:r>
              <a:rPr lang="en-US" sz="2800" dirty="0" err="1" smtClean="0">
                <a:solidFill>
                  <a:prstClr val="black"/>
                </a:solidFill>
              </a:rPr>
              <a:t>VCO</a:t>
            </a:r>
            <a:r>
              <a:rPr lang="en-US" sz="2800" dirty="0" smtClean="0">
                <a:solidFill>
                  <a:prstClr val="black"/>
                </a:solidFill>
              </a:rPr>
              <a:t> into lock-up with the</a:t>
            </a: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incoming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</a:t>
            </a:r>
            <a:r>
              <a:rPr lang="en-US" sz="2800" dirty="0" smtClean="0">
                <a:solidFill>
                  <a:prstClr val="black"/>
                </a:solidFill>
              </a:rPr>
              <a:t>signal.</a:t>
            </a:r>
            <a:endParaRPr lang="id-ID" sz="2800" dirty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786058"/>
            <a:ext cx="97155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Because the incoming signal frequency is deviating both</a:t>
            </a:r>
            <a:r>
              <a:rPr lang="id-ID" sz="2800" dirty="0" smtClean="0">
                <a:solidFill>
                  <a:prstClr val="black"/>
                </a:solidFill>
              </a:rPr>
              <a:t> 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</a:t>
            </a:r>
            <a:r>
              <a:rPr lang="en-US" sz="2800" dirty="0" smtClean="0">
                <a:solidFill>
                  <a:prstClr val="black"/>
                </a:solidFill>
              </a:rPr>
              <a:t>above and</a:t>
            </a: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below the 10.7-MHz rest frequency at a certain</a:t>
            </a:r>
            <a:endParaRPr lang="id-ID" sz="2800" dirty="0" smtClean="0">
              <a:solidFill>
                <a:prstClr val="black"/>
              </a:solidFill>
            </a:endParaRPr>
          </a:p>
          <a:p>
            <a:r>
              <a:rPr lang="id-ID" sz="2800" dirty="0" smtClean="0">
                <a:solidFill>
                  <a:prstClr val="black"/>
                </a:solidFill>
              </a:rPr>
              <a:t>  </a:t>
            </a:r>
            <a:r>
              <a:rPr lang="en-US" sz="2800" dirty="0" smtClean="0">
                <a:solidFill>
                  <a:prstClr val="black"/>
                </a:solidFill>
              </a:rPr>
              <a:t> number of cycles per sec-</a:t>
            </a:r>
            <a:r>
              <a:rPr lang="en-US" sz="2800" dirty="0" err="1" smtClean="0">
                <a:solidFill>
                  <a:prstClr val="black"/>
                </a:solidFill>
              </a:rPr>
              <a:t>ond</a:t>
            </a:r>
            <a:r>
              <a:rPr lang="en-US" sz="2800" dirty="0" smtClean="0">
                <a:solidFill>
                  <a:prstClr val="black"/>
                </a:solidFill>
              </a:rPr>
              <a:t>, the </a:t>
            </a:r>
            <a:r>
              <a:rPr lang="en-US" sz="2800" dirty="0" err="1" smtClean="0">
                <a:solidFill>
                  <a:prstClr val="black"/>
                </a:solidFill>
              </a:rPr>
              <a:t>VCO</a:t>
            </a:r>
            <a:r>
              <a:rPr lang="en-US" sz="2800" dirty="0" smtClean="0">
                <a:solidFill>
                  <a:prstClr val="black"/>
                </a:solidFill>
              </a:rPr>
              <a:t> will do the same, </a:t>
            </a:r>
            <a:endParaRPr lang="id-ID" sz="2800" dirty="0" smtClean="0">
              <a:solidFill>
                <a:prstClr val="black"/>
              </a:solidFill>
            </a:endParaRPr>
          </a:p>
          <a:p>
            <a:r>
              <a:rPr lang="id-ID" sz="2800" dirty="0" smtClean="0">
                <a:solidFill>
                  <a:prstClr val="black"/>
                </a:solidFill>
              </a:rPr>
              <a:t>   </a:t>
            </a:r>
            <a:r>
              <a:rPr lang="en-US" sz="2800" dirty="0" smtClean="0">
                <a:solidFill>
                  <a:prstClr val="black"/>
                </a:solidFill>
              </a:rPr>
              <a:t>following the input-signal frequency variations.</a:t>
            </a:r>
            <a:endParaRPr lang="id-ID" sz="2800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929198"/>
            <a:ext cx="935834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The error voltage from the </a:t>
            </a:r>
            <a:r>
              <a:rPr lang="en-US" sz="2800" dirty="0" err="1" smtClean="0">
                <a:solidFill>
                  <a:prstClr val="black"/>
                </a:solidFill>
              </a:rPr>
              <a:t>LPF</a:t>
            </a:r>
            <a:r>
              <a:rPr lang="en-US" sz="2800" dirty="0" smtClean="0">
                <a:solidFill>
                  <a:prstClr val="black"/>
                </a:solidFill>
              </a:rPr>
              <a:t>, which drives the </a:t>
            </a:r>
            <a:r>
              <a:rPr lang="en-US" sz="2800" dirty="0" err="1" smtClean="0">
                <a:solidFill>
                  <a:prstClr val="black"/>
                </a:solidFill>
              </a:rPr>
              <a:t>VCO</a:t>
            </a:r>
            <a:r>
              <a:rPr lang="en-US" sz="2800" dirty="0" smtClean="0">
                <a:solidFill>
                  <a:prstClr val="black"/>
                </a:solidFill>
              </a:rPr>
              <a:t>, will be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</a:t>
            </a:r>
            <a:r>
              <a:rPr lang="en-US" sz="2800" dirty="0" smtClean="0">
                <a:solidFill>
                  <a:prstClr val="black"/>
                </a:solidFill>
              </a:rPr>
              <a:t>identical to the original modulating signal, and hence is</a:t>
            </a: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taken</a:t>
            </a:r>
            <a:endParaRPr lang="id-ID" sz="2800" dirty="0" smtClean="0">
              <a:solidFill>
                <a:prstClr val="black"/>
              </a:solidFill>
            </a:endParaRPr>
          </a:p>
          <a:p>
            <a:r>
              <a:rPr lang="id-ID" sz="2800" dirty="0" smtClean="0">
                <a:solidFill>
                  <a:prstClr val="black"/>
                </a:solidFill>
              </a:rPr>
              <a:t>  </a:t>
            </a:r>
            <a:r>
              <a:rPr lang="en-US" sz="2800" dirty="0" smtClean="0">
                <a:solidFill>
                  <a:prstClr val="black"/>
                </a:solidFill>
              </a:rPr>
              <a:t> as the</a:t>
            </a:r>
            <a:r>
              <a:rPr lang="id-ID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demodulated output</a:t>
            </a:r>
            <a:r>
              <a:rPr lang="id-ID" sz="2800" dirty="0" smtClean="0">
                <a:solidFill>
                  <a:prstClr val="black"/>
                </a:solidFill>
              </a:rPr>
              <a:t> (sinyal informasi asalnya)</a:t>
            </a:r>
            <a:endParaRPr lang="id-ID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42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00" y="1062000"/>
            <a:ext cx="9108000" cy="57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64592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200" b="1" dirty="0" smtClean="0">
                <a:solidFill>
                  <a:prstClr val="black"/>
                </a:solidFill>
              </a:rPr>
              <a:t> Diagram Blok Sistem Penerima FM</a:t>
            </a:r>
            <a:endParaRPr lang="id-ID" sz="3200" dirty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63060" y="1043868"/>
            <a:ext cx="37294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solidFill>
                  <a:prstClr val="black"/>
                </a:solidFill>
              </a:rPr>
              <a:t>Membatasi amplitudo puncak positif dan negatif sinyal IF FM, agar terhindar dari noise</a:t>
            </a:r>
            <a:endParaRPr lang="id-ID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723920" y="1500120"/>
              <a:ext cx="482400" cy="2862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4560" y="1490760"/>
                <a:ext cx="501120" cy="30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08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0" y="0"/>
            <a:ext cx="878684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Diagram Blok Sistem Penerima FM Stereo</a:t>
            </a: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 b="-784"/>
          <a:stretch>
            <a:fillRect/>
          </a:stretch>
        </p:blipFill>
        <p:spPr bwMode="auto">
          <a:xfrm>
            <a:off x="0" y="1000108"/>
            <a:ext cx="9144000" cy="59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560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9087985" cy="55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214290"/>
            <a:ext cx="55006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FM Stereo</a:t>
            </a:r>
            <a:endParaRPr lang="id-ID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1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 noChangeArrowheads="1"/>
          </p:cNvSpPr>
          <p:nvPr/>
        </p:nvSpPr>
        <p:spPr bwMode="auto">
          <a:xfrm>
            <a:off x="0" y="0"/>
            <a:ext cx="871161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600" b="1" dirty="0" smtClean="0">
                <a:solidFill>
                  <a:srgbClr val="333333"/>
                </a:solidFill>
                <a:latin typeface="Arial" pitchFamily="34" charset="0"/>
                <a:ea typeface="Times New Roman" pitchFamily="18" charset="0"/>
              </a:rPr>
              <a:t> </a:t>
            </a:r>
            <a:r>
              <a:rPr lang="id-ID" sz="3200" b="1" dirty="0" smtClean="0">
                <a:solidFill>
                  <a:srgbClr val="333333"/>
                </a:solidFill>
                <a:latin typeface="Arial" pitchFamily="34" charset="0"/>
                <a:ea typeface="Times New Roman" pitchFamily="18" charset="0"/>
              </a:rPr>
              <a:t>Pemancar dan Penerima FM dengan PLL </a:t>
            </a: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428596" y="714356"/>
            <a:ext cx="49065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800" dirty="0" smtClean="0">
                <a:solidFill>
                  <a:srgbClr val="333333"/>
                </a:solidFill>
                <a:latin typeface="Arial" pitchFamily="34" charset="0"/>
                <a:ea typeface="Times New Roman" pitchFamily="18" charset="0"/>
              </a:rPr>
              <a:t> FM Transmitter dengan PLL</a:t>
            </a:r>
            <a:endParaRPr lang="id-ID" sz="28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 r="1661"/>
          <a:stretch>
            <a:fillRect/>
          </a:stretch>
        </p:blipFill>
        <p:spPr bwMode="auto">
          <a:xfrm>
            <a:off x="144000" y="1357298"/>
            <a:ext cx="9000000" cy="5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6895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52"/>
            <a:ext cx="39527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</a:rPr>
              <a:t> FM Reciever dengan PLL</a:t>
            </a:r>
            <a:endParaRPr lang="id-ID" sz="2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857232"/>
            <a:ext cx="9000000" cy="59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7125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2446</Words>
  <Application>Microsoft Office PowerPoint</Application>
  <PresentationFormat>On-screen Show (4:3)</PresentationFormat>
  <Paragraphs>389</Paragraphs>
  <Slides>84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84</vt:i4>
      </vt:variant>
    </vt:vector>
  </HeadingPairs>
  <TitlesOfParts>
    <vt:vector size="108" baseType="lpstr">
      <vt:lpstr>Arial</vt:lpstr>
      <vt:lpstr>Arial Narrow</vt:lpstr>
      <vt:lpstr>Calibri</vt:lpstr>
      <vt:lpstr>Cambria Math</vt:lpstr>
      <vt:lpstr>Comic Sans MS</vt:lpstr>
      <vt:lpstr>Lucida Sans Unicode</vt:lpstr>
      <vt:lpstr>Symbol</vt:lpstr>
      <vt:lpstr>Times New Roman</vt:lpstr>
      <vt:lpstr>Verdana</vt:lpstr>
      <vt:lpstr>Wingdings</vt:lpstr>
      <vt:lpstr>Wingdings 2</vt:lpstr>
      <vt:lpstr>Wingdings 3</vt:lpstr>
      <vt:lpstr>1_Concourse</vt:lpstr>
      <vt:lpstr>2_Concourse</vt:lpstr>
      <vt:lpstr>3_Concourse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Equation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2.6 Vestigial Side Band (VSB)</vt:lpstr>
      <vt:lpstr>PowerPoint Presentation</vt:lpstr>
      <vt:lpstr>Pembangkit Sinyal VSB</vt:lpstr>
      <vt:lpstr>Demodulasi sinyal VSB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-</dc:creator>
  <cp:lastModifiedBy>Slameta</cp:lastModifiedBy>
  <cp:revision>76</cp:revision>
  <dcterms:created xsi:type="dcterms:W3CDTF">2012-03-20T14:50:10Z</dcterms:created>
  <dcterms:modified xsi:type="dcterms:W3CDTF">2016-06-06T12:09:21Z</dcterms:modified>
</cp:coreProperties>
</file>