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9"/>
  </p:notesMasterIdLst>
  <p:sldIdLst>
    <p:sldId id="256" r:id="rId3"/>
    <p:sldId id="386" r:id="rId4"/>
    <p:sldId id="258" r:id="rId5"/>
    <p:sldId id="322" r:id="rId6"/>
    <p:sldId id="318" r:id="rId7"/>
    <p:sldId id="323" r:id="rId8"/>
    <p:sldId id="325" r:id="rId9"/>
    <p:sldId id="260" r:id="rId10"/>
    <p:sldId id="328" r:id="rId11"/>
    <p:sldId id="326" r:id="rId12"/>
    <p:sldId id="363" r:id="rId13"/>
    <p:sldId id="311" r:id="rId14"/>
    <p:sldId id="315" r:id="rId15"/>
    <p:sldId id="317" r:id="rId16"/>
    <p:sldId id="364" r:id="rId17"/>
    <p:sldId id="385" r:id="rId18"/>
    <p:sldId id="366" r:id="rId19"/>
    <p:sldId id="312" r:id="rId20"/>
    <p:sldId id="362" r:id="rId21"/>
    <p:sldId id="314" r:id="rId22"/>
    <p:sldId id="330" r:id="rId23"/>
    <p:sldId id="378" r:id="rId24"/>
    <p:sldId id="379" r:id="rId25"/>
    <p:sldId id="381" r:id="rId26"/>
    <p:sldId id="382" r:id="rId27"/>
    <p:sldId id="383" r:id="rId28"/>
    <p:sldId id="384" r:id="rId29"/>
    <p:sldId id="264" r:id="rId30"/>
    <p:sldId id="367" r:id="rId31"/>
    <p:sldId id="371" r:id="rId32"/>
    <p:sldId id="373" r:id="rId33"/>
    <p:sldId id="374" r:id="rId34"/>
    <p:sldId id="370" r:id="rId35"/>
    <p:sldId id="368" r:id="rId36"/>
    <p:sldId id="369" r:id="rId37"/>
    <p:sldId id="266" r:id="rId38"/>
    <p:sldId id="262" r:id="rId39"/>
    <p:sldId id="263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46" r:id="rId48"/>
    <p:sldId id="347" r:id="rId49"/>
    <p:sldId id="348" r:id="rId50"/>
    <p:sldId id="349" r:id="rId51"/>
    <p:sldId id="350" r:id="rId52"/>
    <p:sldId id="351" r:id="rId53"/>
    <p:sldId id="352" r:id="rId54"/>
    <p:sldId id="353" r:id="rId55"/>
    <p:sldId id="354" r:id="rId56"/>
    <p:sldId id="355" r:id="rId57"/>
    <p:sldId id="356" r:id="rId58"/>
    <p:sldId id="357" r:id="rId59"/>
    <p:sldId id="358" r:id="rId60"/>
    <p:sldId id="278" r:id="rId61"/>
    <p:sldId id="279" r:id="rId62"/>
    <p:sldId id="280" r:id="rId63"/>
    <p:sldId id="282" r:id="rId64"/>
    <p:sldId id="281" r:id="rId65"/>
    <p:sldId id="283" r:id="rId66"/>
    <p:sldId id="284" r:id="rId67"/>
    <p:sldId id="285" r:id="rId68"/>
    <p:sldId id="286" r:id="rId69"/>
    <p:sldId id="287" r:id="rId70"/>
    <p:sldId id="288" r:id="rId71"/>
    <p:sldId id="289" r:id="rId72"/>
    <p:sldId id="305" r:id="rId73"/>
    <p:sldId id="306" r:id="rId74"/>
    <p:sldId id="308" r:id="rId75"/>
    <p:sldId id="309" r:id="rId76"/>
    <p:sldId id="310" r:id="rId77"/>
    <p:sldId id="290" r:id="rId78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5" autoAdjust="0"/>
  </p:normalViewPr>
  <p:slideViewPr>
    <p:cSldViewPr>
      <p:cViewPr varScale="1">
        <p:scale>
          <a:sx n="65" d="100"/>
          <a:sy n="65" d="100"/>
        </p:scale>
        <p:origin x="15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5D297-39A4-4B20-BD2E-09D31FE74DD8}" type="datetimeFigureOut">
              <a:rPr lang="id-ID" smtClean="0"/>
              <a:t>13/05/2016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A49A3-1278-467D-BACA-4BFCE7C7B6C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193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695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>
                <a:solidFill>
                  <a:prstClr val="black"/>
                </a:solidFill>
              </a:rPr>
              <a:pPr/>
              <a:t>9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02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55649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0922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3435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39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2441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71277-D6CC-48D3-9B19-335C7DD71963}" type="slidenum">
              <a:rPr lang="id-ID" smtClean="0">
                <a:solidFill>
                  <a:prstClr val="black"/>
                </a:solidFill>
              </a:rPr>
              <a:pPr/>
              <a:t>47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525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69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6256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86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945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43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521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282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588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070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222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0100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20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45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13/05/2016</a:t>
            </a:fld>
            <a:endParaRPr lang="id-ID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C6BA6-DB4E-4CDA-B3E5-0F670AF78EC1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13/05/2016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3A0F-7818-434F-8DB2-9B11BE1DE854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32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/>
          </a:bodyPr>
          <a:lstStyle/>
          <a:p>
            <a:pPr algn="ctr"/>
            <a:endParaRPr lang="id-ID" sz="3600" dirty="0" smtClean="0"/>
          </a:p>
          <a:p>
            <a:pPr marL="109728" indent="0" algn="ctr">
              <a:buNone/>
            </a:pPr>
            <a:endParaRPr lang="id-ID" sz="3600" dirty="0" smtClean="0"/>
          </a:p>
          <a:p>
            <a:pPr marL="109728" indent="0" algn="ctr">
              <a:buNone/>
            </a:pPr>
            <a:r>
              <a:rPr lang="id-ID" sz="3600" dirty="0" smtClean="0"/>
              <a:t>Slameta, Amd., ST., M.Eng.</a:t>
            </a:r>
            <a:endParaRPr lang="id-ID" sz="3600" dirty="0"/>
          </a:p>
          <a:p>
            <a:pPr algn="ctr"/>
            <a:r>
              <a:rPr lang="id-ID" sz="3600" dirty="0" smtClean="0"/>
              <a:t>Program Studi : TeknikTelekomunikasi</a:t>
            </a:r>
          </a:p>
          <a:p>
            <a:pPr algn="ctr"/>
            <a:r>
              <a:rPr lang="id-ID" sz="3600" dirty="0" smtClean="0"/>
              <a:t>Jurusan:</a:t>
            </a:r>
          </a:p>
          <a:p>
            <a:pPr algn="ctr"/>
            <a:r>
              <a:rPr lang="id-ID" sz="3600" dirty="0" smtClean="0"/>
              <a:t>Teknik Elektro</a:t>
            </a:r>
          </a:p>
          <a:p>
            <a:pPr algn="ctr"/>
            <a:r>
              <a:rPr lang="id-ID" sz="3600" dirty="0" smtClean="0"/>
              <a:t>PoliteknikNegeri Bandung</a:t>
            </a:r>
            <a:endParaRPr lang="id-ID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1206"/>
            <a:ext cx="8229600" cy="1143000"/>
          </a:xfrm>
        </p:spPr>
        <p:txBody>
          <a:bodyPr>
            <a:normAutofit/>
          </a:bodyPr>
          <a:lstStyle/>
          <a:p>
            <a:r>
              <a:rPr lang="id-ID" sz="4800" dirty="0" smtClean="0"/>
              <a:t>DASAR Sistem Komunikasi</a:t>
            </a:r>
            <a:endParaRPr lang="id-ID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908720"/>
            <a:ext cx="1230506" cy="11126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5896" y="2026133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POLBAN</a:t>
            </a:r>
            <a:endParaRPr lang="id-ID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32656"/>
            <a:ext cx="4464496" cy="5534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364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42332"/>
            <a:ext cx="9144000" cy="5805264"/>
          </a:xfrm>
        </p:spPr>
        <p:txBody>
          <a:bodyPr>
            <a:normAutofit/>
          </a:bodyPr>
          <a:lstStyle/>
          <a:p>
            <a:pPr marL="109728" indent="0">
              <a:spcBef>
                <a:spcPts val="0"/>
              </a:spcBef>
              <a:spcAft>
                <a:spcPts val="600"/>
              </a:spcAft>
              <a:buClrTx/>
              <a:buNone/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1.1 Dasar Sistem Komunikasi </a:t>
            </a:r>
            <a:r>
              <a:rPr lang="id-ID" sz="3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lvl="0" indent="0">
              <a:spcBef>
                <a:spcPts val="0"/>
              </a:spcBef>
              <a:spcAft>
                <a:spcPct val="50000"/>
              </a:spcAft>
              <a:buClrTx/>
              <a:buSzTx/>
              <a:buNone/>
              <a:defRPr/>
            </a:pPr>
            <a:endParaRPr lang="id-ID" sz="2400" kern="0" dirty="0" smtClean="0">
              <a:solidFill>
                <a:srgbClr val="000000"/>
              </a:solidFill>
              <a:latin typeface="Arial" charset="0"/>
            </a:endParaRPr>
          </a:p>
          <a:p>
            <a:pPr marL="231775" lvl="0" indent="-231775"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Char char="•"/>
              <a:defRPr/>
            </a:pP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pertukaran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biasanya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bentuk-bentuk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penyampaian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percakapan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tulisan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isyarat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31775" lvl="0" indent="-231775"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Char char="•"/>
              <a:defRPr/>
            </a:pP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seseorang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berinteraksi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orang lain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bertukar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disampaikan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spcAft>
                <a:spcPct val="50000"/>
              </a:spcAft>
              <a:buClrTx/>
              <a:buSzTx/>
              <a:buNone/>
              <a:defRPr/>
            </a:pPr>
            <a:endParaRPr lang="id-ID" sz="3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lvl="0" indent="-231775"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Char char="•"/>
              <a:defRPr/>
            </a:pPr>
            <a:endParaRPr lang="en-US" sz="3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indent="0">
              <a:spcBef>
                <a:spcPts val="0"/>
              </a:spcBef>
              <a:spcAft>
                <a:spcPts val="600"/>
              </a:spcAft>
              <a:buClrTx/>
              <a:buNone/>
            </a:pPr>
            <a:endParaRPr lang="id-ID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1481328" indent="-1371600">
              <a:spcBef>
                <a:spcPts val="0"/>
              </a:spcBef>
              <a:spcAft>
                <a:spcPts val="600"/>
              </a:spcAft>
              <a:buClrTx/>
              <a:buAutoNum type="arabicPeriod"/>
            </a:pPr>
            <a:endParaRPr lang="id-ID" sz="3600" dirty="0">
              <a:latin typeface="Times New Roman" pitchFamily="18" charset="0"/>
              <a:cs typeface="Times New Roman" pitchFamily="18" charset="0"/>
            </a:endParaRPr>
          </a:p>
          <a:p>
            <a:pPr marL="1481328" indent="-1371600">
              <a:spcBef>
                <a:spcPts val="0"/>
              </a:spcBef>
              <a:spcAft>
                <a:spcPts val="600"/>
              </a:spcAft>
              <a:buClrTx/>
              <a:buAutoNum type="arabicPeriod"/>
            </a:pPr>
            <a:endParaRPr lang="id-ID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spcBef>
                <a:spcPts val="0"/>
              </a:spcBef>
              <a:spcAft>
                <a:spcPts val="600"/>
              </a:spcAft>
              <a:buClrTx/>
              <a:buNone/>
            </a:pPr>
            <a:endParaRPr lang="id-ID" sz="8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1520" y="0"/>
            <a:ext cx="8686800" cy="866228"/>
          </a:xfrm>
        </p:spPr>
        <p:txBody>
          <a:bodyPr>
            <a:noAutofit/>
          </a:bodyPr>
          <a:lstStyle/>
          <a:p>
            <a:pPr algn="ctr"/>
            <a:r>
              <a:rPr lang="id-ID" sz="4800" smtClean="0">
                <a:latin typeface="Times New Roman" pitchFamily="18" charset="0"/>
                <a:cs typeface="Times New Roman" pitchFamily="18" charset="0"/>
              </a:rPr>
              <a:t>Bab 1 Pendahuluan</a:t>
            </a:r>
            <a:endParaRPr lang="id-ID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277489" y="1556792"/>
            <a:ext cx="19720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kumimoji="0" 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5" descr="J02299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599" y="4196383"/>
            <a:ext cx="787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Line 4"/>
          <p:cNvSpPr>
            <a:spLocks noChangeShapeType="1"/>
          </p:cNvSpPr>
          <p:nvPr/>
        </p:nvSpPr>
        <p:spPr bwMode="auto">
          <a:xfrm>
            <a:off x="2636410" y="4699859"/>
            <a:ext cx="315172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2764414" y="5301208"/>
            <a:ext cx="3023716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3638057" y="4720228"/>
            <a:ext cx="13372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rPr>
              <a:t>informasi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</a:endParaRPr>
          </a:p>
        </p:txBody>
      </p:sp>
      <p:pic>
        <p:nvPicPr>
          <p:cNvPr id="21" name="Picture 16" descr="J022991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877505" y="4299396"/>
            <a:ext cx="110013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8A4234-1F17-4F18-83E4-E1F1262DB832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36801"/>
            <a:ext cx="8001000" cy="5667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nb-NO" sz="4000" b="1" i="1" dirty="0" smtClean="0">
                <a:latin typeface="Verdana" pitchFamily="34" charset="0"/>
              </a:rPr>
              <a:t>Dasar</a:t>
            </a:r>
            <a:r>
              <a:rPr lang="en-US" sz="4000" b="1" i="1" dirty="0" smtClean="0">
                <a:latin typeface="Verdana" pitchFamily="34" charset="0"/>
              </a:rPr>
              <a:t> S</a:t>
            </a:r>
            <a:r>
              <a:rPr lang="nb-NO" sz="4000" b="1" i="1" dirty="0" smtClean="0">
                <a:latin typeface="Verdana" pitchFamily="34" charset="0"/>
              </a:rPr>
              <a:t>i</a:t>
            </a:r>
            <a:r>
              <a:rPr lang="en-US" sz="4000" b="1" i="1" dirty="0" smtClean="0">
                <a:latin typeface="Verdana" pitchFamily="34" charset="0"/>
              </a:rPr>
              <a:t>stem </a:t>
            </a:r>
            <a:r>
              <a:rPr lang="nb-NO" sz="4000" b="1" i="1" dirty="0" smtClean="0">
                <a:latin typeface="Verdana" pitchFamily="34" charset="0"/>
              </a:rPr>
              <a:t>K</a:t>
            </a:r>
            <a:r>
              <a:rPr lang="en-US" sz="4000" b="1" i="1" dirty="0" err="1" smtClean="0">
                <a:latin typeface="Verdana" pitchFamily="34" charset="0"/>
              </a:rPr>
              <a:t>omuni</a:t>
            </a:r>
            <a:r>
              <a:rPr lang="nb-NO" sz="4000" b="1" i="1" dirty="0" smtClean="0">
                <a:latin typeface="Verdana" pitchFamily="34" charset="0"/>
              </a:rPr>
              <a:t>kasi</a:t>
            </a:r>
            <a:endParaRPr lang="en-US" sz="4000" b="1" i="1" dirty="0" smtClean="0">
              <a:latin typeface="Verdana" pitchFamily="34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55576" y="1389761"/>
            <a:ext cx="7467600" cy="1371600"/>
            <a:chOff x="432" y="1728"/>
            <a:chExt cx="4704" cy="864"/>
          </a:xfrm>
        </p:grpSpPr>
        <p:sp>
          <p:nvSpPr>
            <p:cNvPr id="9227" name="Rectangle 8"/>
            <p:cNvSpPr>
              <a:spLocks noChangeArrowheads="1"/>
            </p:cNvSpPr>
            <p:nvPr/>
          </p:nvSpPr>
          <p:spPr bwMode="auto">
            <a:xfrm>
              <a:off x="3936" y="1728"/>
              <a:ext cx="1200" cy="864"/>
            </a:xfrm>
            <a:prstGeom prst="rect">
              <a:avLst/>
            </a:prstGeom>
            <a:gradFill rotWithShape="0">
              <a:gsLst>
                <a:gs pos="0">
                  <a:srgbClr val="47182F"/>
                </a:gs>
                <a:gs pos="100000">
                  <a:srgbClr val="9933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32592" dir="4398045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prstClr val="white"/>
                  </a:solidFill>
                </a:rPr>
                <a:t>Penerima </a:t>
              </a:r>
            </a:p>
            <a:p>
              <a:pPr algn="ctr"/>
              <a:r>
                <a:rPr lang="id-ID" sz="2400" dirty="0" smtClean="0">
                  <a:solidFill>
                    <a:prstClr val="white"/>
                  </a:solidFill>
                </a:rPr>
                <a:t>(</a:t>
              </a:r>
              <a:r>
                <a:rPr lang="nb-NO" sz="2400" dirty="0" smtClean="0">
                  <a:solidFill>
                    <a:prstClr val="white"/>
                  </a:solidFill>
                </a:rPr>
                <a:t>Receiver</a:t>
              </a:r>
              <a:r>
                <a:rPr lang="id-ID" sz="2400" dirty="0" smtClean="0">
                  <a:solidFill>
                    <a:prstClr val="white"/>
                  </a:solidFill>
                </a:rPr>
                <a:t>)</a:t>
              </a:r>
              <a:endParaRPr 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228" name="Rectangle 6"/>
            <p:cNvSpPr>
              <a:spLocks noChangeArrowheads="1"/>
            </p:cNvSpPr>
            <p:nvPr/>
          </p:nvSpPr>
          <p:spPr bwMode="auto">
            <a:xfrm>
              <a:off x="1584" y="1920"/>
              <a:ext cx="2352" cy="432"/>
            </a:xfrm>
            <a:prstGeom prst="rect">
              <a:avLst/>
            </a:prstGeom>
            <a:gradFill rotWithShape="0">
              <a:gsLst>
                <a:gs pos="0">
                  <a:srgbClr val="184776"/>
                </a:gs>
                <a:gs pos="50000">
                  <a:srgbClr val="3399FF"/>
                </a:gs>
                <a:gs pos="100000">
                  <a:srgbClr val="18477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15003" dir="5780412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prstClr val="white"/>
                  </a:solidFill>
                </a:rPr>
                <a:t>Kanal </a:t>
              </a:r>
              <a:r>
                <a:rPr lang="en-US" sz="2400" dirty="0" err="1">
                  <a:solidFill>
                    <a:prstClr val="white"/>
                  </a:solidFill>
                </a:rPr>
                <a:t>Transmis</a:t>
              </a:r>
              <a:r>
                <a:rPr lang="nb-NO" sz="2400" dirty="0">
                  <a:solidFill>
                    <a:prstClr val="white"/>
                  </a:solidFill>
                </a:rPr>
                <a:t>i</a:t>
              </a:r>
              <a:endParaRPr 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229" name="Rectangle 5"/>
            <p:cNvSpPr>
              <a:spLocks noChangeArrowheads="1"/>
            </p:cNvSpPr>
            <p:nvPr/>
          </p:nvSpPr>
          <p:spPr bwMode="auto">
            <a:xfrm>
              <a:off x="432" y="1728"/>
              <a:ext cx="1200" cy="864"/>
            </a:xfrm>
            <a:prstGeom prst="rect">
              <a:avLst/>
            </a:prstGeom>
            <a:gradFill rotWithShape="0">
              <a:gsLst>
                <a:gs pos="0">
                  <a:srgbClr val="47182F"/>
                </a:gs>
                <a:gs pos="100000">
                  <a:srgbClr val="9933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17088" dir="4648272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prstClr val="white"/>
                  </a:solidFill>
                </a:rPr>
                <a:t>Pengirim </a:t>
              </a:r>
            </a:p>
            <a:p>
              <a:pPr algn="ctr"/>
              <a:r>
                <a:rPr lang="id-ID" sz="2400" dirty="0" smtClean="0">
                  <a:solidFill>
                    <a:prstClr val="white"/>
                  </a:solidFill>
                </a:rPr>
                <a:t>(</a:t>
              </a:r>
              <a:r>
                <a:rPr lang="nb-NO" sz="2400" dirty="0" smtClean="0">
                  <a:solidFill>
                    <a:prstClr val="white"/>
                  </a:solidFill>
                </a:rPr>
                <a:t>Transmitter</a:t>
              </a:r>
              <a:r>
                <a:rPr lang="id-ID" sz="2400" dirty="0" smtClean="0">
                  <a:solidFill>
                    <a:prstClr val="white"/>
                  </a:solidFill>
                </a:rPr>
                <a:t>)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9221" name="Text Box 14"/>
          <p:cNvSpPr txBox="1">
            <a:spLocks noChangeArrowheads="1"/>
          </p:cNvSpPr>
          <p:nvPr/>
        </p:nvSpPr>
        <p:spPr bwMode="auto">
          <a:xfrm>
            <a:off x="295201" y="4157887"/>
            <a:ext cx="28257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Input Transducer</a:t>
            </a:r>
          </a:p>
          <a:p>
            <a:r>
              <a:rPr lang="en-US" sz="2400" dirty="0">
                <a:solidFill>
                  <a:prstClr val="black"/>
                </a:solidFill>
              </a:rPr>
              <a:t>Encoder</a:t>
            </a:r>
          </a:p>
          <a:p>
            <a:r>
              <a:rPr lang="en-US" sz="2400" dirty="0">
                <a:solidFill>
                  <a:prstClr val="black"/>
                </a:solidFill>
              </a:rPr>
              <a:t>Modulator</a:t>
            </a:r>
          </a:p>
          <a:p>
            <a:r>
              <a:rPr lang="en-US" sz="2400" dirty="0">
                <a:solidFill>
                  <a:prstClr val="black"/>
                </a:solidFill>
              </a:rPr>
              <a:t>Amplifier</a:t>
            </a:r>
          </a:p>
        </p:txBody>
      </p:sp>
      <p:sp>
        <p:nvSpPr>
          <p:cNvPr id="9222" name="Text Box 16"/>
          <p:cNvSpPr txBox="1">
            <a:spLocks noChangeArrowheads="1"/>
          </p:cNvSpPr>
          <p:nvPr/>
        </p:nvSpPr>
        <p:spPr bwMode="auto">
          <a:xfrm>
            <a:off x="3299618" y="4157887"/>
            <a:ext cx="262096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400" dirty="0">
                <a:solidFill>
                  <a:prstClr val="black"/>
                </a:solidFill>
              </a:rPr>
              <a:t>Udara,antariksa</a:t>
            </a:r>
            <a:endParaRPr lang="en-US" sz="2400" dirty="0">
              <a:solidFill>
                <a:prstClr val="black"/>
              </a:solidFill>
            </a:endParaRPr>
          </a:p>
          <a:p>
            <a:r>
              <a:rPr lang="nb-NO" sz="2400" dirty="0">
                <a:solidFill>
                  <a:prstClr val="black"/>
                </a:solidFill>
              </a:rPr>
              <a:t>Kabel kawat</a:t>
            </a:r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Fiber</a:t>
            </a:r>
            <a:r>
              <a:rPr lang="nb-NO" sz="2400" dirty="0">
                <a:solidFill>
                  <a:prstClr val="black"/>
                </a:solidFill>
              </a:rPr>
              <a:t> optik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9223" name="Text Box 17"/>
          <p:cNvSpPr txBox="1">
            <a:spLocks noChangeArrowheads="1"/>
          </p:cNvSpPr>
          <p:nvPr/>
        </p:nvSpPr>
        <p:spPr bwMode="auto">
          <a:xfrm>
            <a:off x="6099248" y="4005064"/>
            <a:ext cx="30575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Output Transducer</a:t>
            </a:r>
          </a:p>
          <a:p>
            <a:r>
              <a:rPr lang="en-US" sz="2400" dirty="0">
                <a:solidFill>
                  <a:prstClr val="black"/>
                </a:solidFill>
              </a:rPr>
              <a:t>Decoder</a:t>
            </a:r>
          </a:p>
          <a:p>
            <a:r>
              <a:rPr lang="en-US" sz="2400" dirty="0">
                <a:solidFill>
                  <a:prstClr val="black"/>
                </a:solidFill>
              </a:rPr>
              <a:t>Demodulator</a:t>
            </a:r>
          </a:p>
          <a:p>
            <a:r>
              <a:rPr lang="en-US" sz="2400" dirty="0">
                <a:solidFill>
                  <a:prstClr val="black"/>
                </a:solidFill>
              </a:rPr>
              <a:t>Amplifier</a:t>
            </a:r>
          </a:p>
        </p:txBody>
      </p:sp>
      <p:sp>
        <p:nvSpPr>
          <p:cNvPr id="53266" name="Line 18"/>
          <p:cNvSpPr>
            <a:spLocks noChangeShapeType="1"/>
          </p:cNvSpPr>
          <p:nvPr/>
        </p:nvSpPr>
        <p:spPr bwMode="auto">
          <a:xfrm flipV="1">
            <a:off x="1115616" y="2914184"/>
            <a:ext cx="557702" cy="1090880"/>
          </a:xfrm>
          <a:prstGeom prst="line">
            <a:avLst/>
          </a:prstGeom>
          <a:noFill/>
          <a:ln w="76200">
            <a:solidFill>
              <a:srgbClr val="993366"/>
            </a:solidFill>
            <a:round/>
            <a:headE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>
              <a:solidFill>
                <a:prstClr val="black"/>
              </a:solidFill>
            </a:endParaRPr>
          </a:p>
        </p:txBody>
      </p:sp>
      <p:sp>
        <p:nvSpPr>
          <p:cNvPr id="53267" name="Line 19"/>
          <p:cNvSpPr>
            <a:spLocks noChangeShapeType="1"/>
          </p:cNvSpPr>
          <p:nvPr/>
        </p:nvSpPr>
        <p:spPr bwMode="auto">
          <a:xfrm rot="16908938" flipV="1">
            <a:off x="6801911" y="2938622"/>
            <a:ext cx="1113155" cy="865992"/>
          </a:xfrm>
          <a:prstGeom prst="line">
            <a:avLst/>
          </a:prstGeom>
          <a:noFill/>
          <a:ln w="76200">
            <a:solidFill>
              <a:srgbClr val="993366"/>
            </a:solidFill>
            <a:round/>
            <a:headEnd/>
            <a:tailEnd type="triangle" w="med" len="med"/>
          </a:ln>
          <a:effectLst>
            <a:outerShdw dist="107763" dir="81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>
              <a:solidFill>
                <a:prstClr val="black"/>
              </a:solidFill>
            </a:endParaRPr>
          </a:p>
        </p:txBody>
      </p:sp>
      <p:sp>
        <p:nvSpPr>
          <p:cNvPr id="53268" name="Line 20"/>
          <p:cNvSpPr>
            <a:spLocks noChangeShapeType="1"/>
          </p:cNvSpPr>
          <p:nvPr/>
        </p:nvSpPr>
        <p:spPr bwMode="auto">
          <a:xfrm rot="20533859" flipV="1">
            <a:off x="3844862" y="2577963"/>
            <a:ext cx="1028138" cy="1301255"/>
          </a:xfrm>
          <a:prstGeom prst="line">
            <a:avLst/>
          </a:prstGeom>
          <a:noFill/>
          <a:ln w="76200">
            <a:solidFill>
              <a:srgbClr val="333399"/>
            </a:solidFill>
            <a:round/>
            <a:headEnd/>
            <a:tailEnd type="triangle" w="med" len="med"/>
          </a:ln>
          <a:effectLst>
            <a:outerShdw dist="148106" dir="1857825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77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82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lvl="0" indent="-256032" algn="just">
              <a:buSzPct val="68000"/>
              <a:buFont typeface="Wingdings" panose="05000000000000000000" pitchFamily="2" charset="2"/>
              <a:buChar char="v"/>
            </a:pPr>
            <a:r>
              <a:rPr lang="id-ID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 Komunikasi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Suatu jaringan transportasi informasi dari</a:t>
            </a:r>
          </a:p>
          <a:p>
            <a:pPr marL="109728" lvl="0" algn="just">
              <a:buClr>
                <a:srgbClr val="2DA2BF"/>
              </a:buClr>
              <a:buSzPct val="68000"/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suatu sumber (</a:t>
            </a:r>
            <a:r>
              <a:rPr lang="id-ID" sz="24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source)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/pengirim/transmitter  ke</a:t>
            </a:r>
          </a:p>
          <a:p>
            <a:pPr marL="109728" lvl="0" algn="just">
              <a:buClr>
                <a:srgbClr val="2DA2BF"/>
              </a:buClr>
              <a:buSzPct val="68000"/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satu atau beberapa tujuan (</a:t>
            </a:r>
            <a:r>
              <a:rPr lang="id-ID" sz="24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sink) /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penerima</a:t>
            </a:r>
          </a:p>
          <a:p>
            <a:pPr marL="109728" lvl="0" algn="just">
              <a:buClr>
                <a:srgbClr val="2DA2BF"/>
              </a:buClr>
              <a:buSzPct val="68000"/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/reciever</a:t>
            </a:r>
            <a:r>
              <a:rPr lang="id-ID" sz="24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dengan melalui satu atau lebih</a:t>
            </a:r>
          </a:p>
          <a:p>
            <a:pPr marL="109728" lvl="0" algn="just">
              <a:buClr>
                <a:srgbClr val="2DA2BF"/>
              </a:buClr>
              <a:buSzPct val="68000"/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media transmisi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56032" algn="just">
              <a:buClr>
                <a:srgbClr val="2DA2BF"/>
              </a:buClr>
              <a:buSzPct val="68000"/>
            </a:pPr>
            <a:endParaRPr lang="id-ID" sz="2400" dirty="0">
              <a:solidFill>
                <a:prstClr val="black"/>
              </a:solidFill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79512" y="1995172"/>
            <a:ext cx="2634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Telekomunikasi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22591" y="2456837"/>
            <a:ext cx="882047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31775" marR="0" lvl="0" indent="-231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marR="0" lvl="0" indent="-231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tsb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disampaikan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biasanya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18" descr="J023075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56" y="4059171"/>
            <a:ext cx="1400777" cy="192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1756320" y="4601953"/>
            <a:ext cx="107828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d-ID" kern="0" smtClean="0">
              <a:solidFill>
                <a:sysClr val="windowText" lastClr="000000"/>
              </a:solidFill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H="1">
            <a:off x="1756319" y="4961904"/>
            <a:ext cx="107828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d-ID" kern="0" smtClean="0">
              <a:solidFill>
                <a:sysClr val="windowText" lastClr="000000"/>
              </a:solidFill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626847" y="4059171"/>
            <a:ext cx="13372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000" b="1" kern="0" dirty="0" err="1" smtClean="0">
                <a:solidFill>
                  <a:srgbClr val="000000"/>
                </a:solidFill>
              </a:rPr>
              <a:t>informasi</a:t>
            </a:r>
            <a:endParaRPr lang="en-US" sz="2000" b="1" kern="0" dirty="0" smtClean="0">
              <a:solidFill>
                <a:srgbClr val="000000"/>
              </a:solidFill>
            </a:endParaRPr>
          </a:p>
        </p:txBody>
      </p:sp>
      <p:sp>
        <p:nvSpPr>
          <p:cNvPr id="11" name="Cloud"/>
          <p:cNvSpPr>
            <a:spLocks noChangeAspect="1" noEditPoints="1" noChangeArrowheads="1"/>
          </p:cNvSpPr>
          <p:nvPr/>
        </p:nvSpPr>
        <p:spPr bwMode="auto">
          <a:xfrm>
            <a:off x="2966251" y="3843147"/>
            <a:ext cx="2721032" cy="1517612"/>
          </a:xfrm>
          <a:custGeom>
            <a:avLst/>
            <a:gdLst>
              <a:gd name="T0" fmla="*/ 686259 w 21600"/>
              <a:gd name="T1" fmla="*/ 34408533 h 21600"/>
              <a:gd name="T2" fmla="*/ 110614434 w 21600"/>
              <a:gd name="T3" fmla="*/ 68743802 h 21600"/>
              <a:gd name="T4" fmla="*/ 221044475 w 21600"/>
              <a:gd name="T5" fmla="*/ 34408533 h 21600"/>
              <a:gd name="T6" fmla="*/ 110614434 w 21600"/>
              <a:gd name="T7" fmla="*/ 393468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id-ID" kern="0" smtClean="0">
              <a:solidFill>
                <a:sysClr val="windowText" lastClr="000000"/>
              </a:solidFill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318655" y="4384075"/>
            <a:ext cx="20162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000" b="1" kern="0" dirty="0" err="1" smtClean="0">
                <a:solidFill>
                  <a:srgbClr val="000000"/>
                </a:solidFill>
              </a:rPr>
              <a:t>Jarak</a:t>
            </a:r>
            <a:r>
              <a:rPr lang="id-ID" sz="2000" b="1" kern="0" dirty="0" smtClean="0">
                <a:solidFill>
                  <a:srgbClr val="000000"/>
                </a:solidFill>
              </a:rPr>
              <a:t> Jauh</a:t>
            </a:r>
            <a:endParaRPr lang="en-US" sz="2000" b="1" kern="0" dirty="0" smtClean="0">
              <a:solidFill>
                <a:srgbClr val="000000"/>
              </a:solidFill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6044785" y="4551741"/>
            <a:ext cx="107828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d-ID" kern="0" smtClean="0">
              <a:solidFill>
                <a:sysClr val="windowText" lastClr="000000"/>
              </a:solidFill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 flipH="1">
            <a:off x="6044782" y="4888444"/>
            <a:ext cx="107828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id-ID" kern="0" smtClean="0">
              <a:solidFill>
                <a:sysClr val="windowText" lastClr="000000"/>
              </a:solidFill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5803912" y="3994454"/>
            <a:ext cx="13372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000" b="1" kern="0" dirty="0" err="1" smtClean="0">
                <a:solidFill>
                  <a:srgbClr val="000000"/>
                </a:solidFill>
              </a:rPr>
              <a:t>informasi</a:t>
            </a:r>
            <a:endParaRPr lang="en-US" sz="2000" b="1" kern="0" dirty="0" smtClean="0">
              <a:solidFill>
                <a:srgbClr val="000000"/>
              </a:solidFill>
            </a:endParaRPr>
          </a:p>
        </p:txBody>
      </p:sp>
      <p:pic>
        <p:nvPicPr>
          <p:cNvPr id="16" name="Picture 17" descr="J02307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496" y="3933336"/>
            <a:ext cx="1587504" cy="1701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386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0648"/>
            <a:ext cx="91987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Telekomunikasi 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gabungan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fungsi-fungsi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saling</a:t>
            </a:r>
            <a:r>
              <a:rPr lang="id-ID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sz="2400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id-ID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bekerja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id-ID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id-ID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aran</a:t>
            </a:r>
            <a:endParaRPr lang="id-ID" sz="2400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id-ID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id-ID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id-ID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id-ID" sz="2400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Aft>
                <a:spcPct val="0"/>
              </a:spcAft>
            </a:pPr>
            <a:r>
              <a:rPr lang="id-ID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disepakati</a:t>
            </a:r>
            <a:r>
              <a:rPr lang="en-US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830308"/>
            <a:ext cx="89644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terdiri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segenap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telekomunikasi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pemakainya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pemakai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lain, yang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lokasinya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berjauhan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pemakai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saling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bertukar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5805" y="3501008"/>
            <a:ext cx="8856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ct val="500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mentransmisikan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yang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dihasilkan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seakurat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mungkin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3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-64900" y="1859318"/>
            <a:ext cx="17667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Message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(Analog/ Digital)</a:t>
            </a:r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693499" y="1792880"/>
            <a:ext cx="926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2947429" y="2066918"/>
            <a:ext cx="13171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Transmitted 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4974041" y="1780307"/>
            <a:ext cx="9717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6599927" y="2043183"/>
            <a:ext cx="9781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7807994" y="1975862"/>
            <a:ext cx="13350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Message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93763" y="3074988"/>
            <a:ext cx="1082675" cy="6651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rgbClr val="000000"/>
                </a:solidFill>
                <a:latin typeface="Trebuchet MS" pitchFamily="34" charset="0"/>
              </a:rPr>
              <a:t>Input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err="1" smtClean="0">
                <a:solidFill>
                  <a:srgbClr val="000000"/>
                </a:solidFill>
                <a:latin typeface="Trebuchet MS" pitchFamily="34" charset="0"/>
              </a:rPr>
              <a:t>Tranducer</a:t>
            </a:r>
            <a:endParaRPr lang="en-US" sz="1400" b="1" dirty="0" smtClean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389188" y="3074988"/>
            <a:ext cx="1082675" cy="665162"/>
          </a:xfrm>
          <a:prstGeom prst="rect">
            <a:avLst/>
          </a:prstGeom>
          <a:solidFill>
            <a:srgbClr val="CC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rgbClr val="000000"/>
                </a:solidFill>
                <a:latin typeface="Trebuchet MS" pitchFamily="34" charset="0"/>
              </a:rPr>
              <a:t>Transmitter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733800" y="3078163"/>
            <a:ext cx="1536688" cy="665162"/>
          </a:xfrm>
          <a:prstGeom prst="rect">
            <a:avLst/>
          </a:prstGeom>
          <a:solidFill>
            <a:srgbClr val="CC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id-ID" sz="1400" b="1" dirty="0" smtClean="0">
                <a:solidFill>
                  <a:srgbClr val="000000"/>
                </a:solidFill>
                <a:latin typeface="Trebuchet MS" pitchFamily="34" charset="0"/>
              </a:rPr>
              <a:t>Kanal Komunikasi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id-ID" sz="1400" b="1" dirty="0" smtClean="0">
                <a:solidFill>
                  <a:srgbClr val="000000"/>
                </a:solidFill>
                <a:latin typeface="Trebuchet MS" pitchFamily="34" charset="0"/>
              </a:rPr>
              <a:t>(Media Transmisi)</a:t>
            </a:r>
            <a:endParaRPr lang="en-US" sz="1400" b="1" dirty="0" smtClean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593556" y="3074988"/>
            <a:ext cx="1081088" cy="665162"/>
          </a:xfrm>
          <a:prstGeom prst="rect">
            <a:avLst/>
          </a:prstGeom>
          <a:solidFill>
            <a:srgbClr val="CC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rgbClr val="000000"/>
                </a:solidFill>
                <a:latin typeface="Trebuchet MS" pitchFamily="34" charset="0"/>
              </a:rPr>
              <a:t>Receiver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119938" y="3074988"/>
            <a:ext cx="1082675" cy="6651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solidFill>
                  <a:srgbClr val="000000"/>
                </a:solidFill>
                <a:latin typeface="Trebuchet MS" pitchFamily="34" charset="0"/>
              </a:rPr>
              <a:t>Output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 err="1" smtClean="0">
                <a:solidFill>
                  <a:srgbClr val="000000"/>
                </a:solidFill>
                <a:latin typeface="Trebuchet MS" pitchFamily="34" charset="0"/>
              </a:rPr>
              <a:t>Tranducer</a:t>
            </a:r>
            <a:endParaRPr lang="en-US" sz="1400" b="1" dirty="0" smtClean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23528" y="3406775"/>
            <a:ext cx="570235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976438" y="3406774"/>
            <a:ext cx="412750" cy="4764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cxnSp>
        <p:nvCxnSpPr>
          <p:cNvPr id="15" name="AutoShape 32"/>
          <p:cNvCxnSpPr>
            <a:cxnSpLocks noChangeShapeType="1"/>
            <a:stCxn id="9" idx="3"/>
            <a:endCxn id="10" idx="1"/>
          </p:cNvCxnSpPr>
          <p:nvPr/>
        </p:nvCxnSpPr>
        <p:spPr bwMode="auto">
          <a:xfrm>
            <a:off x="3471863" y="3407569"/>
            <a:ext cx="261937" cy="317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33"/>
          <p:cNvCxnSpPr>
            <a:cxnSpLocks noChangeShapeType="1"/>
            <a:stCxn id="10" idx="3"/>
          </p:cNvCxnSpPr>
          <p:nvPr/>
        </p:nvCxnSpPr>
        <p:spPr bwMode="auto">
          <a:xfrm flipV="1">
            <a:off x="5270488" y="3408364"/>
            <a:ext cx="295287" cy="238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6646863" y="3406775"/>
            <a:ext cx="473075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8202613" y="3341688"/>
            <a:ext cx="545851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19" name="Line 39"/>
          <p:cNvSpPr>
            <a:spLocks noChangeShapeType="1"/>
          </p:cNvSpPr>
          <p:nvPr/>
        </p:nvSpPr>
        <p:spPr bwMode="auto">
          <a:xfrm flipH="1">
            <a:off x="8305800" y="2590800"/>
            <a:ext cx="3175" cy="6905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0" name="Line 37"/>
          <p:cNvSpPr>
            <a:spLocks noChangeShapeType="1"/>
          </p:cNvSpPr>
          <p:nvPr/>
        </p:nvSpPr>
        <p:spPr bwMode="auto">
          <a:xfrm flipH="1">
            <a:off x="6971715" y="2590800"/>
            <a:ext cx="3175" cy="6905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1" name="Rectangle 40"/>
          <p:cNvSpPr>
            <a:spLocks noChangeArrowheads="1"/>
          </p:cNvSpPr>
          <p:nvPr/>
        </p:nvSpPr>
        <p:spPr bwMode="auto">
          <a:xfrm>
            <a:off x="4785519" y="3628607"/>
            <a:ext cx="188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1600" b="1" dirty="0" smtClean="0">
                <a:solidFill>
                  <a:srgbClr val="000000"/>
                </a:solidFill>
                <a:latin typeface="Trebuchet MS" pitchFamily="34" charset="0"/>
              </a:rPr>
              <a:t>Sistem Komunikasi</a:t>
            </a:r>
            <a:endParaRPr lang="en-US" sz="1400" b="1" dirty="0" smtClean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182813" y="2694020"/>
            <a:ext cx="4648200" cy="1365250"/>
          </a:xfrm>
          <a:prstGeom prst="rect">
            <a:avLst/>
          </a:prstGeom>
          <a:solidFill>
            <a:schemeClr val="bg2">
              <a:lumMod val="90000"/>
              <a:alpha val="45097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 flipH="1">
            <a:off x="3602831" y="2630210"/>
            <a:ext cx="3175" cy="6905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4" name="Line 36"/>
          <p:cNvSpPr>
            <a:spLocks noChangeShapeType="1"/>
          </p:cNvSpPr>
          <p:nvPr/>
        </p:nvSpPr>
        <p:spPr bwMode="auto">
          <a:xfrm flipH="1">
            <a:off x="5418130" y="2444093"/>
            <a:ext cx="19056" cy="867389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 flipH="1">
            <a:off x="2051844" y="2403839"/>
            <a:ext cx="8055" cy="819067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 flipH="1">
            <a:off x="761999" y="2403839"/>
            <a:ext cx="0" cy="877524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2130425" y="4241012"/>
            <a:ext cx="0" cy="3984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V="1">
            <a:off x="2196603" y="3606800"/>
            <a:ext cx="341313" cy="530225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cxnSp>
        <p:nvCxnSpPr>
          <p:cNvPr id="29" name="AutoShape 38"/>
          <p:cNvCxnSpPr>
            <a:cxnSpLocks noChangeShapeType="1"/>
          </p:cNvCxnSpPr>
          <p:nvPr/>
        </p:nvCxnSpPr>
        <p:spPr bwMode="auto">
          <a:xfrm flipV="1">
            <a:off x="2961037" y="3740151"/>
            <a:ext cx="0" cy="39687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Line 24"/>
          <p:cNvSpPr>
            <a:spLocks noChangeShapeType="1"/>
          </p:cNvSpPr>
          <p:nvPr/>
        </p:nvSpPr>
        <p:spPr bwMode="auto">
          <a:xfrm flipV="1">
            <a:off x="4475163" y="3805238"/>
            <a:ext cx="6350" cy="58297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 flipH="1" flipV="1">
            <a:off x="6443663" y="3606800"/>
            <a:ext cx="541337" cy="3984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6985000" y="4005263"/>
            <a:ext cx="0" cy="5969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mtClean="0">
              <a:solidFill>
                <a:srgbClr val="000000"/>
              </a:solidFill>
            </a:endParaRPr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6602162" y="4572748"/>
            <a:ext cx="1532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 :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Demultiplexing</a:t>
            </a:r>
            <a:endParaRPr lang="en-US" sz="16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Demodulation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3983632" y="4301667"/>
            <a:ext cx="19621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Tambahan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Noise, </a:t>
            </a: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Interferensi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gangguan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endParaRPr lang="en-US" sz="16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1367923" y="4536154"/>
            <a:ext cx="13163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 :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Modulation</a:t>
            </a:r>
          </a:p>
        </p:txBody>
      </p:sp>
      <p:sp>
        <p:nvSpPr>
          <p:cNvPr id="36" name="Text Box 22"/>
          <p:cNvSpPr txBox="1">
            <a:spLocks noChangeArrowheads="1"/>
          </p:cNvSpPr>
          <p:nvPr/>
        </p:nvSpPr>
        <p:spPr bwMode="auto">
          <a:xfrm>
            <a:off x="2517876" y="4146066"/>
            <a:ext cx="16385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 Pembawa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(Carrier)</a:t>
            </a:r>
            <a:endParaRPr lang="en-US" sz="16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7474" y="116632"/>
            <a:ext cx="910652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disalurkan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06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44" y="4724"/>
            <a:ext cx="9001156" cy="387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d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Transducer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suatu 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perangkat yang digunakan untuk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mengkonversi</a:t>
            </a:r>
          </a:p>
          <a:p>
            <a:pPr algn="just"/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informasi ke 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bentuk sinyal elektrik atau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sebaliknya.</a:t>
            </a:r>
          </a:p>
          <a:p>
            <a:pPr algn="just"/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Contoh: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</a:t>
            </a:r>
            <a:r>
              <a:rPr lang="id-ID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video recorder, camera,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pesawat</a:t>
            </a:r>
          </a:p>
          <a:p>
            <a:pPr algn="just"/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telepon, </a:t>
            </a:r>
            <a:r>
              <a:rPr lang="id-ID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keyboard,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tabung gambar, layar monitor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>
              <a:spcAft>
                <a:spcPts val="1200"/>
              </a:spcAft>
            </a:pP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id-ID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loudspeake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dll.</a:t>
            </a:r>
          </a:p>
          <a:p>
            <a:pPr marL="342900" lvl="0" indent="-342900" fontAlgn="base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Konversi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perubahan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signal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900"/>
              </a:spcAft>
            </a:pPr>
            <a:endParaRPr lang="id-ID" i="1" dirty="0"/>
          </a:p>
          <a:p>
            <a:pPr algn="just"/>
            <a:r>
              <a:rPr lang="id-ID" b="1" dirty="0" smtClean="0"/>
              <a:t> </a:t>
            </a:r>
            <a:endParaRPr lang="id-ID" dirty="0"/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899592" y="3429000"/>
            <a:ext cx="13335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latin typeface="Trebuchet MS" pitchFamily="34" charset="0"/>
              </a:rPr>
              <a:t>Gelombang</a:t>
            </a:r>
            <a:r>
              <a:rPr lang="en-US" b="1" dirty="0">
                <a:latin typeface="Trebuchet MS" pitchFamily="34" charset="0"/>
              </a:rPr>
              <a:t> </a:t>
            </a:r>
          </a:p>
          <a:p>
            <a:pPr algn="ctr"/>
            <a:r>
              <a:rPr lang="en-US" b="1" dirty="0" err="1">
                <a:latin typeface="Trebuchet MS" pitchFamily="34" charset="0"/>
              </a:rPr>
              <a:t>Suara</a:t>
            </a:r>
            <a:endParaRPr lang="en-US" b="1" dirty="0">
              <a:latin typeface="Trebuchet MS" pitchFamily="34" charset="0"/>
            </a:endParaRPr>
          </a:p>
        </p:txBody>
      </p:sp>
      <p:sp>
        <p:nvSpPr>
          <p:cNvPr id="4" name="AutoShape 10"/>
          <p:cNvSpPr>
            <a:spLocks noChangeArrowheads="1"/>
          </p:cNvSpPr>
          <p:nvPr/>
        </p:nvSpPr>
        <p:spPr bwMode="auto">
          <a:xfrm>
            <a:off x="2233092" y="3674661"/>
            <a:ext cx="1196975" cy="228600"/>
          </a:xfrm>
          <a:prstGeom prst="rightArrow">
            <a:avLst>
              <a:gd name="adj1" fmla="val 50000"/>
              <a:gd name="adj2" fmla="val 130903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412553" y="3429000"/>
            <a:ext cx="12700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latin typeface="Trebuchet MS" pitchFamily="34" charset="0"/>
              </a:rPr>
              <a:t>Gelombang</a:t>
            </a:r>
            <a:endParaRPr lang="en-US" b="1" dirty="0">
              <a:latin typeface="Trebuchet MS" pitchFamily="34" charset="0"/>
            </a:endParaRPr>
          </a:p>
          <a:p>
            <a:pPr algn="ctr"/>
            <a:r>
              <a:rPr lang="en-US" b="1" dirty="0" err="1">
                <a:latin typeface="Trebuchet MS" pitchFamily="34" charset="0"/>
              </a:rPr>
              <a:t>Listrik</a:t>
            </a:r>
            <a:endParaRPr lang="en-US" b="1" dirty="0">
              <a:latin typeface="Trebuchet MS" pitchFamily="34" charset="0"/>
            </a:endParaRPr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auto">
          <a:xfrm>
            <a:off x="4725287" y="3654851"/>
            <a:ext cx="1196975" cy="228600"/>
          </a:xfrm>
          <a:prstGeom prst="rightArrow">
            <a:avLst>
              <a:gd name="adj1" fmla="val 50000"/>
              <a:gd name="adj2" fmla="val 130903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922262" y="3548997"/>
            <a:ext cx="180022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latin typeface="Trebuchet MS" pitchFamily="34" charset="0"/>
              </a:rPr>
              <a:t>Gelombang</a:t>
            </a:r>
            <a:endParaRPr lang="en-US" b="1" dirty="0">
              <a:latin typeface="Trebuchet MS" pitchFamily="34" charset="0"/>
            </a:endParaRPr>
          </a:p>
          <a:p>
            <a:pPr algn="ctr"/>
            <a:r>
              <a:rPr lang="en-US" b="1" dirty="0" err="1">
                <a:latin typeface="Trebuchet MS" pitchFamily="34" charset="0"/>
              </a:rPr>
              <a:t>Elektromagnetik</a:t>
            </a:r>
            <a:endParaRPr lang="en-US" b="1" dirty="0">
              <a:latin typeface="Trebuchet MS" pitchFamily="34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46535" y="4512861"/>
            <a:ext cx="19700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1600" b="1" dirty="0">
                <a:latin typeface="Trebuchet MS" pitchFamily="34" charset="0"/>
              </a:rPr>
              <a:t>Transducer </a:t>
            </a:r>
          </a:p>
          <a:p>
            <a:pPr algn="ctr" eaLnBrk="1" hangingPunct="1"/>
            <a:r>
              <a:rPr lang="en-US" sz="1600" b="1" dirty="0">
                <a:latin typeface="Trebuchet MS" pitchFamily="34" charset="0"/>
              </a:rPr>
              <a:t>(</a:t>
            </a:r>
            <a:r>
              <a:rPr lang="en-US" sz="1600" b="1" dirty="0" err="1">
                <a:latin typeface="Trebuchet MS" pitchFamily="34" charset="0"/>
              </a:rPr>
              <a:t>misalnya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mikropon</a:t>
            </a:r>
            <a:r>
              <a:rPr lang="en-US" sz="1600" b="1" dirty="0">
                <a:latin typeface="Trebuchet MS" pitchFamily="34" charset="0"/>
              </a:rPr>
              <a:t>)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V="1">
            <a:off x="2674117" y="3903261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33225" y="4594013"/>
            <a:ext cx="11890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b="1" dirty="0">
                <a:latin typeface="Trebuchet MS" pitchFamily="34" charset="0"/>
              </a:rPr>
              <a:t>Antenna</a:t>
            </a: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5302112" y="3909806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3806" y="18139"/>
            <a:ext cx="911019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90513" indent="-290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Konversi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suara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Gelombang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listrik</a:t>
            </a: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342900" indent="-342900" eaLnBrk="1" hangingPunct="1"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Fungsinya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suara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berasal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dari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Sumber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agar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dapat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diteruskan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kepada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destination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sebagaimana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bentuk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aslinya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sehingga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isi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pesan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/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informasi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tidak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berubah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.</a:t>
            </a:r>
          </a:p>
          <a:p>
            <a:pPr marL="342900" indent="-342900" eaLnBrk="1" hangingPunct="1">
              <a:buFont typeface="Wingdings" pitchFamily="2" charset="2"/>
              <a:buChar char="Ø"/>
            </a:pP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Konsep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dasar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konversi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dengan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perangkat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Transducer, yang paling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sederhana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adalah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micro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telepon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sbb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:</a:t>
            </a:r>
            <a:endParaRPr lang="en-US" sz="2400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3" name="Freeform 43"/>
          <p:cNvSpPr>
            <a:spLocks/>
          </p:cNvSpPr>
          <p:nvPr/>
        </p:nvSpPr>
        <p:spPr bwMode="auto">
          <a:xfrm>
            <a:off x="944563" y="3859213"/>
            <a:ext cx="1295400" cy="317500"/>
          </a:xfrm>
          <a:custGeom>
            <a:avLst/>
            <a:gdLst>
              <a:gd name="T0" fmla="*/ 0 w 816"/>
              <a:gd name="T1" fmla="*/ 504031250 h 200"/>
              <a:gd name="T2" fmla="*/ 725805000 w 816"/>
              <a:gd name="T3" fmla="*/ 20161250 h 200"/>
              <a:gd name="T4" fmla="*/ 1451610000 w 816"/>
              <a:gd name="T5" fmla="*/ 383063750 h 200"/>
              <a:gd name="T6" fmla="*/ 2056447500 w 816"/>
              <a:gd name="T7" fmla="*/ 141128750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16" h="200">
                <a:moveTo>
                  <a:pt x="0" y="200"/>
                </a:moveTo>
                <a:cubicBezTo>
                  <a:pt x="96" y="108"/>
                  <a:pt x="192" y="16"/>
                  <a:pt x="288" y="8"/>
                </a:cubicBezTo>
                <a:cubicBezTo>
                  <a:pt x="384" y="0"/>
                  <a:pt x="488" y="144"/>
                  <a:pt x="576" y="152"/>
                </a:cubicBezTo>
                <a:cubicBezTo>
                  <a:pt x="664" y="160"/>
                  <a:pt x="740" y="108"/>
                  <a:pt x="816" y="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" name="Freeform 41"/>
          <p:cNvSpPr>
            <a:spLocks/>
          </p:cNvSpPr>
          <p:nvPr/>
        </p:nvSpPr>
        <p:spPr bwMode="auto">
          <a:xfrm>
            <a:off x="944563" y="3694113"/>
            <a:ext cx="1295400" cy="317500"/>
          </a:xfrm>
          <a:custGeom>
            <a:avLst/>
            <a:gdLst>
              <a:gd name="T0" fmla="*/ 0 w 816"/>
              <a:gd name="T1" fmla="*/ 504031250 h 200"/>
              <a:gd name="T2" fmla="*/ 725805000 w 816"/>
              <a:gd name="T3" fmla="*/ 20161250 h 200"/>
              <a:gd name="T4" fmla="*/ 1451610000 w 816"/>
              <a:gd name="T5" fmla="*/ 383063750 h 200"/>
              <a:gd name="T6" fmla="*/ 2056447500 w 816"/>
              <a:gd name="T7" fmla="*/ 141128750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16" h="200">
                <a:moveTo>
                  <a:pt x="0" y="200"/>
                </a:moveTo>
                <a:cubicBezTo>
                  <a:pt x="96" y="108"/>
                  <a:pt x="192" y="16"/>
                  <a:pt x="288" y="8"/>
                </a:cubicBezTo>
                <a:cubicBezTo>
                  <a:pt x="384" y="0"/>
                  <a:pt x="488" y="144"/>
                  <a:pt x="576" y="152"/>
                </a:cubicBezTo>
                <a:cubicBezTo>
                  <a:pt x="664" y="160"/>
                  <a:pt x="740" y="108"/>
                  <a:pt x="816" y="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Freeform 42"/>
          <p:cNvSpPr>
            <a:spLocks/>
          </p:cNvSpPr>
          <p:nvPr/>
        </p:nvSpPr>
        <p:spPr bwMode="auto">
          <a:xfrm>
            <a:off x="868363" y="4087813"/>
            <a:ext cx="1295400" cy="317500"/>
          </a:xfrm>
          <a:custGeom>
            <a:avLst/>
            <a:gdLst>
              <a:gd name="T0" fmla="*/ 0 w 816"/>
              <a:gd name="T1" fmla="*/ 504031250 h 200"/>
              <a:gd name="T2" fmla="*/ 725805000 w 816"/>
              <a:gd name="T3" fmla="*/ 20161250 h 200"/>
              <a:gd name="T4" fmla="*/ 1451610000 w 816"/>
              <a:gd name="T5" fmla="*/ 383063750 h 200"/>
              <a:gd name="T6" fmla="*/ 2056447500 w 816"/>
              <a:gd name="T7" fmla="*/ 141128750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16" h="200">
                <a:moveTo>
                  <a:pt x="0" y="200"/>
                </a:moveTo>
                <a:cubicBezTo>
                  <a:pt x="96" y="108"/>
                  <a:pt x="192" y="16"/>
                  <a:pt x="288" y="8"/>
                </a:cubicBezTo>
                <a:cubicBezTo>
                  <a:pt x="384" y="0"/>
                  <a:pt x="488" y="144"/>
                  <a:pt x="576" y="152"/>
                </a:cubicBezTo>
                <a:cubicBezTo>
                  <a:pt x="664" y="160"/>
                  <a:pt x="740" y="108"/>
                  <a:pt x="816" y="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" name="Line 51"/>
          <p:cNvSpPr>
            <a:spLocks noChangeShapeType="1"/>
          </p:cNvSpPr>
          <p:nvPr/>
        </p:nvSpPr>
        <p:spPr bwMode="auto">
          <a:xfrm flipV="1">
            <a:off x="1173163" y="4392613"/>
            <a:ext cx="457200" cy="838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Text Box 47"/>
          <p:cNvSpPr txBox="1">
            <a:spLocks noChangeArrowheads="1"/>
          </p:cNvSpPr>
          <p:nvPr/>
        </p:nvSpPr>
        <p:spPr bwMode="auto">
          <a:xfrm>
            <a:off x="487363" y="5337175"/>
            <a:ext cx="18181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Gelombang</a:t>
            </a:r>
            <a:r>
              <a:rPr lang="en-US" sz="1600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suara</a:t>
            </a:r>
            <a:endParaRPr lang="en-US" sz="1600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8" name="Line 37"/>
          <p:cNvSpPr>
            <a:spLocks noChangeShapeType="1"/>
          </p:cNvSpPr>
          <p:nvPr/>
        </p:nvSpPr>
        <p:spPr bwMode="auto">
          <a:xfrm>
            <a:off x="2316163" y="2944813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" name="Line 35"/>
          <p:cNvSpPr>
            <a:spLocks noChangeShapeType="1"/>
          </p:cNvSpPr>
          <p:nvPr/>
        </p:nvSpPr>
        <p:spPr bwMode="auto">
          <a:xfrm>
            <a:off x="2316163" y="29448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" name="Line 38"/>
          <p:cNvSpPr>
            <a:spLocks noChangeShapeType="1"/>
          </p:cNvSpPr>
          <p:nvPr/>
        </p:nvSpPr>
        <p:spPr bwMode="auto">
          <a:xfrm>
            <a:off x="2773363" y="2944813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" name="Line 39"/>
          <p:cNvSpPr>
            <a:spLocks noChangeShapeType="1"/>
          </p:cNvSpPr>
          <p:nvPr/>
        </p:nvSpPr>
        <p:spPr bwMode="auto">
          <a:xfrm>
            <a:off x="2239963" y="4773613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" name="Line 36"/>
          <p:cNvSpPr>
            <a:spLocks noChangeShapeType="1"/>
          </p:cNvSpPr>
          <p:nvPr/>
        </p:nvSpPr>
        <p:spPr bwMode="auto">
          <a:xfrm>
            <a:off x="2239963" y="50022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" name="Line 40"/>
          <p:cNvSpPr>
            <a:spLocks noChangeShapeType="1"/>
          </p:cNvSpPr>
          <p:nvPr/>
        </p:nvSpPr>
        <p:spPr bwMode="auto">
          <a:xfrm>
            <a:off x="2697163" y="4773613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2455863" y="2944813"/>
            <a:ext cx="165100" cy="1981200"/>
          </a:xfrm>
          <a:custGeom>
            <a:avLst/>
            <a:gdLst>
              <a:gd name="T0" fmla="*/ 141128750 w 104"/>
              <a:gd name="T1" fmla="*/ 0 h 1248"/>
              <a:gd name="T2" fmla="*/ 20161250 w 104"/>
              <a:gd name="T3" fmla="*/ 241935000 h 1248"/>
              <a:gd name="T4" fmla="*/ 262096250 w 104"/>
              <a:gd name="T5" fmla="*/ 483870000 h 1248"/>
              <a:gd name="T6" fmla="*/ 20161250 w 104"/>
              <a:gd name="T7" fmla="*/ 725805000 h 1248"/>
              <a:gd name="T8" fmla="*/ 262096250 w 104"/>
              <a:gd name="T9" fmla="*/ 967740000 h 1248"/>
              <a:gd name="T10" fmla="*/ 20161250 w 104"/>
              <a:gd name="T11" fmla="*/ 1330642500 h 1248"/>
              <a:gd name="T12" fmla="*/ 262096250 w 104"/>
              <a:gd name="T13" fmla="*/ 1572577500 h 1248"/>
              <a:gd name="T14" fmla="*/ 20161250 w 104"/>
              <a:gd name="T15" fmla="*/ 1935480000 h 1248"/>
              <a:gd name="T16" fmla="*/ 262096250 w 104"/>
              <a:gd name="T17" fmla="*/ 2147483647 h 1248"/>
              <a:gd name="T18" fmla="*/ 20161250 w 104"/>
              <a:gd name="T19" fmla="*/ 2147483647 h 1248"/>
              <a:gd name="T20" fmla="*/ 262096250 w 104"/>
              <a:gd name="T21" fmla="*/ 2147483647 h 1248"/>
              <a:gd name="T22" fmla="*/ 20161250 w 104"/>
              <a:gd name="T23" fmla="*/ 2147483647 h 1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4" h="1248">
                <a:moveTo>
                  <a:pt x="56" y="0"/>
                </a:moveTo>
                <a:cubicBezTo>
                  <a:pt x="28" y="32"/>
                  <a:pt x="0" y="64"/>
                  <a:pt x="8" y="96"/>
                </a:cubicBezTo>
                <a:cubicBezTo>
                  <a:pt x="16" y="128"/>
                  <a:pt x="104" y="160"/>
                  <a:pt x="104" y="192"/>
                </a:cubicBezTo>
                <a:cubicBezTo>
                  <a:pt x="104" y="224"/>
                  <a:pt x="8" y="256"/>
                  <a:pt x="8" y="288"/>
                </a:cubicBezTo>
                <a:cubicBezTo>
                  <a:pt x="8" y="320"/>
                  <a:pt x="104" y="344"/>
                  <a:pt x="104" y="384"/>
                </a:cubicBezTo>
                <a:cubicBezTo>
                  <a:pt x="104" y="424"/>
                  <a:pt x="8" y="488"/>
                  <a:pt x="8" y="528"/>
                </a:cubicBezTo>
                <a:cubicBezTo>
                  <a:pt x="8" y="568"/>
                  <a:pt x="104" y="584"/>
                  <a:pt x="104" y="624"/>
                </a:cubicBezTo>
                <a:cubicBezTo>
                  <a:pt x="104" y="664"/>
                  <a:pt x="8" y="728"/>
                  <a:pt x="8" y="768"/>
                </a:cubicBezTo>
                <a:cubicBezTo>
                  <a:pt x="8" y="808"/>
                  <a:pt x="104" y="824"/>
                  <a:pt x="104" y="864"/>
                </a:cubicBezTo>
                <a:cubicBezTo>
                  <a:pt x="104" y="904"/>
                  <a:pt x="8" y="960"/>
                  <a:pt x="8" y="1008"/>
                </a:cubicBezTo>
                <a:cubicBezTo>
                  <a:pt x="8" y="1056"/>
                  <a:pt x="104" y="1112"/>
                  <a:pt x="104" y="1152"/>
                </a:cubicBezTo>
                <a:cubicBezTo>
                  <a:pt x="104" y="1192"/>
                  <a:pt x="56" y="1220"/>
                  <a:pt x="8" y="1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H="1">
            <a:off x="2468563" y="4164013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4068763" y="3325813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>
            <a:off x="2544763" y="3325813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2620963" y="34020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3078163" y="39354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3763963" y="38592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1" name="AutoShape 18"/>
          <p:cNvSpPr>
            <a:spLocks noChangeArrowheads="1"/>
          </p:cNvSpPr>
          <p:nvPr/>
        </p:nvSpPr>
        <p:spPr bwMode="auto">
          <a:xfrm>
            <a:off x="3001963" y="34020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2" name="AutoShape 19"/>
          <p:cNvSpPr>
            <a:spLocks noChangeArrowheads="1"/>
          </p:cNvSpPr>
          <p:nvPr/>
        </p:nvSpPr>
        <p:spPr bwMode="auto">
          <a:xfrm>
            <a:off x="2697163" y="39354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3" name="AutoShape 20"/>
          <p:cNvSpPr>
            <a:spLocks noChangeArrowheads="1"/>
          </p:cNvSpPr>
          <p:nvPr/>
        </p:nvSpPr>
        <p:spPr bwMode="auto">
          <a:xfrm>
            <a:off x="3535363" y="39354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4" name="AutoShape 21"/>
          <p:cNvSpPr>
            <a:spLocks noChangeArrowheads="1"/>
          </p:cNvSpPr>
          <p:nvPr/>
        </p:nvSpPr>
        <p:spPr bwMode="auto">
          <a:xfrm>
            <a:off x="3840163" y="37068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5" name="AutoShape 22"/>
          <p:cNvSpPr>
            <a:spLocks noChangeArrowheads="1"/>
          </p:cNvSpPr>
          <p:nvPr/>
        </p:nvSpPr>
        <p:spPr bwMode="auto">
          <a:xfrm>
            <a:off x="3382963" y="34020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3763963" y="34020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>
            <a:off x="2849563" y="35544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8" name="AutoShape 25"/>
          <p:cNvSpPr>
            <a:spLocks noChangeArrowheads="1"/>
          </p:cNvSpPr>
          <p:nvPr/>
        </p:nvSpPr>
        <p:spPr bwMode="auto">
          <a:xfrm>
            <a:off x="3001963" y="37068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3230563" y="36306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0" name="AutoShape 28"/>
          <p:cNvSpPr>
            <a:spLocks noChangeArrowheads="1"/>
          </p:cNvSpPr>
          <p:nvPr/>
        </p:nvSpPr>
        <p:spPr bwMode="auto">
          <a:xfrm>
            <a:off x="3535363" y="35544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1" name="AutoShape 29"/>
          <p:cNvSpPr>
            <a:spLocks noChangeArrowheads="1"/>
          </p:cNvSpPr>
          <p:nvPr/>
        </p:nvSpPr>
        <p:spPr bwMode="auto">
          <a:xfrm>
            <a:off x="2620963" y="36306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2" name="AutoShape 30"/>
          <p:cNvSpPr>
            <a:spLocks noChangeArrowheads="1"/>
          </p:cNvSpPr>
          <p:nvPr/>
        </p:nvSpPr>
        <p:spPr bwMode="auto">
          <a:xfrm>
            <a:off x="2773363" y="37830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3" name="AutoShape 31"/>
          <p:cNvSpPr>
            <a:spLocks noChangeArrowheads="1"/>
          </p:cNvSpPr>
          <p:nvPr/>
        </p:nvSpPr>
        <p:spPr bwMode="auto">
          <a:xfrm>
            <a:off x="3230563" y="38592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4" name="AutoShape 32"/>
          <p:cNvSpPr>
            <a:spLocks noChangeArrowheads="1"/>
          </p:cNvSpPr>
          <p:nvPr/>
        </p:nvSpPr>
        <p:spPr bwMode="auto">
          <a:xfrm>
            <a:off x="3459163" y="3783013"/>
            <a:ext cx="152400" cy="152400"/>
          </a:xfrm>
          <a:prstGeom prst="flowChartConnec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>
            <a:off x="4068763" y="3783013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6659563" y="4392613"/>
            <a:ext cx="304800" cy="762000"/>
          </a:xfrm>
          <a:prstGeom prst="rect">
            <a:avLst/>
          </a:prstGeom>
          <a:solidFill>
            <a:srgbClr val="7FEA7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6811963" y="37830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>
            <a:off x="6811963" y="51546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 flipH="1">
            <a:off x="5668963" y="59166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 flipH="1">
            <a:off x="3687763" y="59166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 flipV="1">
            <a:off x="3687763" y="454501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2" name="Line 10"/>
          <p:cNvSpPr>
            <a:spLocks noChangeShapeType="1"/>
          </p:cNvSpPr>
          <p:nvPr/>
        </p:nvSpPr>
        <p:spPr bwMode="auto">
          <a:xfrm flipH="1">
            <a:off x="2468563" y="45450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>
            <a:off x="5440363" y="5535613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4" name="Line 34"/>
          <p:cNvSpPr>
            <a:spLocks noChangeShapeType="1"/>
          </p:cNvSpPr>
          <p:nvPr/>
        </p:nvSpPr>
        <p:spPr bwMode="auto">
          <a:xfrm>
            <a:off x="5668963" y="56880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5" name="Line 52"/>
          <p:cNvSpPr>
            <a:spLocks noChangeShapeType="1"/>
          </p:cNvSpPr>
          <p:nvPr/>
        </p:nvSpPr>
        <p:spPr bwMode="auto">
          <a:xfrm flipH="1">
            <a:off x="3840163" y="3097213"/>
            <a:ext cx="1295400" cy="533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6" name="Line 53"/>
          <p:cNvSpPr>
            <a:spLocks noChangeShapeType="1"/>
          </p:cNvSpPr>
          <p:nvPr/>
        </p:nvSpPr>
        <p:spPr bwMode="auto">
          <a:xfrm flipV="1">
            <a:off x="3840163" y="47736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4297363" y="2746375"/>
            <a:ext cx="25106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Membran</a:t>
            </a:r>
            <a:r>
              <a:rPr lang="en-US" sz="1600" b="1" dirty="0">
                <a:solidFill>
                  <a:prstClr val="black"/>
                </a:solidFill>
                <a:latin typeface="Trebuchet MS" pitchFamily="34" charset="0"/>
              </a:rPr>
              <a:t> (</a:t>
            </a:r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serbuk</a:t>
            </a:r>
            <a:r>
              <a:rPr lang="en-US" sz="1600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arang</a:t>
            </a:r>
            <a:r>
              <a:rPr lang="en-US" sz="1600" dirty="0">
                <a:solidFill>
                  <a:prstClr val="black"/>
                </a:solidFill>
                <a:latin typeface="Trebuchet MS" pitchFamily="34" charset="0"/>
              </a:rPr>
              <a:t>)</a:t>
            </a:r>
          </a:p>
        </p:txBody>
      </p:sp>
      <p:sp>
        <p:nvSpPr>
          <p:cNvPr id="48" name="Text Box 54"/>
          <p:cNvSpPr txBox="1">
            <a:spLocks noChangeArrowheads="1"/>
          </p:cNvSpPr>
          <p:nvPr/>
        </p:nvSpPr>
        <p:spPr bwMode="auto">
          <a:xfrm>
            <a:off x="3976688" y="4986338"/>
            <a:ext cx="3577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b="1" dirty="0">
                <a:solidFill>
                  <a:prstClr val="black"/>
                </a:solidFill>
                <a:latin typeface="Trebuchet MS" pitchFamily="34" charset="0"/>
              </a:rPr>
              <a:t>Io</a:t>
            </a:r>
          </a:p>
        </p:txBody>
      </p:sp>
      <p:grpSp>
        <p:nvGrpSpPr>
          <p:cNvPr id="49" name="Group 55"/>
          <p:cNvGrpSpPr>
            <a:grpSpLocks/>
          </p:cNvGrpSpPr>
          <p:nvPr/>
        </p:nvGrpSpPr>
        <p:grpSpPr bwMode="auto">
          <a:xfrm>
            <a:off x="6892925" y="3505200"/>
            <a:ext cx="984250" cy="838200"/>
            <a:chOff x="816" y="1632"/>
            <a:chExt cx="1152" cy="864"/>
          </a:xfrm>
        </p:grpSpPr>
        <p:sp>
          <p:nvSpPr>
            <p:cNvPr id="50" name="Line 56"/>
            <p:cNvSpPr>
              <a:spLocks noChangeShapeType="1"/>
            </p:cNvSpPr>
            <p:nvPr/>
          </p:nvSpPr>
          <p:spPr bwMode="auto">
            <a:xfrm>
              <a:off x="816" y="20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/>
          </p:nvSpPr>
          <p:spPr bwMode="auto">
            <a:xfrm>
              <a:off x="912" y="1632"/>
              <a:ext cx="912" cy="864"/>
            </a:xfrm>
            <a:custGeom>
              <a:avLst/>
              <a:gdLst>
                <a:gd name="T0" fmla="*/ 0 w 4224"/>
                <a:gd name="T1" fmla="*/ 256 h 1552"/>
                <a:gd name="T2" fmla="*/ 2 w 4224"/>
                <a:gd name="T3" fmla="*/ 47 h 1552"/>
                <a:gd name="T4" fmla="*/ 7 w 4224"/>
                <a:gd name="T5" fmla="*/ 389 h 1552"/>
                <a:gd name="T6" fmla="*/ 13 w 4224"/>
                <a:gd name="T7" fmla="*/ 107 h 1552"/>
                <a:gd name="T8" fmla="*/ 18 w 4224"/>
                <a:gd name="T9" fmla="*/ 419 h 1552"/>
                <a:gd name="T10" fmla="*/ 25 w 4224"/>
                <a:gd name="T11" fmla="*/ 32 h 1552"/>
                <a:gd name="T12" fmla="*/ 31 w 4224"/>
                <a:gd name="T13" fmla="*/ 419 h 1552"/>
                <a:gd name="T14" fmla="*/ 33 w 4224"/>
                <a:gd name="T15" fmla="*/ 107 h 1552"/>
                <a:gd name="T16" fmla="*/ 38 w 4224"/>
                <a:gd name="T17" fmla="*/ 404 h 1552"/>
                <a:gd name="T18" fmla="*/ 45 w 4224"/>
                <a:gd name="T19" fmla="*/ 47 h 1552"/>
                <a:gd name="T20" fmla="*/ 49 w 4224"/>
                <a:gd name="T21" fmla="*/ 419 h 1552"/>
                <a:gd name="T22" fmla="*/ 56 w 4224"/>
                <a:gd name="T23" fmla="*/ 47 h 1552"/>
                <a:gd name="T24" fmla="*/ 63 w 4224"/>
                <a:gd name="T25" fmla="*/ 374 h 1552"/>
                <a:gd name="T26" fmla="*/ 65 w 4224"/>
                <a:gd name="T27" fmla="*/ 77 h 1552"/>
                <a:gd name="T28" fmla="*/ 69 w 4224"/>
                <a:gd name="T29" fmla="*/ 434 h 1552"/>
                <a:gd name="T30" fmla="*/ 72 w 4224"/>
                <a:gd name="T31" fmla="*/ 2 h 1552"/>
                <a:gd name="T32" fmla="*/ 76 w 4224"/>
                <a:gd name="T33" fmla="*/ 449 h 1552"/>
                <a:gd name="T34" fmla="*/ 78 w 4224"/>
                <a:gd name="T35" fmla="*/ 47 h 1552"/>
                <a:gd name="T36" fmla="*/ 81 w 4224"/>
                <a:gd name="T37" fmla="*/ 404 h 1552"/>
                <a:gd name="T38" fmla="*/ 83 w 4224"/>
                <a:gd name="T39" fmla="*/ 92 h 1552"/>
                <a:gd name="T40" fmla="*/ 85 w 4224"/>
                <a:gd name="T41" fmla="*/ 374 h 1552"/>
                <a:gd name="T42" fmla="*/ 92 w 4224"/>
                <a:gd name="T43" fmla="*/ 107 h 1552"/>
                <a:gd name="T44" fmla="*/ 96 w 4224"/>
                <a:gd name="T45" fmla="*/ 345 h 1552"/>
                <a:gd name="T46" fmla="*/ 101 w 4224"/>
                <a:gd name="T47" fmla="*/ 121 h 1552"/>
                <a:gd name="T48" fmla="*/ 105 w 4224"/>
                <a:gd name="T49" fmla="*/ 419 h 1552"/>
                <a:gd name="T50" fmla="*/ 112 w 4224"/>
                <a:gd name="T51" fmla="*/ 17 h 1552"/>
                <a:gd name="T52" fmla="*/ 119 w 4224"/>
                <a:gd name="T53" fmla="*/ 479 h 1552"/>
                <a:gd name="T54" fmla="*/ 125 w 4224"/>
                <a:gd name="T55" fmla="*/ 32 h 1552"/>
                <a:gd name="T56" fmla="*/ 132 w 4224"/>
                <a:gd name="T57" fmla="*/ 449 h 1552"/>
                <a:gd name="T58" fmla="*/ 139 w 4224"/>
                <a:gd name="T59" fmla="*/ 17 h 1552"/>
                <a:gd name="T60" fmla="*/ 143 w 4224"/>
                <a:gd name="T61" fmla="*/ 419 h 1552"/>
                <a:gd name="T62" fmla="*/ 146 w 4224"/>
                <a:gd name="T63" fmla="*/ 32 h 1552"/>
                <a:gd name="T64" fmla="*/ 150 w 4224"/>
                <a:gd name="T65" fmla="*/ 464 h 1552"/>
                <a:gd name="T66" fmla="*/ 154 w 4224"/>
                <a:gd name="T67" fmla="*/ 32 h 1552"/>
                <a:gd name="T68" fmla="*/ 159 w 4224"/>
                <a:gd name="T69" fmla="*/ 389 h 1552"/>
                <a:gd name="T70" fmla="*/ 161 w 4224"/>
                <a:gd name="T71" fmla="*/ 107 h 1552"/>
                <a:gd name="T72" fmla="*/ 166 w 4224"/>
                <a:gd name="T73" fmla="*/ 374 h 1552"/>
                <a:gd name="T74" fmla="*/ 170 w 4224"/>
                <a:gd name="T75" fmla="*/ 47 h 1552"/>
                <a:gd name="T76" fmla="*/ 174 w 4224"/>
                <a:gd name="T77" fmla="*/ 434 h 1552"/>
                <a:gd name="T78" fmla="*/ 179 w 4224"/>
                <a:gd name="T79" fmla="*/ 92 h 1552"/>
                <a:gd name="T80" fmla="*/ 188 w 4224"/>
                <a:gd name="T81" fmla="*/ 434 h 1552"/>
                <a:gd name="T82" fmla="*/ 192 w 4224"/>
                <a:gd name="T83" fmla="*/ 92 h 1552"/>
                <a:gd name="T84" fmla="*/ 197 w 4224"/>
                <a:gd name="T85" fmla="*/ 256 h 155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224" h="1552">
                  <a:moveTo>
                    <a:pt x="0" y="824"/>
                  </a:moveTo>
                  <a:cubicBezTo>
                    <a:pt x="12" y="452"/>
                    <a:pt x="24" y="80"/>
                    <a:pt x="48" y="152"/>
                  </a:cubicBezTo>
                  <a:cubicBezTo>
                    <a:pt x="72" y="224"/>
                    <a:pt x="104" y="1224"/>
                    <a:pt x="144" y="1256"/>
                  </a:cubicBezTo>
                  <a:cubicBezTo>
                    <a:pt x="184" y="1288"/>
                    <a:pt x="248" y="328"/>
                    <a:pt x="288" y="344"/>
                  </a:cubicBezTo>
                  <a:cubicBezTo>
                    <a:pt x="328" y="360"/>
                    <a:pt x="344" y="1392"/>
                    <a:pt x="384" y="1352"/>
                  </a:cubicBezTo>
                  <a:cubicBezTo>
                    <a:pt x="424" y="1312"/>
                    <a:pt x="480" y="104"/>
                    <a:pt x="528" y="104"/>
                  </a:cubicBezTo>
                  <a:cubicBezTo>
                    <a:pt x="576" y="104"/>
                    <a:pt x="640" y="1312"/>
                    <a:pt x="672" y="1352"/>
                  </a:cubicBezTo>
                  <a:cubicBezTo>
                    <a:pt x="704" y="1392"/>
                    <a:pt x="696" y="352"/>
                    <a:pt x="720" y="344"/>
                  </a:cubicBezTo>
                  <a:cubicBezTo>
                    <a:pt x="744" y="336"/>
                    <a:pt x="776" y="1336"/>
                    <a:pt x="816" y="1304"/>
                  </a:cubicBezTo>
                  <a:cubicBezTo>
                    <a:pt x="856" y="1272"/>
                    <a:pt x="920" y="144"/>
                    <a:pt x="960" y="152"/>
                  </a:cubicBezTo>
                  <a:cubicBezTo>
                    <a:pt x="1000" y="160"/>
                    <a:pt x="1016" y="1352"/>
                    <a:pt x="1056" y="1352"/>
                  </a:cubicBezTo>
                  <a:cubicBezTo>
                    <a:pt x="1096" y="1352"/>
                    <a:pt x="1152" y="176"/>
                    <a:pt x="1200" y="152"/>
                  </a:cubicBezTo>
                  <a:cubicBezTo>
                    <a:pt x="1248" y="128"/>
                    <a:pt x="1312" y="1192"/>
                    <a:pt x="1344" y="1208"/>
                  </a:cubicBezTo>
                  <a:cubicBezTo>
                    <a:pt x="1376" y="1224"/>
                    <a:pt x="1368" y="216"/>
                    <a:pt x="1392" y="248"/>
                  </a:cubicBezTo>
                  <a:cubicBezTo>
                    <a:pt x="1416" y="280"/>
                    <a:pt x="1464" y="1440"/>
                    <a:pt x="1488" y="1400"/>
                  </a:cubicBezTo>
                  <a:cubicBezTo>
                    <a:pt x="1512" y="1360"/>
                    <a:pt x="1512" y="0"/>
                    <a:pt x="1536" y="8"/>
                  </a:cubicBezTo>
                  <a:cubicBezTo>
                    <a:pt x="1560" y="16"/>
                    <a:pt x="1608" y="1424"/>
                    <a:pt x="1632" y="1448"/>
                  </a:cubicBezTo>
                  <a:cubicBezTo>
                    <a:pt x="1656" y="1472"/>
                    <a:pt x="1664" y="176"/>
                    <a:pt x="1680" y="152"/>
                  </a:cubicBezTo>
                  <a:cubicBezTo>
                    <a:pt x="1696" y="128"/>
                    <a:pt x="1712" y="1280"/>
                    <a:pt x="1728" y="1304"/>
                  </a:cubicBezTo>
                  <a:cubicBezTo>
                    <a:pt x="1744" y="1328"/>
                    <a:pt x="1760" y="312"/>
                    <a:pt x="1776" y="296"/>
                  </a:cubicBezTo>
                  <a:cubicBezTo>
                    <a:pt x="1792" y="280"/>
                    <a:pt x="1792" y="1200"/>
                    <a:pt x="1824" y="1208"/>
                  </a:cubicBezTo>
                  <a:cubicBezTo>
                    <a:pt x="1856" y="1216"/>
                    <a:pt x="1928" y="360"/>
                    <a:pt x="1968" y="344"/>
                  </a:cubicBezTo>
                  <a:cubicBezTo>
                    <a:pt x="2008" y="328"/>
                    <a:pt x="2032" y="1104"/>
                    <a:pt x="2064" y="1112"/>
                  </a:cubicBezTo>
                  <a:cubicBezTo>
                    <a:pt x="2096" y="1120"/>
                    <a:pt x="2128" y="352"/>
                    <a:pt x="2160" y="392"/>
                  </a:cubicBezTo>
                  <a:cubicBezTo>
                    <a:pt x="2192" y="432"/>
                    <a:pt x="2216" y="1408"/>
                    <a:pt x="2256" y="1352"/>
                  </a:cubicBezTo>
                  <a:cubicBezTo>
                    <a:pt x="2296" y="1296"/>
                    <a:pt x="2352" y="24"/>
                    <a:pt x="2400" y="56"/>
                  </a:cubicBezTo>
                  <a:cubicBezTo>
                    <a:pt x="2448" y="88"/>
                    <a:pt x="2496" y="1536"/>
                    <a:pt x="2544" y="1544"/>
                  </a:cubicBezTo>
                  <a:cubicBezTo>
                    <a:pt x="2592" y="1552"/>
                    <a:pt x="2640" y="120"/>
                    <a:pt x="2688" y="104"/>
                  </a:cubicBezTo>
                  <a:cubicBezTo>
                    <a:pt x="2736" y="88"/>
                    <a:pt x="2784" y="1456"/>
                    <a:pt x="2832" y="1448"/>
                  </a:cubicBezTo>
                  <a:cubicBezTo>
                    <a:pt x="2880" y="1440"/>
                    <a:pt x="2936" y="72"/>
                    <a:pt x="2976" y="56"/>
                  </a:cubicBezTo>
                  <a:cubicBezTo>
                    <a:pt x="3016" y="40"/>
                    <a:pt x="3048" y="1344"/>
                    <a:pt x="3072" y="1352"/>
                  </a:cubicBezTo>
                  <a:cubicBezTo>
                    <a:pt x="3096" y="1360"/>
                    <a:pt x="3096" y="80"/>
                    <a:pt x="3120" y="104"/>
                  </a:cubicBezTo>
                  <a:cubicBezTo>
                    <a:pt x="3144" y="128"/>
                    <a:pt x="3184" y="1496"/>
                    <a:pt x="3216" y="1496"/>
                  </a:cubicBezTo>
                  <a:cubicBezTo>
                    <a:pt x="3248" y="1496"/>
                    <a:pt x="3280" y="144"/>
                    <a:pt x="3312" y="104"/>
                  </a:cubicBezTo>
                  <a:cubicBezTo>
                    <a:pt x="3344" y="64"/>
                    <a:pt x="3384" y="1216"/>
                    <a:pt x="3408" y="1256"/>
                  </a:cubicBezTo>
                  <a:cubicBezTo>
                    <a:pt x="3432" y="1296"/>
                    <a:pt x="3432" y="352"/>
                    <a:pt x="3456" y="344"/>
                  </a:cubicBezTo>
                  <a:cubicBezTo>
                    <a:pt x="3480" y="336"/>
                    <a:pt x="3520" y="1240"/>
                    <a:pt x="3552" y="1208"/>
                  </a:cubicBezTo>
                  <a:cubicBezTo>
                    <a:pt x="3584" y="1176"/>
                    <a:pt x="3616" y="120"/>
                    <a:pt x="3648" y="152"/>
                  </a:cubicBezTo>
                  <a:cubicBezTo>
                    <a:pt x="3680" y="184"/>
                    <a:pt x="3712" y="1376"/>
                    <a:pt x="3744" y="1400"/>
                  </a:cubicBezTo>
                  <a:cubicBezTo>
                    <a:pt x="3776" y="1424"/>
                    <a:pt x="3792" y="296"/>
                    <a:pt x="3840" y="296"/>
                  </a:cubicBezTo>
                  <a:cubicBezTo>
                    <a:pt x="3888" y="296"/>
                    <a:pt x="3984" y="1400"/>
                    <a:pt x="4032" y="1400"/>
                  </a:cubicBezTo>
                  <a:cubicBezTo>
                    <a:pt x="4080" y="1400"/>
                    <a:pt x="4096" y="392"/>
                    <a:pt x="4128" y="296"/>
                  </a:cubicBezTo>
                  <a:cubicBezTo>
                    <a:pt x="4160" y="200"/>
                    <a:pt x="4216" y="736"/>
                    <a:pt x="4224" y="8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52" name="Text Box 58"/>
          <p:cNvSpPr txBox="1">
            <a:spLocks noChangeArrowheads="1"/>
          </p:cNvSpPr>
          <p:nvPr/>
        </p:nvSpPr>
        <p:spPr bwMode="auto">
          <a:xfrm>
            <a:off x="7184140" y="3232736"/>
            <a:ext cx="18614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Gelombang</a:t>
            </a:r>
            <a:r>
              <a:rPr lang="en-US" sz="1600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Trebuchet MS" pitchFamily="34" charset="0"/>
              </a:rPr>
              <a:t>listrik</a:t>
            </a:r>
            <a:endParaRPr lang="en-US" sz="1600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7078318" y="4592066"/>
            <a:ext cx="13516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d-ID" sz="1600" b="1" dirty="0">
                <a:solidFill>
                  <a:prstClr val="black"/>
                </a:solidFill>
                <a:latin typeface="Trebuchet MS" pitchFamily="34" charset="0"/>
              </a:rPr>
              <a:t>R</a:t>
            </a:r>
            <a:r>
              <a:rPr lang="id-ID" sz="1600" b="1" dirty="0" smtClean="0">
                <a:solidFill>
                  <a:prstClr val="black"/>
                </a:solidFill>
                <a:latin typeface="Trebuchet MS" pitchFamily="34" charset="0"/>
              </a:rPr>
              <a:t>esistor</a:t>
            </a:r>
            <a:r>
              <a:rPr lang="en-US" sz="1600" b="1" dirty="0" smtClean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Trebuchet MS" pitchFamily="34" charset="0"/>
              </a:rPr>
              <a:t>(R)</a:t>
            </a:r>
            <a:r>
              <a:rPr lang="en-US" sz="1600" dirty="0">
                <a:solidFill>
                  <a:prstClr val="black"/>
                </a:solidFill>
                <a:latin typeface="Trebuchet MS" pitchFamily="34" charset="0"/>
              </a:rPr>
              <a:t> </a:t>
            </a:r>
          </a:p>
        </p:txBody>
      </p:sp>
      <p:sp>
        <p:nvSpPr>
          <p:cNvPr id="54" name="Text Box 50"/>
          <p:cNvSpPr txBox="1">
            <a:spLocks noChangeArrowheads="1"/>
          </p:cNvSpPr>
          <p:nvPr/>
        </p:nvSpPr>
        <p:spPr bwMode="auto">
          <a:xfrm>
            <a:off x="4888811" y="6252513"/>
            <a:ext cx="20954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d-ID" sz="1600" b="1" dirty="0" smtClean="0">
                <a:solidFill>
                  <a:prstClr val="black"/>
                </a:solidFill>
                <a:latin typeface="Trebuchet MS" pitchFamily="34" charset="0"/>
              </a:rPr>
              <a:t>Sumber tegangan V</a:t>
            </a:r>
            <a:r>
              <a:rPr lang="en-US" sz="1600" dirty="0" smtClean="0">
                <a:solidFill>
                  <a:prstClr val="black"/>
                </a:solidFill>
                <a:latin typeface="Trebuchet MS" pitchFamily="34" charset="0"/>
              </a:rPr>
              <a:t> </a:t>
            </a:r>
            <a:endParaRPr lang="en-US" sz="1600" dirty="0">
              <a:solidFill>
                <a:prstClr val="black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27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48" y="188640"/>
            <a:ext cx="9036496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Kanal 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komunikasi / Media Transmisi / Saluran transmisi : </a:t>
            </a:r>
            <a:endParaRPr lang="id-ID" sz="24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Menyediakan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koneksi antara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id-ID" sz="2400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reciever</a:t>
            </a:r>
            <a:endParaRPr lang="id-ID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Wingdings" pitchFamily="2" charset="2"/>
              <a:buChar char="Ø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Menghubungkan secara elektrik sumber informasi dengan penerima</a:t>
            </a:r>
            <a:endParaRPr lang="id-ID" sz="24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Wingdings" pitchFamily="2" charset="2"/>
              <a:buChar char="Ø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 degradasi sinyal akibat adanya ketidak sesuaian respons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terhadap sinyal, serta adanya sinyal lain yang tidak dikehendaki (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dan interferensi</a:t>
            </a:r>
          </a:p>
          <a:p>
            <a:pPr marL="342900" lvl="0" indent="-342900">
              <a:spcAft>
                <a:spcPct val="25000"/>
              </a:spcAft>
              <a:buFont typeface="Wingdings" pitchFamily="2" charset="2"/>
              <a:buChar char="Ø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Walaupun degradasi sinyal tidak dapat diatasi secara sempurna,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didesain dengan cermat untuk menghindari distorsi sinyal, dan meminimalisasi pengaruh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sehingga memungkinkan untuk memperoleh kembali sinyal yang mendekati sempurna di ujung terima (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destination)</a:t>
            </a:r>
            <a:endParaRPr lang="id-ID" sz="2400" i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id-ID" sz="24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id-ID" sz="24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994" y="692696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 Saluran fisik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kawat paralel, 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 twin lead cable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kabel koaksial (coaxial), 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kabel UTP (Untwisted Pair), 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kabel STP (Shielded Twisted Pair),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bumbung gelombang (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guide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dan serat optik (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fibre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29497" y="3645024"/>
            <a:ext cx="91734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Saluran non-fisik  (Radio) :    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 (High Frequency), 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- VHF (Very High Frequency), 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- UHF (Ultra High Frequency),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-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mikro (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microwave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lvl="0" algn="just">
              <a:spcAft>
                <a:spcPts val="900"/>
              </a:spcAft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- dan Satelit.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0"/>
            <a:ext cx="88569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Kanal komunikasi / Media Transmisi / Saluran transmisi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95217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0937" y="0"/>
            <a:ext cx="8888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26" y="-21305"/>
            <a:ext cx="8786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Keterbatasan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Fisik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jalur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/media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r>
              <a:rPr lang="id-ID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sz="24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6234" y="440360"/>
            <a:ext cx="8532440" cy="6417640"/>
          </a:xfrm>
          <a:prstGeom prst="rect">
            <a:avLst/>
          </a:prstGeom>
        </p:spPr>
        <p:txBody>
          <a:bodyPr/>
          <a:lstStyle/>
          <a:p>
            <a:pPr marL="452628" marR="0" lvl="0" indent="-342900" defTabSz="914400" rtl="0" eaLnBrk="1" fontAlgn="auto" latinLnBrk="0" hangingPunct="1">
              <a:spcAft>
                <a:spcPts val="1200"/>
              </a:spcAft>
              <a:buSzPct val="68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Keterbatasan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fundamental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perancangan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bandwidth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2628" marR="0" lvl="0" indent="-342900" algn="l" defTabSz="914400" rtl="0" eaLnBrk="1" fontAlgn="auto" latinLnBrk="0" hangingPunct="1">
              <a:spcAft>
                <a:spcPts val="1200"/>
              </a:spcAft>
              <a:buSzPct val="68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thermal noise (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pergerakan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acak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partikel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temperatur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diatas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derjat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Kelvin), yang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2628" marR="0" lvl="0" indent="-342900" algn="l" defTabSz="914400" rtl="0" eaLnBrk="1" fontAlgn="auto" latinLnBrk="0" hangingPunct="1">
              <a:spcAft>
                <a:spcPts val="1200"/>
              </a:spcAft>
              <a:buSzPct val="68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bandwidth/BW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BW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ditingkatkan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BW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peningkatannya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berbanding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lurus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capacity 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(Kapasitas Kanal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defRPr/>
            </a:pPr>
            <a:r>
              <a:rPr 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id-ID" sz="24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defRPr/>
            </a:pP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2400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bandwidth  </a:t>
            </a:r>
          </a:p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defRPr/>
            </a:pP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d-ID" sz="2400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Signal-to-Noise Ratio (SNR)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=perbandingan </a:t>
            </a:r>
            <a:endParaRPr lang="id-ID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0" indent="-256032">
              <a:lnSpc>
                <a:spcPct val="90000"/>
              </a:lnSpc>
              <a:spcBef>
                <a:spcPts val="400"/>
              </a:spcBef>
              <a:buClr>
                <a:srgbClr val="2DA2BF"/>
              </a:buClr>
              <a:buSzPct val="68000"/>
              <a:defRPr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antara daya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 dg daya noise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55776" y="4653136"/>
            <a:ext cx="3550307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002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7340" y="436055"/>
            <a:ext cx="58188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b="1" dirty="0">
                <a:latin typeface="Times New Roman" pitchFamily="-128" charset="0"/>
              </a:rPr>
              <a:t>Twisted-pair </a:t>
            </a:r>
            <a:r>
              <a:rPr lang="en-US" sz="2000" b="1" dirty="0" smtClean="0">
                <a:latin typeface="Times New Roman" pitchFamily="-128" charset="0"/>
              </a:rPr>
              <a:t>cable</a:t>
            </a:r>
            <a:r>
              <a:rPr lang="id-ID" sz="2000" b="1" dirty="0" smtClean="0">
                <a:latin typeface="Times New Roman" pitchFamily="-128" charset="0"/>
              </a:rPr>
              <a:t> (Kawat/kabel paralel)</a:t>
            </a:r>
            <a:endParaRPr lang="id-ID" sz="2000" b="1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940111"/>
            <a:ext cx="7934225" cy="1110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37340" y="2420888"/>
            <a:ext cx="5314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latin typeface="Times New Roman" pitchFamily="-128" charset="0"/>
              </a:rPr>
              <a:t>UTP and STP </a:t>
            </a:r>
            <a:r>
              <a:rPr lang="en-US" sz="2000" b="1" dirty="0" smtClean="0">
                <a:latin typeface="Times New Roman" pitchFamily="-128" charset="0"/>
              </a:rPr>
              <a:t>cables</a:t>
            </a:r>
            <a:r>
              <a:rPr lang="id-ID" sz="2000" b="1" dirty="0" smtClean="0">
                <a:latin typeface="Times New Roman" pitchFamily="-128" charset="0"/>
              </a:rPr>
              <a:t> (Kabel UTP dan STP)</a:t>
            </a:r>
            <a:endParaRPr lang="id-ID" sz="2000" b="1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80" y="2924944"/>
            <a:ext cx="7596336" cy="3014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2622" y="19966"/>
            <a:ext cx="22926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Saluran fisik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09106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72981"/>
            <a:ext cx="41044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b="1" dirty="0">
                <a:latin typeface="Times New Roman" pitchFamily="-128" charset="0"/>
              </a:rPr>
              <a:t>Coaxial </a:t>
            </a:r>
            <a:r>
              <a:rPr lang="en-US" sz="2000" b="1" dirty="0" smtClean="0">
                <a:latin typeface="Times New Roman" pitchFamily="-128" charset="0"/>
              </a:rPr>
              <a:t>cable</a:t>
            </a:r>
            <a:r>
              <a:rPr lang="id-ID" sz="2000" b="1" dirty="0" smtClean="0">
                <a:latin typeface="Times New Roman" pitchFamily="-128" charset="0"/>
              </a:rPr>
              <a:t> (kabel koaksial)</a:t>
            </a:r>
            <a:endParaRPr lang="en-US" sz="2000" b="1" dirty="0">
              <a:latin typeface="Times New Roman" pitchFamily="-12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42" y="473091"/>
            <a:ext cx="5167926" cy="2238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1520" y="3112199"/>
            <a:ext cx="4248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b="1" dirty="0">
                <a:cs typeface="Times New Roman" pitchFamily="18" charset="0"/>
              </a:rPr>
              <a:t>Optical </a:t>
            </a:r>
            <a:r>
              <a:rPr lang="en-US" sz="2000" b="1" dirty="0" smtClean="0">
                <a:cs typeface="Times New Roman" pitchFamily="18" charset="0"/>
              </a:rPr>
              <a:t>fiber</a:t>
            </a:r>
            <a:r>
              <a:rPr lang="id-ID" sz="2000" b="1" dirty="0" smtClean="0">
                <a:cs typeface="Times New Roman" pitchFamily="18" charset="0"/>
              </a:rPr>
              <a:t> (serat optik)</a:t>
            </a:r>
            <a:endParaRPr lang="id-ID" sz="2000" dirty="0"/>
          </a:p>
        </p:txBody>
      </p:sp>
      <p:pic>
        <p:nvPicPr>
          <p:cNvPr id="5" name="Picture 14" descr="4.2.1.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42" y="3487595"/>
            <a:ext cx="5770352" cy="312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2246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26" y="12536"/>
            <a:ext cx="684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edia transmisi kabel</a:t>
            </a:r>
            <a:endParaRPr lang="id-ID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9512" y="764704"/>
            <a:ext cx="896448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Kawat paralel : 8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Mbps @ 3 km, 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1.5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Mbps @ 5.5 km  </a:t>
            </a:r>
          </a:p>
          <a:p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Kabel koaksial :10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Mbps  @ 3.6 km  (10BROAD36)</a:t>
            </a:r>
          </a:p>
          <a:p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30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Mbps  @ 30 km  (cable modem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1200"/>
              </a:spcAft>
            </a:pPr>
            <a:r>
              <a:rPr lang="id-ID" sz="2500" dirty="0" smtClean="0">
                <a:latin typeface="Trebuchet MS" pitchFamily="34" charset="0"/>
              </a:rPr>
              <a:t>                            redaman </a:t>
            </a:r>
            <a:r>
              <a:rPr lang="en-US" sz="2500" dirty="0" smtClean="0">
                <a:latin typeface="Trebuchet MS" pitchFamily="34" charset="0"/>
              </a:rPr>
              <a:t> </a:t>
            </a:r>
            <a:r>
              <a:rPr lang="en-US" sz="2500" dirty="0">
                <a:latin typeface="Trebuchet MS" pitchFamily="34" charset="0"/>
              </a:rPr>
              <a:t>10 dB/km at</a:t>
            </a:r>
            <a:r>
              <a:rPr lang="id-ID" sz="2500" dirty="0">
                <a:latin typeface="Trebuchet MS" pitchFamily="34" charset="0"/>
              </a:rPr>
              <a:t> </a:t>
            </a:r>
            <a:r>
              <a:rPr lang="en-US" sz="2500" dirty="0">
                <a:latin typeface="Trebuchet MS" pitchFamily="34" charset="0"/>
              </a:rPr>
              <a:t>50</a:t>
            </a:r>
            <a:r>
              <a:rPr lang="id-ID" sz="2500" dirty="0">
                <a:latin typeface="Trebuchet MS" pitchFamily="34" charset="0"/>
              </a:rPr>
              <a:t> </a:t>
            </a:r>
            <a:r>
              <a:rPr lang="en-US" sz="2500" dirty="0" smtClean="0">
                <a:latin typeface="Trebuchet MS" pitchFamily="34" charset="0"/>
              </a:rPr>
              <a:t>MH</a:t>
            </a:r>
            <a:r>
              <a:rPr lang="id-ID" sz="2500" dirty="0" smtClean="0">
                <a:latin typeface="Trebuchet MS" pitchFamily="34" charset="0"/>
              </a:rPr>
              <a:t>z</a:t>
            </a:r>
            <a:endParaRPr lang="id-ID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Serat optik       : 10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Mbps  @ 2 km (10BASE-FL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100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Mbps @ 400m (100BASE-FX)</a:t>
            </a:r>
          </a:p>
          <a:p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1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Gbps  @ 2km (1000BASE-LX)</a:t>
            </a:r>
          </a:p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10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Gbps @ 40 (80) km (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10GBASE-E)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40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Gbps @ 700 km [Nortel] or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3000 km [Verison]</a:t>
            </a:r>
          </a:p>
          <a:p>
            <a:r>
              <a:rPr lang="id-ID" sz="2500" dirty="0" smtClean="0">
                <a:latin typeface="Trebuchet MS"/>
              </a:rPr>
              <a:t>                              </a:t>
            </a: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Redaman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0.15 dB/km 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untuk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=1550nm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46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1"/>
          <p:cNvGrpSpPr>
            <a:grpSpLocks/>
          </p:cNvGrpSpPr>
          <p:nvPr/>
        </p:nvGrpSpPr>
        <p:grpSpPr bwMode="auto">
          <a:xfrm>
            <a:off x="55292" y="1124744"/>
            <a:ext cx="9058275" cy="3751263"/>
            <a:chOff x="-3" y="400"/>
            <a:chExt cx="5706" cy="2363"/>
          </a:xfrm>
        </p:grpSpPr>
        <p:grpSp>
          <p:nvGrpSpPr>
            <p:cNvPr id="4" name="Group 129"/>
            <p:cNvGrpSpPr>
              <a:grpSpLocks/>
            </p:cNvGrpSpPr>
            <p:nvPr/>
          </p:nvGrpSpPr>
          <p:grpSpPr bwMode="auto">
            <a:xfrm>
              <a:off x="0" y="403"/>
              <a:ext cx="5700" cy="2360"/>
              <a:chOff x="0" y="403"/>
              <a:chExt cx="5700" cy="2360"/>
            </a:xfrm>
          </p:grpSpPr>
          <p:grpSp>
            <p:nvGrpSpPr>
              <p:cNvPr id="6" name="Group 32"/>
              <p:cNvGrpSpPr>
                <a:grpSpLocks/>
              </p:cNvGrpSpPr>
              <p:nvPr/>
            </p:nvGrpSpPr>
            <p:grpSpPr bwMode="auto">
              <a:xfrm>
                <a:off x="0" y="403"/>
                <a:ext cx="1140" cy="403"/>
                <a:chOff x="0" y="403"/>
                <a:chExt cx="1140" cy="403"/>
              </a:xfrm>
            </p:grpSpPr>
            <p:sp>
              <p:nvSpPr>
                <p:cNvPr id="127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403"/>
                  <a:ext cx="105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id-ID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 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id-ID" sz="36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28" name="Rectangle 31"/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114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" name="Group 36"/>
              <p:cNvGrpSpPr>
                <a:grpSpLocks/>
              </p:cNvGrpSpPr>
              <p:nvPr/>
            </p:nvGrpSpPr>
            <p:grpSpPr bwMode="auto">
              <a:xfrm>
                <a:off x="1140" y="403"/>
                <a:ext cx="1140" cy="403"/>
                <a:chOff x="1140" y="403"/>
                <a:chExt cx="1140" cy="403"/>
              </a:xfrm>
            </p:grpSpPr>
            <p:sp>
              <p:nvSpPr>
                <p:cNvPr id="123" name="Rectangle 35"/>
                <p:cNvSpPr>
                  <a:spLocks noChangeArrowheads="1"/>
                </p:cNvSpPr>
                <p:nvPr/>
              </p:nvSpPr>
              <p:spPr bwMode="auto">
                <a:xfrm>
                  <a:off x="1140" y="403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24" name="Group 34"/>
                <p:cNvGrpSpPr>
                  <a:grpSpLocks/>
                </p:cNvGrpSpPr>
                <p:nvPr/>
              </p:nvGrpSpPr>
              <p:grpSpPr bwMode="auto">
                <a:xfrm>
                  <a:off x="1140" y="403"/>
                  <a:ext cx="1140" cy="403"/>
                  <a:chOff x="1140" y="403"/>
                  <a:chExt cx="1140" cy="403"/>
                </a:xfrm>
              </p:grpSpPr>
              <p:sp>
                <p:nvSpPr>
                  <p:cNvPr id="125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183" y="403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Frequency Range</a:t>
                    </a:r>
                    <a:endParaRPr kumimoji="0" lang="en-US" altLang="id-ID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26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403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8" name="Group 40"/>
              <p:cNvGrpSpPr>
                <a:grpSpLocks/>
              </p:cNvGrpSpPr>
              <p:nvPr/>
            </p:nvGrpSpPr>
            <p:grpSpPr bwMode="auto">
              <a:xfrm>
                <a:off x="2280" y="403"/>
                <a:ext cx="1140" cy="403"/>
                <a:chOff x="2280" y="403"/>
                <a:chExt cx="1140" cy="403"/>
              </a:xfrm>
            </p:grpSpPr>
            <p:sp>
              <p:nvSpPr>
                <p:cNvPr id="119" name="Rectangle 39"/>
                <p:cNvSpPr>
                  <a:spLocks noChangeArrowheads="1"/>
                </p:cNvSpPr>
                <p:nvPr/>
              </p:nvSpPr>
              <p:spPr bwMode="auto">
                <a:xfrm>
                  <a:off x="2280" y="403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20" name="Group 38"/>
                <p:cNvGrpSpPr>
                  <a:grpSpLocks/>
                </p:cNvGrpSpPr>
                <p:nvPr/>
              </p:nvGrpSpPr>
              <p:grpSpPr bwMode="auto">
                <a:xfrm>
                  <a:off x="2280" y="403"/>
                  <a:ext cx="1140" cy="403"/>
                  <a:chOff x="2280" y="403"/>
                  <a:chExt cx="1140" cy="403"/>
                </a:xfrm>
              </p:grpSpPr>
              <p:sp>
                <p:nvSpPr>
                  <p:cNvPr id="121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2323" y="403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Typical Attenuation</a:t>
                    </a:r>
                    <a:endParaRPr kumimoji="0" lang="en-US" altLang="id-ID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22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403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9" name="Group 44"/>
              <p:cNvGrpSpPr>
                <a:grpSpLocks/>
              </p:cNvGrpSpPr>
              <p:nvPr/>
            </p:nvGrpSpPr>
            <p:grpSpPr bwMode="auto">
              <a:xfrm>
                <a:off x="3420" y="403"/>
                <a:ext cx="1140" cy="403"/>
                <a:chOff x="3420" y="403"/>
                <a:chExt cx="1140" cy="403"/>
              </a:xfrm>
            </p:grpSpPr>
            <p:sp>
              <p:nvSpPr>
                <p:cNvPr id="115" name="Rectangle 43"/>
                <p:cNvSpPr>
                  <a:spLocks noChangeArrowheads="1"/>
                </p:cNvSpPr>
                <p:nvPr/>
              </p:nvSpPr>
              <p:spPr bwMode="auto">
                <a:xfrm>
                  <a:off x="3420" y="403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16" name="Group 42"/>
                <p:cNvGrpSpPr>
                  <a:grpSpLocks/>
                </p:cNvGrpSpPr>
                <p:nvPr/>
              </p:nvGrpSpPr>
              <p:grpSpPr bwMode="auto">
                <a:xfrm>
                  <a:off x="3420" y="403"/>
                  <a:ext cx="1140" cy="403"/>
                  <a:chOff x="3420" y="403"/>
                  <a:chExt cx="1140" cy="403"/>
                </a:xfrm>
              </p:grpSpPr>
              <p:sp>
                <p:nvSpPr>
                  <p:cNvPr id="117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3463" y="403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Typical Delay</a:t>
                    </a:r>
                    <a:endParaRPr kumimoji="0" lang="en-US" altLang="id-ID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18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403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0" name="Group 48"/>
              <p:cNvGrpSpPr>
                <a:grpSpLocks/>
              </p:cNvGrpSpPr>
              <p:nvPr/>
            </p:nvGrpSpPr>
            <p:grpSpPr bwMode="auto">
              <a:xfrm>
                <a:off x="4560" y="403"/>
                <a:ext cx="1140" cy="403"/>
                <a:chOff x="4560" y="403"/>
                <a:chExt cx="1140" cy="403"/>
              </a:xfrm>
            </p:grpSpPr>
            <p:sp>
              <p:nvSpPr>
                <p:cNvPr id="111" name="Rectangle 47"/>
                <p:cNvSpPr>
                  <a:spLocks noChangeArrowheads="1"/>
                </p:cNvSpPr>
                <p:nvPr/>
              </p:nvSpPr>
              <p:spPr bwMode="auto">
                <a:xfrm>
                  <a:off x="4560" y="403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12" name="Group 46"/>
                <p:cNvGrpSpPr>
                  <a:grpSpLocks/>
                </p:cNvGrpSpPr>
                <p:nvPr/>
              </p:nvGrpSpPr>
              <p:grpSpPr bwMode="auto">
                <a:xfrm>
                  <a:off x="4560" y="403"/>
                  <a:ext cx="1140" cy="403"/>
                  <a:chOff x="4560" y="403"/>
                  <a:chExt cx="1140" cy="403"/>
                </a:xfrm>
              </p:grpSpPr>
              <p:sp>
                <p:nvSpPr>
                  <p:cNvPr id="113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4603" y="403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Repeater Spacing</a:t>
                    </a:r>
                    <a:endParaRPr kumimoji="0" lang="en-US" altLang="id-ID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14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403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1" name="Group 52"/>
              <p:cNvGrpSpPr>
                <a:grpSpLocks/>
              </p:cNvGrpSpPr>
              <p:nvPr/>
            </p:nvGrpSpPr>
            <p:grpSpPr bwMode="auto">
              <a:xfrm>
                <a:off x="0" y="806"/>
                <a:ext cx="1140" cy="518"/>
                <a:chOff x="0" y="806"/>
                <a:chExt cx="1140" cy="518"/>
              </a:xfrm>
            </p:grpSpPr>
            <p:sp>
              <p:nvSpPr>
                <p:cNvPr id="107" name="Rectangle 51"/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08" name="Group 50"/>
                <p:cNvGrpSpPr>
                  <a:grpSpLocks/>
                </p:cNvGrpSpPr>
                <p:nvPr/>
              </p:nvGrpSpPr>
              <p:grpSpPr bwMode="auto">
                <a:xfrm>
                  <a:off x="0" y="806"/>
                  <a:ext cx="1140" cy="518"/>
                  <a:chOff x="0" y="806"/>
                  <a:chExt cx="1140" cy="518"/>
                </a:xfrm>
              </p:grpSpPr>
              <p:sp>
                <p:nvSpPr>
                  <p:cNvPr id="10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806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Twisted pair (with loading)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10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806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2" name="Group 56"/>
              <p:cNvGrpSpPr>
                <a:grpSpLocks/>
              </p:cNvGrpSpPr>
              <p:nvPr/>
            </p:nvGrpSpPr>
            <p:grpSpPr bwMode="auto">
              <a:xfrm>
                <a:off x="1140" y="806"/>
                <a:ext cx="1140" cy="518"/>
                <a:chOff x="1140" y="806"/>
                <a:chExt cx="1140" cy="518"/>
              </a:xfrm>
            </p:grpSpPr>
            <p:sp>
              <p:nvSpPr>
                <p:cNvPr id="103" name="Rectangle 55"/>
                <p:cNvSpPr>
                  <a:spLocks noChangeArrowheads="1"/>
                </p:cNvSpPr>
                <p:nvPr/>
              </p:nvSpPr>
              <p:spPr bwMode="auto">
                <a:xfrm>
                  <a:off x="1140" y="806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04" name="Group 54"/>
                <p:cNvGrpSpPr>
                  <a:grpSpLocks/>
                </p:cNvGrpSpPr>
                <p:nvPr/>
              </p:nvGrpSpPr>
              <p:grpSpPr bwMode="auto">
                <a:xfrm>
                  <a:off x="1140" y="806"/>
                  <a:ext cx="1140" cy="518"/>
                  <a:chOff x="1140" y="806"/>
                  <a:chExt cx="1140" cy="518"/>
                </a:xfrm>
              </p:grpSpPr>
              <p:sp>
                <p:nvSpPr>
                  <p:cNvPr id="105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1183" y="806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0 to 3.5 kHz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06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806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3" name="Group 60"/>
              <p:cNvGrpSpPr>
                <a:grpSpLocks/>
              </p:cNvGrpSpPr>
              <p:nvPr/>
            </p:nvGrpSpPr>
            <p:grpSpPr bwMode="auto">
              <a:xfrm>
                <a:off x="2280" y="806"/>
                <a:ext cx="1140" cy="518"/>
                <a:chOff x="2280" y="806"/>
                <a:chExt cx="1140" cy="518"/>
              </a:xfrm>
            </p:grpSpPr>
            <p:sp>
              <p:nvSpPr>
                <p:cNvPr id="99" name="Rectangle 59"/>
                <p:cNvSpPr>
                  <a:spLocks noChangeArrowheads="1"/>
                </p:cNvSpPr>
                <p:nvPr/>
              </p:nvSpPr>
              <p:spPr bwMode="auto">
                <a:xfrm>
                  <a:off x="2280" y="806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00" name="Group 58"/>
                <p:cNvGrpSpPr>
                  <a:grpSpLocks/>
                </p:cNvGrpSpPr>
                <p:nvPr/>
              </p:nvGrpSpPr>
              <p:grpSpPr bwMode="auto">
                <a:xfrm>
                  <a:off x="2280" y="806"/>
                  <a:ext cx="1140" cy="518"/>
                  <a:chOff x="2280" y="806"/>
                  <a:chExt cx="1140" cy="518"/>
                </a:xfrm>
              </p:grpSpPr>
              <p:sp>
                <p:nvSpPr>
                  <p:cNvPr id="101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323" y="806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0.2 dB/km @ 1 kHz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02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806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4" name="Group 64"/>
              <p:cNvGrpSpPr>
                <a:grpSpLocks/>
              </p:cNvGrpSpPr>
              <p:nvPr/>
            </p:nvGrpSpPr>
            <p:grpSpPr bwMode="auto">
              <a:xfrm>
                <a:off x="3420" y="806"/>
                <a:ext cx="1140" cy="518"/>
                <a:chOff x="3420" y="806"/>
                <a:chExt cx="1140" cy="518"/>
              </a:xfrm>
            </p:grpSpPr>
            <p:sp>
              <p:nvSpPr>
                <p:cNvPr id="95" name="Rectangle 63"/>
                <p:cNvSpPr>
                  <a:spLocks noChangeArrowheads="1"/>
                </p:cNvSpPr>
                <p:nvPr/>
              </p:nvSpPr>
              <p:spPr bwMode="auto">
                <a:xfrm>
                  <a:off x="3420" y="806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6" name="Group 62"/>
                <p:cNvGrpSpPr>
                  <a:grpSpLocks/>
                </p:cNvGrpSpPr>
                <p:nvPr/>
              </p:nvGrpSpPr>
              <p:grpSpPr bwMode="auto">
                <a:xfrm>
                  <a:off x="3420" y="806"/>
                  <a:ext cx="1140" cy="518"/>
                  <a:chOff x="3420" y="806"/>
                  <a:chExt cx="1140" cy="518"/>
                </a:xfrm>
              </p:grpSpPr>
              <p:sp>
                <p:nvSpPr>
                  <p:cNvPr id="9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463" y="806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50 µs/km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8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806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5" name="Group 68"/>
              <p:cNvGrpSpPr>
                <a:grpSpLocks/>
              </p:cNvGrpSpPr>
              <p:nvPr/>
            </p:nvGrpSpPr>
            <p:grpSpPr bwMode="auto">
              <a:xfrm>
                <a:off x="4560" y="806"/>
                <a:ext cx="1140" cy="518"/>
                <a:chOff x="4560" y="806"/>
                <a:chExt cx="1140" cy="518"/>
              </a:xfrm>
            </p:grpSpPr>
            <p:sp>
              <p:nvSpPr>
                <p:cNvPr id="91" name="Rectangle 67"/>
                <p:cNvSpPr>
                  <a:spLocks noChangeArrowheads="1"/>
                </p:cNvSpPr>
                <p:nvPr/>
              </p:nvSpPr>
              <p:spPr bwMode="auto">
                <a:xfrm>
                  <a:off x="4560" y="806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2" name="Group 66"/>
                <p:cNvGrpSpPr>
                  <a:grpSpLocks/>
                </p:cNvGrpSpPr>
                <p:nvPr/>
              </p:nvGrpSpPr>
              <p:grpSpPr bwMode="auto">
                <a:xfrm>
                  <a:off x="4560" y="806"/>
                  <a:ext cx="1140" cy="518"/>
                  <a:chOff x="4560" y="806"/>
                  <a:chExt cx="1140" cy="518"/>
                </a:xfrm>
              </p:grpSpPr>
              <p:sp>
                <p:nvSpPr>
                  <p:cNvPr id="93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603" y="806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2 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4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806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6" name="Group 72"/>
              <p:cNvGrpSpPr>
                <a:grpSpLocks/>
              </p:cNvGrpSpPr>
              <p:nvPr/>
            </p:nvGrpSpPr>
            <p:grpSpPr bwMode="auto">
              <a:xfrm>
                <a:off x="0" y="1274"/>
                <a:ext cx="1140" cy="568"/>
                <a:chOff x="0" y="1274"/>
                <a:chExt cx="1140" cy="568"/>
              </a:xfrm>
            </p:grpSpPr>
            <p:sp>
              <p:nvSpPr>
                <p:cNvPr id="87" name="Rectangle 71"/>
                <p:cNvSpPr>
                  <a:spLocks noChangeArrowheads="1"/>
                </p:cNvSpPr>
                <p:nvPr/>
              </p:nvSpPr>
              <p:spPr bwMode="auto">
                <a:xfrm>
                  <a:off x="0" y="1324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88" name="Group 70"/>
                <p:cNvGrpSpPr>
                  <a:grpSpLocks/>
                </p:cNvGrpSpPr>
                <p:nvPr/>
              </p:nvGrpSpPr>
              <p:grpSpPr bwMode="auto">
                <a:xfrm>
                  <a:off x="0" y="1274"/>
                  <a:ext cx="1140" cy="568"/>
                  <a:chOff x="0" y="1274"/>
                  <a:chExt cx="1140" cy="568"/>
                </a:xfrm>
              </p:grpSpPr>
              <p:sp>
                <p:nvSpPr>
                  <p:cNvPr id="89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274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Twisted pairs (multi-pair cables)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0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324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7" name="Group 76"/>
              <p:cNvGrpSpPr>
                <a:grpSpLocks/>
              </p:cNvGrpSpPr>
              <p:nvPr/>
            </p:nvGrpSpPr>
            <p:grpSpPr bwMode="auto">
              <a:xfrm>
                <a:off x="1140" y="1324"/>
                <a:ext cx="1140" cy="518"/>
                <a:chOff x="1140" y="1324"/>
                <a:chExt cx="1140" cy="518"/>
              </a:xfrm>
            </p:grpSpPr>
            <p:sp>
              <p:nvSpPr>
                <p:cNvPr id="83" name="Rectangle 75"/>
                <p:cNvSpPr>
                  <a:spLocks noChangeArrowheads="1"/>
                </p:cNvSpPr>
                <p:nvPr/>
              </p:nvSpPr>
              <p:spPr bwMode="auto">
                <a:xfrm>
                  <a:off x="1140" y="1324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84" name="Group 74"/>
                <p:cNvGrpSpPr>
                  <a:grpSpLocks/>
                </p:cNvGrpSpPr>
                <p:nvPr/>
              </p:nvGrpSpPr>
              <p:grpSpPr bwMode="auto">
                <a:xfrm>
                  <a:off x="1140" y="1324"/>
                  <a:ext cx="1140" cy="518"/>
                  <a:chOff x="1140" y="1324"/>
                  <a:chExt cx="1140" cy="518"/>
                </a:xfrm>
              </p:grpSpPr>
              <p:sp>
                <p:nvSpPr>
                  <p:cNvPr id="8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183" y="1324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0 to 1 MHz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86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1324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8" name="Group 80"/>
              <p:cNvGrpSpPr>
                <a:grpSpLocks/>
              </p:cNvGrpSpPr>
              <p:nvPr/>
            </p:nvGrpSpPr>
            <p:grpSpPr bwMode="auto">
              <a:xfrm>
                <a:off x="2280" y="1324"/>
                <a:ext cx="1140" cy="518"/>
                <a:chOff x="2280" y="1324"/>
                <a:chExt cx="1140" cy="518"/>
              </a:xfrm>
            </p:grpSpPr>
            <p:sp>
              <p:nvSpPr>
                <p:cNvPr id="79" name="Rectangle 79"/>
                <p:cNvSpPr>
                  <a:spLocks noChangeArrowheads="1"/>
                </p:cNvSpPr>
                <p:nvPr/>
              </p:nvSpPr>
              <p:spPr bwMode="auto">
                <a:xfrm>
                  <a:off x="2280" y="1324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80" name="Group 78"/>
                <p:cNvGrpSpPr>
                  <a:grpSpLocks/>
                </p:cNvGrpSpPr>
                <p:nvPr/>
              </p:nvGrpSpPr>
              <p:grpSpPr bwMode="auto">
                <a:xfrm>
                  <a:off x="2280" y="1324"/>
                  <a:ext cx="1140" cy="518"/>
                  <a:chOff x="2280" y="1324"/>
                  <a:chExt cx="1140" cy="518"/>
                </a:xfrm>
              </p:grpSpPr>
              <p:sp>
                <p:nvSpPr>
                  <p:cNvPr id="81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323" y="1324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0.7 dB/km @ 1 kHz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82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1324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9" name="Group 84"/>
              <p:cNvGrpSpPr>
                <a:grpSpLocks/>
              </p:cNvGrpSpPr>
              <p:nvPr/>
            </p:nvGrpSpPr>
            <p:grpSpPr bwMode="auto">
              <a:xfrm>
                <a:off x="3420" y="1324"/>
                <a:ext cx="1140" cy="518"/>
                <a:chOff x="3420" y="1324"/>
                <a:chExt cx="1140" cy="518"/>
              </a:xfrm>
            </p:grpSpPr>
            <p:sp>
              <p:nvSpPr>
                <p:cNvPr id="75" name="Rectangle 83"/>
                <p:cNvSpPr>
                  <a:spLocks noChangeArrowheads="1"/>
                </p:cNvSpPr>
                <p:nvPr/>
              </p:nvSpPr>
              <p:spPr bwMode="auto">
                <a:xfrm>
                  <a:off x="3420" y="1324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76" name="Group 82"/>
                <p:cNvGrpSpPr>
                  <a:grpSpLocks/>
                </p:cNvGrpSpPr>
                <p:nvPr/>
              </p:nvGrpSpPr>
              <p:grpSpPr bwMode="auto">
                <a:xfrm>
                  <a:off x="3420" y="1324"/>
                  <a:ext cx="1140" cy="518"/>
                  <a:chOff x="3420" y="1324"/>
                  <a:chExt cx="1140" cy="518"/>
                </a:xfrm>
              </p:grpSpPr>
              <p:sp>
                <p:nvSpPr>
                  <p:cNvPr id="77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463" y="1324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5 µs/km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78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1324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0" name="Group 88"/>
              <p:cNvGrpSpPr>
                <a:grpSpLocks/>
              </p:cNvGrpSpPr>
              <p:nvPr/>
            </p:nvGrpSpPr>
            <p:grpSpPr bwMode="auto">
              <a:xfrm>
                <a:off x="4560" y="1324"/>
                <a:ext cx="1140" cy="518"/>
                <a:chOff x="4560" y="1324"/>
                <a:chExt cx="1140" cy="518"/>
              </a:xfrm>
            </p:grpSpPr>
            <p:sp>
              <p:nvSpPr>
                <p:cNvPr id="71" name="Rectangle 87"/>
                <p:cNvSpPr>
                  <a:spLocks noChangeArrowheads="1"/>
                </p:cNvSpPr>
                <p:nvPr/>
              </p:nvSpPr>
              <p:spPr bwMode="auto">
                <a:xfrm>
                  <a:off x="4560" y="1324"/>
                  <a:ext cx="114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72" name="Group 86"/>
                <p:cNvGrpSpPr>
                  <a:grpSpLocks/>
                </p:cNvGrpSpPr>
                <p:nvPr/>
              </p:nvGrpSpPr>
              <p:grpSpPr bwMode="auto">
                <a:xfrm>
                  <a:off x="4560" y="1324"/>
                  <a:ext cx="1140" cy="518"/>
                  <a:chOff x="4560" y="1324"/>
                  <a:chExt cx="1140" cy="518"/>
                </a:xfrm>
              </p:grpSpPr>
              <p:sp>
                <p:nvSpPr>
                  <p:cNvPr id="7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603" y="1324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2 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74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1324"/>
                    <a:ext cx="114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1" name="Group 92"/>
              <p:cNvGrpSpPr>
                <a:grpSpLocks/>
              </p:cNvGrpSpPr>
              <p:nvPr/>
            </p:nvGrpSpPr>
            <p:grpSpPr bwMode="auto">
              <a:xfrm>
                <a:off x="0" y="1842"/>
                <a:ext cx="1140" cy="403"/>
                <a:chOff x="0" y="1842"/>
                <a:chExt cx="1140" cy="403"/>
              </a:xfrm>
            </p:grpSpPr>
            <p:sp>
              <p:nvSpPr>
                <p:cNvPr id="67" name="Rectangle 91"/>
                <p:cNvSpPr>
                  <a:spLocks noChangeArrowheads="1"/>
                </p:cNvSpPr>
                <p:nvPr/>
              </p:nvSpPr>
              <p:spPr bwMode="auto">
                <a:xfrm>
                  <a:off x="0" y="1842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68" name="Group 90"/>
                <p:cNvGrpSpPr>
                  <a:grpSpLocks/>
                </p:cNvGrpSpPr>
                <p:nvPr/>
              </p:nvGrpSpPr>
              <p:grpSpPr bwMode="auto">
                <a:xfrm>
                  <a:off x="0" y="1842"/>
                  <a:ext cx="1140" cy="403"/>
                  <a:chOff x="0" y="1842"/>
                  <a:chExt cx="1140" cy="403"/>
                </a:xfrm>
              </p:grpSpPr>
              <p:sp>
                <p:nvSpPr>
                  <p:cNvPr id="69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842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Coaxial cable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70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842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2" name="Group 96"/>
              <p:cNvGrpSpPr>
                <a:grpSpLocks/>
              </p:cNvGrpSpPr>
              <p:nvPr/>
            </p:nvGrpSpPr>
            <p:grpSpPr bwMode="auto">
              <a:xfrm>
                <a:off x="1140" y="1842"/>
                <a:ext cx="1140" cy="403"/>
                <a:chOff x="1140" y="1842"/>
                <a:chExt cx="1140" cy="403"/>
              </a:xfrm>
            </p:grpSpPr>
            <p:sp>
              <p:nvSpPr>
                <p:cNvPr id="63" name="Rectangle 95"/>
                <p:cNvSpPr>
                  <a:spLocks noChangeArrowheads="1"/>
                </p:cNvSpPr>
                <p:nvPr/>
              </p:nvSpPr>
              <p:spPr bwMode="auto">
                <a:xfrm>
                  <a:off x="1140" y="1842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64" name="Group 94"/>
                <p:cNvGrpSpPr>
                  <a:grpSpLocks/>
                </p:cNvGrpSpPr>
                <p:nvPr/>
              </p:nvGrpSpPr>
              <p:grpSpPr bwMode="auto">
                <a:xfrm>
                  <a:off x="1140" y="1842"/>
                  <a:ext cx="1140" cy="403"/>
                  <a:chOff x="1140" y="1842"/>
                  <a:chExt cx="1140" cy="403"/>
                </a:xfrm>
              </p:grpSpPr>
              <p:sp>
                <p:nvSpPr>
                  <p:cNvPr id="6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183" y="1842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0 to 500 MHz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1842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" name="Group 100"/>
              <p:cNvGrpSpPr>
                <a:grpSpLocks/>
              </p:cNvGrpSpPr>
              <p:nvPr/>
            </p:nvGrpSpPr>
            <p:grpSpPr bwMode="auto">
              <a:xfrm>
                <a:off x="2280" y="1842"/>
                <a:ext cx="1140" cy="403"/>
                <a:chOff x="2280" y="1842"/>
                <a:chExt cx="1140" cy="403"/>
              </a:xfrm>
            </p:grpSpPr>
            <p:sp>
              <p:nvSpPr>
                <p:cNvPr id="59" name="Rectangle 99"/>
                <p:cNvSpPr>
                  <a:spLocks noChangeArrowheads="1"/>
                </p:cNvSpPr>
                <p:nvPr/>
              </p:nvSpPr>
              <p:spPr bwMode="auto">
                <a:xfrm>
                  <a:off x="2280" y="1842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60" name="Group 98"/>
                <p:cNvGrpSpPr>
                  <a:grpSpLocks/>
                </p:cNvGrpSpPr>
                <p:nvPr/>
              </p:nvGrpSpPr>
              <p:grpSpPr bwMode="auto">
                <a:xfrm>
                  <a:off x="2280" y="1842"/>
                  <a:ext cx="1140" cy="403"/>
                  <a:chOff x="2280" y="1842"/>
                  <a:chExt cx="1140" cy="403"/>
                </a:xfrm>
              </p:grpSpPr>
              <p:sp>
                <p:nvSpPr>
                  <p:cNvPr id="6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323" y="1842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7 dB/km @ 10 MHz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1842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4" name="Group 104"/>
              <p:cNvGrpSpPr>
                <a:grpSpLocks/>
              </p:cNvGrpSpPr>
              <p:nvPr/>
            </p:nvGrpSpPr>
            <p:grpSpPr bwMode="auto">
              <a:xfrm>
                <a:off x="3420" y="1842"/>
                <a:ext cx="1140" cy="403"/>
                <a:chOff x="3420" y="1842"/>
                <a:chExt cx="1140" cy="403"/>
              </a:xfrm>
            </p:grpSpPr>
            <p:sp>
              <p:nvSpPr>
                <p:cNvPr id="55" name="Rectangle 103"/>
                <p:cNvSpPr>
                  <a:spLocks noChangeArrowheads="1"/>
                </p:cNvSpPr>
                <p:nvPr/>
              </p:nvSpPr>
              <p:spPr bwMode="auto">
                <a:xfrm>
                  <a:off x="3420" y="1842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56" name="Group 102"/>
                <p:cNvGrpSpPr>
                  <a:grpSpLocks/>
                </p:cNvGrpSpPr>
                <p:nvPr/>
              </p:nvGrpSpPr>
              <p:grpSpPr bwMode="auto">
                <a:xfrm>
                  <a:off x="3420" y="1842"/>
                  <a:ext cx="1140" cy="403"/>
                  <a:chOff x="3420" y="1842"/>
                  <a:chExt cx="1140" cy="403"/>
                </a:xfrm>
              </p:grpSpPr>
              <p:sp>
                <p:nvSpPr>
                  <p:cNvPr id="5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463" y="1842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4 µs/km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58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1842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5" name="Group 108"/>
              <p:cNvGrpSpPr>
                <a:grpSpLocks/>
              </p:cNvGrpSpPr>
              <p:nvPr/>
            </p:nvGrpSpPr>
            <p:grpSpPr bwMode="auto">
              <a:xfrm>
                <a:off x="4560" y="1842"/>
                <a:ext cx="1140" cy="403"/>
                <a:chOff x="4560" y="1842"/>
                <a:chExt cx="1140" cy="403"/>
              </a:xfrm>
            </p:grpSpPr>
            <p:sp>
              <p:nvSpPr>
                <p:cNvPr id="51" name="Rectangle 107"/>
                <p:cNvSpPr>
                  <a:spLocks noChangeArrowheads="1"/>
                </p:cNvSpPr>
                <p:nvPr/>
              </p:nvSpPr>
              <p:spPr bwMode="auto">
                <a:xfrm>
                  <a:off x="4560" y="1842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52" name="Group 106"/>
                <p:cNvGrpSpPr>
                  <a:grpSpLocks/>
                </p:cNvGrpSpPr>
                <p:nvPr/>
              </p:nvGrpSpPr>
              <p:grpSpPr bwMode="auto">
                <a:xfrm>
                  <a:off x="4560" y="1842"/>
                  <a:ext cx="1140" cy="403"/>
                  <a:chOff x="4560" y="1842"/>
                  <a:chExt cx="1140" cy="403"/>
                </a:xfrm>
              </p:grpSpPr>
              <p:sp>
                <p:nvSpPr>
                  <p:cNvPr id="5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603" y="1842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1 to 9 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54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1842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6" name="Group 112"/>
              <p:cNvGrpSpPr>
                <a:grpSpLocks/>
              </p:cNvGrpSpPr>
              <p:nvPr/>
            </p:nvGrpSpPr>
            <p:grpSpPr bwMode="auto">
              <a:xfrm>
                <a:off x="0" y="2245"/>
                <a:ext cx="1140" cy="518"/>
                <a:chOff x="0" y="2245"/>
                <a:chExt cx="1140" cy="518"/>
              </a:xfrm>
            </p:grpSpPr>
            <p:sp>
              <p:nvSpPr>
                <p:cNvPr id="47" name="Rectangle 111"/>
                <p:cNvSpPr>
                  <a:spLocks noChangeArrowheads="1"/>
                </p:cNvSpPr>
                <p:nvPr/>
              </p:nvSpPr>
              <p:spPr bwMode="auto">
                <a:xfrm>
                  <a:off x="0" y="2245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8" name="Group 110"/>
                <p:cNvGrpSpPr>
                  <a:grpSpLocks/>
                </p:cNvGrpSpPr>
                <p:nvPr/>
              </p:nvGrpSpPr>
              <p:grpSpPr bwMode="auto">
                <a:xfrm>
                  <a:off x="0" y="2245"/>
                  <a:ext cx="1140" cy="518"/>
                  <a:chOff x="0" y="2245"/>
                  <a:chExt cx="1140" cy="518"/>
                </a:xfrm>
              </p:grpSpPr>
              <p:sp>
                <p:nvSpPr>
                  <p:cNvPr id="49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245"/>
                    <a:ext cx="1054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Optical fiber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50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245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7" name="Group 116"/>
              <p:cNvGrpSpPr>
                <a:grpSpLocks/>
              </p:cNvGrpSpPr>
              <p:nvPr/>
            </p:nvGrpSpPr>
            <p:grpSpPr bwMode="auto">
              <a:xfrm>
                <a:off x="1140" y="2245"/>
                <a:ext cx="1140" cy="403"/>
                <a:chOff x="1140" y="2245"/>
                <a:chExt cx="1140" cy="403"/>
              </a:xfrm>
            </p:grpSpPr>
            <p:sp>
              <p:nvSpPr>
                <p:cNvPr id="43" name="Rectangle 115"/>
                <p:cNvSpPr>
                  <a:spLocks noChangeArrowheads="1"/>
                </p:cNvSpPr>
                <p:nvPr/>
              </p:nvSpPr>
              <p:spPr bwMode="auto">
                <a:xfrm>
                  <a:off x="1140" y="2245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4" name="Group 114"/>
                <p:cNvGrpSpPr>
                  <a:grpSpLocks/>
                </p:cNvGrpSpPr>
                <p:nvPr/>
              </p:nvGrpSpPr>
              <p:grpSpPr bwMode="auto">
                <a:xfrm>
                  <a:off x="1140" y="2245"/>
                  <a:ext cx="1140" cy="403"/>
                  <a:chOff x="1140" y="2245"/>
                  <a:chExt cx="1140" cy="403"/>
                </a:xfrm>
              </p:grpSpPr>
              <p:sp>
                <p:nvSpPr>
                  <p:cNvPr id="4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183" y="2245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186 to 370 THz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46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2245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8" name="Group 120"/>
              <p:cNvGrpSpPr>
                <a:grpSpLocks/>
              </p:cNvGrpSpPr>
              <p:nvPr/>
            </p:nvGrpSpPr>
            <p:grpSpPr bwMode="auto">
              <a:xfrm>
                <a:off x="2280" y="2245"/>
                <a:ext cx="1140" cy="403"/>
                <a:chOff x="2280" y="2245"/>
                <a:chExt cx="1140" cy="403"/>
              </a:xfrm>
            </p:grpSpPr>
            <p:sp>
              <p:nvSpPr>
                <p:cNvPr id="39" name="Rectangle 119"/>
                <p:cNvSpPr>
                  <a:spLocks noChangeArrowheads="1"/>
                </p:cNvSpPr>
                <p:nvPr/>
              </p:nvSpPr>
              <p:spPr bwMode="auto">
                <a:xfrm>
                  <a:off x="2280" y="2245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0" name="Group 118"/>
                <p:cNvGrpSpPr>
                  <a:grpSpLocks/>
                </p:cNvGrpSpPr>
                <p:nvPr/>
              </p:nvGrpSpPr>
              <p:grpSpPr bwMode="auto">
                <a:xfrm>
                  <a:off x="2280" y="2245"/>
                  <a:ext cx="1140" cy="403"/>
                  <a:chOff x="2280" y="2245"/>
                  <a:chExt cx="1140" cy="403"/>
                </a:xfrm>
              </p:grpSpPr>
              <p:sp>
                <p:nvSpPr>
                  <p:cNvPr id="4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323" y="2245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0.2 to 0.5 dB/km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42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2245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9" name="Group 124"/>
              <p:cNvGrpSpPr>
                <a:grpSpLocks/>
              </p:cNvGrpSpPr>
              <p:nvPr/>
            </p:nvGrpSpPr>
            <p:grpSpPr bwMode="auto">
              <a:xfrm>
                <a:off x="3420" y="2245"/>
                <a:ext cx="1140" cy="403"/>
                <a:chOff x="3420" y="2245"/>
                <a:chExt cx="1140" cy="403"/>
              </a:xfrm>
            </p:grpSpPr>
            <p:sp>
              <p:nvSpPr>
                <p:cNvPr id="35" name="Rectangle 123"/>
                <p:cNvSpPr>
                  <a:spLocks noChangeArrowheads="1"/>
                </p:cNvSpPr>
                <p:nvPr/>
              </p:nvSpPr>
              <p:spPr bwMode="auto">
                <a:xfrm>
                  <a:off x="3420" y="2245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6" name="Group 122"/>
                <p:cNvGrpSpPr>
                  <a:grpSpLocks/>
                </p:cNvGrpSpPr>
                <p:nvPr/>
              </p:nvGrpSpPr>
              <p:grpSpPr bwMode="auto">
                <a:xfrm>
                  <a:off x="3420" y="2245"/>
                  <a:ext cx="1140" cy="403"/>
                  <a:chOff x="3420" y="2245"/>
                  <a:chExt cx="1140" cy="403"/>
                </a:xfrm>
              </p:grpSpPr>
              <p:sp>
                <p:nvSpPr>
                  <p:cNvPr id="3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463" y="2245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5 µs/km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38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2245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0" name="Group 128"/>
              <p:cNvGrpSpPr>
                <a:grpSpLocks/>
              </p:cNvGrpSpPr>
              <p:nvPr/>
            </p:nvGrpSpPr>
            <p:grpSpPr bwMode="auto">
              <a:xfrm>
                <a:off x="4560" y="2245"/>
                <a:ext cx="1140" cy="403"/>
                <a:chOff x="4560" y="2245"/>
                <a:chExt cx="1140" cy="403"/>
              </a:xfrm>
            </p:grpSpPr>
            <p:sp>
              <p:nvSpPr>
                <p:cNvPr id="31" name="Rectangle 127"/>
                <p:cNvSpPr>
                  <a:spLocks noChangeArrowheads="1"/>
                </p:cNvSpPr>
                <p:nvPr/>
              </p:nvSpPr>
              <p:spPr bwMode="auto">
                <a:xfrm>
                  <a:off x="4560" y="2245"/>
                  <a:ext cx="1140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altLang="id-ID" sz="2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" name="Group 126"/>
                <p:cNvGrpSpPr>
                  <a:grpSpLocks/>
                </p:cNvGrpSpPr>
                <p:nvPr/>
              </p:nvGrpSpPr>
              <p:grpSpPr bwMode="auto">
                <a:xfrm>
                  <a:off x="4560" y="2245"/>
                  <a:ext cx="1140" cy="403"/>
                  <a:chOff x="4560" y="2245"/>
                  <a:chExt cx="1140" cy="403"/>
                </a:xfrm>
              </p:grpSpPr>
              <p:sp>
                <p:nvSpPr>
                  <p:cNvPr id="33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603" y="2245"/>
                    <a:ext cx="105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id-ID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cs typeface="Times New Roman" panose="02020603050405020304" pitchFamily="18" charset="0"/>
                      </a:rPr>
                      <a:t>40 km</a:t>
                    </a:r>
                  </a:p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id-ID" sz="36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34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2245"/>
                    <a:ext cx="114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id-ID" altLang="id-ID" sz="2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5" name="Rectangle 130"/>
            <p:cNvSpPr>
              <a:spLocks noChangeArrowheads="1"/>
            </p:cNvSpPr>
            <p:nvPr/>
          </p:nvSpPr>
          <p:spPr bwMode="auto">
            <a:xfrm>
              <a:off x="-3" y="400"/>
              <a:ext cx="5706" cy="2251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altLang="id-ID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129" name="Rectangle 132"/>
          <p:cNvSpPr txBox="1">
            <a:spLocks noChangeArrowheads="1"/>
          </p:cNvSpPr>
          <p:nvPr/>
        </p:nvSpPr>
        <p:spPr bwMode="auto">
          <a:xfrm>
            <a:off x="156081" y="122238"/>
            <a:ext cx="8204200" cy="570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id-ID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kumimoji="1" lang="en-US" altLang="id-ID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id-ID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r>
              <a:rPr kumimoji="1" lang="en-US" altLang="id-ID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id-ID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1" lang="en-US" altLang="id-ID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Guided Media </a:t>
            </a:r>
            <a:endParaRPr kumimoji="1" lang="en-GB" altLang="id-ID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389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48157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0" lang="id-ID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euntungan serat optik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764704"/>
            <a:ext cx="8964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ekstra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tinggi </a:t>
            </a:r>
            <a:endParaRPr lang="id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iameter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lebih kecil,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ringan</a:t>
            </a:r>
            <a:endParaRPr lang="id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Tidak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terjadi crosstalk antara fiber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mun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terhadap interferensi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induktif</a:t>
            </a:r>
            <a:endParaRPr lang="id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Kualitas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transmisi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endParaRPr lang="id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Instalasi </a:t>
            </a:r>
            <a:r>
              <a:rPr lang="id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mudah dan beaya operasi </a:t>
            </a:r>
            <a:r>
              <a:rPr lang="id-ID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rendah</a:t>
            </a:r>
            <a:endParaRPr lang="id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20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6182" y="-459432"/>
            <a:ext cx="8929718" cy="5857892"/>
          </a:xfrm>
          <a:prstGeom prst="rect">
            <a:avLst/>
          </a:prstGeom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lang="id-ID" sz="2000" dirty="0"/>
              <a:t> </a:t>
            </a:r>
            <a:r>
              <a:rPr lang="id-ID" sz="2000" dirty="0" smtClean="0"/>
              <a:t>    </a:t>
            </a:r>
            <a:r>
              <a:rPr kumimoji="0" 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4282" y="1937048"/>
            <a:ext cx="892971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d-ID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  <a:r>
              <a:rPr lang="id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id-ID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menyiapkan 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sinyal informasi yang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 selanjutnya dikirim 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 </a:t>
            </a:r>
            <a:r>
              <a:rPr lang="id-ID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reciever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melalui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 transmisi dengan terlebih </a:t>
            </a:r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dahulu melalui proses-proses tertentu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spcAft>
                <a:spcPct val="250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Memproses dan memodifikasi input signal agar dapat ditransmisikan secara efisien  melalui kanal komunikasi (communication channel)</a:t>
            </a:r>
          </a:p>
          <a:p>
            <a:pPr marL="342900" lvl="0" indent="-342900">
              <a:spcAft>
                <a:spcPct val="250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Operasi pemrosesan sinyal meliputi multiplexing, penguatan (amplification), penyaringan (filtering) dan modulasi </a:t>
            </a:r>
          </a:p>
          <a:p>
            <a:pPr marL="342900" lvl="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Modulasi merupakan proses yang terpenting, yaitu menyesuaikan karakteristik sinyal dengan kanal komunikasi melalui penggunaan gelombang pembawa (carrier wave) </a:t>
            </a:r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945341" y="260648"/>
            <a:ext cx="7467600" cy="1371600"/>
            <a:chOff x="432" y="1728"/>
            <a:chExt cx="4704" cy="864"/>
          </a:xfrm>
        </p:grpSpPr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3936" y="1728"/>
              <a:ext cx="1200" cy="864"/>
            </a:xfrm>
            <a:prstGeom prst="rect">
              <a:avLst/>
            </a:prstGeom>
            <a:gradFill rotWithShape="0">
              <a:gsLst>
                <a:gs pos="0">
                  <a:srgbClr val="47182F"/>
                </a:gs>
                <a:gs pos="100000">
                  <a:srgbClr val="9933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32592" dir="4398045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prstClr val="white"/>
                  </a:solidFill>
                </a:rPr>
                <a:t>Penerima </a:t>
              </a:r>
            </a:p>
            <a:p>
              <a:pPr algn="ctr"/>
              <a:r>
                <a:rPr lang="id-ID" sz="2400" dirty="0" smtClean="0">
                  <a:solidFill>
                    <a:prstClr val="white"/>
                  </a:solidFill>
                </a:rPr>
                <a:t>(</a:t>
              </a:r>
              <a:r>
                <a:rPr lang="nb-NO" sz="2400" dirty="0" smtClean="0">
                  <a:solidFill>
                    <a:prstClr val="white"/>
                  </a:solidFill>
                </a:rPr>
                <a:t>Receiver</a:t>
              </a:r>
              <a:r>
                <a:rPr lang="id-ID" sz="2400" dirty="0" smtClean="0">
                  <a:solidFill>
                    <a:prstClr val="white"/>
                  </a:solidFill>
                </a:rPr>
                <a:t>)</a:t>
              </a:r>
              <a:endParaRPr 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584" y="1920"/>
              <a:ext cx="2352" cy="432"/>
            </a:xfrm>
            <a:prstGeom prst="rect">
              <a:avLst/>
            </a:prstGeom>
            <a:gradFill rotWithShape="0">
              <a:gsLst>
                <a:gs pos="0">
                  <a:srgbClr val="184776"/>
                </a:gs>
                <a:gs pos="50000">
                  <a:srgbClr val="3399FF"/>
                </a:gs>
                <a:gs pos="100000">
                  <a:srgbClr val="18477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15003" dir="5780412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prstClr val="white"/>
                  </a:solidFill>
                </a:rPr>
                <a:t>Kanal </a:t>
              </a:r>
              <a:r>
                <a:rPr lang="en-US" sz="2400" dirty="0" err="1">
                  <a:solidFill>
                    <a:prstClr val="white"/>
                  </a:solidFill>
                </a:rPr>
                <a:t>Transmis</a:t>
              </a:r>
              <a:r>
                <a:rPr lang="nb-NO" sz="2400" dirty="0">
                  <a:solidFill>
                    <a:prstClr val="white"/>
                  </a:solidFill>
                </a:rPr>
                <a:t>i</a:t>
              </a:r>
              <a:endParaRPr 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432" y="1728"/>
              <a:ext cx="1200" cy="864"/>
            </a:xfrm>
            <a:prstGeom prst="rect">
              <a:avLst/>
            </a:prstGeom>
            <a:gradFill rotWithShape="0">
              <a:gsLst>
                <a:gs pos="0">
                  <a:srgbClr val="47182F"/>
                </a:gs>
                <a:gs pos="100000">
                  <a:srgbClr val="9933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17088" dir="4648272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prstClr val="white"/>
                  </a:solidFill>
                </a:rPr>
                <a:t>Pengirim </a:t>
              </a:r>
            </a:p>
            <a:p>
              <a:pPr algn="ctr"/>
              <a:r>
                <a:rPr lang="id-ID" sz="2400" dirty="0" smtClean="0">
                  <a:solidFill>
                    <a:prstClr val="white"/>
                  </a:solidFill>
                </a:rPr>
                <a:t>(</a:t>
              </a:r>
              <a:r>
                <a:rPr lang="nb-NO" sz="2400" dirty="0" smtClean="0">
                  <a:solidFill>
                    <a:prstClr val="white"/>
                  </a:solidFill>
                </a:rPr>
                <a:t>Transmitter</a:t>
              </a:r>
              <a:r>
                <a:rPr lang="id-ID" sz="2400" dirty="0" smtClean="0">
                  <a:solidFill>
                    <a:prstClr val="white"/>
                  </a:solidFill>
                </a:rPr>
                <a:t>)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074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4743"/>
            <a:ext cx="90364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Perangkat </a:t>
            </a:r>
            <a:r>
              <a:rPr lang="en-US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d-ID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ransmitter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al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: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(penyaring),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amplifier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(penguat)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mixer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(pencampur)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modulator, 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Analog to Digital Converter (ADC) 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coder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(Pengkode),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multiplexer, </a:t>
            </a:r>
          </a:p>
          <a:p>
            <a:pPr lvl="0" algn="just"/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antena pemancar, dll.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1978832"/>
            <a:ext cx="896448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id-ID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Reciever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memerima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 informasi dari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dengan</a:t>
            </a:r>
          </a:p>
          <a:p>
            <a:pPr lvl="0" algn="just">
              <a:spcAft>
                <a:spcPts val="1200"/>
              </a:spcAft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melalui proses-proses tertentu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spcAft>
                <a:spcPct val="250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Mengambil kembali sinyal yang ditransmisikan melalui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</a:t>
            </a:r>
          </a:p>
          <a:p>
            <a:pPr marL="342900" lvl="0" indent="-342900">
              <a:spcAft>
                <a:spcPct val="2500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Operasi meliputi demodulasi (proses kebalikan dari modulasi), demultiplexing, penguatan dan penyaringan</a:t>
            </a:r>
          </a:p>
          <a:p>
            <a:pPr lvl="0" algn="just"/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id-ID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id-ID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510" y="4725144"/>
            <a:ext cx="8604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Perangkat </a:t>
            </a:r>
            <a:r>
              <a:rPr lang="id-ID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reciever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al.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antena penerima,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penguat, </a:t>
            </a:r>
            <a:r>
              <a:rPr lang="id-ID" sz="2400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mixer, demodulator, detector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2400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Digitalto Analog converter (DAC),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dll.</a:t>
            </a:r>
          </a:p>
        </p:txBody>
      </p:sp>
    </p:spTree>
    <p:extLst>
      <p:ext uri="{BB962C8B-B14F-4D97-AF65-F5344CB8AC3E}">
        <p14:creationId xmlns:p14="http://schemas.microsoft.com/office/powerpoint/2010/main" val="1536654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6303" y="188640"/>
            <a:ext cx="904769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Selama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 transmisi dari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 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reciever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masuk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sinyal-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sinyal 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 yaitu sinyal gangguan yang disebut sebagai sinyal </a:t>
            </a:r>
            <a:r>
              <a:rPr lang="id-ID" sz="2400" b="1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</a:p>
          <a:p>
            <a:pPr lvl="0" algn="just"/>
            <a:r>
              <a:rPr lang="id-ID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b="1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atau sinyal </a:t>
            </a: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bising,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 noise ini bisa berasal dari dalam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komunikasi itu sendiri maupun dari luar sistem komunikasi.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303" y="2204864"/>
            <a:ext cx="88924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 :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 berupa  sinyal suara (</a:t>
            </a:r>
            <a:r>
              <a:rPr lang="id-ID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voice)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sinyal musik,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sinyal</a:t>
            </a:r>
          </a:p>
          <a:p>
            <a:pPr lvl="0" algn="just">
              <a:spcAft>
                <a:spcPts val="1200"/>
              </a:spcAft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gambar, sinyal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dan data.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sinyal: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besaran elektrik (arus atau tegangan elektrik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just"/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yang berbentuk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(arah dan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besarnya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berubah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ubahsebagai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fungsi waktu) pada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</a:p>
          <a:p>
            <a:pPr lvl="0" algn="just"/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 komunikasi.</a:t>
            </a:r>
          </a:p>
        </p:txBody>
      </p:sp>
    </p:spTree>
    <p:extLst>
      <p:ext uri="{BB962C8B-B14F-4D97-AF65-F5344CB8AC3E}">
        <p14:creationId xmlns:p14="http://schemas.microsoft.com/office/powerpoint/2010/main" val="3015776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94846" y="383560"/>
            <a:ext cx="89448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prstClr val="black"/>
                </a:solidFill>
                <a:latin typeface="Trebuchet MS" pitchFamily="34" charset="0"/>
              </a:rPr>
              <a:t>Konversi</a:t>
            </a:r>
            <a:r>
              <a:rPr lang="en-US" sz="2400" b="1" dirty="0">
                <a:solidFill>
                  <a:prstClr val="black"/>
                </a:solidFill>
                <a:latin typeface="Trebuchet MS" pitchFamily="34" charset="0"/>
              </a:rPr>
              <a:t> Gelombang </a:t>
            </a:r>
            <a:r>
              <a:rPr lang="en-US" sz="2400" b="1" dirty="0" err="1">
                <a:solidFill>
                  <a:prstClr val="black"/>
                </a:solidFill>
                <a:latin typeface="Trebuchet MS" pitchFamily="34" charset="0"/>
              </a:rPr>
              <a:t>Listrik</a:t>
            </a:r>
            <a:r>
              <a:rPr lang="en-US" sz="2400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 Gelombang </a:t>
            </a:r>
            <a:r>
              <a:rPr lang="en-US" sz="2400" b="1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Elektromagnetik</a:t>
            </a:r>
            <a:r>
              <a:rPr lang="en-US" sz="2400" b="1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Fungsimya</a:t>
            </a:r>
            <a:r>
              <a:rPr lang="en-US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agar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informasi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/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pesan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dapat</a:t>
            </a:r>
            <a:r>
              <a:rPr lang="id-ID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ditransmisikan</a:t>
            </a:r>
            <a:r>
              <a:rPr lang="id-ID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/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disampaikan</a:t>
            </a:r>
            <a:r>
              <a:rPr lang="en-US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melalui</a:t>
            </a:r>
            <a:r>
              <a:rPr lang="en-US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udara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(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bila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menggunakan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Radio) 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kepada</a:t>
            </a:r>
            <a:r>
              <a:rPr lang="id-ID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Penerima</a:t>
            </a:r>
            <a:r>
              <a:rPr lang="en-US" sz="2400" dirty="0" smtClean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  <a:sym typeface="Wingdings" pitchFamily="2" charset="2"/>
              </a:rPr>
              <a:t>(destination)</a:t>
            </a:r>
          </a:p>
        </p:txBody>
      </p:sp>
      <p:sp>
        <p:nvSpPr>
          <p:cNvPr id="3" name="Text Box 18"/>
          <p:cNvSpPr txBox="1">
            <a:spLocks noChangeArrowheads="1"/>
          </p:cNvSpPr>
          <p:nvPr/>
        </p:nvSpPr>
        <p:spPr bwMode="auto">
          <a:xfrm>
            <a:off x="573374" y="2253734"/>
            <a:ext cx="204171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 err="1">
                <a:solidFill>
                  <a:prstClr val="black"/>
                </a:solidFill>
                <a:latin typeface="Trebuchet MS" pitchFamily="34" charset="0"/>
              </a:rPr>
              <a:t>Gelombang</a:t>
            </a:r>
            <a:r>
              <a:rPr lang="en-US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Trebuchet MS" pitchFamily="34" charset="0"/>
              </a:rPr>
              <a:t>Suara</a:t>
            </a:r>
            <a:endParaRPr lang="en-US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2781300" y="2322321"/>
            <a:ext cx="228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 err="1">
                <a:solidFill>
                  <a:prstClr val="black"/>
                </a:solidFill>
                <a:latin typeface="Trebuchet MS" pitchFamily="34" charset="0"/>
              </a:rPr>
              <a:t>Gelombang</a:t>
            </a:r>
            <a:r>
              <a:rPr lang="en-US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Trebuchet MS" pitchFamily="34" charset="0"/>
              </a:rPr>
              <a:t>Listrik</a:t>
            </a:r>
            <a:endParaRPr lang="en-US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6900867" y="3444680"/>
            <a:ext cx="2133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b="1" dirty="0" err="1">
                <a:solidFill>
                  <a:prstClr val="black"/>
                </a:solidFill>
                <a:latin typeface="Trebuchet MS" pitchFamily="34" charset="0"/>
              </a:rPr>
              <a:t>Gelombang</a:t>
            </a:r>
            <a:r>
              <a:rPr lang="en-US" b="1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b="1" dirty="0" err="1" smtClean="0">
                <a:solidFill>
                  <a:prstClr val="black"/>
                </a:solidFill>
                <a:latin typeface="Trebuchet MS" pitchFamily="34" charset="0"/>
              </a:rPr>
              <a:t>Elektromagnetik</a:t>
            </a:r>
            <a:r>
              <a:rPr lang="id-ID" b="1" dirty="0" smtClean="0">
                <a:solidFill>
                  <a:prstClr val="black"/>
                </a:solidFill>
                <a:latin typeface="Trebuchet MS" pitchFamily="34" charset="0"/>
              </a:rPr>
              <a:t> (gelombang radio)</a:t>
            </a:r>
          </a:p>
          <a:p>
            <a:pPr algn="ctr" eaLnBrk="1" hangingPunct="1"/>
            <a:r>
              <a:rPr lang="id-ID" b="1" dirty="0" smtClean="0">
                <a:solidFill>
                  <a:prstClr val="black"/>
                </a:solidFill>
                <a:latin typeface="Trebuchet MS" pitchFamily="34" charset="0"/>
              </a:rPr>
              <a:t>Saluran non fisik</a:t>
            </a:r>
            <a:endParaRPr lang="en-US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6609043" y="2170134"/>
            <a:ext cx="10871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>
                <a:solidFill>
                  <a:prstClr val="black"/>
                </a:solidFill>
                <a:latin typeface="Trebuchet MS" pitchFamily="34" charset="0"/>
              </a:rPr>
              <a:t>Antenna</a:t>
            </a:r>
          </a:p>
        </p:txBody>
      </p:sp>
      <p:sp>
        <p:nvSpPr>
          <p:cNvPr id="7" name="Text Box 36"/>
          <p:cNvSpPr txBox="1">
            <a:spLocks noChangeArrowheads="1"/>
          </p:cNvSpPr>
          <p:nvPr/>
        </p:nvSpPr>
        <p:spPr bwMode="auto">
          <a:xfrm>
            <a:off x="913532" y="4012168"/>
            <a:ext cx="12606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 err="1">
                <a:solidFill>
                  <a:prstClr val="black"/>
                </a:solidFill>
                <a:latin typeface="Trebuchet MS" pitchFamily="34" charset="0"/>
              </a:rPr>
              <a:t>Pelanggan</a:t>
            </a:r>
            <a:endParaRPr lang="en-US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12595" y="3556494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977114" y="3543300"/>
            <a:ext cx="838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372100" y="2082053"/>
            <a:ext cx="457200" cy="2209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5818682" y="2057400"/>
            <a:ext cx="990600" cy="990600"/>
          </a:xfrm>
          <a:prstGeom prst="moo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H="1">
            <a:off x="5593205" y="252084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5611318" y="2520845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 flipH="1">
            <a:off x="4815314" y="3957402"/>
            <a:ext cx="785386" cy="17489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6609043" y="255394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H="1">
            <a:off x="6609043" y="274849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3467100" y="397684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H="1">
            <a:off x="1676400" y="3975594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1317010" y="3593892"/>
            <a:ext cx="533400" cy="38100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685800" y="3735674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H="1">
            <a:off x="990600" y="2728912"/>
            <a:ext cx="152400" cy="838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H="1">
            <a:off x="2174198" y="2691653"/>
            <a:ext cx="1066800" cy="990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3557041" y="2691653"/>
            <a:ext cx="152400" cy="11430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3924300" y="2729752"/>
            <a:ext cx="1485900" cy="1005921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flipH="1" flipV="1">
            <a:off x="7142443" y="2825773"/>
            <a:ext cx="553757" cy="55857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5410200" y="424229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5497018" y="32385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>
            <a:off x="5497018" y="3735673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>
            <a:off x="5486400" y="3244873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598" y="3682253"/>
            <a:ext cx="204787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Line 32"/>
          <p:cNvSpPr>
            <a:spLocks noChangeShapeType="1"/>
          </p:cNvSpPr>
          <p:nvPr/>
        </p:nvSpPr>
        <p:spPr bwMode="auto">
          <a:xfrm flipH="1">
            <a:off x="5372100" y="3708894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457197" y="4945718"/>
            <a:ext cx="85902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Pada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sistem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komunikasi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radio Antenna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adalah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perangkat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mengubah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sinyal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berisi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informasi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dari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bentuk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sinyal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listrik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menjadi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sinyal</a:t>
            </a:r>
            <a:r>
              <a:rPr lang="en-US" sz="2400" dirty="0">
                <a:solidFill>
                  <a:prstClr val="black"/>
                </a:solidFill>
                <a:latin typeface="Trebuchet MS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rebuchet MS" pitchFamily="34" charset="0"/>
              </a:rPr>
              <a:t>elektromagnetik</a:t>
            </a:r>
            <a:endParaRPr lang="en-US" sz="2400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-78534" y="-23775"/>
            <a:ext cx="3244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buFont typeface="Wingdings" panose="05000000000000000000" pitchFamily="2" charset="2"/>
              <a:buChar char="Ø"/>
            </a:pPr>
            <a:r>
              <a:rPr lang="id-ID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Saluran </a:t>
            </a:r>
            <a:r>
              <a:rPr lang="id-ID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fisik</a:t>
            </a:r>
            <a:endParaRPr lang="en-US" sz="28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72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8635"/>
            <a:ext cx="9145016" cy="590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d-ID" altLang="id-ID" sz="2400" dirty="0">
                <a:solidFill>
                  <a:srgbClr val="000000"/>
                </a:solidFill>
                <a:latin typeface="Arial"/>
              </a:rPr>
              <a:t>Merupakan suatu bentuk komunikasi </a:t>
            </a:r>
            <a:r>
              <a:rPr lang="id-ID" altLang="id-ID" sz="2400" dirty="0" smtClean="0">
                <a:solidFill>
                  <a:srgbClr val="000000"/>
                </a:solidFill>
                <a:latin typeface="Arial"/>
              </a:rPr>
              <a:t>yang </a:t>
            </a:r>
            <a:r>
              <a:rPr lang="id-ID" altLang="id-ID" sz="2400" dirty="0">
                <a:solidFill>
                  <a:srgbClr val="000000"/>
                </a:solidFill>
                <a:latin typeface="Arial"/>
              </a:rPr>
              <a:t>memanfaatkan gelombang radio sebagai sarana untuk membawa </a:t>
            </a:r>
            <a:r>
              <a:rPr lang="id-ID" altLang="id-ID" sz="2400" dirty="0" smtClean="0">
                <a:solidFill>
                  <a:srgbClr val="000000"/>
                </a:solidFill>
                <a:latin typeface="Arial"/>
              </a:rPr>
              <a:t>suatu</a:t>
            </a:r>
          </a:p>
          <a:p>
            <a:pPr lvl="0" fontAlgn="base">
              <a:spcAft>
                <a:spcPts val="1200"/>
              </a:spcAft>
            </a:pPr>
            <a:r>
              <a:rPr lang="id-ID" altLang="id-ID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id-ID" altLang="id-ID" sz="2400" dirty="0" smtClean="0">
                <a:solidFill>
                  <a:srgbClr val="000000"/>
                </a:solidFill>
                <a:latin typeface="Arial"/>
              </a:rPr>
              <a:t>   pesan </a:t>
            </a:r>
            <a:r>
              <a:rPr lang="id-ID" altLang="id-ID" sz="2400" dirty="0">
                <a:solidFill>
                  <a:srgbClr val="000000"/>
                </a:solidFill>
                <a:latin typeface="Arial"/>
              </a:rPr>
              <a:t>sampai ke tempat tujuannya</a:t>
            </a:r>
            <a:r>
              <a:rPr lang="id-ID" altLang="id-ID" sz="2400" dirty="0" smtClean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lvl="0" indent="-4572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d-ID" altLang="id-ID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Keuntungannya:</a:t>
            </a:r>
          </a:p>
          <a:p>
            <a:pPr marL="914400" lvl="1" indent="-4572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id-ID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 menjangkau daerah yang cukup luas</a:t>
            </a:r>
          </a:p>
          <a:p>
            <a:pPr marL="914400" lvl="1" indent="-457200" fontAlgn="base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id-ID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 diperlukan pemasangan kabel yang </a:t>
            </a:r>
            <a:r>
              <a:rPr lang="id-ID" alt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rumit</a:t>
            </a:r>
            <a:endParaRPr lang="id-ID" altLang="id-ID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d-ID" altLang="id-ID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Kerugiannya:</a:t>
            </a:r>
          </a:p>
          <a:p>
            <a:pPr marL="914400" lvl="1" indent="-457200" fontAlgn="base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id-ID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 terjadi gangguan komunikasi bila terdapat suatu interferensi</a:t>
            </a:r>
            <a:r>
              <a:rPr lang="id-ID" alt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id-ID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d-ID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 mencegah suatu interferensi maka dibutuhkan pengaturan alokasi frekuensi yang digunakan oleh setiap daerah.</a:t>
            </a:r>
            <a:endParaRPr lang="en-US" altLang="id-ID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88" lvl="0" indent="-90488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Font typeface="Wingdings" panose="05000000000000000000" pitchFamily="2" charset="2"/>
              <a:buChar char="l"/>
            </a:pPr>
            <a:endParaRPr lang="id-ID" altLang="id-ID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3225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 smtClean="0"/>
              <a:t>Alokasi Frekuensi Gelombang Radio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40"/>
            <a:ext cx="9144000" cy="6078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22543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2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9217024" cy="7045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1.3 Sistem Transmisi Radio</a:t>
            </a:r>
            <a:endParaRPr lang="id-ID" sz="28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 </a:t>
            </a: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Transmisi Radio </a:t>
            </a: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hubungan jarak jauh misalnya hubungan antar pulau.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Gelombang radio HF merambat melalui udara, kemudian dipantulkan kembali ke bumi melalui lapisan ionosfer.   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Jarak dua terminal bisa mencapai lebih dari 1500 Km untuk satu hop.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Jangkauannya sangat jauh, membutuhkan daya pancar besar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Dapat melewati laut, gurun, tanah tandus, hutan belantara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Mudah terganggu oleh keadaan cuaca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Kualitas percakapan kurang bisa diandalkan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Kapasitas Kecil</a:t>
            </a:r>
            <a:endParaRPr lang="id-ID" sz="28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273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649"/>
            <a:ext cx="9324528" cy="487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 </a:t>
            </a: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Transmisi Radio VHF/UHF</a:t>
            </a:r>
          </a:p>
          <a:p>
            <a:pPr marL="914400" lvl="1" indent="-45720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VHF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bekerja pada frekuensi 30 – 300 </a:t>
            </a: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endParaRPr lang="id-ID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UHF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 frekuensi 300 – 3000 MHz</a:t>
            </a: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VHF dan UHF berhubungan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 cara line of sight </a:t>
            </a: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artinya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kedua tempat </a:t>
            </a: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harus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saling melihat </a:t>
            </a: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tanpa ada penghalang.</a:t>
            </a:r>
          </a:p>
          <a:p>
            <a:pPr marL="914400" lvl="1" indent="-4572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UHF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mempunyai kapasitas </a:t>
            </a:r>
            <a:r>
              <a:rPr lang="id-ID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transmisi lebih </a:t>
            </a:r>
            <a:r>
              <a:rPr lang="id-ID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besar dibanding VHF. </a:t>
            </a:r>
            <a:endParaRPr lang="id-ID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562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217" y="116632"/>
            <a:ext cx="8964488" cy="585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Sistem Radio Transmisi </a:t>
            </a: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SHF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isebut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juga sistem Gelombang Mikro (Microwave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), dengan 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panjang gelombang yang sangat pendek. </a:t>
            </a:r>
            <a:endParaRPr lang="id-ID" sz="28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Sistem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ini hanya menjangkau 50 – 70 Km, sehingga diperlukan repeater-repeater  untuk menghubungkannya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Kemampuan salur yang besar dibanding 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Keandalan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Tinggi tidak terpengaruh oleh 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cuaca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Jarak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jangkau lebih pendek dibanding 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erpengaruh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oleh 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penghalang (gunung, gedung, pohon,dll)</a:t>
            </a:r>
            <a:endParaRPr lang="id-ID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2230830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-92334"/>
            <a:ext cx="9144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id-ID" sz="3600" b="1" dirty="0" smtClean="0"/>
              <a:t>3</a:t>
            </a:r>
            <a:r>
              <a:rPr lang="id-ID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Perambatan Gelombang Radio</a:t>
            </a:r>
          </a:p>
          <a:p>
            <a:endParaRPr lang="id-ID" sz="3600" b="1" dirty="0" smtClean="0"/>
          </a:p>
          <a:p>
            <a:endParaRPr lang="id-ID" sz="3600" b="1" dirty="0" smtClean="0"/>
          </a:p>
          <a:p>
            <a:endParaRPr lang="id-ID" sz="2000" b="1" dirty="0" smtClean="0"/>
          </a:p>
          <a:p>
            <a:endParaRPr lang="id-ID" sz="3600" b="1" dirty="0" smtClean="0"/>
          </a:p>
          <a:p>
            <a:endParaRPr lang="id-ID" sz="2000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4750" y="548680"/>
            <a:ext cx="9143999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Frekuensi radio (</a:t>
            </a:r>
            <a:r>
              <a:rPr kumimoji="0" lang="id-ID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RF = Radio Frequency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)/gelombang radio merupakan gelombang elektromagnetik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  <a:tabLst/>
            </a:pPr>
            <a:r>
              <a:rPr lang="id-ID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Gelombang Elektromaknetik (GEM) =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suatu perpaduan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antara gelombang medan magnet dan gelombang medan listrik. </a:t>
            </a:r>
          </a:p>
          <a:p>
            <a:pPr marL="457200" lvl="0" indent="-4572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merambat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medium,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</a:t>
            </a: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benda </a:t>
            </a:r>
            <a:r>
              <a:rPr lang="id-ID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id-ID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</a:t>
            </a: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benda </a:t>
            </a:r>
            <a:r>
              <a:rPr lang="id-ID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id-ID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id-ID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</a:t>
            </a: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Propagasi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radio,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dibedakan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fontAlgn="base">
              <a:buFont typeface="Wingdings" panose="05000000000000000000" pitchFamily="2" charset="2"/>
              <a:buChar char="v"/>
            </a:pP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Propagasi Gelombang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tanah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 fontAlgn="base">
              <a:buFont typeface="Wingdings" panose="05000000000000000000" pitchFamily="2" charset="2"/>
              <a:buChar char="§"/>
            </a:pP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lang="en-US" altLang="id-ID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langsun</a:t>
            </a:r>
            <a:r>
              <a:rPr lang="id-ID" alt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id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fontAlgn="base">
              <a:buFont typeface="Wingdings" panose="05000000000000000000" pitchFamily="2" charset="2"/>
              <a:buChar char="§"/>
            </a:pP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pantulan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tanah</a:t>
            </a:r>
            <a:endParaRPr lang="en-US" altLang="id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fontAlgn="base">
              <a:buFont typeface="Wingdings" panose="05000000000000000000" pitchFamily="2" charset="2"/>
              <a:buChar char="§"/>
            </a:pP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permukaan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tanah</a:t>
            </a:r>
            <a:endParaRPr lang="en-US" altLang="id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Propagasi </a:t>
            </a:r>
            <a:r>
              <a:rPr lang="en-US" altLang="id-ID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r>
              <a:rPr lang="en-US" alt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id-ID" altLang="id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</a:pPr>
            <a:endParaRPr lang="en-US" altLang="id-ID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54" y="33383"/>
            <a:ext cx="91197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id-ID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Propagasi </a:t>
            </a:r>
            <a:r>
              <a:rPr lang="en-US" altLang="id-ID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r>
              <a:rPr lang="en-US" altLang="id-ID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id-ID" altLang="id-ID" sz="32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692696"/>
            <a:ext cx="8489413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847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512" y="21206"/>
            <a:ext cx="8964488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/>
            <a:r>
              <a:rPr kumimoji="0" lang="en-US" altLang="id-ID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Propagasi </a:t>
            </a:r>
            <a:r>
              <a:rPr kumimoji="0" lang="en-US" altLang="id-ID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r>
              <a:rPr kumimoji="0" lang="id-ID" altLang="id-ID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langit (</a:t>
            </a:r>
            <a:r>
              <a:rPr lang="id-ID" sz="32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sky wave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0" lang="id-ID" altLang="id-ID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id-ID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79512" y="692696"/>
            <a:ext cx="8713787" cy="547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¡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Memanfaatkan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memantulkan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terletak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ketinggian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50-500 km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diatas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permukaan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bumi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terbentuk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radiasi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sinar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matahari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Perbedaan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derajat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ionisasi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pembagian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Tx/>
              <a:buNone/>
              <a:tabLst/>
              <a:defRPr/>
            </a:pPr>
            <a:endParaRPr kumimoji="0" lang="en-US" altLang="id-ID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Tx/>
              <a:buNone/>
              <a:tabLst/>
              <a:defRPr/>
            </a:pPr>
            <a:endParaRPr kumimoji="0" lang="en-US" altLang="id-ID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807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0"/>
            <a:ext cx="82296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d-ID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Propagasi </a:t>
            </a:r>
            <a:r>
              <a:rPr kumimoji="0" lang="en-US" altLang="id-ID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r>
              <a:rPr kumimoji="0" lang="id-ID" altLang="id-ID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(gelombang langit)</a:t>
            </a:r>
            <a:endParaRPr kumimoji="0" lang="en-US" altLang="id-ID" sz="2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0" y="490537"/>
            <a:ext cx="8713787" cy="547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¡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 (50-90 km)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 (90-145 km)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 (160-400 km)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510" y="1865240"/>
            <a:ext cx="5721866" cy="480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41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323528" y="29894"/>
            <a:ext cx="8641209" cy="682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¡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id-ID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paling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bawah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ionosfer</a:t>
            </a:r>
            <a:endParaRPr kumimoji="0" lang="en-US" altLang="id-ID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Menyerap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dg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rendah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melewatkan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frek</a:t>
            </a:r>
            <a:r>
              <a:rPr kumimoji="0" lang="id-ID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uensi 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endParaRPr kumimoji="0" lang="en-US" altLang="id-ID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Ionisasi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maks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menghilang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malam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endParaRPr kumimoji="0" lang="en-US" altLang="id-ID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id-ID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Memantulkan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sekitar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r>
              <a:rPr kumimoji="0" lang="id-ID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MHz 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Tergantung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frek</a:t>
            </a:r>
            <a:r>
              <a:rPr kumimoji="0" lang="id-ID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uensi 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kekuatan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E,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sinyal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dibiaskan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ataupun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diteruskan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malam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lsinyal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melewati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lap</a:t>
            </a:r>
            <a:r>
              <a:rPr kumimoji="0" lang="id-ID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malam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menyusut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id-ID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Dibagi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F1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F2 (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malam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lapisan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endParaRPr kumimoji="0" lang="en-US" altLang="id-ID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Memantulkan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gelombang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fekuensi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(HF)</a:t>
            </a:r>
          </a:p>
          <a:p>
            <a:pPr marR="0" lvl="1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(VHF,UHF..)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id-ID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dilewatkan</a:t>
            </a:r>
            <a:r>
              <a:rPr kumimoji="0" lang="en-US" alt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447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9036496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id-ID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id-ID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ropagasi ionosfer, gelombang </a:t>
            </a:r>
            <a:r>
              <a:rPr lang="id-ID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 (</a:t>
            </a:r>
            <a:r>
              <a:rPr lang="id-ID" sz="2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sky wave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), </a:t>
            </a:r>
          </a:p>
          <a:p>
            <a:pPr marL="457200" lvl="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Frekuensi kerja dari 2 Mhz hingga 30 Mhz.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Gelombang dipantulkan kembali ke bumi oleh 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lvl="0">
              <a:spcAft>
                <a:spcPts val="600"/>
              </a:spcAft>
            </a:pP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ionosfer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lvl="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Gelombang pendek (</a:t>
            </a:r>
            <a:r>
              <a:rPr lang="id-ID" sz="32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SW = Short Wave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Untuk komunikasi jarak jauh, bisa antar benua </a:t>
            </a:r>
            <a:endParaRPr lang="id-ID" sz="3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dengan beberapa 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kali 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hop, satu 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hop dapat </a:t>
            </a:r>
            <a:endParaRPr lang="id-ID" sz="3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mencapai 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4.000 km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spcAft>
                <a:spcPts val="600"/>
              </a:spcAft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Contoh 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radio ABC, radio BBC, dll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Pada Penerima kemungkinam terjadi </a:t>
            </a:r>
            <a:r>
              <a:rPr lang="id-ID" sz="32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fading</a:t>
            </a: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342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2940"/>
            <a:ext cx="4349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d-ID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Propagasi Gelombang Tanah</a:t>
            </a:r>
            <a:endParaRPr kumimoji="0" lang="id-ID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3568" y="499994"/>
            <a:ext cx="4572000" cy="10402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lang="en-US" altLang="id-ID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endParaRPr lang="en-US" altLang="id-ID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Gelombang </a:t>
            </a:r>
            <a:r>
              <a:rPr lang="en-US" altLang="id-ID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Pantulan</a:t>
            </a:r>
            <a:r>
              <a:rPr lang="en-US" alt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Tanah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50" y="1628800"/>
            <a:ext cx="8495482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7466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16632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id-ID" sz="2400" dirty="0">
                <a:solidFill>
                  <a:srgbClr val="000000"/>
                </a:solidFill>
                <a:latin typeface="Arial"/>
              </a:rPr>
              <a:t>Gelombang </a:t>
            </a:r>
            <a:r>
              <a:rPr lang="en-US" altLang="id-ID" sz="2400" dirty="0" err="1">
                <a:solidFill>
                  <a:srgbClr val="000000"/>
                </a:solidFill>
                <a:latin typeface="Arial"/>
              </a:rPr>
              <a:t>Permukaan</a:t>
            </a:r>
            <a:r>
              <a:rPr lang="en-US" altLang="id-ID" sz="2400" dirty="0">
                <a:solidFill>
                  <a:srgbClr val="000000"/>
                </a:solidFill>
                <a:latin typeface="Arial"/>
              </a:rPr>
              <a:t> Tanah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78296"/>
            <a:ext cx="8712992" cy="5154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3879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6694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d-ID" sz="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id-ID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</a:t>
            </a: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elombang permukaan tanah (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ground wave</a:t>
            </a: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), 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lang="id-ID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gelombang</a:t>
            </a:r>
            <a:r>
              <a:rPr kumimoji="0" lang="id-ID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permukaan</a:t>
            </a:r>
            <a:r>
              <a:rPr lang="id-ID" sz="24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(Surface Wave)</a:t>
            </a:r>
            <a:endParaRPr kumimoji="0" lang="id-ID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Merambat mengikuti permukaan tanah mengikuti lengkung bumi.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id-ID" sz="2400" dirty="0" smtClean="0"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Redaman besar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Cocok untuk gelombang menengah (</a:t>
            </a:r>
            <a:r>
              <a:rPr kumimoji="0" lang="id-ID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MW = Midle wave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).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Frekuensi kerja hingga 2 Mhz.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Hanya untuk siaran lokal.</a:t>
            </a:r>
          </a:p>
          <a:p>
            <a:pPr marL="457200" lvl="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langsung (</a:t>
            </a:r>
            <a:r>
              <a:rPr lang="id-ID" sz="28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direct wave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)/</a:t>
            </a:r>
            <a:r>
              <a:rPr lang="id-ID" sz="28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space wave</a:t>
            </a: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Frekuensi kerja diatas 30 Mhz.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Komunikasi VHF (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Very High Frequency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: 30 – 300 Mhz.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Komunikasi UHF, frekuensi kerja diatas 300 Mhz,  antara </a:t>
            </a:r>
          </a:p>
          <a:p>
            <a:pPr lvl="0"/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transmitter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dan 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harus LOS (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Line Of Sight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saling </a:t>
            </a:r>
          </a:p>
          <a:p>
            <a:pPr lvl="0"/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pandang tidak boleh ada penghalang.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id-ID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d-ID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2852"/>
            <a:ext cx="9144000" cy="727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d-ID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1.4. Mode transmisi :</a:t>
            </a:r>
          </a:p>
          <a:p>
            <a:pPr lvl="0">
              <a:buFont typeface="Wingdings" pitchFamily="2" charset="2"/>
              <a:buChar char="v"/>
            </a:pPr>
            <a:r>
              <a:rPr lang="id-ID" sz="2000" dirty="0" smtClean="0"/>
              <a:t> 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Transmisi Simplex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komunikasi satu arah. </a:t>
            </a:r>
          </a:p>
          <a:p>
            <a:pPr lvl="0"/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Contoh : sistem komunikasi siaran radio komersial, sistem</a:t>
            </a:r>
          </a:p>
          <a:p>
            <a:pPr lvl="0">
              <a:spcAft>
                <a:spcPts val="1200"/>
              </a:spcAft>
            </a:pP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siaran televisi, dll.</a:t>
            </a:r>
          </a:p>
          <a:p>
            <a:pPr lvl="0">
              <a:buFont typeface="Wingdings" pitchFamily="2" charset="2"/>
              <a:buChar char="v"/>
            </a:pP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Transmisi half-duplex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 komunikasi berlangsung dua arah saling</a:t>
            </a:r>
          </a:p>
          <a:p>
            <a:pPr lvl="0"/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secara bergantian.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Contoh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Komunikasi CB, komunikasi dengan HT, dll.</a:t>
            </a: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Transmisi full-duplex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komunikasi dapat berlangsung dua arah </a:t>
            </a:r>
          </a:p>
          <a:p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secara bersamaan.</a:t>
            </a:r>
          </a:p>
          <a:p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Contoh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Komunikasi melalui telepon rumah (</a:t>
            </a:r>
            <a:r>
              <a:rPr lang="id-ID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telephone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komunikasi antar HP (</a:t>
            </a:r>
            <a:r>
              <a:rPr lang="id-ID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 phone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dll.</a:t>
            </a:r>
          </a:p>
          <a:p>
            <a:pPr>
              <a:buFont typeface="Wingdings" pitchFamily="2" charset="2"/>
              <a:buChar char="v"/>
            </a:pP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Transmisi full-full-duplex :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komunikasi berlangsung secara dua arah</a:t>
            </a:r>
          </a:p>
          <a:p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secara bersamaan  lebih dari dua stasiun.</a:t>
            </a:r>
          </a:p>
          <a:p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Contoh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jaringan komunikasi data, LAN, WAN, Internet, </a:t>
            </a:r>
          </a:p>
          <a:p>
            <a:r>
              <a:rPr lang="id-ID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Intranet, dll</a:t>
            </a:r>
            <a:r>
              <a:rPr lang="id-ID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id-ID" sz="2000" dirty="0" smtClean="0"/>
          </a:p>
          <a:p>
            <a:pPr>
              <a:buFont typeface="Wingdings" pitchFamily="2" charset="2"/>
              <a:buChar char="v"/>
            </a:pPr>
            <a:endParaRPr lang="id-ID" sz="2000" dirty="0" smtClean="0"/>
          </a:p>
          <a:p>
            <a:endParaRPr lang="id-ID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795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ts val="1200"/>
              </a:spcAft>
            </a:pP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1.5. Sinyal dan Noise</a:t>
            </a:r>
            <a:endParaRPr lang="id-ID" sz="4000" b="1" dirty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571500" indent="-571500" fontAlgn="base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id-ID" sz="3600" b="1" dirty="0" smtClean="0">
                <a:solidFill>
                  <a:prstClr val="black"/>
                </a:solidFill>
              </a:rPr>
              <a:t>Pengertian Sinyal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dikarekteristikan oleh suatu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variasi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(perubahan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amplitudo terhadap waktu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dari beberapa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besaran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fisik.</a:t>
            </a:r>
          </a:p>
          <a:p>
            <a:pPr fontAlgn="base">
              <a:spcBef>
                <a:spcPct val="0"/>
              </a:spcBef>
              <a:buFont typeface="Wingdings" pitchFamily="2" charset="2"/>
              <a:buChar char="Ø"/>
            </a:pP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Contoh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: telinga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kita mendeteksi variasi tekanan udara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sebagai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fungsi waktu yang disebut sebagai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</a:t>
            </a:r>
            <a:endParaRPr lang="id-ID" sz="30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sinyal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suara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Apabila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sinyal suara tersebut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ditransmisikan</a:t>
            </a:r>
          </a:p>
          <a:p>
            <a:pPr fontAlgn="base">
              <a:spcBef>
                <a:spcPct val="0"/>
              </a:spcBef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melalui saluran telekomunikasi, pada suatu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titik tertentu</a:t>
            </a:r>
          </a:p>
          <a:p>
            <a:pPr fontAlgn="base">
              <a:spcBef>
                <a:spcPct val="0"/>
              </a:spcBef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sinyal suara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dikonversikan menjadi vaiasi-</a:t>
            </a:r>
          </a:p>
          <a:p>
            <a:pPr fontAlgn="base">
              <a:spcBef>
                <a:spcPct val="0"/>
              </a:spcBef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variasi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tegangan, arus, dan daya sebagai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fungsi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waktu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yang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disebut sebagai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bentuk gelombang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  <a:r>
              <a:rPr lang="en-US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Suara</a:t>
            </a:r>
            <a:r>
              <a:rPr lang="en-US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id-ID" sz="30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4000" b="1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id-ID" sz="4000" b="1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6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09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Gelombang 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merupakan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besaran elektrik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(tegangan, arus, daya) yang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berbentuk gelombang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(amplitudo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arah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berubah-ubah terhadap waktu)</a:t>
            </a:r>
            <a:endParaRPr lang="en-US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pada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suatu sistem komunikasi.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Jenis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1.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analog dan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2.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digital.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</a:t>
            </a: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mengandung arti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(Informasi) : 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audio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video dan 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data. </a:t>
            </a:r>
          </a:p>
          <a:p>
            <a:pPr fontAlgn="base">
              <a:spcBef>
                <a:spcPct val="0"/>
              </a:spcBef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carrier (pembawa)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digunakan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untuk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suatu proses modulasi/demodulasi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informasi tersebut.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buFont typeface="Wingdings" pitchFamily="2" charset="2"/>
              <a:buChar char="Ø"/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Sinyal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yang tidak dimengerti disebut sebagai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</a:t>
            </a:r>
          </a:p>
          <a:p>
            <a:pPr fontAlgn="base">
              <a:spcBef>
                <a:spcPct val="0"/>
              </a:spcBef>
            </a:pPr>
            <a:r>
              <a:rPr lang="id-ID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noise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(sinyal bising atau sinyal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gangguan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derau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id-ID" sz="3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7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9144000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2. Model Matematis, Bentuk Grafis dan</a:t>
            </a:r>
          </a:p>
          <a:p>
            <a:pPr algn="just" fontAlgn="base">
              <a:spcBef>
                <a:spcPct val="0"/>
              </a:spcBef>
              <a:spcAft>
                <a:spcPts val="1800"/>
              </a:spcAft>
            </a:pPr>
            <a:r>
              <a:rPr lang="id-ID" sz="3600" b="1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Spektrum dari Sinyal</a:t>
            </a:r>
            <a:endParaRPr lang="id-ID" sz="1400" b="1" dirty="0" smtClean="0">
              <a:solidFill>
                <a:prstClr val="black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3200" b="1" dirty="0" smtClean="0">
                <a:solidFill>
                  <a:prstClr val="black"/>
                </a:solidFill>
              </a:rPr>
              <a:t> 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Model Matematis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Contoh: </a:t>
            </a:r>
          </a:p>
          <a:p>
            <a:pPr algn="just" fontAlgn="base">
              <a:spcBef>
                <a:spcPct val="0"/>
              </a:spcBef>
              <a:spcAft>
                <a:spcPts val="18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1.  V(t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= V</a:t>
            </a:r>
            <a:r>
              <a:rPr lang="id-ID" sz="30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mak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ωt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2.  V(t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= 1 untuk 1&lt;t&lt;2 dan V(t) = 0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</a:p>
          <a:p>
            <a:pPr algn="just" fontAlgn="base">
              <a:spcBef>
                <a:spcPct val="0"/>
              </a:spcBef>
              <a:spcAft>
                <a:spcPts val="1200"/>
              </a:spcAft>
            </a:pP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2&lt;t&lt;5t.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3.  dan </a:t>
            </a:r>
            <a:r>
              <a:rPr lang="id-ID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lain-lain. </a:t>
            </a:r>
            <a:endParaRPr lang="id-ID" sz="3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dirty="0" smtClean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63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Bentuk Grafis :</a:t>
            </a:r>
          </a:p>
          <a:p>
            <a:endParaRPr lang="id-ID" sz="36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6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0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3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 l="1839"/>
          <a:stretch>
            <a:fillRect/>
          </a:stretch>
        </p:blipFill>
        <p:spPr bwMode="auto">
          <a:xfrm>
            <a:off x="0" y="642918"/>
            <a:ext cx="6858048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285984" y="3071810"/>
            <a:ext cx="4143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2400" b="1" dirty="0">
                <a:solidFill>
                  <a:prstClr val="black"/>
                </a:solidFill>
              </a:rPr>
              <a:t>Gelombang Sinyal Sinusoida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714752"/>
            <a:ext cx="6858048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785918" y="6357958"/>
            <a:ext cx="62151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b="1" dirty="0">
                <a:solidFill>
                  <a:prstClr val="black"/>
                </a:solidFill>
              </a:rPr>
              <a:t>Gelombang Sinyal Kotak (Unipolar) </a:t>
            </a:r>
          </a:p>
        </p:txBody>
      </p:sp>
      <p:sp>
        <p:nvSpPr>
          <p:cNvPr id="9" name="Rectangle 8"/>
          <p:cNvSpPr/>
          <p:nvPr/>
        </p:nvSpPr>
        <p:spPr>
          <a:xfrm>
            <a:off x="6572264" y="785794"/>
            <a:ext cx="21431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V(t) = V</a:t>
            </a:r>
            <a:r>
              <a:rPr lang="id-ID" sz="20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mak </a:t>
            </a: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 ωt</a:t>
            </a:r>
            <a:endParaRPr lang="id-ID" sz="2000" b="1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5074" y="3643312"/>
            <a:ext cx="27146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V(t) = 1 untuk  1&lt;t&lt;2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dan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V(t) = 0 untuk  2&lt;t&lt;5t.</a:t>
            </a:r>
          </a:p>
        </p:txBody>
      </p:sp>
    </p:spTree>
    <p:extLst>
      <p:ext uri="{BB962C8B-B14F-4D97-AF65-F5344CB8AC3E}">
        <p14:creationId xmlns:p14="http://schemas.microsoft.com/office/powerpoint/2010/main" val="427356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999" cy="749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Spektrum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3200" dirty="0" smtClean="0">
                <a:solidFill>
                  <a:prstClr val="black"/>
                </a:solidFill>
              </a:rPr>
              <a:t>   Bentuk </a:t>
            </a:r>
            <a:r>
              <a:rPr lang="id-ID" sz="3200" b="1" dirty="0" smtClean="0">
                <a:solidFill>
                  <a:prstClr val="black"/>
                </a:solidFill>
              </a:rPr>
              <a:t>gelombang suatu sinyal (non sinusoida) </a:t>
            </a:r>
          </a:p>
          <a:p>
            <a:r>
              <a:rPr lang="id-ID" sz="3200" b="1" dirty="0" smtClean="0">
                <a:solidFill>
                  <a:prstClr val="black"/>
                </a:solidFill>
              </a:rPr>
              <a:t>       </a:t>
            </a:r>
            <a:r>
              <a:rPr lang="id-ID" sz="3200" dirty="0" smtClean="0">
                <a:solidFill>
                  <a:prstClr val="black"/>
                </a:solidFill>
              </a:rPr>
              <a:t>dapat </a:t>
            </a:r>
            <a:r>
              <a:rPr lang="id-ID" sz="3200" b="1" dirty="0" smtClean="0">
                <a:solidFill>
                  <a:prstClr val="black"/>
                </a:solidFill>
              </a:rPr>
              <a:t>direpresentasikan</a:t>
            </a:r>
            <a:r>
              <a:rPr lang="id-ID" sz="3200" dirty="0" smtClean="0">
                <a:solidFill>
                  <a:prstClr val="black"/>
                </a:solidFill>
              </a:rPr>
              <a:t> oleh serangkaian   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gelombang </a:t>
            </a:r>
            <a:r>
              <a:rPr lang="id-ID" sz="3200" b="1" dirty="0" smtClean="0">
                <a:solidFill>
                  <a:prstClr val="black"/>
                </a:solidFill>
              </a:rPr>
              <a:t>sinus dan atau cosinus </a:t>
            </a:r>
            <a:r>
              <a:rPr lang="id-ID" sz="3200" dirty="0" smtClean="0">
                <a:solidFill>
                  <a:prstClr val="black"/>
                </a:solidFill>
              </a:rPr>
              <a:t>yang disebut  </a:t>
            </a:r>
          </a:p>
          <a:p>
            <a:pPr>
              <a:spcAft>
                <a:spcPts val="1200"/>
              </a:spcAft>
            </a:pPr>
            <a:r>
              <a:rPr lang="id-ID" sz="3200" dirty="0" smtClean="0">
                <a:solidFill>
                  <a:prstClr val="black"/>
                </a:solidFill>
              </a:rPr>
              <a:t>       sebagai </a:t>
            </a:r>
            <a:r>
              <a:rPr lang="id-ID" sz="3200" b="1" dirty="0" smtClean="0">
                <a:solidFill>
                  <a:prstClr val="black"/>
                </a:solidFill>
              </a:rPr>
              <a:t>spektrum</a:t>
            </a:r>
            <a:r>
              <a:rPr lang="id-ID" sz="3200" dirty="0" smtClean="0">
                <a:solidFill>
                  <a:prstClr val="black"/>
                </a:solidFill>
              </a:rPr>
              <a:t> dari sinyal</a:t>
            </a:r>
            <a:endParaRPr lang="id-ID" sz="3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3200" dirty="0" smtClean="0">
                <a:solidFill>
                  <a:prstClr val="black"/>
                </a:solidFill>
              </a:rPr>
              <a:t>   </a:t>
            </a:r>
            <a:r>
              <a:rPr lang="id-ID" sz="3200" b="1" dirty="0" smtClean="0">
                <a:solidFill>
                  <a:prstClr val="black"/>
                </a:solidFill>
              </a:rPr>
              <a:t>Rentang </a:t>
            </a:r>
            <a:r>
              <a:rPr lang="id-ID" sz="3200" b="1" dirty="0">
                <a:solidFill>
                  <a:prstClr val="black"/>
                </a:solidFill>
              </a:rPr>
              <a:t>frekuensi </a:t>
            </a:r>
            <a:r>
              <a:rPr lang="id-ID" sz="3200" dirty="0">
                <a:solidFill>
                  <a:prstClr val="black"/>
                </a:solidFill>
              </a:rPr>
              <a:t>yang dikandung dalam </a:t>
            </a:r>
            <a:r>
              <a:rPr lang="id-ID" sz="3200" dirty="0" smtClean="0">
                <a:solidFill>
                  <a:prstClr val="black"/>
                </a:solidFill>
              </a:rPr>
              <a:t>sebuah</a:t>
            </a:r>
          </a:p>
          <a:p>
            <a:pPr>
              <a:spcAft>
                <a:spcPts val="1200"/>
              </a:spcAft>
            </a:pPr>
            <a:r>
              <a:rPr lang="id-ID" sz="3200" dirty="0">
                <a:solidFill>
                  <a:prstClr val="black"/>
                </a:solidFill>
              </a:rPr>
              <a:t> </a:t>
            </a:r>
            <a:r>
              <a:rPr lang="id-ID" sz="3200" dirty="0" smtClean="0">
                <a:solidFill>
                  <a:prstClr val="black"/>
                </a:solidFill>
              </a:rPr>
              <a:t>      </a:t>
            </a:r>
            <a:r>
              <a:rPr lang="id-ID" sz="3200" dirty="0">
                <a:solidFill>
                  <a:prstClr val="black"/>
                </a:solidFill>
              </a:rPr>
              <a:t>gelombang sinyal disebut </a:t>
            </a:r>
            <a:r>
              <a:rPr lang="id-ID" sz="3200" b="1" dirty="0" smtClean="0">
                <a:solidFill>
                  <a:prstClr val="black"/>
                </a:solidFill>
              </a:rPr>
              <a:t>spektrum</a:t>
            </a:r>
            <a:r>
              <a:rPr lang="id-ID" sz="3200" dirty="0" smtClean="0">
                <a:solidFill>
                  <a:prstClr val="black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3200" dirty="0" smtClean="0">
                <a:solidFill>
                  <a:prstClr val="black"/>
                </a:solidFill>
              </a:rPr>
              <a:t>   Spektrum : </a:t>
            </a:r>
            <a:r>
              <a:rPr lang="id-ID" sz="3200" b="1" dirty="0" smtClean="0">
                <a:solidFill>
                  <a:prstClr val="black"/>
                </a:solidFill>
              </a:rPr>
              <a:t>representasi</a:t>
            </a:r>
            <a:r>
              <a:rPr lang="id-ID" sz="3200" dirty="0" smtClean="0">
                <a:solidFill>
                  <a:prstClr val="black"/>
                </a:solidFill>
              </a:rPr>
              <a:t> suatu gelombang </a:t>
            </a:r>
            <a:r>
              <a:rPr lang="id-ID" sz="3200" b="1" dirty="0" smtClean="0">
                <a:solidFill>
                  <a:prstClr val="black"/>
                </a:solidFill>
              </a:rPr>
              <a:t>sinyal </a:t>
            </a:r>
          </a:p>
          <a:p>
            <a:r>
              <a:rPr lang="id-ID" sz="3200" b="1" dirty="0" smtClean="0">
                <a:solidFill>
                  <a:prstClr val="black"/>
                </a:solidFill>
              </a:rPr>
              <a:t>       non-periodik (non siusoida) </a:t>
            </a:r>
            <a:r>
              <a:rPr lang="id-ID" sz="3200" dirty="0" smtClean="0">
                <a:solidFill>
                  <a:prstClr val="black"/>
                </a:solidFill>
              </a:rPr>
              <a:t>kedalam gelombang-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gelombang </a:t>
            </a:r>
            <a:r>
              <a:rPr lang="id-ID" sz="3200" b="1" dirty="0" smtClean="0">
                <a:solidFill>
                  <a:prstClr val="black"/>
                </a:solidFill>
              </a:rPr>
              <a:t>sinusoida</a:t>
            </a:r>
            <a:r>
              <a:rPr lang="id-ID" sz="3200" dirty="0" smtClean="0">
                <a:solidFill>
                  <a:prstClr val="black"/>
                </a:solidFill>
              </a:rPr>
              <a:t> dan atau gelombang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</a:t>
            </a:r>
            <a:r>
              <a:rPr lang="id-ID" sz="3200" b="1" dirty="0" smtClean="0">
                <a:solidFill>
                  <a:prstClr val="black"/>
                </a:solidFill>
              </a:rPr>
              <a:t>cosinusoida </a:t>
            </a:r>
            <a:r>
              <a:rPr lang="id-ID" sz="3200" dirty="0" smtClean="0">
                <a:solidFill>
                  <a:prstClr val="black"/>
                </a:solidFill>
              </a:rPr>
              <a:t>dengan </a:t>
            </a:r>
            <a:r>
              <a:rPr lang="id-ID" sz="3200" b="1" dirty="0" smtClean="0">
                <a:solidFill>
                  <a:prstClr val="black"/>
                </a:solidFill>
              </a:rPr>
              <a:t>amplitudo</a:t>
            </a:r>
            <a:r>
              <a:rPr lang="id-ID" sz="3200" dirty="0" smtClean="0">
                <a:solidFill>
                  <a:prstClr val="black"/>
                </a:solidFill>
              </a:rPr>
              <a:t> (tegangan) </a:t>
            </a:r>
          </a:p>
          <a:p>
            <a:r>
              <a:rPr lang="id-ID" sz="3200" dirty="0" smtClean="0">
                <a:solidFill>
                  <a:prstClr val="black"/>
                </a:solidFill>
              </a:rPr>
              <a:t>       sebagai </a:t>
            </a:r>
            <a:r>
              <a:rPr lang="id-ID" sz="3200" b="1" dirty="0" smtClean="0">
                <a:solidFill>
                  <a:prstClr val="black"/>
                </a:solidFill>
              </a:rPr>
              <a:t>fungsi frekuensi</a:t>
            </a:r>
            <a:r>
              <a:rPr lang="id-ID" sz="3200" dirty="0" smtClean="0">
                <a:solidFill>
                  <a:prstClr val="black"/>
                </a:solidFill>
              </a:rPr>
              <a:t>.</a:t>
            </a:r>
          </a:p>
          <a:p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2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Bentuk grafis suatu gelombang sinyal dengan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amplitudo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sebagai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fungsi waktu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merupakan representasi dalam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domain waktu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sedangkan bentuk grafis suatu gelombang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sinyal dengan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amplitudo maksimum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sebagai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fungsi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frekuensi </a:t>
            </a: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(spektrum) merupakan representasi dalam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domain frekuensi.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786058"/>
            <a:ext cx="4572000" cy="3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4000" y="3000372"/>
            <a:ext cx="3240000" cy="25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28596" y="6000768"/>
            <a:ext cx="50006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Waktu Sinyal Tunggal Sinusoida</a:t>
            </a:r>
          </a:p>
          <a:p>
            <a:r>
              <a:rPr lang="id-ID" b="1" dirty="0" smtClean="0">
                <a:solidFill>
                  <a:prstClr val="black"/>
                </a:solidFill>
              </a:rPr>
              <a:t>( Bentuk Gelombang)</a:t>
            </a:r>
            <a:endParaRPr lang="id-ID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72132" y="5929330"/>
            <a:ext cx="33589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Frekuensi Sinyal Tunggal </a:t>
            </a:r>
          </a:p>
          <a:p>
            <a:r>
              <a:rPr lang="id-ID" b="1" dirty="0" smtClean="0">
                <a:solidFill>
                  <a:prstClr val="black"/>
                </a:solidFill>
              </a:rPr>
              <a:t>Sinusoida   (Spektrum)</a:t>
            </a:r>
            <a:endParaRPr lang="id-ID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32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57166"/>
            <a:ext cx="4140000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214289"/>
            <a:ext cx="4176000" cy="38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500034" y="4857760"/>
            <a:ext cx="3690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Waktu Dua Sinyal  Sinusoida</a:t>
            </a:r>
            <a:endParaRPr lang="id-ID" b="1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9190" y="4857760"/>
            <a:ext cx="3927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>
                <a:solidFill>
                  <a:prstClr val="black"/>
                </a:solidFill>
              </a:rPr>
              <a:t>Domain Frekuensi Dua Sinyal Sinusoida</a:t>
            </a:r>
          </a:p>
          <a:p>
            <a:r>
              <a:rPr lang="id-ID" b="1" dirty="0" smtClean="0">
                <a:solidFill>
                  <a:prstClr val="black"/>
                </a:solidFill>
              </a:rPr>
              <a:t>(Spektrum)</a:t>
            </a:r>
            <a:endParaRPr lang="id-ID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15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id-ID" sz="3600" b="1" dirty="0" smtClean="0">
                <a:solidFill>
                  <a:prstClr val="black"/>
                </a:solidFill>
              </a:rPr>
              <a:t>Noise</a:t>
            </a:r>
          </a:p>
          <a:p>
            <a:endParaRPr lang="id-ID" sz="320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14356"/>
            <a:ext cx="9001188" cy="9171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Sinyal noise atau bising atau derau atau sinyal</a:t>
            </a:r>
          </a:p>
          <a:p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gangguan :</a:t>
            </a:r>
            <a:r>
              <a:rPr lang="id-ID" dirty="0" smtClean="0">
                <a:solidFill>
                  <a:prstClr val="black"/>
                </a:solidFill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gangguan elektrik luar yang cenderung menggangu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penerimaan normal dari sinyal yg dipancarkan.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Noise</a:t>
            </a:r>
            <a:r>
              <a:rPr lang="id-ID" sz="2400" dirty="0" smtClean="0">
                <a:solidFill>
                  <a:prstClr val="black"/>
                </a:solidFill>
              </a:rPr>
              <a:t> merupakan </a:t>
            </a:r>
            <a:r>
              <a:rPr lang="id-ID" sz="2400" b="1" dirty="0" smtClean="0">
                <a:solidFill>
                  <a:prstClr val="black"/>
                </a:solidFill>
              </a:rPr>
              <a:t>gelombang arus atau tegangan elektrik </a:t>
            </a:r>
            <a:r>
              <a:rPr lang="id-ID" sz="2400" dirty="0" smtClean="0">
                <a:solidFill>
                  <a:prstClr val="black"/>
                </a:solidFill>
              </a:rPr>
              <a:t>yang </a:t>
            </a:r>
            <a:r>
              <a:rPr lang="id-ID" sz="2400" b="1" dirty="0" smtClean="0">
                <a:solidFill>
                  <a:prstClr val="black"/>
                </a:solidFill>
              </a:rPr>
              <a:t>tidak</a:t>
            </a:r>
          </a:p>
          <a:p>
            <a:r>
              <a:rPr lang="id-ID" sz="2400" b="1" dirty="0" smtClean="0">
                <a:solidFill>
                  <a:prstClr val="black"/>
                </a:solidFill>
              </a:rPr>
              <a:t>    dikehendaki </a:t>
            </a:r>
            <a:r>
              <a:rPr lang="id-ID" sz="2400" dirty="0" smtClean="0">
                <a:solidFill>
                  <a:prstClr val="black"/>
                </a:solidFill>
              </a:rPr>
              <a:t>yang muncul pada suatu sistem komunikasi yang 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solidFill>
                  <a:prstClr val="black"/>
                </a:solidFill>
              </a:rPr>
              <a:t>    dirasakan pada suatu penerima.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Noise</a:t>
            </a:r>
            <a:r>
              <a:rPr lang="id-ID" sz="2400" dirty="0" smtClean="0">
                <a:solidFill>
                  <a:prstClr val="black"/>
                </a:solidFill>
              </a:rPr>
              <a:t> merupakan </a:t>
            </a:r>
            <a:r>
              <a:rPr lang="id-ID" sz="2400" b="1" dirty="0" smtClean="0">
                <a:solidFill>
                  <a:prstClr val="black"/>
                </a:solidFill>
              </a:rPr>
              <a:t>pembatas utama </a:t>
            </a:r>
            <a:r>
              <a:rPr lang="id-ID" sz="2400" dirty="0" smtClean="0">
                <a:solidFill>
                  <a:prstClr val="black"/>
                </a:solidFill>
              </a:rPr>
              <a:t>dari </a:t>
            </a:r>
            <a:r>
              <a:rPr lang="id-ID" sz="2400" b="1" dirty="0" smtClean="0">
                <a:solidFill>
                  <a:prstClr val="black"/>
                </a:solidFill>
              </a:rPr>
              <a:t>unjuk kerja </a:t>
            </a:r>
            <a:r>
              <a:rPr lang="id-ID" sz="2400" dirty="0" smtClean="0">
                <a:solidFill>
                  <a:prstClr val="black"/>
                </a:solidFill>
              </a:rPr>
              <a:t>sistem 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solidFill>
                  <a:prstClr val="black"/>
                </a:solidFill>
              </a:rPr>
              <a:t>    telekomunikasi.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</a:rPr>
              <a:t>Jadi pada suatu </a:t>
            </a:r>
            <a:r>
              <a:rPr lang="id-ID" sz="2400" b="1" dirty="0" smtClean="0">
                <a:solidFill>
                  <a:prstClr val="black"/>
                </a:solidFill>
              </a:rPr>
              <a:t>sistem komunikasi </a:t>
            </a:r>
            <a:r>
              <a:rPr lang="id-ID" sz="2400" dirty="0" smtClean="0">
                <a:solidFill>
                  <a:prstClr val="black"/>
                </a:solidFill>
              </a:rPr>
              <a:t>yang menentukan </a:t>
            </a:r>
            <a:r>
              <a:rPr lang="id-ID" sz="2400" b="1" dirty="0" smtClean="0">
                <a:solidFill>
                  <a:prstClr val="black"/>
                </a:solidFill>
              </a:rPr>
              <a:t>kualitas sistem</a:t>
            </a:r>
          </a:p>
          <a:p>
            <a:r>
              <a:rPr lang="id-ID" sz="2400" b="1" dirty="0" smtClean="0">
                <a:solidFill>
                  <a:prstClr val="black"/>
                </a:solidFill>
              </a:rPr>
              <a:t>    </a:t>
            </a:r>
            <a:r>
              <a:rPr lang="id-ID" sz="2400" dirty="0" smtClean="0">
                <a:solidFill>
                  <a:prstClr val="black"/>
                </a:solidFill>
              </a:rPr>
              <a:t>bukan oleh besar kecilnya level sinyal melainkan besarnya </a:t>
            </a:r>
          </a:p>
          <a:p>
            <a:pPr>
              <a:spcAft>
                <a:spcPts val="1200"/>
              </a:spcAft>
            </a:pPr>
            <a:r>
              <a:rPr lang="id-ID" sz="2400" b="1" dirty="0" smtClean="0">
                <a:solidFill>
                  <a:prstClr val="black"/>
                </a:solidFill>
              </a:rPr>
              <a:t>    perbandingan daya sinyal terhadap daya noise (S/N),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S/N besar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kualitas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 baik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S/N kecil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kualitas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 jelek.</a:t>
            </a:r>
          </a:p>
          <a:p>
            <a:pPr>
              <a:spcAft>
                <a:spcPts val="1200"/>
              </a:spcAft>
            </a:pPr>
            <a:endParaRPr lang="id-ID" sz="2400" b="1" dirty="0" smtClean="0">
              <a:solidFill>
                <a:prstClr val="black"/>
              </a:solidFill>
            </a:endParaRPr>
          </a:p>
          <a:p>
            <a:endParaRPr lang="id-ID" sz="2400" b="1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 smtClean="0">
              <a:solidFill>
                <a:prstClr val="black"/>
              </a:solidFill>
            </a:endParaRPr>
          </a:p>
          <a:p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9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d-ID" b="1" dirty="0" smtClean="0">
                <a:solidFill>
                  <a:prstClr val="black"/>
                </a:solidFill>
              </a:rPr>
              <a:t> </a:t>
            </a: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Klasifikasi Noise</a:t>
            </a:r>
          </a:p>
          <a:p>
            <a:pPr>
              <a:buFont typeface="Wingdings" pitchFamily="2" charset="2"/>
              <a:buChar char="v"/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1392232"/>
            <a:ext cx="9036496" cy="6047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fontAlgn="base"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Correlated Noise :</a:t>
            </a:r>
            <a:r>
              <a:rPr lang="id-ID" sz="2400" b="1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</a:rPr>
              <a:t>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yang selalu berhubungan dengan sinyal, ada sinyal selalu muncul noise, tidak ada sinyal noise tidak muncul.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Uncorrelated Noise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yang tidak ada hubungannya dengan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sinyal, ada sinyal maupun tidak ada sinyal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kalau</a:t>
            </a:r>
            <a:r>
              <a:rPr lang="id-ID" sz="2400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noise memang ada tetap saja muncul.</a:t>
            </a: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id-ID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Correlated Noise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(cacat) harmonisa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(cacat) intermodulasi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Redaman</a:t>
            </a:r>
          </a:p>
          <a:p>
            <a:r>
              <a:rPr lang="id-ID" sz="2800" dirty="0" smtClean="0">
                <a:solidFill>
                  <a:prstClr val="black"/>
                </a:solidFill>
              </a:rPr>
              <a:t>       * Distorsi Fasa atau Delay</a:t>
            </a: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b="1" dirty="0" smtClean="0">
                <a:solidFill>
                  <a:prstClr val="black"/>
                </a:solidFill>
              </a:rPr>
              <a:t>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Distorsi harmonisa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disebabkan oleh karena adanya kelipatan-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kelipatan frekuensi input pada outputnya, suatu misal sebuah penguat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sinyal yang bekerja pada daerah non-linier.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14422"/>
            <a:ext cx="8100000" cy="21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357187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Distorsi intermodulasi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disebabkan oleh karena adanya penjumlahan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dan pengurangan oleh dua atau lebih frekuensi-frekuensi input pada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output nya pada suatu perangkat non linier.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786322"/>
            <a:ext cx="8640000" cy="20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436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Distorsi Redaman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Setiap saluran transmisi bersifat meredam sinyal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yang ditransmisikan melaluinya.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8784000" cy="5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743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Distorsi Fasa atau Delay,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Suatu sinyal memerlukan selang waktu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tertentu dalam perambatannya di saluran transmisi. Waktu tersebut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disebut delay. Namun, waktu propagasi yang dibutuhkan oleh sinyal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berbeda-beda, tergantung dari frekuensi sinyal. Delay propagasi yang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berbeda-beda ini dapat menyebabkan pergeseran fasa di sisi penerima.</a:t>
            </a: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2357430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32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b). Uncorrelated Noise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3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42844" y="3000372"/>
            <a:ext cx="9001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Internal noise : noise berasal dari dalam sistem komunikasi itu sendiri.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External noise : noise berasal dari luar sistem komunikasi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2911" y="4572008"/>
            <a:ext cx="85010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Man made noise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noise yang muncul akibat perbuatan manusia,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noise berasal dari peralatan-peralatan elektrik,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hingga frekuensi 500 Mhz.</a:t>
            </a:r>
          </a:p>
          <a:p>
            <a:r>
              <a:rPr lang="id-ID" sz="2400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8596" y="4071942"/>
            <a:ext cx="2552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External Noise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00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86191"/>
            <a:ext cx="914400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b="1" dirty="0" smtClean="0">
                <a:solidFill>
                  <a:prstClr val="black"/>
                </a:solidFill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Atmospheric noise :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disebabkan oleh gangguan-gangguan alamiah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pada atmosfer bumi, gejala-gejala alam, cuaca. 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kilat, petir, hujan, badai,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</a:rPr>
              <a:t>   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Banyak terjadi pada sistem komunikasi berfrekuensi rendah,  siaran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radio  AM, siaran AM gelombang pendek (SW= Short Wave), noise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jenis ini jarang terjadi pada frekuensi diatas 20 Mhz</a:t>
            </a:r>
            <a:r>
              <a:rPr lang="id-ID" sz="24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Lampu TL yang hidup – mati (kedap-kedip)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Bunga api pada komutator mesin-mesin listrik (motor listrik,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generator listrik)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Sistem switching pada catu daya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On/off sakelar pada beban jaringan listrik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Spark (loncatan bunga api) pada pengapian mesin (busi pada sepeda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motor, busi pada mobil)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Korona pada tegangan tinggi (SUTET)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2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5726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Space noise,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berasal dari benda-benda luar angkasa misalnya matahari,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bintang, komet, dan lain-lain. </a:t>
            </a:r>
          </a:p>
          <a:p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8670"/>
            <a:ext cx="9144000" cy="697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Noise yang berasal dari matahari disebut sebagai </a:t>
            </a:r>
            <a:r>
              <a:rPr lang="id-ID" sz="24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solar noise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Noise yang berasal dari bintang disebut sebagai </a:t>
            </a:r>
            <a:r>
              <a:rPr lang="id-ID" sz="2400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cosmic noise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Frekuensi space noise terjadi pada 8 Mhz  hingga 1 Ghz,</a:t>
            </a:r>
          </a:p>
          <a:p>
            <a:pPr>
              <a:buFont typeface="Arial" pitchFamily="34" charset="0"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   Interferensi,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disebabkan karena adanya saluran sinyal radio lain yang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masuk ke saluran gelombang radio kita dan bercampur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menjadi satu dengan saluran gelombang radio kita.</a:t>
            </a: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</a:rPr>
              <a:t> 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Crosstalk (cakap Silang),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kopling magnetik antara saluran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telekomunikasi dengan media transmisi kabel tembaga 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dengan saluran telekomunikasi dengan media transmisi 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kabel tembaga. </a:t>
            </a:r>
          </a:p>
          <a:p>
            <a:pPr>
              <a:buFont typeface="Arial" pitchFamily="34" charset="0"/>
              <a:buChar char="•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Crosstalk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adalah kebocoran sinyal dari suatu saluran transmisi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telekomunikasi kawat tembaga ke saluran transmisi kawat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tembaga lain.</a:t>
            </a:r>
          </a:p>
          <a:p>
            <a:pPr>
              <a:buFont typeface="Arial" pitchFamily="34" charset="0"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2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Crosstalk (cakap Silang),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604000" cy="51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377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id-ID" sz="2400" b="1" u="sng" dirty="0" smtClean="0">
                <a:solidFill>
                  <a:prstClr val="black"/>
                </a:solidFill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Internal noise (derau termal):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57148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Berasal dari dalam perangkat/sistem komunikasi itu sendiri,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Penyebab adanya interaksi termal antara elektron-elektron bebas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dengan getaran-getaran ion pada media konduktor atau resistor.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Noise muncul pada seluruh media transmisi dan perangkat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komunikasi akibat </a:t>
            </a:r>
            <a:r>
              <a:rPr lang="id-ID" sz="240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pergerakan elektron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Sering disebut sebagai 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Gaussian noise.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Disebut juga sebagai 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white noise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yang memiliki rapat spektral daya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yang uniform pada spektrum frekuensi.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Thermal noise</a:t>
            </a:r>
            <a:r>
              <a:rPr lang="id-ID" sz="2400" i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merupakan faktor penentu batas bawah sensitivitas</a:t>
            </a:r>
          </a:p>
          <a:p>
            <a:pPr algn="just" fontAlgn="base">
              <a:spcBef>
                <a:spcPct val="0"/>
              </a:spcBef>
              <a:spcAft>
                <a:spcPts val="60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suatu sistem penerima.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Besarnya tegangan thermal noise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pada suatu konduktor / resistor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adalah: </a:t>
            </a:r>
            <a:r>
              <a:rPr lang="id-ID" sz="2400" b="1" dirty="0" smtClean="0">
                <a:solidFill>
                  <a:prstClr val="black"/>
                </a:solidFill>
              </a:rPr>
              <a:t>V</a:t>
            </a:r>
            <a:r>
              <a:rPr lang="id-ID" sz="2400" b="1" baseline="-25000" dirty="0" smtClean="0">
                <a:solidFill>
                  <a:prstClr val="black"/>
                </a:solidFill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</a:rPr>
              <a:t> =           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5143512"/>
            <a:ext cx="1847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357158" y="5643578"/>
            <a:ext cx="47863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k.T.Bw [Watt]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P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k.T.Bw [dBW]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3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id-ID" sz="3600" b="1" dirty="0" smtClean="0">
                <a:solidFill>
                  <a:prstClr val="black"/>
                </a:solidFill>
              </a:rPr>
              <a:t>Noise Figure (Faktor Derau)</a:t>
            </a:r>
          </a:p>
          <a:p>
            <a:endParaRPr lang="id-ID" sz="24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034" y="857232"/>
            <a:ext cx="864396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S/N  = Perbandingan antara daya sinyal dengan daya noise</a:t>
            </a:r>
            <a:r>
              <a:rPr lang="id-ID" sz="2400" dirty="0" smtClean="0">
                <a:solidFill>
                  <a:prstClr val="black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</a:rPr>
              <a:t> 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Noise figure F merupakan perbandingan antara S/N di sisi input</a:t>
            </a: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dengan S/N di sisi output dari suatu perangkat/sistem komunikasi.</a:t>
            </a:r>
          </a:p>
          <a:p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250033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2214554"/>
            <a:ext cx="114300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3000372"/>
            <a:ext cx="107157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357554" y="2714620"/>
            <a:ext cx="107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(rasio)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28992" y="4143380"/>
            <a:ext cx="100013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28992" y="5000636"/>
            <a:ext cx="107157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4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85786" y="4214818"/>
            <a:ext cx="2428892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00562" y="4357694"/>
            <a:ext cx="85725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295640" y="4787908"/>
            <a:ext cx="1357322" cy="365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43438" y="4357694"/>
            <a:ext cx="85725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4357686" y="2500306"/>
            <a:ext cx="478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</a:rPr>
              <a:t>F   alat ideal, F = 1 (S/N )in =(s/N)out</a:t>
            </a:r>
            <a:endParaRPr lang="id-ID" sz="2400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72132" y="4643446"/>
            <a:ext cx="357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solidFill>
                  <a:prstClr val="black"/>
                </a:solidFill>
              </a:rPr>
              <a:t> F    ideal = 0 dB</a:t>
            </a:r>
            <a:endParaRPr lang="id-ID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79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901" y="0"/>
            <a:ext cx="9153901" cy="31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214686"/>
            <a:ext cx="6715172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113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5780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[S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= 10 log (S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lang="id-ID" sz="24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32" y="1285860"/>
            <a:ext cx="3340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 = [S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dB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-  [S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571744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Besarnya daya noise di output N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G.k.T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.Bw + G.k.T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.Bw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             = G.k.Bw (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71472" y="3714752"/>
            <a:ext cx="54218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Dimana :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temperatur absolut = 290</a:t>
            </a:r>
            <a:r>
              <a:rPr lang="id-ID" sz="2400" baseline="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T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temperatur ekivalen 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5214950"/>
            <a:ext cx="577453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Hubungan antara F dengan Te :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 = ( 1 + 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 F – 1 ) T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82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66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dirty="0" smtClean="0">
                <a:solidFill>
                  <a:prstClr val="black"/>
                </a:solidFill>
              </a:rPr>
              <a:t>  Untuk penguat cascade (bertingkat), </a:t>
            </a:r>
            <a:endParaRPr lang="id-ID" sz="24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8000" y="571480"/>
            <a:ext cx="8496000" cy="14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214554"/>
            <a:ext cx="89296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x.................x 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endParaRPr lang="id-ID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2857496"/>
            <a:ext cx="740298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+.................+ 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Dimana, G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G</a:t>
            </a:r>
            <a:r>
              <a:rPr lang="id-ID" sz="2400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4286256"/>
            <a:ext cx="9929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buFont typeface="Wingdings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1 .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+......+T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....G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rasio</a:t>
            </a:r>
            <a:endParaRPr lang="id-ID" sz="2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-1571668" y="4929198"/>
            <a:ext cx="1071566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–1)/[G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–1)/[G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+......</a:t>
            </a:r>
          </a:p>
          <a:p>
            <a:pPr algn="ctr" fontAlgn="base">
              <a:spcBef>
                <a:spcPct val="0"/>
              </a:spcBef>
              <a:spcAft>
                <a:spcPts val="1200"/>
              </a:spcAft>
            </a:pP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+(F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1)/[G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....G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lang="id-ID" sz="24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</a:t>
            </a:r>
            <a:endParaRPr lang="id-ID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(F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[F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4000" b="1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lang="id-ID" sz="4000" b="1" baseline="-30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lang="id-ID" sz="40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56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4000" b="1" dirty="0" smtClean="0"/>
              <a:t>1.5 Spektrum dan Bandwidth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id-ID" sz="3600" b="1" dirty="0" smtClean="0"/>
              <a:t>Spektrum</a:t>
            </a:r>
            <a:r>
              <a:rPr lang="id-ID" sz="3600" b="1" i="1" dirty="0" smtClean="0"/>
              <a:t> </a:t>
            </a:r>
            <a:r>
              <a:rPr lang="id-ID" sz="3600" b="1" dirty="0" smtClean="0"/>
              <a:t>:</a:t>
            </a:r>
            <a:r>
              <a:rPr lang="id-ID" sz="3200" dirty="0" smtClean="0"/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representasi suatu bentuk gelombang</a:t>
            </a:r>
          </a:p>
          <a:p>
            <a:pPr marL="514350" indent="-514350"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 sinyal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non-sinusoida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kedalam bentuk</a:t>
            </a:r>
          </a:p>
          <a:p>
            <a:pPr marL="514350" indent="-514350"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 gelombang-gelombang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sinusoida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dan</a:t>
            </a:r>
          </a:p>
          <a:p>
            <a:pPr marL="514350" indent="-514350"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 atau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cosinusoida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dengan amplitudo-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amplitudo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maksimum sebagai fungsi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                             frakuensi. </a:t>
            </a:r>
          </a:p>
          <a:p>
            <a:pPr marL="514350" indent="-514350" algn="just"/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Contoh :</a:t>
            </a:r>
          </a:p>
          <a:p>
            <a:pPr marL="514350" indent="-514350" algn="just"/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 l="2104" r="1606"/>
          <a:stretch>
            <a:fillRect/>
          </a:stretch>
        </p:blipFill>
        <p:spPr bwMode="auto">
          <a:xfrm>
            <a:off x="1214414" y="3429000"/>
            <a:ext cx="7929586" cy="34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 Bandwidth </a:t>
            </a:r>
            <a:r>
              <a:rPr lang="id-ID" sz="36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dirty="0" smtClean="0">
                <a:latin typeface="Times New Roman" pitchFamily="18" charset="0"/>
                <a:cs typeface="Times New Roman" pitchFamily="18" charset="0"/>
              </a:rPr>
              <a:t>(lebar pita) frekuensi :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batas-batas frekuensi yang dicakup antara frekuensi </a:t>
            </a: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cut</a:t>
            </a:r>
          </a:p>
          <a:p>
            <a:pPr>
              <a:spcAft>
                <a:spcPts val="1800"/>
              </a:spcAft>
            </a:pP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     off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 atas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id-ID" sz="3200" baseline="-25000" dirty="0" smtClean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)dan frekuensi</a:t>
            </a:r>
            <a:r>
              <a:rPr lang="id-ID" sz="3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b="1" i="1" dirty="0" smtClean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bawah 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id-ID" sz="32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32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Ø"/>
            </a:pPr>
            <a:r>
              <a:rPr lang="id-ID" sz="2800" dirty="0" smtClean="0"/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Pada saat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frekuensi tengah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id-ID" sz="2800" i="1" dirty="0" smtClean="0">
                <a:latin typeface="Times New Roman" pitchFamily="18" charset="0"/>
                <a:cs typeface="Times New Roman" pitchFamily="18" charset="0"/>
              </a:rPr>
              <a:t>center frequency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) f</a:t>
            </a:r>
            <a:r>
              <a:rPr lang="id-ID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tegangan</a:t>
            </a:r>
          </a:p>
          <a:p>
            <a:pPr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atau arus sinyal mencapai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harga maksimum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(1) atau dalam</a:t>
            </a:r>
          </a:p>
          <a:p>
            <a:pPr algn="just">
              <a:spcAft>
                <a:spcPts val="1200"/>
              </a:spcAft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decibel sebesar  20 log 1 = 0 dB. </a:t>
            </a:r>
          </a:p>
          <a:p>
            <a:pPr algn="just">
              <a:buFont typeface="Wingdings" pitchFamily="2" charset="2"/>
              <a:buChar char="Ø"/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Pada saat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frekuensi </a:t>
            </a:r>
            <a:r>
              <a:rPr lang="id-ID" sz="2800" b="1" i="1" dirty="0" smtClean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atas f</a:t>
            </a:r>
            <a:r>
              <a:rPr lang="id-ID" sz="2800" baseline="-25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dan pada saat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frekuensi</a:t>
            </a:r>
          </a:p>
          <a:p>
            <a:pPr algn="just"/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800" b="1" i="1" dirty="0" smtClean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bawah f</a:t>
            </a:r>
            <a:r>
              <a:rPr lang="id-ID" sz="28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tegangan atau arus sinyal mencapai harga</a:t>
            </a:r>
          </a:p>
          <a:p>
            <a:pPr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1/√2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atau 0,707 dari tegangan maksimum atau dalam</a:t>
            </a:r>
          </a:p>
          <a:p>
            <a:pPr algn="just"/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  decibel sebesar10 log 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1/√2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= - 3 dB.</a:t>
            </a:r>
          </a:p>
          <a:p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Atau :</a:t>
            </a:r>
          </a:p>
          <a:p>
            <a:pPr>
              <a:buFont typeface="Wingdings" pitchFamily="2" charset="2"/>
              <a:buChar char="Ø"/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id-ID" sz="2800" dirty="0" smtClean="0"/>
              <a:t>aat </a:t>
            </a:r>
            <a:r>
              <a:rPr lang="id-ID" sz="2800" b="1" dirty="0" smtClean="0"/>
              <a:t>frekuensi tengah </a:t>
            </a:r>
            <a:r>
              <a:rPr lang="id-ID" sz="2800" dirty="0" smtClean="0"/>
              <a:t>(</a:t>
            </a:r>
            <a:r>
              <a:rPr lang="id-ID" sz="2800" i="1" dirty="0" smtClean="0"/>
              <a:t>center frequency </a:t>
            </a:r>
            <a:r>
              <a:rPr lang="id-ID" sz="2800" dirty="0" smtClean="0"/>
              <a:t>) f</a:t>
            </a:r>
            <a:r>
              <a:rPr lang="id-ID" sz="2800" baseline="-25000" dirty="0" smtClean="0"/>
              <a:t>0</a:t>
            </a:r>
          </a:p>
          <a:p>
            <a:r>
              <a:rPr lang="id-ID" sz="2800" baseline="-25000" dirty="0" smtClean="0"/>
              <a:t>        </a:t>
            </a:r>
            <a:r>
              <a:rPr lang="id-ID" sz="2800" dirty="0" smtClean="0"/>
              <a:t>daya sinyal mencapai </a:t>
            </a:r>
            <a:r>
              <a:rPr lang="id-ID" sz="2800" b="1" dirty="0" smtClean="0"/>
              <a:t>harga maksimum </a:t>
            </a:r>
            <a:r>
              <a:rPr lang="id-ID" sz="2800" dirty="0" smtClean="0"/>
              <a:t>(1) </a:t>
            </a:r>
          </a:p>
          <a:p>
            <a:pPr>
              <a:spcAft>
                <a:spcPts val="1200"/>
              </a:spcAft>
            </a:pPr>
            <a:r>
              <a:rPr lang="id-ID" sz="2800" dirty="0" smtClean="0"/>
              <a:t>      atau10 log 1=0dB, dan  </a:t>
            </a:r>
          </a:p>
          <a:p>
            <a:pPr>
              <a:buFont typeface="Wingdings" pitchFamily="2" charset="2"/>
              <a:buChar char="Ø"/>
            </a:pPr>
            <a:r>
              <a:rPr lang="id-ID" sz="2800" dirty="0" smtClean="0"/>
              <a:t>   Pada </a:t>
            </a:r>
            <a:r>
              <a:rPr lang="id-ID" sz="2800" b="1" dirty="0" smtClean="0"/>
              <a:t>frekuensi </a:t>
            </a:r>
            <a:r>
              <a:rPr lang="id-ID" sz="2800" b="1" i="1" dirty="0" smtClean="0"/>
              <a:t>cut off </a:t>
            </a:r>
            <a:r>
              <a:rPr lang="id-ID" sz="2800" b="1" dirty="0" smtClean="0"/>
              <a:t> atas </a:t>
            </a:r>
            <a:r>
              <a:rPr lang="id-ID" sz="2800" dirty="0" smtClean="0"/>
              <a:t>f</a:t>
            </a:r>
            <a:r>
              <a:rPr lang="id-ID" sz="2800" baseline="-25000" dirty="0" smtClean="0"/>
              <a:t>H</a:t>
            </a:r>
            <a:r>
              <a:rPr lang="id-ID" sz="2800" dirty="0" smtClean="0"/>
              <a:t> dan </a:t>
            </a:r>
            <a:r>
              <a:rPr lang="id-ID" sz="2800" b="1" dirty="0" smtClean="0"/>
              <a:t>frekuensi </a:t>
            </a:r>
            <a:r>
              <a:rPr lang="id-ID" sz="2800" b="1" i="1" dirty="0" smtClean="0"/>
              <a:t>cut </a:t>
            </a:r>
          </a:p>
          <a:p>
            <a:r>
              <a:rPr lang="id-ID" sz="2800" b="1" i="1" dirty="0" smtClean="0"/>
              <a:t>     off  </a:t>
            </a:r>
            <a:r>
              <a:rPr lang="id-ID" sz="2800" b="1" dirty="0" smtClean="0"/>
              <a:t>bawah </a:t>
            </a:r>
            <a:r>
              <a:rPr lang="id-ID" sz="2800" dirty="0" smtClean="0"/>
              <a:t>f</a:t>
            </a:r>
            <a:r>
              <a:rPr lang="id-ID" sz="2800" baseline="-25000" dirty="0" smtClean="0"/>
              <a:t>L</a:t>
            </a:r>
            <a:r>
              <a:rPr lang="id-ID" sz="2800" dirty="0" smtClean="0"/>
              <a:t> daya sinyal mencapai harga </a:t>
            </a:r>
            <a:r>
              <a:rPr lang="id-ID" sz="2800" b="1" dirty="0" smtClean="0"/>
              <a:t>1/2</a:t>
            </a:r>
            <a:r>
              <a:rPr lang="id-ID" sz="2800" dirty="0" smtClean="0"/>
              <a:t> </a:t>
            </a:r>
          </a:p>
          <a:p>
            <a:r>
              <a:rPr lang="id-ID" sz="2800" dirty="0" smtClean="0"/>
              <a:t>      atau 0,5 dari daya maksimum </a:t>
            </a:r>
          </a:p>
          <a:p>
            <a:r>
              <a:rPr lang="id-ID" sz="2800" dirty="0" smtClean="0"/>
              <a:t>      atau 10 log </a:t>
            </a:r>
            <a:r>
              <a:rPr lang="id-ID" sz="2800" b="1" dirty="0" smtClean="0"/>
              <a:t>½ = </a:t>
            </a:r>
            <a:r>
              <a:rPr lang="id-ID" sz="2800" dirty="0" smtClean="0"/>
              <a:t>-3 dB</a:t>
            </a:r>
          </a:p>
          <a:p>
            <a:endParaRPr lang="id-ID" sz="2800" dirty="0" smtClean="0"/>
          </a:p>
          <a:p>
            <a:endParaRPr lang="id-ID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9108000" cy="55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57166"/>
            <a:ext cx="8820000" cy="55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Decibel</a:t>
            </a:r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 smtClean="0"/>
              <a:t>Penguatan (gain) daya, penguatan tegangan dan penguatan arus disamping dinyatakan dengan suatu kelipatan (kali) dinyatakan pula (bahkan lebih sering) dinyatakan dalam dB (decibel).</a:t>
            </a:r>
          </a:p>
          <a:p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20"/>
          <a:stretch/>
        </p:blipFill>
        <p:spPr bwMode="auto">
          <a:xfrm>
            <a:off x="899591" y="2645579"/>
            <a:ext cx="8045464" cy="315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08000" cy="741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daya,    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--------  [dalam rasio]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10 log --------- [dB]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P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tegangan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--------- [dalam rasio]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G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 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20 log ------- [dB]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V</a:t>
            </a:r>
            <a:r>
              <a:rPr kumimoji="0" lang="id-ID" sz="2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kumimoji="0" 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arus           G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--------- [dalam rasio]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G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</a:t>
            </a: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20 log ------- [dB]</a:t>
            </a:r>
            <a:endParaRPr lang="id-ID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I</a:t>
            </a:r>
            <a:r>
              <a:rPr lang="id-ID" sz="2800" baseline="-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lang="id-ID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315450" cy="817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 Menjumlahkan level daya dalam dBm, dBW atau dB</a:t>
            </a:r>
          </a:p>
          <a:p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785794"/>
            <a:ext cx="7786742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64318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Level daya sinyal input 1 sebesar 30 dBm, level sinyal input 2 sebesar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30 dBm, maka level sinyal di output sebesar 33 dBm, bukan 60 dBm.</a:t>
            </a:r>
          </a:p>
          <a:p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596" y="3643314"/>
            <a:ext cx="87154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Bukti: + 30 dBm                        = 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30/10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1000 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+ 30 dBm                        = 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30/10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1000 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_________ +                                        __________+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</a:t>
            </a:r>
            <a:r>
              <a:rPr lang="id-ID" sz="20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+ 60 dBm  (salah)   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2000 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=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60/10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</a:t>
            </a:r>
            <a:r>
              <a:rPr lang="id-ID" sz="2000" baseline="30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</a:t>
            </a: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                            = 10 log2000 mW/1mW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        = </a:t>
            </a:r>
            <a:r>
              <a:rPr lang="id-ID" sz="20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+ 33 dBm (benar)</a:t>
            </a:r>
            <a:endParaRPr lang="id-ID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0"/>
            <a:ext cx="6689570" cy="24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2500306"/>
            <a:ext cx="35719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= 10  dBm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=  10 dB</a:t>
            </a:r>
          </a:p>
          <a:p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Out  =  G +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10 dB + 10 dBm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=   20 dBm</a:t>
            </a:r>
          </a:p>
          <a:p>
            <a:pPr>
              <a:spcAft>
                <a:spcPts val="600"/>
              </a:spcAft>
            </a:pPr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</a:t>
            </a:r>
            <a:r>
              <a:rPr lang="id-ID" sz="2400" b="1" dirty="0" smtClean="0"/>
              <a:t>10</a:t>
            </a:r>
            <a:r>
              <a:rPr lang="id-ID" sz="2400" b="1" baseline="30000" dirty="0" smtClean="0"/>
              <a:t>20/10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mW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100 mW</a:t>
            </a:r>
          </a:p>
          <a:p>
            <a:endParaRPr lang="id-ID" sz="2400" dirty="0" smtClean="0"/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2571744"/>
            <a:ext cx="4572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 =  10  dBm  =  10 mW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 =  10 dB       =  10</a:t>
            </a:r>
          </a:p>
          <a:p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out  =  G  x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 10  x 10 mW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=    100 mW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10 log              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  20 dBm</a:t>
            </a: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547020"/>
            <a:ext cx="1597025" cy="111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6073330" cy="21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2285992"/>
            <a:ext cx="421481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= 10  dBW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=  10 dB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Out  =  G +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10 dB + 10 dBW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   20 dBW</a:t>
            </a:r>
          </a:p>
          <a:p>
            <a:pPr>
              <a:spcAft>
                <a:spcPts val="600"/>
              </a:spcAft>
            </a:pPr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10</a:t>
            </a:r>
            <a:r>
              <a:rPr lang="id-ID" sz="2400" b="1" baseline="30000" dirty="0" smtClean="0">
                <a:latin typeface="Times New Roman" pitchFamily="18" charset="0"/>
                <a:cs typeface="Times New Roman" pitchFamily="18" charset="0"/>
              </a:rPr>
              <a:t>20/10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W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</a:t>
            </a:r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 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643182"/>
            <a:ext cx="4572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in  =  10  dBW  =  10 W</a:t>
            </a:r>
          </a:p>
          <a:p>
            <a:pPr>
              <a:spcAft>
                <a:spcPts val="1200"/>
              </a:spcAft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     =  10 dB       =  10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 out  =  G  x P in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=   10  x 10 W</a:t>
            </a:r>
          </a:p>
          <a:p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  100 W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= 10 log              </a:t>
            </a:r>
          </a:p>
          <a:p>
            <a:endParaRPr lang="id-ID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=   20 dBW</a:t>
            </a:r>
            <a:endParaRPr lang="id-ID" sz="2400" dirty="0">
              <a:solidFill>
                <a:srgbClr val="00B0F0"/>
              </a:solidFill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725144"/>
            <a:ext cx="14636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5" y="0"/>
            <a:ext cx="5077700" cy="18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28596" y="1928802"/>
            <a:ext cx="871540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P in = 1Watt                                        P in = 1000 mWatt</a:t>
            </a:r>
          </a:p>
          <a:p>
            <a:r>
              <a:rPr lang="id-ID" dirty="0" smtClean="0"/>
              <a:t>G = 10 dB                                            G    =  10  kali</a:t>
            </a:r>
          </a:p>
          <a:p>
            <a:r>
              <a:rPr lang="id-ID" dirty="0" smtClean="0"/>
              <a:t>P out = G x P in                                    P out = G x P in                                    </a:t>
            </a:r>
          </a:p>
          <a:p>
            <a:r>
              <a:rPr lang="id-ID" dirty="0" smtClean="0"/>
              <a:t>         = 10 x 1 Watt                                       = 10 x 1000 mWatt</a:t>
            </a:r>
          </a:p>
          <a:p>
            <a:r>
              <a:rPr lang="id-ID" dirty="0" smtClean="0"/>
              <a:t>         = </a:t>
            </a:r>
            <a:r>
              <a:rPr lang="id-ID" dirty="0" smtClean="0">
                <a:solidFill>
                  <a:srgbClr val="FF0000"/>
                </a:solidFill>
              </a:rPr>
              <a:t>10 Watt = 10 dBW                             </a:t>
            </a:r>
            <a:r>
              <a:rPr lang="id-ID" dirty="0" smtClean="0"/>
              <a:t>= </a:t>
            </a:r>
            <a:r>
              <a:rPr lang="id-ID" dirty="0" smtClean="0">
                <a:solidFill>
                  <a:srgbClr val="FF0000"/>
                </a:solidFill>
              </a:rPr>
              <a:t>10.000 mWatt = 40 dBm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</a:t>
            </a:r>
            <a:r>
              <a:rPr lang="id-ID" dirty="0" smtClean="0"/>
              <a:t>= </a:t>
            </a:r>
            <a:r>
              <a:rPr lang="id-ID" dirty="0" smtClean="0">
                <a:solidFill>
                  <a:srgbClr val="0070C0"/>
                </a:solidFill>
              </a:rPr>
              <a:t>10.000 mWatt = 40 dBm                   </a:t>
            </a:r>
            <a:r>
              <a:rPr lang="id-ID" dirty="0" smtClean="0"/>
              <a:t>= </a:t>
            </a:r>
            <a:r>
              <a:rPr lang="id-ID" dirty="0" smtClean="0">
                <a:solidFill>
                  <a:srgbClr val="0070C0"/>
                </a:solidFill>
              </a:rPr>
              <a:t>10 watt = 10 dBW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sz="2000" i="1" dirty="0" smtClean="0"/>
              <a:t>Berarti 40 dBm = 10 dBw dong ? Terus hubungannya Bagaimana ?</a:t>
            </a:r>
          </a:p>
          <a:p>
            <a:r>
              <a:rPr lang="id-ID" dirty="0" smtClean="0">
                <a:solidFill>
                  <a:srgbClr val="7030A0"/>
                </a:solidFill>
              </a:rPr>
              <a:t> Jawab : ya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sz="2800" dirty="0" smtClean="0">
                <a:solidFill>
                  <a:srgbClr val="0070C0"/>
                </a:solidFill>
              </a:rPr>
              <a:t>So, </a:t>
            </a:r>
            <a:r>
              <a:rPr lang="id-ID" sz="2800" dirty="0" smtClean="0">
                <a:solidFill>
                  <a:srgbClr val="00B050"/>
                </a:solidFill>
              </a:rPr>
              <a:t>0 dBW = 30 dBm, misal 5 dBW = (30+5) dBm</a:t>
            </a:r>
          </a:p>
          <a:p>
            <a:r>
              <a:rPr lang="id-ID" sz="2800" dirty="0">
                <a:solidFill>
                  <a:srgbClr val="00B050"/>
                </a:solidFill>
              </a:rPr>
              <a:t> </a:t>
            </a:r>
            <a:r>
              <a:rPr lang="id-ID" sz="2800" dirty="0" smtClean="0">
                <a:solidFill>
                  <a:srgbClr val="00B050"/>
                </a:solidFill>
              </a:rPr>
              <a:t>                                                     = 35 dBm</a:t>
            </a:r>
          </a:p>
          <a:p>
            <a:r>
              <a:rPr lang="id-ID" sz="2800" dirty="0" smtClean="0">
                <a:solidFill>
                  <a:srgbClr val="0070C0"/>
                </a:solidFill>
              </a:rPr>
              <a:t>Or, </a:t>
            </a:r>
            <a:r>
              <a:rPr lang="id-ID" sz="2800" dirty="0" smtClean="0">
                <a:solidFill>
                  <a:srgbClr val="00B050"/>
                </a:solidFill>
              </a:rPr>
              <a:t>0 dBm = -30 dBW, misal 5 dBm=(-30+5)dBw</a:t>
            </a:r>
          </a:p>
          <a:p>
            <a:r>
              <a:rPr lang="id-ID" sz="2800" dirty="0">
                <a:solidFill>
                  <a:srgbClr val="00B050"/>
                </a:solidFill>
              </a:rPr>
              <a:t> </a:t>
            </a:r>
            <a:r>
              <a:rPr lang="id-ID" sz="2800" dirty="0" smtClean="0">
                <a:solidFill>
                  <a:srgbClr val="00B050"/>
                </a:solidFill>
              </a:rPr>
              <a:t>                                                      = -25 dBw </a:t>
            </a:r>
            <a:endParaRPr lang="id-ID" sz="2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85828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Other example :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Daya input, P in = 1  mWatt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m Watt (P in)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m Watt ( P referensi)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1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[(10x0) – (10x0)] dBm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[0 – 0] dBm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0 dBm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Daya input, P in = 1  mWatt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= 0,001 Watt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0,001 Watt (P in)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 1 watt ( P referensi)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0,001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[(10x-3) – (10x0)] dBW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[-30 – 0] dBW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- 30 dBW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85828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Other example :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Daya input, P in = 1  Watt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 Watt (P in)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                1  Watt ( P referensi)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1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[(10x0) – (10x0)] dBW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[0 – 0] dBW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0 dBW</a:t>
            </a:r>
          </a:p>
          <a:p>
            <a:endParaRPr lang="id-ID" dirty="0" smtClean="0">
              <a:solidFill>
                <a:srgbClr val="FF000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Daya input, P in = 1  Watt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= 1000 m Watt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1000 m Watt (P in)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Level daya input P in = 10 log --------------------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 1 m Watt ( P referensi)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10 log 1000 – 10 log 1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[(10x3) – (10x0)] dBW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[30 – 0] dBm </a:t>
            </a:r>
          </a:p>
          <a:p>
            <a:r>
              <a:rPr lang="id-ID" dirty="0" smtClean="0">
                <a:solidFill>
                  <a:srgbClr val="FF0000"/>
                </a:solidFill>
              </a:rPr>
              <a:t>                                 = 30 dBm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</a:t>
            </a: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endParaRPr lang="id-ID" dirty="0" smtClean="0">
              <a:solidFill>
                <a:srgbClr val="0070C0"/>
              </a:solidFill>
            </a:endParaRPr>
          </a:p>
          <a:p>
            <a:r>
              <a:rPr lang="id-ID" dirty="0" smtClean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071810"/>
            <a:ext cx="5429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sz="2000" b="1" dirty="0" smtClean="0"/>
          </a:p>
          <a:p>
            <a:endParaRPr lang="id-ID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/>
              <a:t>Untuk Tegangan :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Tegangan V = 100  Volt</a:t>
            </a:r>
          </a:p>
          <a:p>
            <a:r>
              <a:rPr lang="id-ID" sz="2400" b="1" dirty="0" smtClean="0"/>
              <a:t>                                                 100 volt</a:t>
            </a:r>
          </a:p>
          <a:p>
            <a:r>
              <a:rPr lang="id-ID" sz="2400" b="1" dirty="0" smtClean="0"/>
              <a:t>    Level tegangan V = 20 log -------------------</a:t>
            </a:r>
          </a:p>
          <a:p>
            <a:r>
              <a:rPr lang="id-ID" sz="2400" b="1" dirty="0" smtClean="0"/>
              <a:t>                                                 1 Volt </a:t>
            </a:r>
            <a:r>
              <a:rPr lang="id-ID" sz="2400" b="1" dirty="0" smtClean="0">
                <a:solidFill>
                  <a:srgbClr val="FF0000"/>
                </a:solidFill>
              </a:rPr>
              <a:t>(V referensi)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          = 40 dBV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Tegangan V = 100  mVolt</a:t>
            </a:r>
          </a:p>
          <a:p>
            <a:r>
              <a:rPr lang="id-ID" sz="2400" b="1" dirty="0" smtClean="0">
                <a:solidFill>
                  <a:srgbClr val="0070C0"/>
                </a:solidFill>
              </a:rPr>
              <a:t>                                                   </a:t>
            </a:r>
            <a:r>
              <a:rPr lang="id-ID" sz="2400" b="1" dirty="0" smtClean="0"/>
              <a:t>100 mvolt</a:t>
            </a:r>
            <a:endParaRPr lang="id-ID" sz="2400" b="1" dirty="0" smtClean="0">
              <a:solidFill>
                <a:srgbClr val="0070C0"/>
              </a:solidFill>
            </a:endParaRPr>
          </a:p>
          <a:p>
            <a:r>
              <a:rPr lang="id-ID" sz="2400" b="1" dirty="0" smtClean="0"/>
              <a:t>    Level tegangan V = 20 log -------------------</a:t>
            </a:r>
          </a:p>
          <a:p>
            <a:r>
              <a:rPr lang="id-ID" sz="2400" b="1" dirty="0" smtClean="0"/>
              <a:t>                                                   1 m Volt </a:t>
            </a:r>
            <a:r>
              <a:rPr lang="id-ID" sz="2400" b="1" dirty="0" smtClean="0">
                <a:solidFill>
                  <a:srgbClr val="FF0000"/>
                </a:solidFill>
              </a:rPr>
              <a:t>(V referensi)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          = 40 dBmV  </a:t>
            </a:r>
          </a:p>
          <a:p>
            <a:r>
              <a:rPr lang="id-ID" sz="2400" b="1" dirty="0" smtClean="0"/>
              <a:t>                                               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</a:t>
            </a:r>
            <a:endParaRPr lang="id-ID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 smtClean="0"/>
              <a:t>Untuk Arus :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 Arus I = 100  Ampere</a:t>
            </a:r>
          </a:p>
          <a:p>
            <a:r>
              <a:rPr lang="id-ID" sz="2400" b="1" dirty="0" smtClean="0"/>
              <a:t>                                        100 Ampere</a:t>
            </a:r>
          </a:p>
          <a:p>
            <a:r>
              <a:rPr lang="id-ID" sz="2400" b="1" dirty="0" smtClean="0"/>
              <a:t>    Level arus I= 20 log -------------------</a:t>
            </a:r>
          </a:p>
          <a:p>
            <a:r>
              <a:rPr lang="id-ID" sz="2400" b="1" dirty="0" smtClean="0"/>
              <a:t>                                         1 Ampere </a:t>
            </a:r>
            <a:r>
              <a:rPr lang="id-ID" sz="2400" b="1" dirty="0" smtClean="0">
                <a:solidFill>
                  <a:srgbClr val="FF0000"/>
                </a:solidFill>
              </a:rPr>
              <a:t>(I referensi)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= 40 dBI</a:t>
            </a: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 smtClean="0">
                <a:solidFill>
                  <a:srgbClr val="0070C0"/>
                </a:solidFill>
              </a:rPr>
              <a:t> Arus I = 100  m Ampere</a:t>
            </a:r>
          </a:p>
          <a:p>
            <a:r>
              <a:rPr lang="id-ID" sz="2400" b="1" dirty="0" smtClean="0">
                <a:solidFill>
                  <a:srgbClr val="0070C0"/>
                </a:solidFill>
              </a:rPr>
              <a:t>                                          </a:t>
            </a:r>
            <a:r>
              <a:rPr lang="id-ID" sz="2400" b="1" dirty="0" smtClean="0"/>
              <a:t>100 m Ampere</a:t>
            </a:r>
            <a:endParaRPr lang="id-ID" sz="2400" b="1" dirty="0" smtClean="0">
              <a:solidFill>
                <a:srgbClr val="0070C0"/>
              </a:solidFill>
            </a:endParaRPr>
          </a:p>
          <a:p>
            <a:r>
              <a:rPr lang="id-ID" sz="2400" b="1" dirty="0" smtClean="0"/>
              <a:t>    Level  arus I = 20 log -------------------</a:t>
            </a:r>
          </a:p>
          <a:p>
            <a:r>
              <a:rPr lang="id-ID" sz="2400" b="1" dirty="0" smtClean="0"/>
              <a:t>                                           1 m Ampere </a:t>
            </a:r>
            <a:r>
              <a:rPr lang="id-ID" sz="2400" b="1" dirty="0" smtClean="0">
                <a:solidFill>
                  <a:srgbClr val="FF0000"/>
                </a:solidFill>
              </a:rPr>
              <a:t>(I referensi)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</a:t>
            </a:r>
          </a:p>
          <a:p>
            <a:r>
              <a:rPr lang="id-ID" sz="2400" b="1" dirty="0" smtClean="0">
                <a:solidFill>
                  <a:srgbClr val="FF0000"/>
                </a:solidFill>
              </a:rPr>
              <a:t>                        = 40 dBmI  </a:t>
            </a:r>
          </a:p>
          <a:p>
            <a:r>
              <a:rPr lang="id-ID" sz="2400" b="1" dirty="0" smtClean="0"/>
              <a:t>                                               </a:t>
            </a: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0070C0"/>
              </a:solidFill>
            </a:endParaRPr>
          </a:p>
          <a:p>
            <a:endParaRPr lang="id-ID" sz="2400" b="1" dirty="0" smtClean="0">
              <a:solidFill>
                <a:srgbClr val="FF0000"/>
              </a:solidFill>
            </a:endParaRPr>
          </a:p>
          <a:p>
            <a:r>
              <a:rPr lang="id-ID" sz="2400" b="1" dirty="0" smtClean="0">
                <a:solidFill>
                  <a:srgbClr val="FF0000"/>
                </a:solidFill>
              </a:rPr>
              <a:t> </a:t>
            </a:r>
            <a:endParaRPr lang="id-ID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35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Penguat bertingkat :</a:t>
            </a: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3"/>
            <a:ext cx="6265051" cy="20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2910" y="2333685"/>
            <a:ext cx="75724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Penguatan daya total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Gt  =  G1 + G2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=   20 dB  +  30 dB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</a:t>
            </a:r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 50 dB </a:t>
            </a:r>
            <a:r>
              <a:rPr lang="id-ID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(seluruh Gain dalam dB)</a:t>
            </a:r>
            <a:endParaRPr lang="id-ID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=              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=    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Gt = G1 x G2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100 x 1000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100.000 (kali)</a:t>
            </a: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        </a:t>
            </a:r>
            <a:r>
              <a:rPr lang="id-ID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(seluruh gain dalam rasio)</a:t>
            </a:r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=  10 log         </a:t>
            </a:r>
          </a:p>
          <a:p>
            <a:r>
              <a:rPr lang="id-ID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=  50 dB </a:t>
            </a:r>
          </a:p>
          <a:p>
            <a:endParaRPr lang="id-ID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3500438"/>
            <a:ext cx="94933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1934" y="3857628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1934" y="5715016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2" y="6072206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1809</TotalTime>
  <Words>4677</Words>
  <Application>Microsoft Office PowerPoint</Application>
  <PresentationFormat>On-screen Show (4:3)</PresentationFormat>
  <Paragraphs>809</Paragraphs>
  <Slides>76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88" baseType="lpstr">
      <vt:lpstr>Arial</vt:lpstr>
      <vt:lpstr>Calibri</vt:lpstr>
      <vt:lpstr>Lucida Sans Unicode</vt:lpstr>
      <vt:lpstr>Tahoma</vt:lpstr>
      <vt:lpstr>Times New Roman</vt:lpstr>
      <vt:lpstr>Trebuchet MS</vt:lpstr>
      <vt:lpstr>Verdana</vt:lpstr>
      <vt:lpstr>Wingdings</vt:lpstr>
      <vt:lpstr>Wingdings 2</vt:lpstr>
      <vt:lpstr>Wingdings 3</vt:lpstr>
      <vt:lpstr>Concourse</vt:lpstr>
      <vt:lpstr>Office Theme</vt:lpstr>
      <vt:lpstr>DASAR Sistem Komunikasi</vt:lpstr>
      <vt:lpstr>PowerPoint Presentation</vt:lpstr>
      <vt:lpstr>Bab 1 Pendahuluan</vt:lpstr>
      <vt:lpstr>Dasar Sistem Komunikasi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Komunikasi Analog</dc:title>
  <dc:creator>-</dc:creator>
  <cp:lastModifiedBy>Slameta</cp:lastModifiedBy>
  <cp:revision>112</cp:revision>
  <dcterms:created xsi:type="dcterms:W3CDTF">2012-01-20T21:59:59Z</dcterms:created>
  <dcterms:modified xsi:type="dcterms:W3CDTF">2016-05-13T14:48:24Z</dcterms:modified>
</cp:coreProperties>
</file>