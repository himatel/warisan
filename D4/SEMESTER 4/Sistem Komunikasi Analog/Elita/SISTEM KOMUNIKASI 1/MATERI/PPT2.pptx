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96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2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305" r:id="rId29"/>
    <p:sldId id="306" r:id="rId30"/>
    <p:sldId id="308" r:id="rId31"/>
    <p:sldId id="309" r:id="rId32"/>
    <p:sldId id="310" r:id="rId33"/>
    <p:sldId id="290" r:id="rId34"/>
    <p:sldId id="297" r:id="rId35"/>
    <p:sldId id="291" r:id="rId36"/>
    <p:sldId id="292" r:id="rId37"/>
    <p:sldId id="298" r:id="rId38"/>
    <p:sldId id="299" r:id="rId39"/>
    <p:sldId id="300" r:id="rId40"/>
    <p:sldId id="301" r:id="rId41"/>
    <p:sldId id="302" r:id="rId42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5" autoAdjust="0"/>
  </p:normalViewPr>
  <p:slideViewPr>
    <p:cSldViewPr>
      <p:cViewPr varScale="1">
        <p:scale>
          <a:sx n="68" d="100"/>
          <a:sy n="68" d="100"/>
        </p:scale>
        <p:origin x="181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5D297-39A4-4B20-BD2E-09D31FE74DD8}" type="datetimeFigureOut">
              <a:rPr lang="id-ID" smtClean="0"/>
              <a:t>29/11/2020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A49A3-1278-467D-BACA-4BFCE7C7B6C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193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A49A3-1278-467D-BACA-4BFCE7C7B6C7}" type="slidenum">
              <a:rPr lang="id-ID" smtClean="0"/>
              <a:t>26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6256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B9CE555-18E3-42AF-8A33-40A28D7530BD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76175AD-8593-45DC-8725-839460FAB402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/>
              <a:t>3. Perambatan Gelombang Radio</a:t>
            </a:r>
          </a:p>
          <a:p>
            <a:endParaRPr lang="id-ID" sz="3600" b="1" dirty="0"/>
          </a:p>
          <a:p>
            <a:endParaRPr lang="id-ID" sz="3600" b="1" dirty="0"/>
          </a:p>
          <a:p>
            <a:endParaRPr lang="id-ID" sz="2000" b="1" dirty="0"/>
          </a:p>
          <a:p>
            <a:endParaRPr lang="id-ID" sz="3600" b="1" dirty="0"/>
          </a:p>
          <a:p>
            <a:endParaRPr lang="id-ID" sz="2000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" y="0"/>
            <a:ext cx="9143999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d-ID" sz="12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d-ID" sz="12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Frekuensi radio ( 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RF = Radio Frequency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 merupakan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 elektromagnetik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 Elektromaknetik (GEM) =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suatu perpaduan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antara gelombang medan magnet dan gelombang medan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listrik.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 radio yang merambat dari 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transmitter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ke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lang="id-ID" sz="2800" baseline="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reciever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dengan media transmisi udara diklasifikasikan :</a:t>
            </a:r>
          </a:p>
          <a:p>
            <a:pPr marL="228600" marR="0" lvl="0" indent="-2286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1. gelombang tanah (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ground wave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), </a:t>
            </a:r>
          </a:p>
          <a:p>
            <a:pPr marL="228600" marR="0" lvl="0" indent="-2286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2. gelombang langit (</a:t>
            </a:r>
            <a:r>
              <a:rPr kumimoji="0" lang="id-ID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sky wave),</a:t>
            </a:r>
            <a:r>
              <a:rPr kumimoji="0" lang="id-ID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228600" marR="0" lvl="0" indent="-2286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3. gelombang langsung (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direct wave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), </a:t>
            </a:r>
          </a:p>
          <a:p>
            <a:pPr marL="228600" marR="0" lvl="0" indent="-2286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4. dan gelombang pantul (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reflected wave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rcRect l="5768" r="7436" b="8249"/>
          <a:stretch>
            <a:fillRect/>
          </a:stretch>
        </p:blipFill>
        <p:spPr bwMode="auto">
          <a:xfrm>
            <a:off x="0" y="0"/>
            <a:ext cx="9176034" cy="58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789300" y="6198990"/>
            <a:ext cx="356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Perambatan Gelombang Radio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1" y="0"/>
            <a:ext cx="9144000" cy="634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d-ID" sz="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Lintasan1 :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 tanah (</a:t>
            </a:r>
            <a:r>
              <a:rPr kumimoji="0" 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ground wave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 gelombang permukaan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24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</a:t>
            </a:r>
            <a:r>
              <a:rPr kumimoji="0" lang="id-ID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(Surface Wave)</a:t>
            </a:r>
            <a:endParaRPr kumimoji="0" lang="id-ID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Merambat mengikuti permukaan tanah mengikuti lengkung bumi.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id-ID" sz="2400" dirty="0"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Redaman besar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Cocok untuk gelombang menengah (</a:t>
            </a:r>
            <a:r>
              <a:rPr kumimoji="0" 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MW = Midle wave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).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Frekuensi kerja hingga 2 Mhz.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Hanya untuk siaran lokal.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id-ID" sz="12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id-ID" sz="3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Lintasan 2</a:t>
            </a:r>
            <a:r>
              <a:rPr lang="id-ID" sz="32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: </a:t>
            </a:r>
            <a:r>
              <a:rPr lang="id-ID" sz="2400" dirty="0"/>
              <a:t>gelombang langit (</a:t>
            </a:r>
            <a:r>
              <a:rPr lang="id-ID" sz="2400" u="sng" dirty="0"/>
              <a:t>sky wave</a:t>
            </a:r>
            <a:r>
              <a:rPr lang="id-ID" sz="2400" dirty="0"/>
              <a:t>).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Frekuensi kerja dari 2 Mhz hingga 30 Mhz.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Gelombang dipantulkan kembali ke bumi oleh ionosfer.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Gelombang pendek (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SW = Short Wave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Untuk komunikasi jarak jauh, bisa antar benua dg. beberapa kali hop,</a:t>
            </a:r>
          </a:p>
          <a:p>
            <a:pPr lvl="0"/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satu hop dapat mencapai 4.000 km. Contoh radio ABC, radio BBC, dll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Pada Penerima kemungkinam terjadi 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fading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d-ID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d-ID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id-ID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Lintasan 3 :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gelombang pantul (</a:t>
            </a:r>
            <a:r>
              <a:rPr kumimoji="0" 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reflected wave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Frekuensi kerja diatas 30 Mhz.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Lintasan gelombang berupa garis lurus seperti cahaya.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Lintasan gelombang jika mengenai bumi akan dipantulkan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oleh bumi.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Aft>
                <a:spcPts val="600"/>
              </a:spcAft>
            </a:pP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Lintasan 4 :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gelombang langsung (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direct wave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space wave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Frekuensi kerja diatas 30 Mhz.</a:t>
            </a:r>
          </a:p>
          <a:p>
            <a:pPr lvl="0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Komunikasi VHF (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Very High Frequency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) : 30 – 300 Mhz.</a:t>
            </a:r>
          </a:p>
          <a:p>
            <a:pPr lvl="0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Komunikasi UHF, frekuensi kerja diatas 300 Mhz,  antara </a:t>
            </a:r>
          </a:p>
          <a:p>
            <a:pPr lvl="0"/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     transmitter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dan 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harus LOS (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id-ID" sz="2800" i="1">
                <a:latin typeface="Times New Roman" pitchFamily="18" charset="0"/>
                <a:cs typeface="Times New Roman" pitchFamily="18" charset="0"/>
              </a:rPr>
              <a:t>Of Sight</a:t>
            </a:r>
            <a:r>
              <a:rPr lang="id-ID" sz="280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saling </a:t>
            </a:r>
          </a:p>
          <a:p>
            <a:pPr lvl="0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pandang tidak boleh ada penghalang.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3200" dirty="0">
              <a:latin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/>
              <a:t>4. Alokasi Frekuensi Gelombang Radio</a:t>
            </a:r>
          </a:p>
          <a:p>
            <a:endParaRPr lang="id-ID" sz="3600" b="1" dirty="0"/>
          </a:p>
          <a:p>
            <a:endParaRPr lang="id-ID" sz="3600" b="1" dirty="0"/>
          </a:p>
          <a:p>
            <a:endParaRPr lang="id-ID" sz="3600" b="1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40"/>
            <a:ext cx="9144000" cy="607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000100" y="214290"/>
            <a:ext cx="614366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dirty="0" err="1"/>
              <a:t>Spektrum</a:t>
            </a:r>
            <a:r>
              <a:rPr lang="en-US" sz="3600" dirty="0"/>
              <a:t> </a:t>
            </a:r>
            <a:r>
              <a:rPr lang="en-US" sz="3600" dirty="0" err="1"/>
              <a:t>Elektromagnetik</a:t>
            </a:r>
            <a:endParaRPr lang="en-US" sz="3600" dirty="0"/>
          </a:p>
        </p:txBody>
      </p:sp>
      <p:pic>
        <p:nvPicPr>
          <p:cNvPr id="3" name="Picture 7" descr="not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71521"/>
            <a:ext cx="8640000" cy="5740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-1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3200" b="1" dirty="0"/>
              <a:t>5.Modulasi dan Demodulasi.</a:t>
            </a:r>
          </a:p>
          <a:p>
            <a:pPr>
              <a:buFont typeface="Wingdings" pitchFamily="2" charset="2"/>
              <a:buChar char="Ø"/>
            </a:pP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 Modulasi :</a:t>
            </a:r>
            <a:r>
              <a:rPr lang="id-ID" sz="3200" b="1" dirty="0"/>
              <a:t> </a:t>
            </a:r>
            <a:r>
              <a:rPr lang="id-ID" dirty="0"/>
              <a:t> *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mengubah sifat utama suatu gelombang sinyal yaitu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sinyal pembawa (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carrier)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yang berfrekuensi tinggi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oleh gelomban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lain yaitu gelombang sinyal       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informasi yang berfrekuensi rendah. </a:t>
            </a:r>
          </a:p>
          <a:p>
            <a:r>
              <a:rPr lang="id-ID" sz="2800" b="1" dirty="0"/>
              <a:t>   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Modulasi:  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proses menumpangkan sinyal informasi yang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berfrekuensi rendah kedalam sinyal pembawa (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carrier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yang berfrekuensi tinggi agar dapat dikirim/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dipancarkan dari 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ke </a:t>
            </a:r>
            <a:r>
              <a:rPr lang="id-ID" sz="2400" i="1" dirty="0">
                <a:latin typeface="Times New Roman" pitchFamily="18" charset="0"/>
                <a:cs typeface="Times New Roman" pitchFamily="18" charset="0"/>
              </a:rPr>
              <a:t>reciever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yang jauh 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jaraknya. </a:t>
            </a:r>
          </a:p>
          <a:p>
            <a:pPr>
              <a:spcAft>
                <a:spcPts val="600"/>
              </a:spcAft>
            </a:pP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Perangkat yang digunakan untuk proses modulasi disebut </a:t>
            </a:r>
          </a:p>
          <a:p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    modulator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, proses modulasi ini berlangsung di sisi pengirim </a:t>
            </a:r>
          </a:p>
          <a:p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   (</a:t>
            </a:r>
            <a:r>
              <a:rPr lang="id-ID" sz="2500" i="1" dirty="0"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>
              <a:buFont typeface="Wingdings" pitchFamily="2" charset="2"/>
              <a:buChar char="Ø"/>
            </a:pP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Sinyal </a:t>
            </a:r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berfrekuensi rendah disebut sebagai sinyal yang</a:t>
            </a:r>
          </a:p>
          <a:p>
            <a:r>
              <a:rPr lang="id-ID" sz="2500" i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500" b="1" i="1" dirty="0">
                <a:latin typeface="Times New Roman" pitchFamily="18" charset="0"/>
                <a:cs typeface="Times New Roman" pitchFamily="18" charset="0"/>
              </a:rPr>
              <a:t>pemodulasi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, sinyal </a:t>
            </a:r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berfrekuensi tinggi disebut sebagai</a:t>
            </a:r>
          </a:p>
          <a:p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   sinyal yang </a:t>
            </a:r>
            <a:r>
              <a:rPr lang="id-ID" sz="2500" b="1" i="1" dirty="0">
                <a:latin typeface="Times New Roman" pitchFamily="18" charset="0"/>
                <a:cs typeface="Times New Roman" pitchFamily="18" charset="0"/>
              </a:rPr>
              <a:t>dimodulasi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, sedangkan output modulator yaitu sinyal </a:t>
            </a:r>
          </a:p>
          <a:p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    hasil proses modulasi 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disebut sebagai sinyal </a:t>
            </a:r>
            <a:r>
              <a:rPr lang="id-ID" sz="2500" b="1" i="1" dirty="0">
                <a:latin typeface="Times New Roman" pitchFamily="18" charset="0"/>
                <a:cs typeface="Times New Roman" pitchFamily="18" charset="0"/>
              </a:rPr>
              <a:t>termodulasi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Ø"/>
            </a:pP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Sinyal informasi dapat berbentuk sebagai audio (suara manusia</a:t>
            </a:r>
          </a:p>
          <a:p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   frek 300 s/d 3400 HZ), musik (frek 20 s/d 20.000 Hz)  , sinyal </a:t>
            </a:r>
          </a:p>
          <a:p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   video,  sinyal gambar, dll. </a:t>
            </a:r>
          </a:p>
          <a:p>
            <a:pPr>
              <a:buFont typeface="Wingdings" pitchFamily="2" charset="2"/>
              <a:buChar char="Ø"/>
            </a:pP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Di penerima (reciever) terjadi proses </a:t>
            </a:r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demodulasi,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proses mem-</a:t>
            </a:r>
          </a:p>
          <a:p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   peroleh kembali sinyal informasi dari gelombang pembawanya.</a:t>
            </a:r>
          </a:p>
          <a:p>
            <a:pPr>
              <a:buFont typeface="Wingdings" pitchFamily="2" charset="2"/>
              <a:buChar char="Ø"/>
            </a:pP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Perangkat </a:t>
            </a:r>
            <a:r>
              <a:rPr lang="id-ID" sz="2500" b="1" i="1" dirty="0">
                <a:latin typeface="Times New Roman" pitchFamily="18" charset="0"/>
                <a:cs typeface="Times New Roman" pitchFamily="18" charset="0"/>
              </a:rPr>
              <a:t>demodulasi</a:t>
            </a:r>
            <a:r>
              <a:rPr lang="id-ID" sz="2500" dirty="0">
                <a:latin typeface="Times New Roman" pitchFamily="18" charset="0"/>
                <a:cs typeface="Times New Roman" pitchFamily="18" charset="0"/>
              </a:rPr>
              <a:t> ini disebut sebagai </a:t>
            </a:r>
            <a:r>
              <a:rPr lang="id-ID" sz="2500" b="1" dirty="0">
                <a:latin typeface="Times New Roman" pitchFamily="18" charset="0"/>
                <a:cs typeface="Times New Roman" pitchFamily="18" charset="0"/>
              </a:rPr>
              <a:t>demodulator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240" y="6000768"/>
            <a:ext cx="38122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/>
              <a:t>Diagram Blok Modulator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0"/>
            <a:ext cx="8915400" cy="59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86116" y="6215082"/>
            <a:ext cx="3222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Diagram Blok Demodulator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214291"/>
            <a:ext cx="8915400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d-ID" sz="12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id-ID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Perlunya Proses Modulasi &amp; Demodulasi :</a:t>
            </a:r>
            <a:endParaRPr kumimoji="0" lang="id-ID" sz="3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Agar jangkauan transmisi jauh</a:t>
            </a:r>
            <a:endParaRPr kumimoji="0" lang="id-ID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Menghindari terjadinya interferensi</a:t>
            </a:r>
            <a:endParaRPr kumimoji="0" lang="id-ID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Ukuran antena kecil</a:t>
            </a:r>
            <a:endParaRPr kumimoji="0" lang="id-ID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Dapat dimultiplex.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d-ID" sz="32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Metoda/teknik modulasi : 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/>
              <a:t> </a:t>
            </a:r>
            <a:r>
              <a:rPr lang="id-ID" sz="3600" dirty="0"/>
              <a:t>Modulasi analog dan </a:t>
            </a:r>
          </a:p>
          <a:p>
            <a:pPr>
              <a:buFont typeface="Wingdings" pitchFamily="2" charset="2"/>
              <a:buChar char="Ø"/>
            </a:pPr>
            <a:r>
              <a:rPr lang="id-ID" sz="3600" dirty="0"/>
              <a:t> Modulasi digital. </a:t>
            </a:r>
          </a:p>
          <a:p>
            <a:endParaRPr lang="id-ID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965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Metoda modulasi analog :</a:t>
            </a:r>
          </a:p>
          <a:p>
            <a:pPr lvl="0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Modulasi Amplitudo (AM-DSB-FC) </a:t>
            </a:r>
          </a:p>
          <a:p>
            <a:pPr lvl="0">
              <a:spcAft>
                <a:spcPts val="12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Amplitudo Modulation Double Side Band Full Carrier).</a:t>
            </a:r>
          </a:p>
          <a:p>
            <a:pPr lvl="0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Modulasi SSB (AM-SSB-SC ). </a:t>
            </a:r>
          </a:p>
          <a:p>
            <a:pPr lvl="0">
              <a:spcAft>
                <a:spcPts val="12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Amplitudo Modulation Single Side Band Suppresed Carrier)</a:t>
            </a:r>
          </a:p>
          <a:p>
            <a:pPr lvl="0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Modulasi frekuensi (FM = Frequency Modulation)</a:t>
            </a:r>
          </a:p>
          <a:p>
            <a:pPr lvl="0"/>
            <a:endParaRPr lang="id-ID" dirty="0"/>
          </a:p>
          <a:p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Modulasi analog :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informasi berbentuk sinyal analog, 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pembawa berbentuk sinyal analog dan 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termodulasi (AM,SSB,FM) merupakan </a:t>
            </a: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sinyal analog.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lang="id-ID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Metoda modulasi digital </a:t>
            </a:r>
            <a:r>
              <a:rPr lang="id-ID" sz="40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0"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Modulasi ASK (Amplitudo Shift Keying)</a:t>
            </a:r>
          </a:p>
          <a:p>
            <a:pPr lvl="0"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Modulasi FSK (Frequency Shift Keying)</a:t>
            </a:r>
          </a:p>
          <a:p>
            <a:pPr lvl="0"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Modulasi PSK ( Phase Shift Keying) dan</a:t>
            </a:r>
          </a:p>
          <a:p>
            <a:pPr lvl="0"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Modulasi QAM (Quadratur Amplitudo Modulation)</a:t>
            </a:r>
          </a:p>
          <a:p>
            <a:pPr lvl="0">
              <a:buFont typeface="Wingdings" pitchFamily="2" charset="2"/>
              <a:buChar char="Ø"/>
            </a:pPr>
            <a:endParaRPr lang="id-ID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4000" b="1" dirty="0">
                <a:latin typeface="Times New Roman" pitchFamily="18" charset="0"/>
                <a:cs typeface="Times New Roman" pitchFamily="18" charset="0"/>
              </a:rPr>
              <a:t>Modulasi digital :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informasi </a:t>
            </a:r>
            <a:r>
              <a:rPr lang="id-ID" sz="3200">
                <a:latin typeface="Times New Roman" pitchFamily="18" charset="0"/>
                <a:cs typeface="Times New Roman" pitchFamily="18" charset="0"/>
              </a:rPr>
              <a:t>berbentuk sinyal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pembawa berbentuk sinyal analog dan </a:t>
            </a:r>
          </a:p>
          <a:p>
            <a:pPr>
              <a:buFont typeface="Wingdings" pitchFamily="2" charset="2"/>
              <a:buChar char="Ø"/>
            </a:pP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Sinyal termodulasi (ASK, FSK, PSK dan QAM) </a:t>
            </a: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merupakan sinyal analog. </a:t>
            </a:r>
          </a:p>
          <a:p>
            <a:pPr lvl="0"/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1200"/>
              </a:spcAft>
              <a:buAutoNum type="arabicPlain" startAt="6"/>
            </a:pPr>
            <a:r>
              <a:rPr lang="id-ID" sz="4000" b="1" dirty="0"/>
              <a:t>Spektrum dan Bandwidth</a:t>
            </a:r>
          </a:p>
          <a:p>
            <a:pPr marL="514350" indent="-514350" algn="just">
              <a:buFont typeface="Wingdings" pitchFamily="2" charset="2"/>
              <a:buChar char="v"/>
            </a:pPr>
            <a:r>
              <a:rPr lang="id-ID" sz="3600" b="1" dirty="0"/>
              <a:t>Spektrum</a:t>
            </a:r>
            <a:r>
              <a:rPr lang="id-ID" sz="3600" b="1" i="1" dirty="0"/>
              <a:t> </a:t>
            </a:r>
            <a:r>
              <a:rPr lang="id-ID" sz="3600" b="1" dirty="0"/>
              <a:t>:</a:t>
            </a:r>
            <a:r>
              <a:rPr lang="id-ID" sz="3200" dirty="0"/>
              <a:t>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representasi suatu bentuk gelombang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                             sinyal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non-sinusoida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kedalam bentuk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                             gelombang-gelombang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sinusoida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dan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                             atau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cosinusoida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dengan amplitudo-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                             amplitudo maksimum sebagai fungsi</a:t>
            </a:r>
          </a:p>
          <a:p>
            <a:pPr marL="514350" indent="-514350"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                              frakuensi. </a:t>
            </a:r>
          </a:p>
          <a:p>
            <a:pPr marL="514350" indent="-514350" algn="just"/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Contoh :</a:t>
            </a:r>
          </a:p>
          <a:p>
            <a:pPr marL="514350" indent="-514350" algn="just"/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 l="2104" r="1606"/>
          <a:stretch>
            <a:fillRect/>
          </a:stretch>
        </p:blipFill>
        <p:spPr bwMode="auto">
          <a:xfrm>
            <a:off x="1214414" y="3429000"/>
            <a:ext cx="7929586" cy="34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 Bandwidth </a:t>
            </a:r>
            <a:r>
              <a:rPr lang="id-ID" sz="36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600" dirty="0">
                <a:latin typeface="Times New Roman" pitchFamily="18" charset="0"/>
                <a:cs typeface="Times New Roman" pitchFamily="18" charset="0"/>
              </a:rPr>
              <a:t>(lebar pita) frekuensi :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batas-batas</a:t>
            </a:r>
          </a:p>
          <a:p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              frekuensi yang dicakup antara frekuensi </a:t>
            </a:r>
            <a:r>
              <a:rPr lang="id-ID" sz="3200" b="1" i="1" dirty="0">
                <a:latin typeface="Times New Roman" pitchFamily="18" charset="0"/>
                <a:cs typeface="Times New Roman" pitchFamily="18" charset="0"/>
              </a:rPr>
              <a:t>cut</a:t>
            </a:r>
          </a:p>
          <a:p>
            <a:pPr>
              <a:spcAft>
                <a:spcPts val="1800"/>
              </a:spcAft>
            </a:pPr>
            <a:r>
              <a:rPr lang="id-ID" sz="3200" b="1" i="1" dirty="0">
                <a:latin typeface="Times New Roman" pitchFamily="18" charset="0"/>
                <a:cs typeface="Times New Roman" pitchFamily="18" charset="0"/>
              </a:rPr>
              <a:t>              off</a:t>
            </a: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 atas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)dan frekuensi</a:t>
            </a:r>
            <a:r>
              <a:rPr lang="id-ID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b="1" i="1" dirty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bawah 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id-ID" sz="3200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32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/>
              <a:t>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Pada saat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frekuensi tengah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id-ID" sz="2800" i="1" dirty="0">
                <a:latin typeface="Times New Roman" pitchFamily="18" charset="0"/>
                <a:cs typeface="Times New Roman" pitchFamily="18" charset="0"/>
              </a:rPr>
              <a:t>center frequency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) f</a:t>
            </a:r>
            <a:r>
              <a:rPr lang="id-ID" sz="28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tegangan</a:t>
            </a:r>
          </a:p>
          <a:p>
            <a:pPr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atau arus sinyal mencapai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harga maksimum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(1) atau dalam</a:t>
            </a:r>
          </a:p>
          <a:p>
            <a:pPr algn="just">
              <a:spcAft>
                <a:spcPts val="1200"/>
              </a:spcAft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decibel sebesar  20 log 1 = 0 dB. </a:t>
            </a:r>
          </a:p>
          <a:p>
            <a:pPr algn="just"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Pada saat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frekuensi </a:t>
            </a:r>
            <a:r>
              <a:rPr lang="id-ID" sz="2800" b="1" i="1" dirty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atas f</a:t>
            </a:r>
            <a:r>
              <a:rPr lang="id-ID" sz="2800" baseline="-25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dan pada saat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frekuensi</a:t>
            </a:r>
          </a:p>
          <a:p>
            <a:pPr algn="just"/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i="1" dirty="0">
                <a:latin typeface="Times New Roman" pitchFamily="18" charset="0"/>
                <a:cs typeface="Times New Roman" pitchFamily="18" charset="0"/>
              </a:rPr>
              <a:t>cut off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bawah f</a:t>
            </a:r>
            <a:r>
              <a:rPr lang="id-ID" sz="2800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tegangan atau arus sinyal mencapai harga</a:t>
            </a:r>
          </a:p>
          <a:p>
            <a:pPr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atau 0,707 dari tegangan maksimum atau dalam</a:t>
            </a:r>
          </a:p>
          <a:p>
            <a:pPr algn="just"/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  decibel sebesar10 log 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1/√2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= - 3 dB.</a:t>
            </a: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Atau :</a:t>
            </a:r>
          </a:p>
          <a:p>
            <a:pPr>
              <a:buFont typeface="Wingdings" pitchFamily="2" charset="2"/>
              <a:buChar char="Ø"/>
            </a:pP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id-ID" sz="2800" b="1" dirty="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id-ID" sz="2800" dirty="0"/>
              <a:t>aat </a:t>
            </a:r>
            <a:r>
              <a:rPr lang="id-ID" sz="2800" b="1" dirty="0"/>
              <a:t>frekuensi tengah </a:t>
            </a:r>
            <a:r>
              <a:rPr lang="id-ID" sz="2800" dirty="0"/>
              <a:t>(</a:t>
            </a:r>
            <a:r>
              <a:rPr lang="id-ID" sz="2800" i="1" dirty="0"/>
              <a:t>center frequency </a:t>
            </a:r>
            <a:r>
              <a:rPr lang="id-ID" sz="2800" dirty="0"/>
              <a:t>) f</a:t>
            </a:r>
            <a:r>
              <a:rPr lang="id-ID" sz="2800" baseline="-25000" dirty="0"/>
              <a:t>0</a:t>
            </a:r>
          </a:p>
          <a:p>
            <a:r>
              <a:rPr lang="id-ID" sz="2800" baseline="-25000" dirty="0"/>
              <a:t>        </a:t>
            </a:r>
            <a:r>
              <a:rPr lang="id-ID" sz="2800" dirty="0"/>
              <a:t>daya sinyal mencapai </a:t>
            </a:r>
            <a:r>
              <a:rPr lang="id-ID" sz="2800" b="1" dirty="0"/>
              <a:t>harga maksimum </a:t>
            </a:r>
            <a:r>
              <a:rPr lang="id-ID" sz="2800" dirty="0"/>
              <a:t>(1) </a:t>
            </a:r>
          </a:p>
          <a:p>
            <a:pPr>
              <a:spcAft>
                <a:spcPts val="1200"/>
              </a:spcAft>
            </a:pPr>
            <a:r>
              <a:rPr lang="id-ID" sz="2800" dirty="0"/>
              <a:t>      atau10 log 1=0dB, dan  </a:t>
            </a:r>
          </a:p>
          <a:p>
            <a:pPr>
              <a:buFont typeface="Wingdings" pitchFamily="2" charset="2"/>
              <a:buChar char="Ø"/>
            </a:pPr>
            <a:r>
              <a:rPr lang="id-ID" sz="2800" dirty="0"/>
              <a:t>   Pada </a:t>
            </a:r>
            <a:r>
              <a:rPr lang="id-ID" sz="2800" b="1" dirty="0"/>
              <a:t>frekuensi </a:t>
            </a:r>
            <a:r>
              <a:rPr lang="id-ID" sz="2800" b="1" i="1" dirty="0"/>
              <a:t>cut off </a:t>
            </a:r>
            <a:r>
              <a:rPr lang="id-ID" sz="2800" b="1" dirty="0"/>
              <a:t> atas </a:t>
            </a:r>
            <a:r>
              <a:rPr lang="id-ID" sz="2800" dirty="0"/>
              <a:t>f</a:t>
            </a:r>
            <a:r>
              <a:rPr lang="id-ID" sz="2800" baseline="-25000" dirty="0"/>
              <a:t>H</a:t>
            </a:r>
            <a:r>
              <a:rPr lang="id-ID" sz="2800" dirty="0"/>
              <a:t> dan </a:t>
            </a:r>
            <a:r>
              <a:rPr lang="id-ID" sz="2800" b="1" dirty="0"/>
              <a:t>frekuensi </a:t>
            </a:r>
            <a:r>
              <a:rPr lang="id-ID" sz="2800" b="1" i="1" dirty="0"/>
              <a:t>cut </a:t>
            </a:r>
          </a:p>
          <a:p>
            <a:r>
              <a:rPr lang="id-ID" sz="2800" b="1" i="1" dirty="0"/>
              <a:t>     off  </a:t>
            </a:r>
            <a:r>
              <a:rPr lang="id-ID" sz="2800" b="1" dirty="0"/>
              <a:t>bawah </a:t>
            </a:r>
            <a:r>
              <a:rPr lang="id-ID" sz="2800" dirty="0"/>
              <a:t>f</a:t>
            </a:r>
            <a:r>
              <a:rPr lang="id-ID" sz="2800" baseline="-25000" dirty="0"/>
              <a:t>L</a:t>
            </a:r>
            <a:r>
              <a:rPr lang="id-ID" sz="2800" dirty="0"/>
              <a:t> daya sinyal mencapai harga </a:t>
            </a:r>
            <a:r>
              <a:rPr lang="id-ID" sz="2800" b="1" dirty="0"/>
              <a:t>1/2</a:t>
            </a:r>
            <a:r>
              <a:rPr lang="id-ID" sz="2800" dirty="0"/>
              <a:t> </a:t>
            </a:r>
          </a:p>
          <a:p>
            <a:r>
              <a:rPr lang="id-ID" sz="2800" dirty="0"/>
              <a:t>      atau 0,5 dari daya maksimum </a:t>
            </a:r>
          </a:p>
          <a:p>
            <a:r>
              <a:rPr lang="id-ID" sz="2800" dirty="0"/>
              <a:t>      atau 20 log </a:t>
            </a:r>
            <a:r>
              <a:rPr lang="id-ID" sz="2800" b="1" dirty="0"/>
              <a:t>½ = </a:t>
            </a:r>
            <a:r>
              <a:rPr lang="id-ID" sz="2800" dirty="0"/>
              <a:t>-3 dB</a:t>
            </a:r>
          </a:p>
          <a:p>
            <a:endParaRPr lang="id-ID" sz="2800" dirty="0"/>
          </a:p>
          <a:p>
            <a:endParaRPr lang="id-ID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9108000" cy="55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57166"/>
            <a:ext cx="8820000" cy="554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3600" b="1" dirty="0">
                <a:latin typeface="Times New Roman" pitchFamily="18" charset="0"/>
                <a:cs typeface="Times New Roman" pitchFamily="18" charset="0"/>
              </a:rPr>
              <a:t>7. Decibel</a:t>
            </a:r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800" dirty="0"/>
              <a:t>Penguatan (gain) daya, penguatan tegangan dan penguatan arus disamping dinyatakan dengan suatu kelipatan (kali) dinyatakan pula (bahkan lebih sering) dinyatakan dalam dB (decibel).</a:t>
            </a:r>
          </a:p>
          <a:p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id-ID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id-ID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20"/>
          <a:stretch/>
        </p:blipFill>
        <p:spPr bwMode="auto">
          <a:xfrm>
            <a:off x="899591" y="2645579"/>
            <a:ext cx="8045464" cy="315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08000" cy="741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daya,       G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--------  [dalam rasio]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P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G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10 log --------- [dB]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P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V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tegangan   G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V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V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V</a:t>
            </a:r>
            <a:r>
              <a:rPr kumimoji="0" lang="id-ID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I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Penguatan arus           G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 </a:t>
            </a: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--------- [dalam rasio]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I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I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G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= 20 log ------- [dB]</a:t>
            </a:r>
            <a:endParaRPr lang="id-ID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I</a:t>
            </a:r>
            <a:r>
              <a:rPr lang="id-ID" sz="2800" baseline="-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endParaRPr lang="id-ID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315450" cy="817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 Menjumlahkan level daya dalam dBm, dBW atau dB</a:t>
            </a:r>
          </a:p>
          <a:p>
            <a:r>
              <a:rPr lang="id-ID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85794"/>
            <a:ext cx="778674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64318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Level daya sinyal input 1 sebesar 30 dBm, level sinyal input 2 sebesar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30 dBm, maka level sinyal di output sebesar 33 dBm, bukan 60 dBm.</a:t>
            </a: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596" y="3643314"/>
            <a:ext cx="87154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Bukti: + 30 dBm                        =  10</a:t>
            </a:r>
            <a:r>
              <a:rPr lang="id-ID" sz="2000" baseline="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+ 30 dBm                        =  10</a:t>
            </a:r>
            <a:r>
              <a:rPr lang="id-ID" sz="2000" baseline="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30/10</a:t>
            </a: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1000 mW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_________ +                                        __________+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</a:t>
            </a:r>
            <a:r>
              <a:rPr lang="id-ID" sz="20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+ 60 dBm  (salah)   </a:t>
            </a: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2000 mW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= 10</a:t>
            </a:r>
            <a:r>
              <a:rPr lang="id-ID" sz="2000" baseline="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60/10</a:t>
            </a: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= 10</a:t>
            </a:r>
            <a:r>
              <a:rPr lang="id-ID" sz="2000" baseline="30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</a:t>
            </a: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mW                             = 10 log2000 mW/1mW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d-ID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        = </a:t>
            </a:r>
            <a:r>
              <a:rPr lang="id-ID" sz="2000" b="1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+ 33 dBm (benar)</a:t>
            </a:r>
            <a:endParaRPr lang="id-ID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0"/>
            <a:ext cx="6689570" cy="24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500306"/>
            <a:ext cx="35719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in = 10  dBm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=  10 dB + 10 dBm</a:t>
            </a:r>
          </a:p>
          <a:p>
            <a:pPr>
              <a:spcAft>
                <a:spcPts val="6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=   20 dBm</a:t>
            </a:r>
          </a:p>
          <a:p>
            <a:pPr>
              <a:spcAft>
                <a:spcPts val="600"/>
              </a:spcAft>
            </a:pP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= </a:t>
            </a:r>
            <a:r>
              <a:rPr lang="id-ID" sz="2400" b="1" dirty="0"/>
              <a:t>10</a:t>
            </a:r>
            <a:r>
              <a:rPr lang="id-ID" sz="2400" b="1" baseline="30000" dirty="0"/>
              <a:t>20/10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mW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=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100 mW</a:t>
            </a:r>
          </a:p>
          <a:p>
            <a:endParaRPr lang="id-ID" sz="2400" dirty="0"/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2571744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in  =  10  dBm  =  10 mW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G     =  10 dB       </a:t>
            </a:r>
            <a:r>
              <a:rPr lang="id-ID" sz="2400">
                <a:latin typeface="Times New Roman" pitchFamily="18" charset="0"/>
                <a:cs typeface="Times New Roman" pitchFamily="18" charset="0"/>
              </a:rPr>
              <a:t>=  10 Kali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=   10  x 10 mW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=    100 mW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=   20 dBm</a:t>
            </a: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547020"/>
            <a:ext cx="1597025" cy="111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6073330" cy="21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2285992"/>
            <a:ext cx="421481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in = 10  dBW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G    =  10 dB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Out  =  G + P in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=  10 dB + 10 dBW</a:t>
            </a:r>
          </a:p>
          <a:p>
            <a:pPr>
              <a:spcAft>
                <a:spcPts val="600"/>
              </a:spcAft>
            </a:pPr>
            <a:r>
              <a:rPr lang="id-ID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</a:p>
          <a:p>
            <a:pPr>
              <a:spcAft>
                <a:spcPts val="600"/>
              </a:spcAft>
            </a:pP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= 10</a:t>
            </a:r>
            <a:r>
              <a:rPr lang="id-ID" sz="2400" b="1" baseline="30000" dirty="0">
                <a:latin typeface="Times New Roman" pitchFamily="18" charset="0"/>
                <a:cs typeface="Times New Roman" pitchFamily="18" charset="0"/>
              </a:rPr>
              <a:t>20/10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W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id-ID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 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43182"/>
            <a:ext cx="4572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in  =  10  dBW  =  10 W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G     =  10 dB       =  10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 out  =  G  x P in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=   10  x 10 W</a:t>
            </a:r>
          </a:p>
          <a:p>
            <a:r>
              <a:rPr lang="id-ID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 100 W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= 10 log              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id-ID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=   20 dBW</a:t>
            </a:r>
            <a:endParaRPr lang="id-ID" sz="2400" dirty="0">
              <a:solidFill>
                <a:srgbClr val="00B0F0"/>
              </a:solidFill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725144"/>
            <a:ext cx="14636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5" y="0"/>
            <a:ext cx="5077700" cy="18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28596" y="1928802"/>
            <a:ext cx="871540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P in = 1Watt                                        P in = 1000 mWatt</a:t>
            </a:r>
          </a:p>
          <a:p>
            <a:r>
              <a:rPr lang="id-ID" dirty="0"/>
              <a:t>G = 10 dB                                            G    =  10  kali</a:t>
            </a:r>
          </a:p>
          <a:p>
            <a:r>
              <a:rPr lang="id-ID" dirty="0"/>
              <a:t>P out = G x P in                                    P out = G x P in                                    </a:t>
            </a:r>
          </a:p>
          <a:p>
            <a:r>
              <a:rPr lang="id-ID" dirty="0"/>
              <a:t>         = 10 x 1 Watt                                       = 10 x 1000 mWatt</a:t>
            </a:r>
          </a:p>
          <a:p>
            <a:r>
              <a:rPr lang="id-ID" dirty="0"/>
              <a:t>         = </a:t>
            </a:r>
            <a:r>
              <a:rPr lang="id-ID" dirty="0">
                <a:solidFill>
                  <a:srgbClr val="FF0000"/>
                </a:solidFill>
              </a:rPr>
              <a:t>10 Watt = 10 dBW                             </a:t>
            </a:r>
            <a:r>
              <a:rPr lang="id-ID" dirty="0"/>
              <a:t>= </a:t>
            </a:r>
            <a:r>
              <a:rPr lang="id-ID" dirty="0">
                <a:solidFill>
                  <a:srgbClr val="FF0000"/>
                </a:solidFill>
              </a:rPr>
              <a:t>10.000 mWatt = 40 dBm</a:t>
            </a:r>
          </a:p>
          <a:p>
            <a:r>
              <a:rPr lang="id-ID" dirty="0">
                <a:solidFill>
                  <a:srgbClr val="FF0000"/>
                </a:solidFill>
              </a:rPr>
              <a:t>         </a:t>
            </a:r>
            <a:r>
              <a:rPr lang="id-ID" dirty="0"/>
              <a:t>= </a:t>
            </a:r>
            <a:r>
              <a:rPr lang="id-ID" dirty="0">
                <a:solidFill>
                  <a:srgbClr val="0070C0"/>
                </a:solidFill>
              </a:rPr>
              <a:t>10.000 mWatt = 40 dBm                   </a:t>
            </a:r>
            <a:r>
              <a:rPr lang="id-ID" dirty="0"/>
              <a:t>= </a:t>
            </a:r>
            <a:r>
              <a:rPr lang="id-ID" dirty="0">
                <a:solidFill>
                  <a:srgbClr val="0070C0"/>
                </a:solidFill>
              </a:rPr>
              <a:t>10 watt = 10 dBW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sz="2000" i="1" dirty="0"/>
              <a:t>Berarti 40 dBm = 10 dBw dong ? Terus hubungannya Bagaimana ?</a:t>
            </a:r>
          </a:p>
          <a:p>
            <a:r>
              <a:rPr lang="id-ID" dirty="0">
                <a:solidFill>
                  <a:srgbClr val="7030A0"/>
                </a:solidFill>
              </a:rPr>
              <a:t> Jawab : ya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sz="2800" dirty="0">
                <a:solidFill>
                  <a:srgbClr val="0070C0"/>
                </a:solidFill>
              </a:rPr>
              <a:t>So, </a:t>
            </a:r>
            <a:r>
              <a:rPr lang="id-ID" sz="2800" dirty="0">
                <a:solidFill>
                  <a:srgbClr val="00B050"/>
                </a:solidFill>
              </a:rPr>
              <a:t>0 dBW = 30 dBm, misal 5 dBW = (30+5) dBm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                                                     = 35 dBm</a:t>
            </a:r>
          </a:p>
          <a:p>
            <a:r>
              <a:rPr lang="id-ID" sz="2800" dirty="0">
                <a:solidFill>
                  <a:srgbClr val="0070C0"/>
                </a:solidFill>
              </a:rPr>
              <a:t>Or, </a:t>
            </a:r>
            <a:r>
              <a:rPr lang="id-ID" sz="2800" dirty="0">
                <a:solidFill>
                  <a:srgbClr val="00B050"/>
                </a:solidFill>
              </a:rPr>
              <a:t>0 dBm = -30 dBW, misal 5 dBm=(-30+5)dBw</a:t>
            </a:r>
          </a:p>
          <a:p>
            <a:r>
              <a:rPr lang="id-ID" sz="2800" dirty="0">
                <a:solidFill>
                  <a:srgbClr val="00B050"/>
                </a:solidFill>
              </a:rPr>
              <a:t>                                                       = -25 dBw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Other example :</a:t>
            </a:r>
          </a:p>
          <a:p>
            <a:r>
              <a:rPr lang="id-ID" dirty="0">
                <a:solidFill>
                  <a:srgbClr val="FF0000"/>
                </a:solidFill>
              </a:rPr>
              <a:t>Daya input, P in = 1  mWatt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                1 m Watt (P in)</a:t>
            </a:r>
          </a:p>
          <a:p>
            <a:r>
              <a:rPr lang="id-ID" dirty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                1 m Watt ( P referensi)</a:t>
            </a:r>
          </a:p>
          <a:p>
            <a:endParaRPr lang="id-ID" dirty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[(10x0) – (10x0)] dBm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[0 – 0] dBm 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0 dBm</a:t>
            </a:r>
          </a:p>
          <a:p>
            <a:endParaRPr lang="id-ID" dirty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Daya input, P in = 1  mWatt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= 0,001 Watt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0,001 Watt (P in)</a:t>
            </a:r>
          </a:p>
          <a:p>
            <a:r>
              <a:rPr lang="id-ID" dirty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 1 watt ( P referensi)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10 log 0,001 – 10 log 1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[(10x-3) – (10x0)] dBW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[-30 – 0] dBW 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- 30 dBW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85828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Other example :</a:t>
            </a:r>
          </a:p>
          <a:p>
            <a:r>
              <a:rPr lang="id-ID" dirty="0">
                <a:solidFill>
                  <a:srgbClr val="FF0000"/>
                </a:solidFill>
              </a:rPr>
              <a:t>Daya input, P in = 1  Watt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                1  Watt (P in)</a:t>
            </a:r>
          </a:p>
          <a:p>
            <a:r>
              <a:rPr lang="id-ID" dirty="0">
                <a:solidFill>
                  <a:srgbClr val="FF0000"/>
                </a:solidFill>
              </a:rPr>
              <a:t>Level daya input P in = 10 log --------------------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                1  Watt ( P referensi)</a:t>
            </a:r>
          </a:p>
          <a:p>
            <a:endParaRPr lang="id-ID" dirty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10 log 1 – 10 log 1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[(10x0) – (10x0)] dBW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[0 – 0] dBW 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0 dBW</a:t>
            </a:r>
          </a:p>
          <a:p>
            <a:endParaRPr lang="id-ID" dirty="0">
              <a:solidFill>
                <a:srgbClr val="FF000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Daya input, P in = 1  Watt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= 1000 m Watt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1000 m Watt (P in)</a:t>
            </a:r>
          </a:p>
          <a:p>
            <a:r>
              <a:rPr lang="id-ID" dirty="0">
                <a:solidFill>
                  <a:srgbClr val="0070C0"/>
                </a:solidFill>
              </a:rPr>
              <a:t>Level daya input P in = 10 log --------------------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 1 m Watt ( P referensi)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10 log 1000 – 10 log 1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[(10x3) – (10x0)] dBW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[30 – 0] dBm </a:t>
            </a:r>
          </a:p>
          <a:p>
            <a:r>
              <a:rPr lang="id-ID" dirty="0">
                <a:solidFill>
                  <a:srgbClr val="FF0000"/>
                </a:solidFill>
              </a:rPr>
              <a:t>                                 = 30 dBm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</a:t>
            </a: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endParaRPr lang="id-ID" dirty="0">
              <a:solidFill>
                <a:srgbClr val="0070C0"/>
              </a:solidFill>
            </a:endParaRPr>
          </a:p>
          <a:p>
            <a:r>
              <a:rPr lang="id-ID" dirty="0">
                <a:solidFill>
                  <a:srgbClr val="0070C0"/>
                </a:solidFill>
              </a:rPr>
              <a:t>                                                 </a:t>
            </a:r>
          </a:p>
          <a:p>
            <a:endParaRPr lang="id-ID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071810"/>
            <a:ext cx="5429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d-ID" sz="2000" b="1" dirty="0"/>
          </a:p>
          <a:p>
            <a:endParaRPr lang="id-ID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/>
              <a:t>Untuk Tegangan :</a:t>
            </a:r>
          </a:p>
          <a:p>
            <a:endParaRPr lang="id-ID" sz="2400" b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>
                <a:solidFill>
                  <a:srgbClr val="0070C0"/>
                </a:solidFill>
              </a:rPr>
              <a:t>Tegangan V = 100  Volt</a:t>
            </a:r>
          </a:p>
          <a:p>
            <a:r>
              <a:rPr lang="id-ID" sz="2400" b="1" dirty="0"/>
              <a:t>                                                 100 volt</a:t>
            </a:r>
          </a:p>
          <a:p>
            <a:r>
              <a:rPr lang="id-ID" sz="2400" b="1" dirty="0"/>
              <a:t>    Level tegangan V = 20 log -------------------</a:t>
            </a:r>
          </a:p>
          <a:p>
            <a:r>
              <a:rPr lang="id-ID" sz="2400" b="1" dirty="0"/>
              <a:t>                                                 1 Volt </a:t>
            </a:r>
            <a:r>
              <a:rPr lang="id-ID" sz="2400" b="1" dirty="0">
                <a:solidFill>
                  <a:srgbClr val="FF0000"/>
                </a:solidFill>
              </a:rPr>
              <a:t>(V referensi)</a:t>
            </a:r>
          </a:p>
          <a:p>
            <a:endParaRPr lang="id-ID" sz="2400" b="1" dirty="0">
              <a:solidFill>
                <a:srgbClr val="FF0000"/>
              </a:solidFill>
            </a:endParaRPr>
          </a:p>
          <a:p>
            <a:r>
              <a:rPr lang="id-ID" sz="2400" b="1" dirty="0">
                <a:solidFill>
                  <a:srgbClr val="FF0000"/>
                </a:solidFill>
              </a:rPr>
              <a:t>                                = 40 dBV</a:t>
            </a:r>
          </a:p>
          <a:p>
            <a:endParaRPr lang="id-ID" sz="24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>
                <a:solidFill>
                  <a:srgbClr val="0070C0"/>
                </a:solidFill>
              </a:rPr>
              <a:t>Tegangan V = 100  mVolt</a:t>
            </a:r>
          </a:p>
          <a:p>
            <a:r>
              <a:rPr lang="id-ID" sz="2400" b="1" dirty="0">
                <a:solidFill>
                  <a:srgbClr val="0070C0"/>
                </a:solidFill>
              </a:rPr>
              <a:t>                                                   </a:t>
            </a:r>
            <a:r>
              <a:rPr lang="id-ID" sz="2400" b="1" dirty="0"/>
              <a:t>100 mvolt</a:t>
            </a:r>
            <a:endParaRPr lang="id-ID" sz="2400" b="1" dirty="0">
              <a:solidFill>
                <a:srgbClr val="0070C0"/>
              </a:solidFill>
            </a:endParaRPr>
          </a:p>
          <a:p>
            <a:r>
              <a:rPr lang="id-ID" sz="2400" b="1" dirty="0"/>
              <a:t>    Level tegangan V = 20 log -------------------</a:t>
            </a:r>
          </a:p>
          <a:p>
            <a:r>
              <a:rPr lang="id-ID" sz="2400" b="1" dirty="0"/>
              <a:t>                                                   1 m Volt </a:t>
            </a:r>
            <a:r>
              <a:rPr lang="id-ID" sz="2400" b="1" dirty="0">
                <a:solidFill>
                  <a:srgbClr val="FF0000"/>
                </a:solidFill>
              </a:rPr>
              <a:t>(V referensi)</a:t>
            </a:r>
          </a:p>
          <a:p>
            <a:r>
              <a:rPr lang="id-ID" sz="2400" b="1" dirty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>
                <a:solidFill>
                  <a:srgbClr val="FF0000"/>
                </a:solidFill>
              </a:rPr>
              <a:t>                                = 40 dBmV  </a:t>
            </a:r>
          </a:p>
          <a:p>
            <a:r>
              <a:rPr lang="id-ID" sz="2400" b="1" dirty="0"/>
              <a:t>                                               </a:t>
            </a: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FF0000"/>
              </a:solidFill>
            </a:endParaRPr>
          </a:p>
          <a:p>
            <a:r>
              <a:rPr lang="id-ID" sz="2400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/>
              <a:t>Untuk Arus :</a:t>
            </a:r>
          </a:p>
          <a:p>
            <a:endParaRPr lang="id-ID" sz="2400" b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>
                <a:solidFill>
                  <a:srgbClr val="0070C0"/>
                </a:solidFill>
              </a:rPr>
              <a:t> Arus I = 100  Ampere</a:t>
            </a:r>
          </a:p>
          <a:p>
            <a:r>
              <a:rPr lang="id-ID" sz="2400" b="1" dirty="0"/>
              <a:t>                                        100 Ampere</a:t>
            </a:r>
          </a:p>
          <a:p>
            <a:r>
              <a:rPr lang="id-ID" sz="2400" b="1" dirty="0"/>
              <a:t>    Level arus I= 20 log -------------------</a:t>
            </a:r>
          </a:p>
          <a:p>
            <a:r>
              <a:rPr lang="id-ID" sz="2400" b="1" dirty="0"/>
              <a:t>                                         1 Ampere </a:t>
            </a:r>
            <a:r>
              <a:rPr lang="id-ID" sz="2400" b="1" dirty="0">
                <a:solidFill>
                  <a:srgbClr val="FF0000"/>
                </a:solidFill>
              </a:rPr>
              <a:t>(I referensi)</a:t>
            </a:r>
          </a:p>
          <a:p>
            <a:endParaRPr lang="id-ID" sz="2400" b="1" dirty="0">
              <a:solidFill>
                <a:srgbClr val="FF0000"/>
              </a:solidFill>
            </a:endParaRPr>
          </a:p>
          <a:p>
            <a:r>
              <a:rPr lang="id-ID" sz="2400" b="1" dirty="0">
                <a:solidFill>
                  <a:srgbClr val="FF0000"/>
                </a:solidFill>
              </a:rPr>
              <a:t>                      = 40 dBI</a:t>
            </a:r>
          </a:p>
          <a:p>
            <a:endParaRPr lang="id-ID" sz="24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id-ID" sz="2400" b="1" dirty="0">
                <a:solidFill>
                  <a:srgbClr val="0070C0"/>
                </a:solidFill>
              </a:rPr>
              <a:t> Arus I = 100  m Ampere</a:t>
            </a:r>
          </a:p>
          <a:p>
            <a:r>
              <a:rPr lang="id-ID" sz="2400" b="1" dirty="0">
                <a:solidFill>
                  <a:srgbClr val="0070C0"/>
                </a:solidFill>
              </a:rPr>
              <a:t>                                          </a:t>
            </a:r>
            <a:r>
              <a:rPr lang="id-ID" sz="2400" b="1" dirty="0"/>
              <a:t>100 m Ampere</a:t>
            </a:r>
            <a:endParaRPr lang="id-ID" sz="2400" b="1" dirty="0">
              <a:solidFill>
                <a:srgbClr val="0070C0"/>
              </a:solidFill>
            </a:endParaRPr>
          </a:p>
          <a:p>
            <a:r>
              <a:rPr lang="id-ID" sz="2400" b="1" dirty="0"/>
              <a:t>    Level  arus I = 20 log -------------------</a:t>
            </a:r>
          </a:p>
          <a:p>
            <a:r>
              <a:rPr lang="id-ID" sz="2400" b="1" dirty="0"/>
              <a:t>                                           1 m Ampere </a:t>
            </a:r>
            <a:r>
              <a:rPr lang="id-ID" sz="2400" b="1" dirty="0">
                <a:solidFill>
                  <a:srgbClr val="FF0000"/>
                </a:solidFill>
              </a:rPr>
              <a:t>(I referensi)</a:t>
            </a:r>
          </a:p>
          <a:p>
            <a:r>
              <a:rPr lang="id-ID" sz="2400" b="1" dirty="0">
                <a:solidFill>
                  <a:srgbClr val="FF0000"/>
                </a:solidFill>
              </a:rPr>
              <a:t>            </a:t>
            </a:r>
          </a:p>
          <a:p>
            <a:r>
              <a:rPr lang="id-ID" sz="2400" b="1" dirty="0">
                <a:solidFill>
                  <a:srgbClr val="FF0000"/>
                </a:solidFill>
              </a:rPr>
              <a:t>                        = 40 dBmI  </a:t>
            </a:r>
          </a:p>
          <a:p>
            <a:r>
              <a:rPr lang="id-ID" sz="2400" b="1" dirty="0"/>
              <a:t>                                               </a:t>
            </a: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0070C0"/>
              </a:solidFill>
            </a:endParaRPr>
          </a:p>
          <a:p>
            <a:endParaRPr lang="id-ID" sz="2400" b="1" dirty="0">
              <a:solidFill>
                <a:srgbClr val="FF0000"/>
              </a:solidFill>
            </a:endParaRPr>
          </a:p>
          <a:p>
            <a:r>
              <a:rPr lang="id-ID" sz="2400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35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Penguat bertingkat :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3"/>
            <a:ext cx="6265051" cy="20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2910" y="2333685"/>
            <a:ext cx="75724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Penguatan daya total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Gt  =  G1 + G2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 =   20 dB  +  30 dB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 </a:t>
            </a:r>
            <a:r>
              <a:rPr lang="id-ID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  50 dB </a:t>
            </a:r>
            <a:r>
              <a:rPr lang="id-ID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dB)</a:t>
            </a:r>
            <a:endParaRPr lang="id-ID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 =             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 =    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id-ID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Gt = G1 x G2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=  100 x 1000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=  100.000 (kali)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=          </a:t>
            </a:r>
            <a:r>
              <a:rPr lang="id-ID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(seluruh gain dalam rasio)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                                   =  10 log         </a:t>
            </a:r>
          </a:p>
          <a:p>
            <a:r>
              <a:rPr lang="id-ID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=  50 dB </a:t>
            </a:r>
          </a:p>
          <a:p>
            <a:endParaRPr lang="id-ID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3500438"/>
            <a:ext cx="94933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4" y="3857628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4" y="571501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6072206"/>
            <a:ext cx="612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214546" y="0"/>
          <a:ext cx="4104000" cy="6143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Photo Editor Photo" r:id="rId3" imgW="2838846" imgH="4247619" progId="">
                  <p:embed/>
                </p:oleObj>
              </mc:Choice>
              <mc:Fallback>
                <p:oleObj name="Photo Editor Photo" r:id="rId3" imgW="2838846" imgH="424761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0"/>
                        <a:ext cx="4104000" cy="614363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8. Elemen Pemancar dan Penerima Radio</a:t>
            </a:r>
            <a:endParaRPr lang="id-ID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000" y="642918"/>
            <a:ext cx="8856000" cy="52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59" y="357164"/>
            <a:ext cx="8922232" cy="514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63193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Prinsip kerja setiap blok elemen adalah :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57158" y="500042"/>
            <a:ext cx="864399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Sumber sinyal informasi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sinyal informasi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menjadi sinyal elektrik, misal mikrofon, camera video,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dan lain-lain.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285720" y="2071678"/>
            <a:ext cx="864399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 dan filter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sinyal informasi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berfrekuensi rendah dan menyaring (LPF = Low Pass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Filter) sinyal-sinyal dari luar yang tidak dikehendaki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untuk membatasi bandwidth-nya.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74472" y="4071942"/>
            <a:ext cx="886952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Menghasilkan frekuensi pembawa (carrier) atau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kelipatanya.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1" y="0"/>
            <a:ext cx="914399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tegangan RF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Menguatkan tegangan sinyal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pembawa berfrekuensi tinggi output dari osilator ke level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yang diperlukan untuk diberikan ke input modulator.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0" y="1428736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Modulator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memodulasi/menumpangkan sinyal informasi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berfrekuensi rendah kedalam sinyal pembawa berfrekuensi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tinggi untuk menghasilkan sinyal termodulasi yang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berfrekuensi tinggi pula..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342900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daya RF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daya sinyal termodulasi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untuk selanjutnya diberikan ke antena pemancar.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1" y="4500570"/>
            <a:ext cx="914399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Antena</a:t>
            </a:r>
            <a:r>
              <a:rPr kumimoji="0" lang="id-ID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pemancar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energi (arus/tegangan)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elektrik menjadi sinyal gelombang elektromagnetik dengan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polarisasi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tertentu untuk dipancarkan ke udara</a:t>
            </a:r>
            <a:r>
              <a:rPr kumimoji="0" lang="id-ID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id-I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1" y="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Antena penerima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sinyal gelombang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elektromaknetik yang dipancarkan oleh pemancar menjadi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gelombang sinyal elektrik</a:t>
            </a:r>
            <a:r>
              <a:rPr kumimoji="0" lang="id-ID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id-I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1" y="1643050"/>
            <a:ext cx="914399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Penuat tegangan RF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tegangan sinyal  RF ke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level yang sesuai/cocok untuk diberikan ke input mixer,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penguat ini juga dilengkapi dengan rangkaian pre-selector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yang berfungsi untuk memilih frekuensi-frekuensi RF yang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dikehendaki dan mem-blok frekuensi-frekuensi RF lain yang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tidak dikehendaki.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0" y="4572008"/>
            <a:ext cx="900115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Osilator RF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Ditala untuk menghasilkan frekuensi RF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pembawa. 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0" y="0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Mixer :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merupakan perangkat non linear, mencampur siyal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RF output penguat tegangan dengan sinyal RF output osilator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untuk mendapatkan sinyal IF (Intermediate Frequency) yang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dikehendaki.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1785926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IF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Menguatkan daya sinyal IF ke level yang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cocok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untuk diberikan ke input detektor.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0" y="2786058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Detektor/demodulator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Mengambil kembali sinyal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informasi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yang berfrekuensi rendah dari sinyal pembawanya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yang berfrekuensi tinggi.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4214818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Penguat audio/video :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Menguatkan daya sinyal informasi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(audio, video) ke level yang cocok untuk input transducer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penerima ( loud speaker, tabung gambar , dll).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ChangeArrowheads="1"/>
          </p:cNvSpPr>
          <p:nvPr/>
        </p:nvSpPr>
        <p:spPr bwMode="auto">
          <a:xfrm>
            <a:off x="1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Transducer output :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Mengubah sinyal elektrik menjadi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sinyal</a:t>
            </a:r>
            <a:r>
              <a:rPr kumimoji="0" lang="id-ID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suara atau gambar, video, dan lain-lain.</a:t>
            </a:r>
            <a:endParaRPr kumimoji="0" 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20" y="857232"/>
            <a:ext cx="88582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400" dirty="0">
                <a:solidFill>
                  <a:srgbClr val="FF0000"/>
                </a:solidFill>
                <a:latin typeface="Brush Script MT" pitchFamily="66" charset="0"/>
              </a:rPr>
              <a:t>Cape juga ya, sekian dulu minggu depan dilanjutkan kembali</a:t>
            </a:r>
          </a:p>
          <a:p>
            <a:pPr algn="ctr"/>
            <a:r>
              <a:rPr lang="id-ID" sz="4400" dirty="0">
                <a:solidFill>
                  <a:srgbClr val="0070C0"/>
                </a:solidFill>
                <a:latin typeface="Brush Script MT" pitchFamily="66" charset="0"/>
              </a:rPr>
              <a:t>Don’t be sad, be happy</a:t>
            </a:r>
          </a:p>
        </p:txBody>
      </p:sp>
      <p:pic>
        <p:nvPicPr>
          <p:cNvPr id="60418" name="Picture 2" descr="C:\My Web Sites\My Documents\My Pictures\New Pic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2786058"/>
            <a:ext cx="4749788" cy="356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1672</TotalTime>
  <Words>2277</Words>
  <Application>Microsoft Office PowerPoint</Application>
  <PresentationFormat>On-screen Show (4:3)</PresentationFormat>
  <Paragraphs>400</Paragraphs>
  <Slides>41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Brush Script MT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Komunikasi Analog</dc:title>
  <dc:creator>-</dc:creator>
  <cp:lastModifiedBy>Megi Yanto</cp:lastModifiedBy>
  <cp:revision>59</cp:revision>
  <dcterms:created xsi:type="dcterms:W3CDTF">2012-01-20T21:59:59Z</dcterms:created>
  <dcterms:modified xsi:type="dcterms:W3CDTF">2020-11-29T08:53:32Z</dcterms:modified>
</cp:coreProperties>
</file>