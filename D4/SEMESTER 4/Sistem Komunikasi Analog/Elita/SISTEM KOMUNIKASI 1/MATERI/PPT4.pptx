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80" r:id="rId2"/>
    <p:sldId id="281" r:id="rId3"/>
    <p:sldId id="282" r:id="rId4"/>
    <p:sldId id="283" r:id="rId5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8A005-D108-401A-BE9D-F835DA2122D2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71277-D6CC-48D3-9B19-335C7DD71963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931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b="1" dirty="0"/>
              <a:t>5. Noise Figure (Faktor Derau)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034" y="857232"/>
            <a:ext cx="864396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S/N  = Perbandingan antara daya sinyal dengan daya noise</a:t>
            </a:r>
            <a:r>
              <a:rPr lang="id-ID" sz="24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id-ID" sz="2400" dirty="0"/>
              <a:t>  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Noise figure F merupakan perbandingan antara S/N di sisi input</a:t>
            </a: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    dengan S/N di sisi output dari suatu perangkat/sistem komunikasi.</a:t>
            </a:r>
          </a:p>
          <a:p>
            <a:endParaRPr lang="id-ID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250033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2214554"/>
            <a:ext cx="1143008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3000372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357554" y="2714620"/>
            <a:ext cx="107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(rasio)</a:t>
            </a:r>
          </a:p>
        </p:txBody>
      </p:sp>
      <p:pic>
        <p:nvPicPr>
          <p:cNvPr id="3994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28992" y="4143380"/>
            <a:ext cx="1000132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8992" y="5000636"/>
            <a:ext cx="107157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85786" y="4214818"/>
            <a:ext cx="2428892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500562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95640" y="4787908"/>
            <a:ext cx="1357322" cy="365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643438" y="4357694"/>
            <a:ext cx="857256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4357686" y="2500306"/>
            <a:ext cx="478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F   alat ideal, F = 1 (S/N )in =(s/N)out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2132" y="4643446"/>
            <a:ext cx="3571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 F    ideal = 0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901" y="0"/>
            <a:ext cx="9153901" cy="31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214686"/>
            <a:ext cx="6715172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5780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d-ID" sz="24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[S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 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= 10 log (S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/N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kumimoji="0" lang="id-ID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32" y="1285860"/>
            <a:ext cx="3340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F = [S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dB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-  [S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/N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571744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B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esarnya daya noise di output N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G.k.T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 + G.k.T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.Bw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             = G.k.Bw ( 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71472" y="3714752"/>
            <a:ext cx="54218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Dimana : 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temperatur absolut = 290</a:t>
            </a:r>
            <a:r>
              <a:rPr kumimoji="0" lang="id-ID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T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temperatur ekivalen 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5214950"/>
            <a:ext cx="577453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id-ID" sz="24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H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ubungan antara F dengan Te :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 = ( 1 + T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/T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    T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= ( F – 1 ) T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669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2400" dirty="0"/>
              <a:t>  Untuk penguat cascade (bertingkat),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8000" y="571480"/>
            <a:ext cx="8496000" cy="14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14554"/>
            <a:ext cx="89296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 pt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= 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x 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x.................x 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2857496"/>
            <a:ext cx="740298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pt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 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+.................+ 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         Dimana, G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G</a:t>
            </a:r>
            <a:r>
              <a:rPr kumimoji="0" lang="id-ID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4286256"/>
            <a:ext cx="9929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buFont typeface="Wingdings" pitchFamily="2" charset="2"/>
              <a:buChar char="§"/>
            </a:pPr>
            <a:r>
              <a:rPr lang="id-ID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= T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e1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e2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+ T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e3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1 .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 +......+T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/[G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.G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....G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id-ID" sz="2400" b="1" baseline="-25000" dirty="0">
                <a:latin typeface="Times New Roman" pitchFamily="18" charset="0"/>
                <a:cs typeface="Times New Roman" pitchFamily="18" charset="0"/>
              </a:rPr>
              <a:t>rasio</a:t>
            </a:r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-1571668" y="4929198"/>
            <a:ext cx="1071566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F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lang="id-ID" sz="24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F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–1)/[G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+......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id-ID" sz="2400" b="1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+(F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1)/[G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....G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24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ras.</a:t>
            </a:r>
            <a:r>
              <a:rPr kumimoji="0" 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(F</a:t>
            </a:r>
            <a:r>
              <a:rPr kumimoji="0" lang="id-ID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kumimoji="0" lang="id-ID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r>
              <a:rPr kumimoji="0" lang="id-ID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dB</a:t>
            </a:r>
            <a:r>
              <a:rPr kumimoji="0" lang="id-ID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10 log [F</a:t>
            </a:r>
            <a:r>
              <a:rPr kumimoji="0" lang="id-ID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</a:t>
            </a:r>
            <a:r>
              <a:rPr kumimoji="0" lang="id-ID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]</a:t>
            </a:r>
            <a:r>
              <a:rPr kumimoji="0" lang="id-ID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rasio</a:t>
            </a:r>
            <a:endParaRPr kumimoji="0" lang="id-ID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333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Megi Yanto</cp:lastModifiedBy>
  <cp:revision>30</cp:revision>
  <dcterms:created xsi:type="dcterms:W3CDTF">2012-02-21T13:04:46Z</dcterms:created>
  <dcterms:modified xsi:type="dcterms:W3CDTF">2020-11-29T09:39:01Z</dcterms:modified>
</cp:coreProperties>
</file>