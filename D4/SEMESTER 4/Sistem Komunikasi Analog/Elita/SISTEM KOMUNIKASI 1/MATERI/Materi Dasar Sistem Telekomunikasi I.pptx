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311" r:id="rId5"/>
    <p:sldId id="259" r:id="rId6"/>
    <p:sldId id="304" r:id="rId7"/>
    <p:sldId id="260" r:id="rId8"/>
    <p:sldId id="294" r:id="rId9"/>
    <p:sldId id="261" r:id="rId10"/>
    <p:sldId id="295" r:id="rId11"/>
    <p:sldId id="262" r:id="rId12"/>
    <p:sldId id="263" r:id="rId13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675" autoAdjust="0"/>
  </p:normalViewPr>
  <p:slideViewPr>
    <p:cSldViewPr>
      <p:cViewPr varScale="1">
        <p:scale>
          <a:sx n="46" d="100"/>
          <a:sy n="46" d="100"/>
        </p:scale>
        <p:origin x="1531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5D297-39A4-4B20-BD2E-09D31FE74DD8}" type="datetimeFigureOut">
              <a:rPr lang="id-ID" smtClean="0"/>
              <a:t>26/11/2020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A49A3-1278-467D-BACA-4BFCE7C7B6C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91938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CA49A3-1278-467D-BACA-4BFCE7C7B6C7}" type="slidenum">
              <a:rPr lang="id-ID" smtClean="0"/>
              <a:t>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36958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B9CE555-18E3-42AF-8A33-40A28D7530BD}" type="datetimeFigureOut">
              <a:rPr lang="id-ID" smtClean="0"/>
              <a:pPr/>
              <a:t>26/11/2020</a:t>
            </a:fld>
            <a:endParaRPr lang="id-ID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id-ID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E555-18E3-42AF-8A33-40A28D7530BD}" type="datetimeFigureOut">
              <a:rPr lang="id-ID" smtClean="0"/>
              <a:pPr/>
              <a:t>26/11/2020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E555-18E3-42AF-8A33-40A28D7530BD}" type="datetimeFigureOut">
              <a:rPr lang="id-ID" smtClean="0"/>
              <a:pPr/>
              <a:t>26/11/2020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E555-18E3-42AF-8A33-40A28D7530BD}" type="datetimeFigureOut">
              <a:rPr lang="id-ID" smtClean="0"/>
              <a:pPr/>
              <a:t>26/11/2020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E555-18E3-42AF-8A33-40A28D7530BD}" type="datetimeFigureOut">
              <a:rPr lang="id-ID" smtClean="0"/>
              <a:pPr/>
              <a:t>26/11/2020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E555-18E3-42AF-8A33-40A28D7530BD}" type="datetimeFigureOut">
              <a:rPr lang="id-ID" smtClean="0"/>
              <a:pPr/>
              <a:t>26/11/2020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E555-18E3-42AF-8A33-40A28D7530BD}" type="datetimeFigureOut">
              <a:rPr lang="id-ID" smtClean="0"/>
              <a:pPr/>
              <a:t>26/11/2020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FB9CE555-18E3-42AF-8A33-40A28D7530BD}" type="datetimeFigureOut">
              <a:rPr lang="id-ID" smtClean="0"/>
              <a:pPr/>
              <a:t>26/11/2020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B9CE555-18E3-42AF-8A33-40A28D7530BD}" type="datetimeFigureOut">
              <a:rPr lang="id-ID" smtClean="0"/>
              <a:pPr/>
              <a:t>26/11/2020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E555-18E3-42AF-8A33-40A28D7530BD}" type="datetimeFigureOut">
              <a:rPr lang="id-ID" smtClean="0"/>
              <a:pPr/>
              <a:t>26/11/2020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E555-18E3-42AF-8A33-40A28D7530BD}" type="datetimeFigureOut">
              <a:rPr lang="id-ID" smtClean="0"/>
              <a:pPr/>
              <a:t>26/11/2020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B9CE555-18E3-42AF-8A33-40A28D7530BD}" type="datetimeFigureOut">
              <a:rPr lang="id-ID" smtClean="0"/>
              <a:pPr/>
              <a:t>26/11/2020</a:t>
            </a:fld>
            <a:endParaRPr lang="id-ID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id-ID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sz="4400" b="1" dirty="0"/>
              <a:t>Materi :</a:t>
            </a:r>
          </a:p>
          <a:p>
            <a:pPr>
              <a:buNone/>
            </a:pPr>
            <a:r>
              <a:rPr lang="id-ID" dirty="0"/>
              <a:t>         </a:t>
            </a:r>
            <a:r>
              <a:rPr lang="id-ID" sz="3600" dirty="0"/>
              <a:t>1. Pendahuluan</a:t>
            </a:r>
          </a:p>
          <a:p>
            <a:pPr>
              <a:buNone/>
            </a:pPr>
            <a:r>
              <a:rPr lang="id-ID" sz="3600" dirty="0"/>
              <a:t>       2. Sinyal dan Noise</a:t>
            </a:r>
          </a:p>
          <a:p>
            <a:pPr>
              <a:buNone/>
            </a:pPr>
            <a:r>
              <a:rPr lang="id-ID" sz="3600" dirty="0"/>
              <a:t>       3. Modulasi Amplitudo (AM)</a:t>
            </a:r>
          </a:p>
          <a:p>
            <a:pPr>
              <a:buNone/>
            </a:pPr>
            <a:r>
              <a:rPr lang="id-ID" sz="3600" dirty="0"/>
              <a:t>       4. Modulasi Frekuensi  (FM)</a:t>
            </a:r>
          </a:p>
          <a:p>
            <a:pPr>
              <a:buNone/>
            </a:pPr>
            <a:r>
              <a:rPr lang="id-ID" sz="3600" dirty="0"/>
              <a:t>       5. Multiplexing Analog</a:t>
            </a:r>
          </a:p>
          <a:p>
            <a:pPr>
              <a:buNone/>
            </a:pPr>
            <a:r>
              <a:rPr lang="id-ID" sz="3600"/>
              <a:t>       </a:t>
            </a:r>
            <a:endParaRPr lang="id-ID" sz="3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4800" dirty="0"/>
              <a:t>Sistem Komunikasi Analog</a:t>
            </a:r>
          </a:p>
        </p:txBody>
      </p:sp>
    </p:spTree>
  </p:cSld>
  <p:clrMapOvr>
    <a:masterClrMapping/>
  </p:clrMapOvr>
  <p:transition>
    <p:cut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id-ID" sz="7600" dirty="0"/>
              <a:t>1.    Freeman,  Roger L., Telecommunications Transmission Hand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id-ID" sz="7600" dirty="0"/>
              <a:t>       Book, 2004, John Wiley &amp; Sons, edisi keempat.</a:t>
            </a:r>
          </a:p>
          <a:p>
            <a:pPr>
              <a:buNone/>
            </a:pPr>
            <a:r>
              <a:rPr lang="id-ID" sz="7600" dirty="0"/>
              <a:t>2.    Freeman, Roger L.,  Telecommunication System Engineering,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id-ID" sz="7600" dirty="0"/>
              <a:t>       2004, John Wiley &amp; Sons,  edisi  keempat.</a:t>
            </a:r>
          </a:p>
          <a:p>
            <a:pPr>
              <a:buNone/>
            </a:pPr>
            <a:r>
              <a:rPr lang="id-ID" sz="7600" dirty="0"/>
              <a:t>3.    Miller,  Garry M.,  Hand Book of  Electronics Communication, </a:t>
            </a:r>
          </a:p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lang="id-ID" sz="7600" dirty="0"/>
              <a:t>       1979,  Pritice Hall, News Jersey.</a:t>
            </a:r>
          </a:p>
          <a:p>
            <a:pPr>
              <a:buNone/>
            </a:pPr>
            <a:r>
              <a:rPr lang="id-ID" sz="7600" dirty="0"/>
              <a:t>4.    Couch,  Leon,  W.,  Digital  and  Analog  Communications  </a:t>
            </a:r>
          </a:p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lang="id-ID" sz="7600" dirty="0"/>
              <a:t>       System,  1993,  Mac  Millan,  Newyork.</a:t>
            </a:r>
          </a:p>
          <a:p>
            <a:pPr>
              <a:buNone/>
            </a:pPr>
            <a:r>
              <a:rPr lang="id-ID" sz="7600" dirty="0"/>
              <a:t>5.    Shanmugan, Sam,  K., Digital and Analog Communications </a:t>
            </a:r>
          </a:p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lang="id-ID" sz="7600" dirty="0"/>
              <a:t>       System,  Jhon  Wiley &amp; Son. </a:t>
            </a:r>
          </a:p>
          <a:p>
            <a:pPr>
              <a:buNone/>
            </a:pPr>
            <a:r>
              <a:rPr lang="id-ID" sz="7600" dirty="0"/>
              <a:t>6.    Taub, Shilling, Principle  of  Communications  System, </a:t>
            </a:r>
          </a:p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lang="id-ID" sz="7600" dirty="0"/>
              <a:t>       MacGraw-Hill  International ed.</a:t>
            </a:r>
          </a:p>
          <a:p>
            <a:pPr>
              <a:buNone/>
            </a:pPr>
            <a:r>
              <a:rPr lang="id-ID" sz="7600" dirty="0"/>
              <a:t>7.    Slameta, Sistem komunikasi Analog, 2011, Polban, Bandung.</a:t>
            </a:r>
          </a:p>
          <a:p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dirty="0"/>
              <a:t>Referensi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5805264"/>
          </a:xfrm>
        </p:spPr>
        <p:txBody>
          <a:bodyPr>
            <a:normAutofit fontScale="32500" lnSpcReduction="20000"/>
          </a:bodyPr>
          <a:lstStyle/>
          <a:p>
            <a:pPr marL="109728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id-ID" sz="9800" b="1" dirty="0">
                <a:latin typeface="Times New Roman" pitchFamily="18" charset="0"/>
                <a:cs typeface="Times New Roman" pitchFamily="18" charset="0"/>
              </a:rPr>
              <a:t>1. Pendahuluan </a:t>
            </a:r>
            <a:r>
              <a:rPr lang="id-ID" sz="9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>
              <a:spcBef>
                <a:spcPts val="0"/>
              </a:spcBef>
              <a:buNone/>
            </a:pPr>
            <a:r>
              <a:rPr lang="id-ID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id-ID" sz="8600" b="1" dirty="0">
                <a:latin typeface="Times New Roman" pitchFamily="18" charset="0"/>
                <a:cs typeface="Times New Roman" pitchFamily="18" charset="0"/>
              </a:rPr>
              <a:t>Sistem = </a:t>
            </a:r>
            <a:r>
              <a:rPr lang="id-ID" sz="8600" dirty="0">
                <a:latin typeface="Times New Roman" pitchFamily="18" charset="0"/>
                <a:cs typeface="Times New Roman" pitchFamily="18" charset="0"/>
              </a:rPr>
              <a:t>Kumpulan beberapa elemen yang  dikelompokan</a:t>
            </a:r>
          </a:p>
          <a:p>
            <a:pPr algn="just">
              <a:spcBef>
                <a:spcPts val="0"/>
              </a:spcBef>
              <a:buNone/>
            </a:pPr>
            <a:r>
              <a:rPr lang="id-ID" sz="8600" dirty="0">
                <a:latin typeface="Times New Roman" pitchFamily="18" charset="0"/>
                <a:cs typeface="Times New Roman" pitchFamily="18" charset="0"/>
              </a:rPr>
              <a:t>                 dalam suatu kesatuan untuk  mencapai tujuan</a:t>
            </a:r>
          </a:p>
          <a:p>
            <a:pPr algn="just">
              <a:spcBef>
                <a:spcPts val="0"/>
              </a:spcBef>
              <a:spcAft>
                <a:spcPts val="900"/>
              </a:spcAft>
              <a:buNone/>
            </a:pPr>
            <a:r>
              <a:rPr lang="id-ID" sz="8600" dirty="0">
                <a:latin typeface="Times New Roman" pitchFamily="18" charset="0"/>
                <a:cs typeface="Times New Roman" pitchFamily="18" charset="0"/>
              </a:rPr>
              <a:t>                 tertentu. </a:t>
            </a:r>
          </a:p>
          <a:p>
            <a:pPr marL="0" lvl="0" indent="0" fontAlgn="base">
              <a:spcBef>
                <a:spcPct val="20000"/>
              </a:spcBef>
              <a:spcAft>
                <a:spcPct val="0"/>
              </a:spcAft>
              <a:buClrTx/>
              <a:buSzTx/>
              <a:buNone/>
            </a:pPr>
            <a:r>
              <a:rPr lang="id-ID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8600" b="1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Sistem</a:t>
            </a:r>
            <a:r>
              <a:rPr lang="en-US" sz="8600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abungan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fungsi-fungsi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saling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bekerja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sama</a:t>
            </a:r>
            <a:endParaRPr lang="id-ID" sz="8600" kern="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fontAlgn="base">
              <a:spcBef>
                <a:spcPct val="20000"/>
              </a:spcBef>
              <a:spcAft>
                <a:spcPct val="0"/>
              </a:spcAft>
              <a:buClrTx/>
              <a:buSzTx/>
              <a:buNone/>
            </a:pPr>
            <a:r>
              <a:rPr lang="id-ID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      </a:t>
            </a:r>
            <a:r>
              <a:rPr lang="en-US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membentuk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suatu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proses </a:t>
            </a:r>
            <a:r>
              <a:rPr lang="en-US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dari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awal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sampai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akhir</a:t>
            </a:r>
            <a:r>
              <a:rPr lang="id-ID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8600" kern="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  <a:spcAft>
                <a:spcPts val="900"/>
              </a:spcAft>
              <a:buNone/>
            </a:pPr>
            <a:endParaRPr lang="id-ID" sz="86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id-ID" sz="8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8600" b="1" dirty="0">
                <a:latin typeface="Times New Roman" pitchFamily="18" charset="0"/>
                <a:cs typeface="Times New Roman" pitchFamily="18" charset="0"/>
              </a:rPr>
              <a:t>Komunikasi =</a:t>
            </a:r>
            <a:r>
              <a:rPr lang="id-ID" sz="8600" dirty="0">
                <a:latin typeface="Times New Roman" pitchFamily="18" charset="0"/>
                <a:cs typeface="Times New Roman" pitchFamily="18" charset="0"/>
              </a:rPr>
              <a:t> Penyampaian atau penyaluran informasi dari</a:t>
            </a:r>
          </a:p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lang="id-ID" sz="8600" dirty="0">
                <a:latin typeface="Times New Roman" pitchFamily="18" charset="0"/>
                <a:cs typeface="Times New Roman" pitchFamily="18" charset="0"/>
              </a:rPr>
              <a:t>                          suatu tempat ke tempat lain. </a:t>
            </a:r>
          </a:p>
          <a:p>
            <a:pPr marL="0" lvl="0" indent="0" fontAlgn="base">
              <a:spcBef>
                <a:spcPct val="20000"/>
              </a:spcBef>
              <a:spcAft>
                <a:spcPct val="0"/>
              </a:spcAft>
              <a:buClrTx/>
              <a:buSzTx/>
              <a:buNone/>
            </a:pPr>
            <a:r>
              <a:rPr lang="id-ID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8600" b="1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Komunikasi</a:t>
            </a:r>
            <a:r>
              <a:rPr lang="en-US" sz="8600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ertukaran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informasi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/data (d</a:t>
            </a:r>
            <a:r>
              <a:rPr lang="id-ID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en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id-ID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aturan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&amp;</a:t>
            </a:r>
            <a:endParaRPr lang="id-ID" sz="8600" kern="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fontAlgn="base">
              <a:spcBef>
                <a:spcPct val="20000"/>
              </a:spcBef>
              <a:spcAft>
                <a:spcPct val="0"/>
              </a:spcAft>
              <a:buClrTx/>
              <a:buSzTx/>
              <a:buNone/>
            </a:pPr>
            <a:r>
              <a:rPr lang="id-ID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              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bahasa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yg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telah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disepakati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antara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dua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tempat </a:t>
            </a:r>
          </a:p>
          <a:p>
            <a:pPr marL="0" lvl="0" indent="0" fontAlgn="base">
              <a:spcBef>
                <a:spcPct val="20000"/>
              </a:spcBef>
              <a:spcAft>
                <a:spcPct val="0"/>
              </a:spcAft>
              <a:buClrTx/>
              <a:buSzTx/>
              <a:buNone/>
            </a:pPr>
            <a:r>
              <a:rPr lang="id-ID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               </a:t>
            </a:r>
            <a:r>
              <a:rPr lang="en-US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atau</a:t>
            </a:r>
            <a:r>
              <a:rPr lang="en-US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8600" kern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lebih</a:t>
            </a:r>
            <a:r>
              <a:rPr lang="id-ID" sz="86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8600" kern="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  <a:spcAft>
                <a:spcPts val="900"/>
              </a:spcAft>
              <a:buNone/>
            </a:pPr>
            <a:endParaRPr lang="id-ID" sz="86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  <a:buNone/>
            </a:pPr>
            <a:r>
              <a:rPr lang="id-ID" sz="2400" dirty="0"/>
              <a:t>  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1520" y="0"/>
            <a:ext cx="8686800" cy="1143000"/>
          </a:xfrm>
        </p:spPr>
        <p:txBody>
          <a:bodyPr>
            <a:noAutofit/>
          </a:bodyPr>
          <a:lstStyle/>
          <a:p>
            <a:pPr algn="ctr"/>
            <a:r>
              <a:rPr lang="id-ID" sz="4800" dirty="0">
                <a:latin typeface="Times New Roman" pitchFamily="18" charset="0"/>
                <a:cs typeface="Times New Roman" pitchFamily="18" charset="0"/>
              </a:rPr>
              <a:t>Bab 1 Sistem Komunikasi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20888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760" lvl="0" indent="-256032" algn="just">
              <a:buClr>
                <a:srgbClr val="2DA2BF"/>
              </a:buClr>
              <a:buSzPct val="68000"/>
            </a:pPr>
            <a:r>
              <a:rPr lang="id-ID" sz="2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Sistem Komunikasi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= Suatu jaringan transportasi informasi</a:t>
            </a:r>
          </a:p>
          <a:p>
            <a:pPr marL="365760" lvl="0" indent="-256032" algn="just">
              <a:buClr>
                <a:srgbClr val="2DA2BF"/>
              </a:buClr>
              <a:buSzPct val="68000"/>
            </a:pP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            dari suatu sumber (</a:t>
            </a:r>
            <a:r>
              <a:rPr lang="id-ID" sz="2800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source)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ke satu atau</a:t>
            </a:r>
          </a:p>
          <a:p>
            <a:pPr marL="365760" lvl="0" indent="-256032" algn="just">
              <a:buClr>
                <a:srgbClr val="2DA2BF"/>
              </a:buClr>
              <a:buSzPct val="68000"/>
            </a:pP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            beberapa tujuan (</a:t>
            </a:r>
            <a:r>
              <a:rPr lang="id-ID" sz="2800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sink)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dengan melalui</a:t>
            </a:r>
          </a:p>
          <a:p>
            <a:pPr marL="365760" lvl="0" indent="-256032" algn="just">
              <a:buClr>
                <a:srgbClr val="2DA2BF"/>
              </a:buClr>
              <a:buSzPct val="68000"/>
            </a:pP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            satu atau lebih media transmisi.</a:t>
            </a:r>
          </a:p>
          <a:p>
            <a:pPr marL="365760" lvl="0" indent="-256032" algn="just">
              <a:buClr>
                <a:srgbClr val="2DA2BF"/>
              </a:buClr>
              <a:buSzPct val="68000"/>
            </a:pP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Sumber=pengirim=</a:t>
            </a:r>
            <a:r>
              <a:rPr lang="id-ID" sz="2800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transmitter, </a:t>
            </a:r>
          </a:p>
          <a:p>
            <a:pPr marL="365760" lvl="0" indent="-256032" algn="just">
              <a:buClr>
                <a:srgbClr val="2DA2BF"/>
              </a:buClr>
              <a:buSzPct val="68000"/>
            </a:pPr>
            <a:r>
              <a:rPr lang="id-ID" sz="2800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id-ID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tujuan=penerima =</a:t>
            </a:r>
            <a:r>
              <a:rPr lang="id-ID" sz="2800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reciever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-85235"/>
            <a:ext cx="6858000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5100" b="1" dirty="0">
                <a:solidFill>
                  <a:prstClr val="black"/>
                </a:solidFill>
                <a:latin typeface="Arial Black" pitchFamily="34" charset="0"/>
              </a:rPr>
              <a:t>Pendahuluan </a:t>
            </a:r>
            <a:r>
              <a:rPr lang="id-ID" sz="5100" dirty="0">
                <a:solidFill>
                  <a:prstClr val="black"/>
                </a:solidFill>
                <a:latin typeface="Arial Black" pitchFamily="34" charset="0"/>
              </a:rPr>
              <a:t>:</a:t>
            </a:r>
            <a:endParaRPr lang="id-ID" dirty="0"/>
          </a:p>
        </p:txBody>
      </p:sp>
      <p:sp>
        <p:nvSpPr>
          <p:cNvPr id="4" name="Text Box 14"/>
          <p:cNvSpPr txBox="1">
            <a:spLocks noChangeArrowheads="1"/>
          </p:cNvSpPr>
          <p:nvPr/>
        </p:nvSpPr>
        <p:spPr bwMode="auto">
          <a:xfrm>
            <a:off x="323095" y="1217439"/>
            <a:ext cx="127951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Tempat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400" b="1" kern="0" dirty="0">
                <a:solidFill>
                  <a:srgbClr val="000000"/>
                </a:solidFill>
              </a:rPr>
              <a:t>A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691680" y="1176314"/>
            <a:ext cx="4572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 flipH="1">
            <a:off x="1691680" y="1623348"/>
            <a:ext cx="4495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3472659" y="714649"/>
            <a:ext cx="1569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</a:rPr>
              <a:t>Informasi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</a:endParaRPr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6588224" y="983987"/>
            <a:ext cx="127951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Tempat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400" b="1" kern="0" noProof="0" dirty="0">
                <a:solidFill>
                  <a:srgbClr val="000000"/>
                </a:solidFill>
              </a:rPr>
              <a:t>B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3622498" y="1632938"/>
            <a:ext cx="1569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</a:rPr>
              <a:t>Informasi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001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4348" y="500042"/>
            <a:ext cx="842965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d-ID" sz="2000" b="1" dirty="0"/>
              <a:t>Telekomunikasi  </a:t>
            </a:r>
            <a:r>
              <a:rPr lang="id-ID" b="1" dirty="0"/>
              <a:t>: </a:t>
            </a:r>
            <a:r>
              <a:rPr lang="id-ID" dirty="0"/>
              <a:t>merupakan komunikasi jarak jauh yang memerlukan</a:t>
            </a:r>
          </a:p>
          <a:p>
            <a:pPr algn="just"/>
            <a:r>
              <a:rPr lang="id-ID" dirty="0"/>
              <a:t>                               alat-alat bantu tertentu. </a:t>
            </a:r>
          </a:p>
          <a:p>
            <a:pPr algn="just"/>
            <a:endParaRPr lang="id-ID" dirty="0"/>
          </a:p>
          <a:p>
            <a:pPr algn="just"/>
            <a:endParaRPr lang="id-ID" dirty="0"/>
          </a:p>
          <a:p>
            <a:pPr algn="just"/>
            <a:endParaRPr lang="id-ID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1500174"/>
            <a:ext cx="6372000" cy="4980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88A4234-1F17-4F18-83E4-E1F1262DB832}" type="slidenum">
              <a:rPr lang="en-US"/>
              <a:pPr/>
              <a:t>6</a:t>
            </a:fld>
            <a:endParaRPr lang="en-US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54013"/>
            <a:ext cx="8001000" cy="56673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nb-NO" sz="4000" b="1" i="1" dirty="0">
                <a:latin typeface="Verdana" pitchFamily="34" charset="0"/>
              </a:rPr>
              <a:t>Dasar</a:t>
            </a:r>
            <a:r>
              <a:rPr lang="en-US" sz="4000" b="1" i="1" dirty="0">
                <a:latin typeface="Verdana" pitchFamily="34" charset="0"/>
              </a:rPr>
              <a:t> S</a:t>
            </a:r>
            <a:r>
              <a:rPr lang="nb-NO" sz="4000" b="1" i="1" dirty="0">
                <a:latin typeface="Verdana" pitchFamily="34" charset="0"/>
              </a:rPr>
              <a:t>i</a:t>
            </a:r>
            <a:r>
              <a:rPr lang="en-US" sz="4000" b="1" i="1" dirty="0">
                <a:latin typeface="Verdana" pitchFamily="34" charset="0"/>
              </a:rPr>
              <a:t>stem </a:t>
            </a:r>
            <a:r>
              <a:rPr lang="nb-NO" sz="4000" b="1" i="1" dirty="0">
                <a:latin typeface="Verdana" pitchFamily="34" charset="0"/>
              </a:rPr>
              <a:t>K</a:t>
            </a:r>
            <a:r>
              <a:rPr lang="en-US" sz="4000" b="1" i="1" dirty="0" err="1">
                <a:latin typeface="Verdana" pitchFamily="34" charset="0"/>
              </a:rPr>
              <a:t>omuni</a:t>
            </a:r>
            <a:r>
              <a:rPr lang="nb-NO" sz="4000" b="1" i="1" dirty="0">
                <a:latin typeface="Verdana" pitchFamily="34" charset="0"/>
              </a:rPr>
              <a:t>kasi</a:t>
            </a:r>
            <a:endParaRPr lang="en-US" sz="4000" b="1" i="1" dirty="0">
              <a:latin typeface="Verdana" pitchFamily="34" charset="0"/>
            </a:endParaRP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914400" y="2057400"/>
            <a:ext cx="7467600" cy="1371600"/>
            <a:chOff x="432" y="1728"/>
            <a:chExt cx="4704" cy="864"/>
          </a:xfrm>
        </p:grpSpPr>
        <p:sp>
          <p:nvSpPr>
            <p:cNvPr id="9227" name="Rectangle 8"/>
            <p:cNvSpPr>
              <a:spLocks noChangeArrowheads="1"/>
            </p:cNvSpPr>
            <p:nvPr/>
          </p:nvSpPr>
          <p:spPr bwMode="auto">
            <a:xfrm>
              <a:off x="3936" y="1728"/>
              <a:ext cx="1200" cy="864"/>
            </a:xfrm>
            <a:prstGeom prst="rect">
              <a:avLst/>
            </a:prstGeom>
            <a:gradFill rotWithShape="0">
              <a:gsLst>
                <a:gs pos="0">
                  <a:srgbClr val="47182F"/>
                </a:gs>
                <a:gs pos="100000">
                  <a:srgbClr val="993366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prstShdw prst="shdw17" dist="132592" dir="4398045">
                <a:srgbClr val="777777"/>
              </a:prstShdw>
            </a:effectLst>
          </p:spPr>
          <p:txBody>
            <a:bodyPr wrap="none" anchor="ctr"/>
            <a:lstStyle/>
            <a:p>
              <a:pPr algn="ctr"/>
              <a:r>
                <a:rPr lang="nb-NO" sz="2400" dirty="0">
                  <a:solidFill>
                    <a:schemeClr val="bg1"/>
                  </a:solidFill>
                </a:rPr>
                <a:t>Penerima </a:t>
              </a:r>
            </a:p>
            <a:p>
              <a:pPr algn="ctr"/>
              <a:r>
                <a:rPr lang="id-ID" sz="2400" dirty="0">
                  <a:solidFill>
                    <a:schemeClr val="bg1"/>
                  </a:solidFill>
                </a:rPr>
                <a:t>(</a:t>
              </a:r>
              <a:r>
                <a:rPr lang="nb-NO" sz="2400" dirty="0">
                  <a:solidFill>
                    <a:schemeClr val="bg1"/>
                  </a:solidFill>
                </a:rPr>
                <a:t>Receiver</a:t>
              </a:r>
              <a:r>
                <a:rPr lang="id-ID" sz="2400" dirty="0">
                  <a:solidFill>
                    <a:schemeClr val="bg1"/>
                  </a:solidFill>
                </a:rPr>
                <a:t>)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9228" name="Rectangle 6"/>
            <p:cNvSpPr>
              <a:spLocks noChangeArrowheads="1"/>
            </p:cNvSpPr>
            <p:nvPr/>
          </p:nvSpPr>
          <p:spPr bwMode="auto">
            <a:xfrm>
              <a:off x="1584" y="1920"/>
              <a:ext cx="2352" cy="432"/>
            </a:xfrm>
            <a:prstGeom prst="rect">
              <a:avLst/>
            </a:prstGeom>
            <a:gradFill rotWithShape="0">
              <a:gsLst>
                <a:gs pos="0">
                  <a:srgbClr val="184776"/>
                </a:gs>
                <a:gs pos="50000">
                  <a:srgbClr val="3399FF"/>
                </a:gs>
                <a:gs pos="100000">
                  <a:srgbClr val="184776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prstShdw prst="shdw17" dist="115003" dir="5780412">
                <a:srgbClr val="777777"/>
              </a:prstShdw>
            </a:effectLst>
          </p:spPr>
          <p:txBody>
            <a:bodyPr wrap="none" anchor="ctr"/>
            <a:lstStyle/>
            <a:p>
              <a:pPr algn="ctr"/>
              <a:r>
                <a:rPr lang="nb-NO" sz="2400" dirty="0">
                  <a:solidFill>
                    <a:schemeClr val="bg1"/>
                  </a:solidFill>
                </a:rPr>
                <a:t>Kanal </a:t>
              </a:r>
              <a:r>
                <a:rPr lang="en-US" sz="2400" dirty="0" err="1">
                  <a:solidFill>
                    <a:schemeClr val="bg1"/>
                  </a:solidFill>
                </a:rPr>
                <a:t>Transmis</a:t>
              </a:r>
              <a:r>
                <a:rPr lang="nb-NO" sz="2400" dirty="0">
                  <a:solidFill>
                    <a:schemeClr val="bg1"/>
                  </a:solidFill>
                </a:rPr>
                <a:t>i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9229" name="Rectangle 5"/>
            <p:cNvSpPr>
              <a:spLocks noChangeArrowheads="1"/>
            </p:cNvSpPr>
            <p:nvPr/>
          </p:nvSpPr>
          <p:spPr bwMode="auto">
            <a:xfrm>
              <a:off x="432" y="1728"/>
              <a:ext cx="1200" cy="864"/>
            </a:xfrm>
            <a:prstGeom prst="rect">
              <a:avLst/>
            </a:prstGeom>
            <a:gradFill rotWithShape="0">
              <a:gsLst>
                <a:gs pos="0">
                  <a:srgbClr val="47182F"/>
                </a:gs>
                <a:gs pos="100000">
                  <a:srgbClr val="993366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prstShdw prst="shdw17" dist="117088" dir="4648272">
                <a:srgbClr val="777777"/>
              </a:prstShdw>
            </a:effectLst>
          </p:spPr>
          <p:txBody>
            <a:bodyPr wrap="none" anchor="ctr"/>
            <a:lstStyle/>
            <a:p>
              <a:pPr algn="ctr"/>
              <a:r>
                <a:rPr lang="nb-NO" sz="2400" dirty="0">
                  <a:solidFill>
                    <a:schemeClr val="bg1"/>
                  </a:solidFill>
                </a:rPr>
                <a:t>Pengirim </a:t>
              </a:r>
            </a:p>
            <a:p>
              <a:pPr algn="ctr"/>
              <a:r>
                <a:rPr lang="id-ID" sz="2400" dirty="0">
                  <a:solidFill>
                    <a:schemeClr val="bg1"/>
                  </a:solidFill>
                </a:rPr>
                <a:t>(</a:t>
              </a:r>
              <a:r>
                <a:rPr lang="nb-NO" sz="2400" dirty="0">
                  <a:solidFill>
                    <a:schemeClr val="bg1"/>
                  </a:solidFill>
                </a:rPr>
                <a:t>Transmitter</a:t>
              </a:r>
              <a:r>
                <a:rPr lang="id-ID" sz="2400" dirty="0">
                  <a:solidFill>
                    <a:schemeClr val="bg1"/>
                  </a:solidFill>
                </a:rPr>
                <a:t>)</a:t>
              </a:r>
              <a:endParaRPr lang="en-US" sz="2400" dirty="0"/>
            </a:p>
          </p:txBody>
        </p:sp>
      </p:grpSp>
      <p:sp>
        <p:nvSpPr>
          <p:cNvPr id="9221" name="Text Box 14"/>
          <p:cNvSpPr txBox="1">
            <a:spLocks noChangeArrowheads="1"/>
          </p:cNvSpPr>
          <p:nvPr/>
        </p:nvSpPr>
        <p:spPr bwMode="auto">
          <a:xfrm>
            <a:off x="381000" y="4419600"/>
            <a:ext cx="282575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Input Transducer</a:t>
            </a:r>
          </a:p>
          <a:p>
            <a:r>
              <a:rPr lang="en-US" sz="2400" dirty="0"/>
              <a:t>Encoder</a:t>
            </a:r>
          </a:p>
          <a:p>
            <a:r>
              <a:rPr lang="en-US" sz="2400" dirty="0"/>
              <a:t>Modulator</a:t>
            </a:r>
          </a:p>
          <a:p>
            <a:r>
              <a:rPr lang="en-US" sz="2400" dirty="0"/>
              <a:t>Amplifier</a:t>
            </a:r>
          </a:p>
        </p:txBody>
      </p:sp>
      <p:sp>
        <p:nvSpPr>
          <p:cNvPr id="9222" name="Text Box 16"/>
          <p:cNvSpPr txBox="1">
            <a:spLocks noChangeArrowheads="1"/>
          </p:cNvSpPr>
          <p:nvPr/>
        </p:nvSpPr>
        <p:spPr bwMode="auto">
          <a:xfrm>
            <a:off x="3429000" y="4419600"/>
            <a:ext cx="2620963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b-NO" sz="2400" dirty="0"/>
              <a:t>Udara,antariksa</a:t>
            </a:r>
            <a:endParaRPr lang="en-US" sz="2400" dirty="0"/>
          </a:p>
          <a:p>
            <a:r>
              <a:rPr lang="nb-NO" sz="2400" dirty="0"/>
              <a:t>Kabel kawat</a:t>
            </a:r>
            <a:endParaRPr lang="en-US" sz="2400" dirty="0"/>
          </a:p>
          <a:p>
            <a:r>
              <a:rPr lang="en-US" sz="2400" dirty="0"/>
              <a:t>Fiber</a:t>
            </a:r>
            <a:r>
              <a:rPr lang="nb-NO" sz="2400" dirty="0"/>
              <a:t> optik</a:t>
            </a:r>
            <a:endParaRPr lang="en-US" sz="2400" dirty="0"/>
          </a:p>
        </p:txBody>
      </p:sp>
      <p:sp>
        <p:nvSpPr>
          <p:cNvPr id="9223" name="Text Box 17"/>
          <p:cNvSpPr txBox="1">
            <a:spLocks noChangeArrowheads="1"/>
          </p:cNvSpPr>
          <p:nvPr/>
        </p:nvSpPr>
        <p:spPr bwMode="auto">
          <a:xfrm>
            <a:off x="6086475" y="4419600"/>
            <a:ext cx="30575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Output Transducer</a:t>
            </a:r>
          </a:p>
          <a:p>
            <a:r>
              <a:rPr lang="en-US" sz="2400" dirty="0"/>
              <a:t>Decoder</a:t>
            </a:r>
          </a:p>
          <a:p>
            <a:r>
              <a:rPr lang="en-US" sz="2400" dirty="0"/>
              <a:t>Demodulator</a:t>
            </a:r>
          </a:p>
          <a:p>
            <a:r>
              <a:rPr lang="en-US" sz="2400" dirty="0"/>
              <a:t>Amplifier</a:t>
            </a:r>
          </a:p>
        </p:txBody>
      </p:sp>
      <p:sp>
        <p:nvSpPr>
          <p:cNvPr id="53266" name="Line 18"/>
          <p:cNvSpPr>
            <a:spLocks noChangeShapeType="1"/>
          </p:cNvSpPr>
          <p:nvPr/>
        </p:nvSpPr>
        <p:spPr bwMode="auto">
          <a:xfrm flipV="1">
            <a:off x="1066800" y="3810000"/>
            <a:ext cx="381000" cy="533400"/>
          </a:xfrm>
          <a:prstGeom prst="line">
            <a:avLst/>
          </a:prstGeom>
          <a:noFill/>
          <a:ln w="76200">
            <a:solidFill>
              <a:srgbClr val="993366"/>
            </a:solidFill>
            <a:round/>
            <a:headEnd/>
            <a:tailEnd type="triangl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id-ID"/>
          </a:p>
        </p:txBody>
      </p:sp>
      <p:sp>
        <p:nvSpPr>
          <p:cNvPr id="53267" name="Line 19"/>
          <p:cNvSpPr>
            <a:spLocks noChangeShapeType="1"/>
          </p:cNvSpPr>
          <p:nvPr/>
        </p:nvSpPr>
        <p:spPr bwMode="auto">
          <a:xfrm rot="16908938" flipV="1">
            <a:off x="7391400" y="3733800"/>
            <a:ext cx="381000" cy="533400"/>
          </a:xfrm>
          <a:prstGeom prst="line">
            <a:avLst/>
          </a:prstGeom>
          <a:noFill/>
          <a:ln w="76200">
            <a:solidFill>
              <a:srgbClr val="993366"/>
            </a:solidFill>
            <a:round/>
            <a:headEnd/>
            <a:tailEnd type="triangle" w="med" len="med"/>
          </a:ln>
          <a:effectLst>
            <a:outerShdw dist="107763" dir="81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id-ID"/>
          </a:p>
        </p:txBody>
      </p:sp>
      <p:sp>
        <p:nvSpPr>
          <p:cNvPr id="53268" name="Line 20"/>
          <p:cNvSpPr>
            <a:spLocks noChangeShapeType="1"/>
          </p:cNvSpPr>
          <p:nvPr/>
        </p:nvSpPr>
        <p:spPr bwMode="auto">
          <a:xfrm rot="20533859" flipV="1">
            <a:off x="3962400" y="3429000"/>
            <a:ext cx="685800" cy="838200"/>
          </a:xfrm>
          <a:prstGeom prst="line">
            <a:avLst/>
          </a:prstGeom>
          <a:noFill/>
          <a:ln w="76200">
            <a:solidFill>
              <a:srgbClr val="333399"/>
            </a:solidFill>
            <a:round/>
            <a:headEnd/>
            <a:tailEnd type="triangle" w="med" len="med"/>
          </a:ln>
          <a:effectLst>
            <a:outerShdw dist="148106" dir="1857825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id-ID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2844" y="357166"/>
            <a:ext cx="9001156" cy="5086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d-ID" sz="2000" b="1" dirty="0"/>
              <a:t>Transducer</a:t>
            </a:r>
            <a:r>
              <a:rPr lang="id-ID" sz="2000" dirty="0"/>
              <a:t> </a:t>
            </a:r>
            <a:r>
              <a:rPr lang="id-ID" dirty="0"/>
              <a:t>: suatu perangkat yang digunakan untuk mengkonversi informasi</a:t>
            </a:r>
          </a:p>
          <a:p>
            <a:pPr algn="just">
              <a:spcAft>
                <a:spcPts val="600"/>
              </a:spcAft>
            </a:pPr>
            <a:r>
              <a:rPr lang="id-ID" dirty="0"/>
              <a:t>                    ke bentuk sinyal elektrik atau sebaliknya.</a:t>
            </a:r>
          </a:p>
          <a:p>
            <a:pPr algn="just"/>
            <a:r>
              <a:rPr lang="id-ID" dirty="0"/>
              <a:t>                    </a:t>
            </a:r>
            <a:r>
              <a:rPr lang="id-ID" b="1" dirty="0"/>
              <a:t>Contoh:</a:t>
            </a:r>
            <a:r>
              <a:rPr lang="id-ID" dirty="0"/>
              <a:t> </a:t>
            </a:r>
            <a:r>
              <a:rPr lang="id-ID" i="1" dirty="0"/>
              <a:t>microphone, video recorder, camera, </a:t>
            </a:r>
            <a:r>
              <a:rPr lang="id-ID" dirty="0"/>
              <a:t>pesawat telepon,</a:t>
            </a:r>
          </a:p>
          <a:p>
            <a:pPr algn="just"/>
            <a:r>
              <a:rPr lang="id-ID" dirty="0"/>
              <a:t>                                 </a:t>
            </a:r>
            <a:r>
              <a:rPr lang="id-ID" i="1" dirty="0"/>
              <a:t>keyboard,</a:t>
            </a:r>
            <a:r>
              <a:rPr lang="id-ID" dirty="0"/>
              <a:t> tabung gambar, layar monitor, </a:t>
            </a:r>
            <a:r>
              <a:rPr lang="id-ID" i="1" dirty="0"/>
              <a:t>display</a:t>
            </a:r>
            <a:r>
              <a:rPr lang="id-ID" dirty="0"/>
              <a:t>,</a:t>
            </a:r>
          </a:p>
          <a:p>
            <a:pPr algn="just">
              <a:spcAft>
                <a:spcPts val="900"/>
              </a:spcAft>
            </a:pPr>
            <a:r>
              <a:rPr lang="id-ID" dirty="0"/>
              <a:t>                                 </a:t>
            </a:r>
            <a:r>
              <a:rPr lang="id-ID" i="1" dirty="0"/>
              <a:t>loudspeake</a:t>
            </a:r>
            <a:r>
              <a:rPr lang="id-ID" dirty="0"/>
              <a:t>r, </a:t>
            </a:r>
            <a:r>
              <a:rPr lang="id-ID" i="1" dirty="0"/>
              <a:t>printer</a:t>
            </a:r>
            <a:r>
              <a:rPr lang="id-ID" dirty="0"/>
              <a:t>, dll.</a:t>
            </a:r>
          </a:p>
          <a:p>
            <a:pPr algn="just"/>
            <a:r>
              <a:rPr lang="id-ID" sz="2000" b="1" dirty="0"/>
              <a:t>Kanal komunikasi / Media Transmisi / Saluran transmisi </a:t>
            </a:r>
            <a:r>
              <a:rPr lang="id-ID" dirty="0"/>
              <a:t>menyediakan</a:t>
            </a:r>
          </a:p>
          <a:p>
            <a:pPr algn="just">
              <a:spcAft>
                <a:spcPts val="600"/>
              </a:spcAft>
            </a:pPr>
            <a:r>
              <a:rPr lang="id-ID" dirty="0"/>
              <a:t>                         koneksi antara </a:t>
            </a:r>
            <a:r>
              <a:rPr lang="id-ID" i="1" dirty="0"/>
              <a:t>transmitter</a:t>
            </a:r>
            <a:r>
              <a:rPr lang="id-ID" dirty="0"/>
              <a:t> dan </a:t>
            </a:r>
            <a:r>
              <a:rPr lang="id-ID" i="1" dirty="0"/>
              <a:t>reciever.</a:t>
            </a:r>
          </a:p>
          <a:p>
            <a:pPr algn="just">
              <a:buFont typeface="Wingdings" pitchFamily="2" charset="2"/>
              <a:buChar char="v"/>
            </a:pPr>
            <a:r>
              <a:rPr lang="id-ID" b="1" dirty="0"/>
              <a:t> Saluran fisik </a:t>
            </a:r>
            <a:r>
              <a:rPr lang="id-ID" dirty="0"/>
              <a:t>: kawat paralel, </a:t>
            </a:r>
            <a:r>
              <a:rPr lang="id-ID" i="1" dirty="0"/>
              <a:t>twin lead cable</a:t>
            </a:r>
            <a:r>
              <a:rPr lang="id-ID" dirty="0"/>
              <a:t>, kabel koaksial (coaxial), kabel</a:t>
            </a:r>
          </a:p>
          <a:p>
            <a:pPr lvl="0" algn="just"/>
            <a:r>
              <a:rPr lang="id-ID" dirty="0"/>
              <a:t>                         UTP (Untwisted Pair), kabel STP (Shielded Twisted Pair),</a:t>
            </a:r>
          </a:p>
          <a:p>
            <a:pPr lvl="0" algn="just"/>
            <a:r>
              <a:rPr lang="id-ID" dirty="0"/>
              <a:t>                         bumbung gelombang (</a:t>
            </a:r>
            <a:r>
              <a:rPr lang="id-ID" i="1" dirty="0"/>
              <a:t>wave guide</a:t>
            </a:r>
            <a:r>
              <a:rPr lang="id-ID" dirty="0"/>
              <a:t>), dan serat optik</a:t>
            </a:r>
          </a:p>
          <a:p>
            <a:pPr lvl="0" algn="just"/>
            <a:r>
              <a:rPr lang="id-ID" dirty="0"/>
              <a:t>                         (</a:t>
            </a:r>
            <a:r>
              <a:rPr lang="id-ID" i="1" dirty="0"/>
              <a:t>optical fibre</a:t>
            </a:r>
            <a:r>
              <a:rPr lang="id-ID" dirty="0"/>
              <a:t>).</a:t>
            </a:r>
          </a:p>
          <a:p>
            <a:pPr algn="just">
              <a:buFont typeface="Wingdings" pitchFamily="2" charset="2"/>
              <a:buChar char="v"/>
            </a:pPr>
            <a:r>
              <a:rPr lang="id-ID" dirty="0"/>
              <a:t> </a:t>
            </a:r>
            <a:r>
              <a:rPr lang="id-ID" b="1" dirty="0"/>
              <a:t>Saluran non-fisik  (Radio) : </a:t>
            </a:r>
            <a:r>
              <a:rPr lang="id-ID" i="1" dirty="0"/>
              <a:t>HF (High Frequency), VHF (Very High Frequency), </a:t>
            </a:r>
          </a:p>
          <a:p>
            <a:pPr algn="just"/>
            <a:r>
              <a:rPr lang="id-ID" i="1" dirty="0"/>
              <a:t>                        UHF (Ultra High Frequency), g</a:t>
            </a:r>
            <a:r>
              <a:rPr lang="id-ID" dirty="0"/>
              <a:t>elombang mikro (</a:t>
            </a:r>
            <a:r>
              <a:rPr lang="id-ID" i="1" dirty="0"/>
              <a:t>microwave</a:t>
            </a:r>
            <a:r>
              <a:rPr lang="id-ID" dirty="0"/>
              <a:t>),</a:t>
            </a:r>
          </a:p>
          <a:p>
            <a:pPr algn="just">
              <a:spcAft>
                <a:spcPts val="900"/>
              </a:spcAft>
            </a:pPr>
            <a:r>
              <a:rPr lang="id-ID" dirty="0"/>
              <a:t>                        dan satelit.</a:t>
            </a:r>
          </a:p>
          <a:p>
            <a:pPr algn="just">
              <a:spcAft>
                <a:spcPts val="900"/>
              </a:spcAft>
            </a:pPr>
            <a:endParaRPr lang="id-ID" i="1" dirty="0"/>
          </a:p>
          <a:p>
            <a:pPr algn="just"/>
            <a:r>
              <a:rPr lang="id-ID" b="1" dirty="0"/>
              <a:t> </a:t>
            </a: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214282" y="4572008"/>
            <a:ext cx="8929718" cy="16235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d-ID" sz="2000" b="1" i="1" dirty="0"/>
              <a:t>Transmitter</a:t>
            </a:r>
            <a:r>
              <a:rPr lang="id-ID" sz="2000" b="1" dirty="0"/>
              <a:t> </a:t>
            </a:r>
            <a:r>
              <a:rPr lang="id-ID" b="1" dirty="0"/>
              <a:t>: </a:t>
            </a:r>
            <a:r>
              <a:rPr lang="id-ID" dirty="0"/>
              <a:t>menyiapkan sinyal informasi yang untuk selanjutnya dikirim ke</a:t>
            </a:r>
          </a:p>
          <a:p>
            <a:pPr algn="just"/>
            <a:r>
              <a:rPr lang="id-ID" dirty="0"/>
              <a:t>                       </a:t>
            </a:r>
            <a:r>
              <a:rPr lang="id-ID" i="1" dirty="0"/>
              <a:t>reciever</a:t>
            </a:r>
            <a:r>
              <a:rPr lang="id-ID" dirty="0"/>
              <a:t> melalui media transmisi dengan terlebih dahulu</a:t>
            </a:r>
          </a:p>
          <a:p>
            <a:pPr algn="just">
              <a:spcAft>
                <a:spcPts val="900"/>
              </a:spcAft>
            </a:pPr>
            <a:r>
              <a:rPr lang="id-ID" dirty="0"/>
              <a:t>                       melalui proses-proses tertentu.</a:t>
            </a:r>
          </a:p>
          <a:p>
            <a:pPr algn="just"/>
            <a:r>
              <a:rPr lang="id-ID" b="1" i="1" dirty="0"/>
              <a:t>Reciever</a:t>
            </a:r>
            <a:r>
              <a:rPr lang="id-ID" b="1" dirty="0"/>
              <a:t> :</a:t>
            </a:r>
            <a:r>
              <a:rPr lang="id-ID" dirty="0"/>
              <a:t> memerima sinyal informasi dari </a:t>
            </a:r>
            <a:r>
              <a:rPr lang="id-ID" i="1" dirty="0"/>
              <a:t>transmitter</a:t>
            </a:r>
            <a:r>
              <a:rPr lang="id-ID" dirty="0"/>
              <a:t> dengan melalui proses-</a:t>
            </a:r>
          </a:p>
          <a:p>
            <a:pPr algn="just">
              <a:spcAft>
                <a:spcPts val="600"/>
              </a:spcAft>
            </a:pPr>
            <a:r>
              <a:rPr lang="id-ID" dirty="0"/>
              <a:t>                proses tertentu.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0003" y="90476"/>
            <a:ext cx="87868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buFont typeface="Wingdings" pitchFamily="2" charset="2"/>
              <a:buChar char="v"/>
              <a:defRPr/>
            </a:pPr>
            <a:r>
              <a:rPr lang="en-US" sz="2400" b="1" dirty="0" err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Keterbatasan</a:t>
            </a:r>
            <a:r>
              <a:rPr lang="en-US" sz="2400" b="1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Fisik</a:t>
            </a:r>
            <a:r>
              <a:rPr lang="en-US" sz="2400" b="1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/</a:t>
            </a:r>
            <a:r>
              <a:rPr lang="en-US" sz="2400" b="1" dirty="0" err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kanal</a:t>
            </a:r>
            <a:r>
              <a:rPr lang="en-US" sz="2400" b="1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/</a:t>
            </a:r>
            <a:r>
              <a:rPr lang="en-US" sz="2400" b="1" dirty="0" err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jalur</a:t>
            </a:r>
            <a:r>
              <a:rPr lang="en-US" sz="2400" b="1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/media </a:t>
            </a:r>
            <a:r>
              <a:rPr lang="en-US" sz="2400" b="1" dirty="0" err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transmisi</a:t>
            </a:r>
            <a:endParaRPr lang="en-US" sz="2400" b="1" dirty="0"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07916" y="552141"/>
            <a:ext cx="7772400" cy="5857892"/>
          </a:xfrm>
          <a:prstGeom prst="rect">
            <a:avLst/>
          </a:prstGeom>
        </p:spPr>
        <p:txBody>
          <a:bodyPr/>
          <a:lstStyle/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Keterbatasan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fundamental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perancangan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suatu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sistem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komunikasi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adalah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noise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bandwidth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Noise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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thermal noise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pergerakan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acak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muatan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partikel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dengan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temperatur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diatas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derjat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Kelvin), yang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menjadi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permasalahan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utama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untuk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jarak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transmisi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yang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semakin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jauh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Setiap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sistem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komunikasi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mempunyai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bandwidth/BW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tertentu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BW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merupakan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permasalahan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yang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utama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ketika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kecepatan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transmisi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ditingkatkan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BW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transmisi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peningkatannya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berbanding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lurus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Channel capacity :</a:t>
            </a: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	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id-ID" sz="2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bandwidth  </a:t>
            </a: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id-ID" sz="2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S/N :</a:t>
            </a:r>
            <a:r>
              <a:rPr kumimoji="0" lang="id-ID" sz="2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Signal-to-Noise Ratio (SNR) </a:t>
            </a:r>
            <a:r>
              <a:rPr lang="id-ID" sz="2000" dirty="0"/>
              <a:t>=perbandingan antara  </a:t>
            </a: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lang="id-ID" sz="2000" dirty="0"/>
              <a:t>             daya sinyal dg daya noise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" pitchFamily="2" charset="2"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Hubungan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antara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BW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SNR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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Hukum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Hartley-Shannon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3240" y="4286256"/>
            <a:ext cx="32004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1421808" y="5889501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 = </a:t>
            </a:r>
            <a:r>
              <a:rPr lang="en-US" dirty="0" err="1"/>
              <a:t>daya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, N = </a:t>
            </a:r>
            <a:r>
              <a:rPr lang="en-US" dirty="0" err="1"/>
              <a:t>Daya</a:t>
            </a:r>
            <a:r>
              <a:rPr lang="en-US" dirty="0"/>
              <a:t> noise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85728"/>
            <a:ext cx="9001156" cy="5870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d-ID" sz="2000" b="1" dirty="0"/>
              <a:t>Informasi : </a:t>
            </a:r>
            <a:r>
              <a:rPr lang="id-ID" dirty="0"/>
              <a:t>dapat berupa  sinyal suara (</a:t>
            </a:r>
            <a:r>
              <a:rPr lang="id-ID" i="1" dirty="0"/>
              <a:t>voice)</a:t>
            </a:r>
            <a:r>
              <a:rPr lang="id-ID" dirty="0"/>
              <a:t>, sinyal musik, sinyal gambar,</a:t>
            </a:r>
          </a:p>
          <a:p>
            <a:pPr algn="just">
              <a:spcAft>
                <a:spcPts val="900"/>
              </a:spcAft>
            </a:pPr>
            <a:r>
              <a:rPr lang="id-ID" dirty="0"/>
              <a:t>                   sinyal video dan data.</a:t>
            </a:r>
          </a:p>
          <a:p>
            <a:pPr algn="just"/>
            <a:r>
              <a:rPr lang="id-ID" sz="2000" b="1" dirty="0"/>
              <a:t>Gelombang sinyal</a:t>
            </a:r>
            <a:r>
              <a:rPr lang="id-ID" b="1" dirty="0"/>
              <a:t>: </a:t>
            </a:r>
            <a:r>
              <a:rPr lang="id-ID" dirty="0"/>
              <a:t>besaran elektrik (arus atau tegangan elektrik) yang</a:t>
            </a:r>
          </a:p>
          <a:p>
            <a:pPr algn="just"/>
            <a:r>
              <a:rPr lang="id-ID" dirty="0"/>
              <a:t>                                berbentuk gelombang (arah dan besarnya berubah ubah</a:t>
            </a:r>
          </a:p>
          <a:p>
            <a:pPr algn="just"/>
            <a:r>
              <a:rPr lang="id-ID" dirty="0"/>
              <a:t>                                sebagai fungsi waktu) pada suatu sistem komunikasi.</a:t>
            </a:r>
          </a:p>
          <a:p>
            <a:pPr algn="just"/>
            <a:endParaRPr lang="id-ID" b="1" dirty="0"/>
          </a:p>
          <a:p>
            <a:pPr algn="just"/>
            <a:r>
              <a:rPr lang="id-ID" sz="2000" b="1"/>
              <a:t>Perangkat </a:t>
            </a:r>
            <a:r>
              <a:rPr lang="en-US" sz="2000" b="1" i="1"/>
              <a:t>t</a:t>
            </a:r>
            <a:r>
              <a:rPr lang="id-ID" sz="2000" b="1" i="1"/>
              <a:t>ransmitter</a:t>
            </a:r>
            <a:r>
              <a:rPr lang="id-ID" sz="2000" b="1"/>
              <a:t>  </a:t>
            </a:r>
            <a:r>
              <a:rPr lang="id-ID" sz="2000" b="1" dirty="0"/>
              <a:t>al</a:t>
            </a:r>
            <a:r>
              <a:rPr lang="id-ID" sz="2000" dirty="0"/>
              <a:t>. </a:t>
            </a:r>
            <a:r>
              <a:rPr lang="id-ID" dirty="0"/>
              <a:t>: </a:t>
            </a:r>
            <a:r>
              <a:rPr lang="id-ID" i="1" dirty="0"/>
              <a:t>filter </a:t>
            </a:r>
            <a:r>
              <a:rPr lang="id-ID" dirty="0"/>
              <a:t>(penyaring),</a:t>
            </a:r>
            <a:r>
              <a:rPr lang="id-ID" i="1" dirty="0"/>
              <a:t> amplifier</a:t>
            </a:r>
            <a:r>
              <a:rPr lang="id-ID" dirty="0"/>
              <a:t> (penguat)</a:t>
            </a:r>
            <a:r>
              <a:rPr lang="id-ID" i="1" dirty="0"/>
              <a:t>, mixer</a:t>
            </a:r>
          </a:p>
          <a:p>
            <a:pPr algn="just"/>
            <a:r>
              <a:rPr lang="id-ID" i="1" dirty="0"/>
              <a:t>                                </a:t>
            </a:r>
            <a:r>
              <a:rPr lang="id-ID" dirty="0"/>
              <a:t>(pencampur)</a:t>
            </a:r>
            <a:r>
              <a:rPr lang="id-ID" i="1" dirty="0"/>
              <a:t>, modulator, A/D converter, coder</a:t>
            </a:r>
          </a:p>
          <a:p>
            <a:pPr algn="just"/>
            <a:r>
              <a:rPr lang="id-ID" i="1" dirty="0"/>
              <a:t>                                </a:t>
            </a:r>
            <a:r>
              <a:rPr lang="id-ID" dirty="0"/>
              <a:t>(Pengkode), </a:t>
            </a:r>
            <a:r>
              <a:rPr lang="id-ID" i="1" dirty="0"/>
              <a:t>multiplexer, </a:t>
            </a:r>
            <a:r>
              <a:rPr lang="id-ID" dirty="0"/>
              <a:t>antena pemancar, dll.</a:t>
            </a:r>
          </a:p>
          <a:p>
            <a:pPr algn="just"/>
            <a:endParaRPr lang="id-ID" dirty="0"/>
          </a:p>
          <a:p>
            <a:pPr algn="just"/>
            <a:r>
              <a:rPr lang="id-ID" sz="2000" b="1" dirty="0"/>
              <a:t>Perangkat </a:t>
            </a:r>
            <a:r>
              <a:rPr lang="id-ID" sz="2000" b="1" i="1" dirty="0"/>
              <a:t>reciever</a:t>
            </a:r>
            <a:r>
              <a:rPr lang="id-ID" sz="2000" b="1" dirty="0"/>
              <a:t>  al. </a:t>
            </a:r>
            <a:r>
              <a:rPr lang="id-ID" dirty="0"/>
              <a:t>: antena penerima, </a:t>
            </a:r>
            <a:r>
              <a:rPr lang="id-ID" i="1" dirty="0"/>
              <a:t>filter</a:t>
            </a:r>
            <a:r>
              <a:rPr lang="id-ID" dirty="0"/>
              <a:t>, penguat, </a:t>
            </a:r>
            <a:r>
              <a:rPr lang="id-ID" i="1" dirty="0"/>
              <a:t>mixer,</a:t>
            </a:r>
          </a:p>
          <a:p>
            <a:pPr algn="just"/>
            <a:r>
              <a:rPr lang="id-ID" i="1" dirty="0"/>
              <a:t>                                 demodulator,detector, D/A converter, demultiplexer</a:t>
            </a:r>
            <a:r>
              <a:rPr lang="id-ID" dirty="0"/>
              <a:t>, dll.</a:t>
            </a:r>
          </a:p>
          <a:p>
            <a:pPr algn="just"/>
            <a:endParaRPr lang="id-ID" dirty="0"/>
          </a:p>
          <a:p>
            <a:pPr algn="just"/>
            <a:r>
              <a:rPr lang="id-ID" dirty="0"/>
              <a:t>Selama proses transmisi dari </a:t>
            </a:r>
            <a:r>
              <a:rPr lang="id-ID" i="1" dirty="0"/>
              <a:t>transmitter</a:t>
            </a:r>
            <a:r>
              <a:rPr lang="id-ID" dirty="0"/>
              <a:t> ke </a:t>
            </a:r>
            <a:r>
              <a:rPr lang="id-ID" i="1" dirty="0"/>
              <a:t>reciever</a:t>
            </a:r>
            <a:r>
              <a:rPr lang="id-ID" dirty="0"/>
              <a:t> masuk sinyal-sinyal  lain yaitu sinyal gangguan yang disebut sebagai sinyal </a:t>
            </a:r>
            <a:r>
              <a:rPr lang="id-ID" b="1" i="1" dirty="0"/>
              <a:t>noise</a:t>
            </a:r>
            <a:r>
              <a:rPr lang="id-ID" dirty="0"/>
              <a:t> atau sinyal </a:t>
            </a:r>
            <a:r>
              <a:rPr lang="id-ID" b="1" dirty="0"/>
              <a:t>bising, </a:t>
            </a:r>
            <a:r>
              <a:rPr lang="id-ID" dirty="0"/>
              <a:t>sinyal noise ini bisa berasal dari dalam sistem komunikasi itu sendiri maupun dari luar sistem komunikasi.</a:t>
            </a:r>
          </a:p>
          <a:p>
            <a:pPr lvl="0" algn="just"/>
            <a:endParaRPr lang="id-ID" b="1" dirty="0"/>
          </a:p>
          <a:p>
            <a:pPr algn="just"/>
            <a:endParaRPr lang="id-ID" dirty="0"/>
          </a:p>
          <a:p>
            <a:endParaRPr lang="id-ID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914400" y="277813"/>
            <a:ext cx="77724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4100" b="1" i="1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Broadband VS Baseband</a:t>
            </a:r>
            <a:endParaRPr kumimoji="0" lang="en-US" sz="41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714348" y="1214422"/>
            <a:ext cx="7772400" cy="4530725"/>
          </a:xfrm>
          <a:prstGeom prst="rect">
            <a:avLst/>
          </a:prstGeom>
        </p:spPr>
        <p:txBody>
          <a:bodyPr/>
          <a:lstStyle/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th-TH" sz="2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Broadband : </a:t>
            </a:r>
          </a:p>
          <a:p>
            <a:pPr marL="621792" marR="0" lvl="1" indent="-228600" algn="l" defTabSz="914400" rtl="0" eaLnBrk="1" fontAlgn="auto" latinLnBrk="0" hangingPunct="1">
              <a:lnSpc>
                <a:spcPct val="90000"/>
              </a:lnSpc>
              <a:spcBef>
                <a:spcPts val="324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nb-NO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</a:t>
            </a:r>
            <a:r>
              <a:rPr kumimoji="0" lang="nb-NO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Suatu teknik di mana data yang ditransmisi dikirimkan menggunakan isyarat pembawa (dimodulasi). Lebih dari satu isyarat pembawa dapat ditransmisikan bersama-sama, sehingga lebih dari satu isyarat dapat dikirim dengan satu media (kawat) yang sama.</a:t>
            </a:r>
            <a:endParaRPr kumimoji="0" lang="id-ID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  <a:p>
            <a:pPr marL="621792" marR="0" lvl="1" indent="-228600" algn="l" defTabSz="914400" rtl="0" eaLnBrk="1" fontAlgn="auto" latinLnBrk="0" hangingPunct="1">
              <a:lnSpc>
                <a:spcPct val="90000"/>
              </a:lnSpc>
              <a:spcBef>
                <a:spcPts val="324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itchFamily="2" charset="2"/>
              <a:buNone/>
              <a:tabLst/>
              <a:defRPr/>
            </a:pPr>
            <a:endParaRPr kumimoji="0" lang="th-TH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th-TH" sz="2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Baseband :</a:t>
            </a:r>
          </a:p>
          <a:p>
            <a:pPr marL="621792" marR="0" lvl="1" indent="-228600" algn="l" defTabSz="914400" rtl="0" eaLnBrk="1" fontAlgn="auto" latinLnBrk="0" hangingPunct="1">
              <a:lnSpc>
                <a:spcPct val="90000"/>
              </a:lnSpc>
              <a:spcBef>
                <a:spcPts val="324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nb-NO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  <a:sym typeface="Wingdings" pitchFamily="2" charset="2"/>
              </a:rPr>
              <a:t></a:t>
            </a:r>
            <a:r>
              <a:rPr kumimoji="0" lang="nb-NO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Satu single data ditransmisikan secara langsung dengan kawat, dengan tegangan positif dan negatif. Interface RS-232 adalah salah satu contoh transmisi baseband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42852"/>
            <a:ext cx="9144000" cy="6878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id-ID" sz="3600" dirty="0"/>
              <a:t>2. Mode transmisi :</a:t>
            </a:r>
          </a:p>
          <a:p>
            <a:pPr lvl="0">
              <a:buFont typeface="Wingdings" pitchFamily="2" charset="2"/>
              <a:buChar char="v"/>
            </a:pPr>
            <a:r>
              <a:rPr lang="id-ID" sz="2000" dirty="0"/>
              <a:t> </a:t>
            </a:r>
            <a:r>
              <a:rPr lang="id-ID" sz="2000" b="1" dirty="0"/>
              <a:t>Transmisi Simplex </a:t>
            </a:r>
            <a:r>
              <a:rPr lang="id-ID" sz="2000" dirty="0"/>
              <a:t>: komunikasi satu arah. </a:t>
            </a:r>
          </a:p>
          <a:p>
            <a:pPr lvl="0"/>
            <a:r>
              <a:rPr lang="id-ID" sz="2000" dirty="0"/>
              <a:t>              Contoh : sistem komunikasi siaran radio komersial, sistem</a:t>
            </a:r>
          </a:p>
          <a:p>
            <a:pPr lvl="0"/>
            <a:r>
              <a:rPr lang="id-ID" sz="2000" dirty="0"/>
              <a:t>                            siaran televisi, dll.</a:t>
            </a:r>
          </a:p>
          <a:p>
            <a:pPr lvl="0"/>
            <a:endParaRPr lang="id-ID" sz="2000" dirty="0"/>
          </a:p>
          <a:p>
            <a:pPr lvl="0">
              <a:buFont typeface="Wingdings" pitchFamily="2" charset="2"/>
              <a:buChar char="v"/>
            </a:pPr>
            <a:r>
              <a:rPr lang="id-ID" sz="2000" b="1" dirty="0"/>
              <a:t> Transmisi half-duplex</a:t>
            </a:r>
            <a:r>
              <a:rPr lang="id-ID" sz="2000" dirty="0"/>
              <a:t>  : komunikasi berlangsung dua arah saling</a:t>
            </a:r>
          </a:p>
          <a:p>
            <a:pPr lvl="0"/>
            <a:r>
              <a:rPr lang="id-ID" sz="2000" dirty="0"/>
              <a:t>                             secara bergantian.</a:t>
            </a:r>
          </a:p>
          <a:p>
            <a:r>
              <a:rPr lang="id-ID" sz="2000" dirty="0"/>
              <a:t>               Contoh</a:t>
            </a:r>
            <a:r>
              <a:rPr lang="id-ID" sz="2000" b="1" dirty="0"/>
              <a:t> </a:t>
            </a:r>
            <a:r>
              <a:rPr lang="id-ID" sz="2000" dirty="0"/>
              <a:t>: Komunikasi CB, komunikasi dengan HT, dll.</a:t>
            </a:r>
          </a:p>
          <a:p>
            <a:pPr>
              <a:buFont typeface="Wingdings" pitchFamily="2" charset="2"/>
              <a:buChar char="v"/>
            </a:pPr>
            <a:endParaRPr lang="id-ID" sz="2000" dirty="0"/>
          </a:p>
          <a:p>
            <a:pPr>
              <a:buFont typeface="Wingdings" pitchFamily="2" charset="2"/>
              <a:buChar char="v"/>
            </a:pPr>
            <a:r>
              <a:rPr lang="id-ID" sz="2000" b="1" dirty="0"/>
              <a:t> Transmisi full-duplex</a:t>
            </a:r>
            <a:r>
              <a:rPr lang="id-ID" sz="2000" dirty="0"/>
              <a:t> : komunikasi dapat berlangsung dua arah </a:t>
            </a:r>
          </a:p>
          <a:p>
            <a:r>
              <a:rPr lang="id-ID" sz="2000" dirty="0"/>
              <a:t>                             secara bersamaan.</a:t>
            </a:r>
          </a:p>
          <a:p>
            <a:r>
              <a:rPr lang="id-ID" sz="2000" dirty="0"/>
              <a:t>               Contoh</a:t>
            </a:r>
            <a:r>
              <a:rPr lang="id-ID" sz="2000" b="1" dirty="0"/>
              <a:t> </a:t>
            </a:r>
            <a:r>
              <a:rPr lang="id-ID" sz="2000" dirty="0"/>
              <a:t>: Komunikasi melalui telepon rumah (</a:t>
            </a:r>
            <a:r>
              <a:rPr lang="id-ID" sz="2000" i="1" dirty="0"/>
              <a:t>fixed telephone</a:t>
            </a:r>
            <a:r>
              <a:rPr lang="id-ID" sz="2000" dirty="0"/>
              <a:t>), </a:t>
            </a:r>
          </a:p>
          <a:p>
            <a:r>
              <a:rPr lang="id-ID" sz="2000" dirty="0"/>
              <a:t>                             komunikasi antar HP (</a:t>
            </a:r>
            <a:r>
              <a:rPr lang="id-ID" sz="2000" i="1" dirty="0"/>
              <a:t>hand phone</a:t>
            </a:r>
            <a:r>
              <a:rPr lang="id-ID" sz="2000" dirty="0"/>
              <a:t>), dll.</a:t>
            </a:r>
          </a:p>
          <a:p>
            <a:endParaRPr lang="id-ID" sz="2000" dirty="0"/>
          </a:p>
          <a:p>
            <a:pPr>
              <a:buFont typeface="Wingdings" pitchFamily="2" charset="2"/>
              <a:buChar char="v"/>
            </a:pPr>
            <a:r>
              <a:rPr lang="id-ID" sz="2000" dirty="0"/>
              <a:t> </a:t>
            </a:r>
            <a:r>
              <a:rPr lang="id-ID" sz="2000" b="1" dirty="0"/>
              <a:t>Transmisi full-full-duplex : </a:t>
            </a:r>
            <a:r>
              <a:rPr lang="id-ID" sz="2000" dirty="0"/>
              <a:t>komunikasi berlangsung secara dua arah</a:t>
            </a:r>
          </a:p>
          <a:p>
            <a:r>
              <a:rPr lang="id-ID" sz="2000" dirty="0"/>
              <a:t>                             secara bersamaan  lebih dari dua stasiun.</a:t>
            </a:r>
          </a:p>
          <a:p>
            <a:r>
              <a:rPr lang="id-ID" sz="2000" dirty="0"/>
              <a:t>               Contoh</a:t>
            </a:r>
            <a:r>
              <a:rPr lang="id-ID" sz="2000" b="1" dirty="0"/>
              <a:t> : </a:t>
            </a:r>
            <a:r>
              <a:rPr lang="id-ID" sz="2000" dirty="0"/>
              <a:t>jaringan komunikasi data, LAN, WAN, Internet, </a:t>
            </a:r>
          </a:p>
          <a:p>
            <a:r>
              <a:rPr lang="id-ID" sz="2000" dirty="0"/>
              <a:t>                             Intranet, dll</a:t>
            </a:r>
            <a:r>
              <a:rPr lang="id-ID" sz="2000" b="1" dirty="0"/>
              <a:t>.</a:t>
            </a:r>
            <a:endParaRPr lang="id-ID" sz="2000" dirty="0"/>
          </a:p>
          <a:p>
            <a:pPr lvl="0"/>
            <a:endParaRPr lang="id-ID" sz="2000" dirty="0"/>
          </a:p>
          <a:p>
            <a:pPr>
              <a:buFont typeface="Wingdings" pitchFamily="2" charset="2"/>
              <a:buChar char="v"/>
            </a:pPr>
            <a:endParaRPr lang="id-ID" sz="2000" dirty="0"/>
          </a:p>
          <a:p>
            <a:endParaRPr lang="id-ID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1671</TotalTime>
  <Words>1026</Words>
  <Application>Microsoft Office PowerPoint</Application>
  <PresentationFormat>On-screen Show (4:3)</PresentationFormat>
  <Paragraphs>146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Arial Black</vt:lpstr>
      <vt:lpstr>Calibri</vt:lpstr>
      <vt:lpstr>Lucida Sans Unicode</vt:lpstr>
      <vt:lpstr>Times New Roman</vt:lpstr>
      <vt:lpstr>Verdana</vt:lpstr>
      <vt:lpstr>Wingdings</vt:lpstr>
      <vt:lpstr>Wingdings 2</vt:lpstr>
      <vt:lpstr>Wingdings 3</vt:lpstr>
      <vt:lpstr>Concourse</vt:lpstr>
      <vt:lpstr>Sistem Komunikasi Analog</vt:lpstr>
      <vt:lpstr>Referensi</vt:lpstr>
      <vt:lpstr>Bab 1 Sistem Komunikasi</vt:lpstr>
      <vt:lpstr>PowerPoint Presentation</vt:lpstr>
      <vt:lpstr>PowerPoint Presentation</vt:lpstr>
      <vt:lpstr>Dasar Sistem Komunikasi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Komunikasi Analog</dc:title>
  <dc:creator>-</dc:creator>
  <cp:lastModifiedBy>Megi Yanto</cp:lastModifiedBy>
  <cp:revision>59</cp:revision>
  <dcterms:created xsi:type="dcterms:W3CDTF">2012-01-20T21:59:59Z</dcterms:created>
  <dcterms:modified xsi:type="dcterms:W3CDTF">2020-11-26T15:00:58Z</dcterms:modified>
</cp:coreProperties>
</file>