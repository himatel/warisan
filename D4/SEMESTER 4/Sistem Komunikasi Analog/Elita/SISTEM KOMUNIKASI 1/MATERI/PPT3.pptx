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8" r:id="rId7"/>
    <p:sldId id="279" r:id="rId8"/>
    <p:sldId id="275" r:id="rId9"/>
    <p:sldId id="276" r:id="rId1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8A005-D108-401A-BE9D-F835DA2122D2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71277-D6CC-48D3-9B19-335C7DD71963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931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71277-D6CC-48D3-9B19-335C7DD71963}" type="slidenum">
              <a:rPr lang="id-ID" smtClean="0"/>
              <a:pPr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045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/>
              <a:t>4. Noise</a:t>
            </a:r>
          </a:p>
          <a:p>
            <a:endParaRPr lang="id-ID" sz="3200" dirty="0"/>
          </a:p>
        </p:txBody>
      </p:sp>
      <p:sp>
        <p:nvSpPr>
          <p:cNvPr id="3" name="Rectangle 2"/>
          <p:cNvSpPr/>
          <p:nvPr/>
        </p:nvSpPr>
        <p:spPr>
          <a:xfrm>
            <a:off x="0" y="714356"/>
            <a:ext cx="9001188" cy="8433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Sinyal noise atau bising atau derau atau sinyal</a:t>
            </a:r>
          </a:p>
          <a:p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   gangguan :</a:t>
            </a:r>
            <a:r>
              <a:rPr lang="id-ID" dirty="0"/>
              <a:t>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gangguan elektrik luar yang cenderung menggangu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penerimaan normal dari sinyal yg dipancarkan.</a:t>
            </a:r>
          </a:p>
          <a:p>
            <a:pPr>
              <a:buFont typeface="Wingdings" pitchFamily="2" charset="2"/>
              <a:buChar char="Ø"/>
            </a:pPr>
            <a:r>
              <a:rPr lang="id-ID" sz="2400" b="1" dirty="0"/>
              <a:t>Noise</a:t>
            </a:r>
            <a:r>
              <a:rPr lang="id-ID" sz="2400" dirty="0"/>
              <a:t> merupakan </a:t>
            </a:r>
            <a:r>
              <a:rPr lang="id-ID" sz="2400" b="1" dirty="0"/>
              <a:t>gelombang arus atau tegangan elektrik </a:t>
            </a:r>
            <a:r>
              <a:rPr lang="id-ID" sz="2400" dirty="0"/>
              <a:t>yang </a:t>
            </a:r>
            <a:r>
              <a:rPr lang="id-ID" sz="2400" b="1" dirty="0"/>
              <a:t>tidak</a:t>
            </a:r>
          </a:p>
          <a:p>
            <a:r>
              <a:rPr lang="id-ID" sz="2400" b="1" dirty="0"/>
              <a:t>    dikehendaki </a:t>
            </a:r>
            <a:r>
              <a:rPr lang="id-ID" sz="2400" dirty="0"/>
              <a:t>yang muncul pada suatu sistem komunikasi yang </a:t>
            </a:r>
          </a:p>
          <a:p>
            <a:pPr>
              <a:spcAft>
                <a:spcPts val="1200"/>
              </a:spcAft>
            </a:pPr>
            <a:r>
              <a:rPr lang="id-ID" sz="2400" dirty="0"/>
              <a:t>    dirasakan pada suatu penerima.</a:t>
            </a:r>
          </a:p>
          <a:p>
            <a:pPr>
              <a:buFont typeface="Wingdings" pitchFamily="2" charset="2"/>
              <a:buChar char="Ø"/>
            </a:pPr>
            <a:r>
              <a:rPr lang="id-ID" sz="2400" b="1" dirty="0"/>
              <a:t>Noise</a:t>
            </a:r>
            <a:r>
              <a:rPr lang="id-ID" sz="2400" dirty="0"/>
              <a:t> merupakan </a:t>
            </a:r>
            <a:r>
              <a:rPr lang="id-ID" sz="2400" b="1" dirty="0"/>
              <a:t>pembatas utama </a:t>
            </a:r>
            <a:r>
              <a:rPr lang="id-ID" sz="2400" dirty="0"/>
              <a:t>dari </a:t>
            </a:r>
            <a:r>
              <a:rPr lang="id-ID" sz="2400" b="1" dirty="0"/>
              <a:t>unjuk kerja </a:t>
            </a:r>
            <a:r>
              <a:rPr lang="id-ID" sz="2400" dirty="0"/>
              <a:t>sistem </a:t>
            </a:r>
          </a:p>
          <a:p>
            <a:pPr>
              <a:spcAft>
                <a:spcPts val="1200"/>
              </a:spcAft>
            </a:pPr>
            <a:r>
              <a:rPr lang="id-ID" sz="2400" dirty="0"/>
              <a:t>    telekomunikasi. </a:t>
            </a:r>
          </a:p>
          <a:p>
            <a:pPr>
              <a:buFont typeface="Wingdings" pitchFamily="2" charset="2"/>
              <a:buChar char="Ø"/>
            </a:pPr>
            <a:r>
              <a:rPr lang="id-ID" sz="2400" dirty="0"/>
              <a:t>Jadi pada suatu </a:t>
            </a:r>
            <a:r>
              <a:rPr lang="id-ID" sz="2400" b="1" dirty="0"/>
              <a:t>sistem komunikasi </a:t>
            </a:r>
            <a:r>
              <a:rPr lang="id-ID" sz="2400" dirty="0"/>
              <a:t>yang menentukan </a:t>
            </a:r>
            <a:r>
              <a:rPr lang="id-ID" sz="2400" b="1" dirty="0"/>
              <a:t>kualitas sistem</a:t>
            </a:r>
          </a:p>
          <a:p>
            <a:r>
              <a:rPr lang="id-ID" sz="2400" b="1" dirty="0"/>
              <a:t>    </a:t>
            </a:r>
            <a:r>
              <a:rPr lang="id-ID" sz="2400" dirty="0"/>
              <a:t>bukan oleh besar kecilnya level sinyal melainkan besarnya </a:t>
            </a:r>
          </a:p>
          <a:p>
            <a:pPr>
              <a:spcAft>
                <a:spcPts val="1200"/>
              </a:spcAft>
            </a:pPr>
            <a:r>
              <a:rPr lang="id-ID" sz="2400" b="1" dirty="0"/>
              <a:t>    perbandingan daya sinyal terhadap daya noise (S/N),</a:t>
            </a:r>
          </a:p>
          <a:p>
            <a:pPr>
              <a:buFont typeface="Wingdings" pitchFamily="2" charset="2"/>
              <a:buChar char="Ø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S/N besar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sistem baik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S/N kecil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sistem jelek.</a:t>
            </a:r>
          </a:p>
          <a:p>
            <a:pPr>
              <a:spcAft>
                <a:spcPts val="1200"/>
              </a:spcAft>
            </a:pPr>
            <a:endParaRPr lang="id-ID" sz="2400" b="1" dirty="0"/>
          </a:p>
          <a:p>
            <a:endParaRPr lang="id-ID" sz="2400" b="1" dirty="0"/>
          </a:p>
          <a:p>
            <a:endParaRPr lang="id-ID" sz="2800" dirty="0"/>
          </a:p>
          <a:p>
            <a:endParaRPr lang="id-ID" sz="2800" dirty="0"/>
          </a:p>
          <a:p>
            <a:endParaRPr lang="id-ID" sz="2800" dirty="0"/>
          </a:p>
          <a:p>
            <a:endParaRPr lang="id-ID" sz="2800" dirty="0"/>
          </a:p>
          <a:p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b="1" dirty="0"/>
              <a:t> </a:t>
            </a: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Klasifikasi Noise</a:t>
            </a:r>
          </a:p>
          <a:p>
            <a:pPr>
              <a:buFont typeface="Wingdings" pitchFamily="2" charset="2"/>
              <a:buChar char="v"/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500042"/>
            <a:ext cx="9144000" cy="6878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Correlated Noise :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selalu berhubungan dengan sinyal, ada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sinyal selalu muncul noise, tidak ada sinyal noise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tidak muncul.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Uncorrelated Noise : </a:t>
            </a:r>
            <a:r>
              <a:rPr kumimoji="0" lang="id-ID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tidak ada hubungannya dengan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</a:t>
            </a:r>
            <a:r>
              <a:rPr kumimoji="0" lang="id-ID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sinyal,</a:t>
            </a:r>
            <a:r>
              <a:rPr kumimoji="0" lang="id-ID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ada sinyal maupun tidak ada sinyal kalau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kumimoji="0" lang="id-ID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noise</a:t>
            </a:r>
            <a:r>
              <a:rPr kumimoji="0" lang="id-ID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memang ada tetap saja muncul.</a:t>
            </a:r>
          </a:p>
          <a:p>
            <a:pPr marL="514350" lvl="0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Correlated Noise</a:t>
            </a:r>
          </a:p>
          <a:p>
            <a:pPr lvl="0"/>
            <a:r>
              <a:rPr lang="id-ID" sz="2800" dirty="0"/>
              <a:t>       * Distorsi (cacat) harmonisa</a:t>
            </a:r>
          </a:p>
          <a:p>
            <a:pPr lvl="0"/>
            <a:r>
              <a:rPr lang="id-ID" sz="2800" dirty="0"/>
              <a:t>       * Distorsi (cacat) intermodulasi</a:t>
            </a:r>
          </a:p>
          <a:p>
            <a:pPr lvl="0"/>
            <a:r>
              <a:rPr lang="id-ID" sz="2800" dirty="0"/>
              <a:t>       * Distorsi Redaman</a:t>
            </a:r>
          </a:p>
          <a:p>
            <a:pPr lvl="0"/>
            <a:r>
              <a:rPr lang="id-ID" sz="2800" dirty="0"/>
              <a:t>       * Distorsi Fasa atau Delay</a:t>
            </a:r>
          </a:p>
          <a:p>
            <a:pPr marL="514350" lvl="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d-ID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b="1" dirty="0"/>
              <a:t>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Distorsi harmonisa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disebabkan oleh karena adanya kelipatan-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kelipatan frekuensi input pada outputnya, suatu misal sebuah penguat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sinyal yang bekerja pada daerah non-linier.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810000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357187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Distorsi intermodulasi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disebabkan oleh karena adanya penjumlahan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dan pengurangan oleh dua atau lebih frekuensi-frekuensi input pada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output nya pada suatu perangkat non linier. 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786322"/>
            <a:ext cx="8640000" cy="20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Distorsi Redaman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, Setiap saluran transmisi bersifat meredam sinyal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yang ditransmisikan melaluinya.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784000" cy="5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Distorsi Fasa atau Delay,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Suatu sinyal memerlukan selang waktu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tertentu dalam perambatannya di saluran transmisi. Waktu tersebut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disebut delay. Namun, waktu propagasi yang dibutuhkan oleh sinyal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berbeda-beda, tergantung dari frekuensi sinyal. Delay propagasi yang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berbeda-beda ini dapat menyebabkan pergeseran fasa di sisi penerima.</a:t>
            </a: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35743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b). Uncorrelated Noise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42844" y="3000372"/>
            <a:ext cx="9001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Internal noise : noise berasal dari dalam sistem komunikasi itu</a:t>
            </a:r>
            <a:r>
              <a:rPr kumimoji="0" lang="id-ID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sendiri.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External noise : noise berasal dari luar sistem komunikasi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2911" y="4572008"/>
            <a:ext cx="85010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Man made noise :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noise yang muncul akibat perbuatan manusia,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noise berasal dari peralatan-peralatan elektrik,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hingga frekuensi 500 Mhz.</a:t>
            </a:r>
          </a:p>
          <a:p>
            <a:r>
              <a:rPr lang="id-ID" sz="2400" b="1" u="sng" dirty="0">
                <a:latin typeface="Times New Roman" pitchFamily="18" charset="0"/>
                <a:cs typeface="Times New Roman" pitchFamily="18" charset="0"/>
              </a:rPr>
              <a:t>     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8596" y="4071942"/>
            <a:ext cx="2552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External Noise 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86191"/>
            <a:ext cx="91440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b="1" dirty="0"/>
              <a:t>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Atmospheric noise :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disebabkan oleh gangguan-gangguan alamiah</a:t>
            </a:r>
          </a:p>
          <a:p>
            <a:pPr lvl="0">
              <a:spcAft>
                <a:spcPts val="6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pada atmosfer bumi, gejala-gejala alam, cuaca. </a:t>
            </a:r>
          </a:p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kilat, petir, hujan, badai,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/>
              <a:t>    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Banyak terjadi pada sistem komunikasi berfrekuensi rendah,  siaran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radio  AM, siaran AM gelombang pendek (SW= Short Wave), noise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jenis ini jarang terjadi pada frekuensi diatas 20 Mhz</a:t>
            </a:r>
            <a:r>
              <a:rPr lang="id-ID" sz="2400" dirty="0"/>
              <a:t>.</a:t>
            </a:r>
          </a:p>
          <a:p>
            <a:pPr lvl="0">
              <a:buFont typeface="Wingdings" pitchFamily="2" charset="2"/>
              <a:buChar char="§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§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§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§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Lampu TL yang hidup – mati (kedap-kedip)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Bunga api pada komutator mesin-mesin listrik (motor listrik,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generator listrik)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Sistem switching pada catu daya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On/off sakelar pada beban jaringan listrik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Spark (loncatan bunga api) pada pengapian mesin (busi pada sepeda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motor, busi pada mobil)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Korona pada tegangan tinggi (SUTET)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5726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Space noise,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berasal dari benda-benda luar angkasa misalnya matahari,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bintang, komet, dan lain-lain. </a:t>
            </a: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697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Noise yang berasal dari matahari disebut sebagai </a:t>
            </a:r>
            <a:r>
              <a:rPr lang="id-ID" sz="2400" b="1" i="1" dirty="0">
                <a:latin typeface="Times New Roman" pitchFamily="18" charset="0"/>
                <a:cs typeface="Times New Roman" pitchFamily="18" charset="0"/>
              </a:rPr>
              <a:t>solar noise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Noise yang berasal dari bintang disebut sebagai </a:t>
            </a:r>
            <a:r>
              <a:rPr lang="id-ID" sz="2400" b="1" i="1" dirty="0">
                <a:latin typeface="Times New Roman" pitchFamily="18" charset="0"/>
                <a:cs typeface="Times New Roman" pitchFamily="18" charset="0"/>
              </a:rPr>
              <a:t>cosmic noise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Frekuensi space noise terjadi pada 8 Mhz  hingga 1 Ghz,</a:t>
            </a:r>
          </a:p>
          <a:p>
            <a:pPr>
              <a:buFont typeface="Arial" pitchFamily="34" charset="0"/>
              <a:buChar char="•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/>
              <a:t>   Interferensi,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disebabkan karena adanya saluran sinyal radio lain yang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masuk ke saluran gelombang radio kita dan bercampur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menjadi satu dengan saluran gelombang radio kita.</a:t>
            </a: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/>
              <a:t> 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Crosstalk (cakap Silang),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kopling magnetik antara saluran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telekomunikasi dengan media transmisi kabel tembaga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dengan saluran telekomunikasi dengan media transmisi </a:t>
            </a:r>
          </a:p>
          <a:p>
            <a:pPr>
              <a:spcAft>
                <a:spcPts val="6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kabel tembaga. 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Crosstalk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adalah kebocoran sinyal dari suatu saluran transmisi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telekomunikasi kawat tembaga ke saluran transmisi kawat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tembaga lain.</a:t>
            </a:r>
          </a:p>
          <a:p>
            <a:pPr>
              <a:buFont typeface="Arial" pitchFamily="34" charset="0"/>
              <a:buChar char="•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u="sng" dirty="0">
                <a:latin typeface="Times New Roman" pitchFamily="18" charset="0"/>
                <a:cs typeface="Times New Roman" pitchFamily="18" charset="0"/>
              </a:rPr>
              <a:t>  Crosstalk (cakap Silang),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604000" cy="51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b="1" u="sng" dirty="0"/>
              <a:t>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Internal noise (derau termal):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57148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erasal dari dalam perangkat/sistem komunikasi itu sendiri,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P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enyebab adanya interaksi termal antara elektron-elektron bebas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dengan getaran-getaran ion pada media konduktor atau resistor.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N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oise muncul pada seluruh media transmisi dan perangkat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komunikasi</a:t>
            </a:r>
            <a:r>
              <a:rPr kumimoji="0" lang="id-ID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akibat </a:t>
            </a:r>
            <a:r>
              <a:rPr kumimoji="0" lang="id-ID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pergerakan elektron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S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ering disebut sebagai </a:t>
            </a:r>
            <a:r>
              <a:rPr kumimoji="0" 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Gaussian noise.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D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isebut juga sebagai </a:t>
            </a:r>
            <a:r>
              <a:rPr kumimoji="0" 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white noise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yang memiliki rapat spektral daya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yang uniform pada spektrum frekuensi.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Thermal noise</a:t>
            </a:r>
            <a:r>
              <a:rPr kumimoji="0" 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merupakan faktor penentu batas bawah sensitivitas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suatu sistem penerima.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Besarnya tegangan thermal noise 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pada</a:t>
            </a:r>
            <a:r>
              <a:rPr kumimoji="0" lang="id-ID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suatu konduktor / resistor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adalah: </a:t>
            </a:r>
            <a:r>
              <a:rPr lang="id-ID" sz="2400" b="1" dirty="0"/>
              <a:t>V</a:t>
            </a:r>
            <a:r>
              <a:rPr lang="id-ID" sz="2400" b="1" baseline="-25000" dirty="0"/>
              <a:t>n</a:t>
            </a:r>
            <a:r>
              <a:rPr lang="id-ID" sz="2400" b="1" dirty="0"/>
              <a:t> =   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5143512"/>
            <a:ext cx="1847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357158" y="5643578"/>
            <a:ext cx="47863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k.T.Bw [Watt]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P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k.T.Bw [dBW]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772</Words>
  <Application>Microsoft Office PowerPoint</Application>
  <PresentationFormat>On-screen Show (4:3)</PresentationFormat>
  <Paragraphs>114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Megi Yanto</cp:lastModifiedBy>
  <cp:revision>30</cp:revision>
  <dcterms:created xsi:type="dcterms:W3CDTF">2012-02-21T13:04:46Z</dcterms:created>
  <dcterms:modified xsi:type="dcterms:W3CDTF">2020-11-29T09:38:08Z</dcterms:modified>
</cp:coreProperties>
</file>