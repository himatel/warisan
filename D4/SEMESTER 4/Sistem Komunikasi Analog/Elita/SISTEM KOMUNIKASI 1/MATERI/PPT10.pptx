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76" r:id="rId3"/>
    <p:sldId id="258" r:id="rId4"/>
    <p:sldId id="259" r:id="rId5"/>
    <p:sldId id="260" r:id="rId6"/>
    <p:sldId id="308" r:id="rId7"/>
    <p:sldId id="261" r:id="rId8"/>
    <p:sldId id="294" r:id="rId9"/>
    <p:sldId id="296" r:id="rId10"/>
    <p:sldId id="265" r:id="rId11"/>
    <p:sldId id="266" r:id="rId12"/>
    <p:sldId id="274" r:id="rId13"/>
    <p:sldId id="275" r:id="rId14"/>
    <p:sldId id="268" r:id="rId15"/>
    <p:sldId id="270" r:id="rId16"/>
    <p:sldId id="269" r:id="rId17"/>
    <p:sldId id="315" r:id="rId18"/>
    <p:sldId id="298" r:id="rId19"/>
    <p:sldId id="300" r:id="rId20"/>
    <p:sldId id="302" r:id="rId21"/>
    <p:sldId id="271" r:id="rId22"/>
    <p:sldId id="272" r:id="rId23"/>
    <p:sldId id="307" r:id="rId24"/>
    <p:sldId id="273" r:id="rId25"/>
    <p:sldId id="279" r:id="rId26"/>
    <p:sldId id="280" r:id="rId27"/>
    <p:sldId id="284" r:id="rId28"/>
    <p:sldId id="285" r:id="rId29"/>
    <p:sldId id="286" r:id="rId30"/>
    <p:sldId id="287" r:id="rId31"/>
    <p:sldId id="291" r:id="rId32"/>
    <p:sldId id="289" r:id="rId33"/>
    <p:sldId id="303" r:id="rId34"/>
    <p:sldId id="304" r:id="rId35"/>
    <p:sldId id="305" r:id="rId36"/>
    <p:sldId id="306" r:id="rId37"/>
    <p:sldId id="309" r:id="rId38"/>
    <p:sldId id="311" r:id="rId39"/>
    <p:sldId id="313" r:id="rId40"/>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9" d="100"/>
          <a:sy n="79" d="100"/>
        </p:scale>
        <p:origin x="-71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5" Type="http://schemas.openxmlformats.org/officeDocument/2006/relationships/image" Target="../media/image81.wmf"/><Relationship Id="rId4" Type="http://schemas.openxmlformats.org/officeDocument/2006/relationships/image" Target="../media/image8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8C279C-EFCE-4783-939B-482D97ED9B71}" type="datetimeFigureOut">
              <a:rPr lang="id-ID" smtClean="0"/>
              <a:pPr/>
              <a:t>18/05/2015</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B6A98B-0B07-4C51-85A2-251A4ED10035}" type="slidenum">
              <a:rPr lang="id-ID" smtClean="0"/>
              <a:pPr/>
              <a:t>‹#›</a:t>
            </a:fld>
            <a:endParaRPr lang="id-ID"/>
          </a:p>
        </p:txBody>
      </p:sp>
    </p:spTree>
    <p:extLst>
      <p:ext uri="{BB962C8B-B14F-4D97-AF65-F5344CB8AC3E}">
        <p14:creationId xmlns:p14="http://schemas.microsoft.com/office/powerpoint/2010/main" val="3296838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3AB6A98B-0B07-4C51-85A2-251A4ED10035}" type="slidenum">
              <a:rPr lang="id-ID" smtClean="0"/>
              <a:pPr/>
              <a:t>3</a:t>
            </a:fld>
            <a:endParaRPr lang="id-I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fld id="{8C9CA19F-3C19-4CA7-9303-3C76A002E504}" type="slidenum">
              <a:rPr lang="en-US" smtClean="0"/>
              <a:pPr eaLnBrk="1" hangingPunct="1"/>
              <a:t>17</a:t>
            </a:fld>
            <a:endParaRPr lang="en-US"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d-ID"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1F8C620E-1AA3-4EA0-B622-F06661A1A7A3}" type="datetimeFigureOut">
              <a:rPr lang="id-ID" smtClean="0"/>
              <a:pPr/>
              <a:t>18/05/2015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C02F4A5-5602-4D0B-82F6-C40263447B0D}" type="slidenum">
              <a:rPr lang="id-ID" smtClean="0"/>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8C620E-1AA3-4EA0-B622-F06661A1A7A3}" type="datetimeFigureOut">
              <a:rPr lang="id-ID" smtClean="0"/>
              <a:pPr/>
              <a:t>18/05/2015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02F4A5-5602-4D0B-82F6-C40263447B0D}" type="slidenum">
              <a:rPr lang="id-ID" smtClean="0"/>
              <a:pPr/>
              <a:t>‹#›</a:t>
            </a:fld>
            <a:endParaRPr lang="id-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1.wmf"/><Relationship Id="rId3" Type="http://schemas.openxmlformats.org/officeDocument/2006/relationships/notesSlide" Target="../notesSlides/notesSlide2.xml"/><Relationship Id="rId7" Type="http://schemas.openxmlformats.org/officeDocument/2006/relationships/image" Target="../media/image28.wmf"/><Relationship Id="rId12"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9.wmf"/><Relationship Id="rId14"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10.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1.wmf"/><Relationship Id="rId5" Type="http://schemas.openxmlformats.org/officeDocument/2006/relationships/oleObject" Target="../embeddings/oleObject11.bin"/><Relationship Id="rId4" Type="http://schemas.openxmlformats.org/officeDocument/2006/relationships/image" Target="../media/image60.wmf"/></Relationships>
</file>

<file path=ppt/slides/_rels/slide34.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63.wmf"/><Relationship Id="rId5" Type="http://schemas.openxmlformats.org/officeDocument/2006/relationships/oleObject" Target="../embeddings/oleObject13.bin"/><Relationship Id="rId4" Type="http://schemas.openxmlformats.org/officeDocument/2006/relationships/image" Target="../media/image6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66.wmf"/><Relationship Id="rId5" Type="http://schemas.openxmlformats.org/officeDocument/2006/relationships/oleObject" Target="../embeddings/oleObject16.bin"/><Relationship Id="rId4" Type="http://schemas.openxmlformats.org/officeDocument/2006/relationships/image" Target="../media/image65.wmf"/></Relationships>
</file>

<file path=ppt/slides/_rels/slide36.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68.wmf"/><Relationship Id="rId5" Type="http://schemas.openxmlformats.org/officeDocument/2006/relationships/oleObject" Target="../embeddings/oleObject18.bin"/><Relationship Id="rId4" Type="http://schemas.openxmlformats.org/officeDocument/2006/relationships/image" Target="../media/image6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70.wmf"/></Relationships>
</file>

<file path=ppt/slides/_rels/slide38.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72.wmf"/><Relationship Id="rId11" Type="http://schemas.openxmlformats.org/officeDocument/2006/relationships/oleObject" Target="../embeddings/oleObject25.bin"/><Relationship Id="rId5" Type="http://schemas.openxmlformats.org/officeDocument/2006/relationships/oleObject" Target="../embeddings/oleObject22.bin"/><Relationship Id="rId15" Type="http://schemas.openxmlformats.org/officeDocument/2006/relationships/image" Target="../media/image79.png"/><Relationship Id="rId10" Type="http://schemas.openxmlformats.org/officeDocument/2006/relationships/image" Target="../media/image74.wmf"/><Relationship Id="rId4" Type="http://schemas.openxmlformats.org/officeDocument/2006/relationships/image" Target="../media/image71.wmf"/><Relationship Id="rId9" Type="http://schemas.openxmlformats.org/officeDocument/2006/relationships/oleObject" Target="../embeddings/oleObject24.bin"/><Relationship Id="rId14" Type="http://schemas.openxmlformats.org/officeDocument/2006/relationships/image" Target="../media/image76.wmf"/></Relationships>
</file>

<file path=ppt/slides/_rels/slide39.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81.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78.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91440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id-ID" sz="5400" b="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Modulasi Frekuensi (FM)</a:t>
            </a:r>
            <a:endParaRPr kumimoji="0" lang="id-ID" sz="5400" b="0" u="none" strike="noStrike" cap="none" normalizeH="0" baseline="0" dirty="0" smtClean="0">
              <a:ln>
                <a:noFill/>
              </a:ln>
              <a:solidFill>
                <a:schemeClr val="tx1"/>
              </a:solidFill>
              <a:effectLst/>
              <a:latin typeface="Arial" pitchFamily="34" charset="0"/>
            </a:endParaRPr>
          </a:p>
        </p:txBody>
      </p:sp>
      <p:sp>
        <p:nvSpPr>
          <p:cNvPr id="3" name="Rectangle 2"/>
          <p:cNvSpPr/>
          <p:nvPr/>
        </p:nvSpPr>
        <p:spPr>
          <a:xfrm>
            <a:off x="0" y="857232"/>
            <a:ext cx="4193777" cy="646331"/>
          </a:xfrm>
          <a:prstGeom prst="rect">
            <a:avLst/>
          </a:prstGeom>
        </p:spPr>
        <p:txBody>
          <a:bodyPr wrap="square">
            <a:spAutoFit/>
          </a:bodyPr>
          <a:lstStyle/>
          <a:p>
            <a:pPr>
              <a:buFont typeface="Wingdings" pitchFamily="2" charset="2"/>
              <a:buChar char="Ø"/>
            </a:pPr>
            <a:r>
              <a:rPr lang="id-ID" sz="3600" b="1" dirty="0" smtClean="0">
                <a:latin typeface="Times New Roman" pitchFamily="18" charset="0"/>
                <a:cs typeface="Times New Roman" pitchFamily="18" charset="0"/>
              </a:rPr>
              <a:t>Modulasi Sudut :</a:t>
            </a:r>
            <a:r>
              <a:rPr lang="id-ID" sz="3600" dirty="0" smtClean="0">
                <a:latin typeface="Times New Roman" pitchFamily="18" charset="0"/>
                <a:cs typeface="Times New Roman" pitchFamily="18" charset="0"/>
              </a:rPr>
              <a:t> </a:t>
            </a:r>
            <a:endParaRPr lang="id-ID" sz="3600" dirty="0">
              <a:latin typeface="Times New Roman" pitchFamily="18" charset="0"/>
              <a:cs typeface="Times New Roman" pitchFamily="18" charset="0"/>
            </a:endParaRPr>
          </a:p>
        </p:txBody>
      </p:sp>
      <p:sp>
        <p:nvSpPr>
          <p:cNvPr id="15" name="Rectangle 14"/>
          <p:cNvSpPr/>
          <p:nvPr/>
        </p:nvSpPr>
        <p:spPr>
          <a:xfrm>
            <a:off x="357158" y="1571612"/>
            <a:ext cx="8786842" cy="1569660"/>
          </a:xfrm>
          <a:prstGeom prst="rect">
            <a:avLst/>
          </a:prstGeom>
        </p:spPr>
        <p:txBody>
          <a:bodyPr wrap="square">
            <a:spAutoFit/>
          </a:bodyPr>
          <a:lstStyle/>
          <a:p>
            <a:pPr>
              <a:buFont typeface="Wingdings" pitchFamily="2" charset="2"/>
              <a:buChar char="§"/>
            </a:pPr>
            <a:r>
              <a:rPr lang="id-ID" sz="3200" b="1" dirty="0" smtClean="0">
                <a:latin typeface="Times New Roman" pitchFamily="18" charset="0"/>
                <a:cs typeface="Times New Roman" pitchFamily="18" charset="0"/>
              </a:rPr>
              <a:t> Definisi:</a:t>
            </a:r>
            <a:r>
              <a:rPr lang="id-ID" sz="3200" dirty="0" smtClean="0">
                <a:latin typeface="Times New Roman" pitchFamily="18" charset="0"/>
                <a:cs typeface="Times New Roman" pitchFamily="18" charset="0"/>
              </a:rPr>
              <a:t> Modulasi </a:t>
            </a:r>
            <a:r>
              <a:rPr lang="id-ID" sz="3200" dirty="0">
                <a:latin typeface="Times New Roman" pitchFamily="18" charset="0"/>
                <a:cs typeface="Times New Roman" pitchFamily="18" charset="0"/>
              </a:rPr>
              <a:t>sudut adalah modulasi yang </a:t>
            </a:r>
            <a:endParaRPr lang="id-ID" sz="3200" dirty="0" smtClean="0">
              <a:latin typeface="Times New Roman" pitchFamily="18" charset="0"/>
              <a:cs typeface="Times New Roman" pitchFamily="18" charset="0"/>
            </a:endParaRPr>
          </a:p>
          <a:p>
            <a:r>
              <a:rPr lang="id-ID" sz="3200" dirty="0">
                <a:latin typeface="Times New Roman" pitchFamily="18" charset="0"/>
                <a:cs typeface="Times New Roman" pitchFamily="18" charset="0"/>
              </a:rPr>
              <a:t> </a:t>
            </a:r>
            <a:r>
              <a:rPr lang="id-ID" sz="3200" dirty="0" smtClean="0">
                <a:latin typeface="Times New Roman" pitchFamily="18" charset="0"/>
                <a:cs typeface="Times New Roman" pitchFamily="18" charset="0"/>
              </a:rPr>
              <a:t>              mana </a:t>
            </a:r>
            <a:r>
              <a:rPr lang="id-ID" sz="3200" dirty="0">
                <a:latin typeface="Times New Roman" pitchFamily="18" charset="0"/>
                <a:cs typeface="Times New Roman" pitchFamily="18" charset="0"/>
              </a:rPr>
              <a:t>sudut sinusoida gelombang </a:t>
            </a:r>
            <a:r>
              <a:rPr lang="id-ID" sz="3200" dirty="0" smtClean="0">
                <a:latin typeface="Times New Roman" pitchFamily="18" charset="0"/>
                <a:cs typeface="Times New Roman" pitchFamily="18" charset="0"/>
              </a:rPr>
              <a:t>sinyal</a:t>
            </a:r>
          </a:p>
          <a:p>
            <a:r>
              <a:rPr lang="id-ID" sz="3200" dirty="0">
                <a:latin typeface="Times New Roman" pitchFamily="18" charset="0"/>
                <a:cs typeface="Times New Roman" pitchFamily="18" charset="0"/>
              </a:rPr>
              <a:t> </a:t>
            </a:r>
            <a:r>
              <a:rPr lang="id-ID" sz="3200" dirty="0" smtClean="0">
                <a:latin typeface="Times New Roman" pitchFamily="18" charset="0"/>
                <a:cs typeface="Times New Roman" pitchFamily="18" charset="0"/>
              </a:rPr>
              <a:t>              pembawa (   ) diubah-ubah terhadap waktu.</a:t>
            </a:r>
            <a:endParaRPr lang="id-ID" sz="3200" dirty="0">
              <a:latin typeface="Times New Roman" pitchFamily="18" charset="0"/>
              <a:cs typeface="Times New Roman" pitchFamily="18" charset="0"/>
            </a:endParaRPr>
          </a:p>
        </p:txBody>
      </p:sp>
      <p:sp>
        <p:nvSpPr>
          <p:cNvPr id="103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sp>
        <p:nvSpPr>
          <p:cNvPr id="104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sp>
        <p:nvSpPr>
          <p:cNvPr id="1042"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pic>
        <p:nvPicPr>
          <p:cNvPr id="1041" name="Picture 1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14744" y="2714620"/>
            <a:ext cx="357190" cy="500066"/>
          </a:xfrm>
          <a:prstGeom prst="rect">
            <a:avLst/>
          </a:prstGeom>
          <a:noFill/>
        </p:spPr>
      </p:pic>
      <p:pic>
        <p:nvPicPr>
          <p:cNvPr id="1046" name="Picture 22"/>
          <p:cNvPicPr>
            <a:picLocks noChangeAspect="1" noChangeArrowheads="1"/>
          </p:cNvPicPr>
          <p:nvPr/>
        </p:nvPicPr>
        <p:blipFill>
          <a:blip r:embed="rId3"/>
          <a:srcRect/>
          <a:stretch>
            <a:fillRect/>
          </a:stretch>
        </p:blipFill>
        <p:spPr bwMode="auto">
          <a:xfrm>
            <a:off x="714348" y="3286124"/>
            <a:ext cx="6094706" cy="714380"/>
          </a:xfrm>
          <a:prstGeom prst="rect">
            <a:avLst/>
          </a:prstGeom>
          <a:noFill/>
          <a:ln w="9525">
            <a:solidFill>
              <a:srgbClr val="FF0000"/>
            </a:solidFill>
            <a:miter lim="800000"/>
            <a:headEnd/>
            <a:tailEnd/>
          </a:ln>
          <a:effectLst/>
        </p:spPr>
      </p:pic>
      <p:pic>
        <p:nvPicPr>
          <p:cNvPr id="1052" name="Picture 28"/>
          <p:cNvPicPr>
            <a:picLocks noChangeAspect="1" noChangeArrowheads="1"/>
          </p:cNvPicPr>
          <p:nvPr/>
        </p:nvPicPr>
        <p:blipFill>
          <a:blip r:embed="rId4"/>
          <a:srcRect/>
          <a:stretch>
            <a:fillRect/>
          </a:stretch>
        </p:blipFill>
        <p:spPr bwMode="auto">
          <a:xfrm>
            <a:off x="714345" y="4214818"/>
            <a:ext cx="8349958" cy="262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2"/>
          <p:cNvGraphicFramePr>
            <a:graphicFrameLocks noChangeAspect="1"/>
          </p:cNvGraphicFramePr>
          <p:nvPr>
            <p:extLst>
              <p:ext uri="{D42A27DB-BD31-4B8C-83A1-F6EECF244321}">
                <p14:modId xmlns:p14="http://schemas.microsoft.com/office/powerpoint/2010/main" val="837132780"/>
              </p:ext>
            </p:extLst>
          </p:nvPr>
        </p:nvGraphicFramePr>
        <p:xfrm>
          <a:off x="1025525" y="1071563"/>
          <a:ext cx="6343650" cy="936625"/>
        </p:xfrm>
        <a:graphic>
          <a:graphicData uri="http://schemas.openxmlformats.org/presentationml/2006/ole">
            <mc:AlternateContent xmlns:mc="http://schemas.openxmlformats.org/markup-compatibility/2006">
              <mc:Choice xmlns:v="urn:schemas-microsoft-com:vml" Requires="v">
                <p:oleObj spid="_x0000_s44103" name="Equation" r:id="rId3" imgW="1549080" imgH="228600" progId="Equation.3">
                  <p:embed/>
                </p:oleObj>
              </mc:Choice>
              <mc:Fallback>
                <p:oleObj name="Equation" r:id="rId3" imgW="1549080" imgH="228600" progId="Equation.3">
                  <p:embed/>
                  <p:pic>
                    <p:nvPicPr>
                      <p:cNvPr id="0" name="Picture 2"/>
                      <p:cNvPicPr>
                        <a:picLocks noChangeAspect="1" noChangeArrowheads="1"/>
                      </p:cNvPicPr>
                      <p:nvPr/>
                    </p:nvPicPr>
                    <p:blipFill>
                      <a:blip r:embed="rId4"/>
                      <a:srcRect/>
                      <a:stretch>
                        <a:fillRect/>
                      </a:stretch>
                    </p:blipFill>
                    <p:spPr bwMode="auto">
                      <a:xfrm>
                        <a:off x="1025525" y="1071563"/>
                        <a:ext cx="63436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2"/>
          <p:cNvSpPr/>
          <p:nvPr/>
        </p:nvSpPr>
        <p:spPr>
          <a:xfrm>
            <a:off x="0" y="142852"/>
            <a:ext cx="9144000" cy="929485"/>
          </a:xfrm>
          <a:prstGeom prst="rect">
            <a:avLst/>
          </a:prstGeom>
        </p:spPr>
        <p:txBody>
          <a:bodyPr wrap="square">
            <a:spAutoFit/>
          </a:bodyPr>
          <a:lstStyle/>
          <a:p>
            <a:pPr algn="just">
              <a:lnSpc>
                <a:spcPct val="80000"/>
              </a:lnSpc>
              <a:buFont typeface="Wingdings" pitchFamily="2" charset="2"/>
              <a:buChar char="v"/>
              <a:defRPr/>
            </a:pPr>
            <a:r>
              <a:rPr lang="id-ID" sz="3600" dirty="0" smtClean="0"/>
              <a:t>  </a:t>
            </a:r>
            <a:r>
              <a:rPr lang="en-US" sz="3200" dirty="0" err="1" smtClean="0">
                <a:latin typeface="Times New Roman" pitchFamily="18" charset="0"/>
                <a:cs typeface="Times New Roman" pitchFamily="18" charset="0"/>
              </a:rPr>
              <a:t>Pada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modulasi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sudut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sinyal</a:t>
            </a:r>
            <a:r>
              <a:rPr lang="en-US" sz="3200" dirty="0" smtClean="0">
                <a:latin typeface="Times New Roman" pitchFamily="18" charset="0"/>
                <a:cs typeface="Times New Roman" pitchFamily="18" charset="0"/>
              </a:rPr>
              <a:t> </a:t>
            </a:r>
            <a:r>
              <a:rPr lang="en-US" sz="3200" i="1" dirty="0" smtClean="0">
                <a:latin typeface="Times New Roman" pitchFamily="18" charset="0"/>
                <a:cs typeface="Times New Roman" pitchFamily="18" charset="0"/>
              </a:rPr>
              <a:t>carrier </a:t>
            </a:r>
            <a:r>
              <a:rPr lang="en-US" sz="3200" dirty="0" err="1" smtClean="0">
                <a:latin typeface="Times New Roman" pitchFamily="18" charset="0"/>
                <a:cs typeface="Times New Roman" pitchFamily="18" charset="0"/>
              </a:rPr>
              <a:t>termodulasi</a:t>
            </a:r>
            <a:endParaRPr lang="id-ID" sz="3200" dirty="0" smtClean="0">
              <a:latin typeface="Times New Roman" pitchFamily="18" charset="0"/>
              <a:cs typeface="Times New Roman" pitchFamily="18" charset="0"/>
            </a:endParaRPr>
          </a:p>
          <a:p>
            <a:pPr algn="just">
              <a:lnSpc>
                <a:spcPct val="80000"/>
              </a:lnSpc>
              <a:defRPr/>
            </a:pPr>
            <a:r>
              <a:rPr lang="en-US" sz="3200" dirty="0" smtClean="0">
                <a:latin typeface="Times New Roman" pitchFamily="18" charset="0"/>
                <a:cs typeface="Times New Roman" pitchFamily="18" charset="0"/>
              </a:rPr>
              <a:t> </a:t>
            </a:r>
            <a:r>
              <a:rPr lang="id-ID"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dirumuskan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seperti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berikut</a:t>
            </a:r>
            <a:r>
              <a:rPr lang="en-US" sz="3200" dirty="0" smtClean="0">
                <a:latin typeface="Times New Roman" pitchFamily="18" charset="0"/>
                <a:cs typeface="Times New Roman" pitchFamily="18" charset="0"/>
              </a:rPr>
              <a:t> :</a:t>
            </a:r>
          </a:p>
        </p:txBody>
      </p:sp>
      <p:sp>
        <p:nvSpPr>
          <p:cNvPr id="4" name="Rectangle 3"/>
          <p:cNvSpPr/>
          <p:nvPr/>
        </p:nvSpPr>
        <p:spPr>
          <a:xfrm>
            <a:off x="714348" y="2000240"/>
            <a:ext cx="8429652" cy="1569660"/>
          </a:xfrm>
          <a:prstGeom prst="rect">
            <a:avLst/>
          </a:prstGeom>
        </p:spPr>
        <p:txBody>
          <a:bodyPr wrap="square">
            <a:spAutoFit/>
          </a:bodyPr>
          <a:lstStyle/>
          <a:p>
            <a:r>
              <a:rPr lang="en-US" sz="3200" dirty="0" err="1" smtClean="0">
                <a:latin typeface="Times New Roman" pitchFamily="18" charset="0"/>
                <a:cs typeface="Times New Roman" pitchFamily="18" charset="0"/>
              </a:rPr>
              <a:t>dimana</a:t>
            </a:r>
            <a:r>
              <a:rPr lang="en-US" sz="3200" dirty="0" smtClean="0">
                <a:latin typeface="Times New Roman" pitchFamily="18" charset="0"/>
                <a:cs typeface="Times New Roman" pitchFamily="18" charset="0"/>
              </a:rPr>
              <a:t> </a:t>
            </a:r>
            <a:r>
              <a:rPr lang="id-ID" sz="3200" dirty="0" smtClean="0">
                <a:latin typeface="Times New Roman" pitchFamily="18" charset="0"/>
                <a:cs typeface="Times New Roman" pitchFamily="18" charset="0"/>
              </a:rPr>
              <a:t>Vc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dan</a:t>
            </a:r>
            <a:r>
              <a:rPr lang="en-US" sz="3200" dirty="0" smtClean="0">
                <a:latin typeface="Times New Roman" pitchFamily="18" charset="0"/>
                <a:cs typeface="Times New Roman" pitchFamily="18" charset="0"/>
              </a:rPr>
              <a:t> </a:t>
            </a:r>
            <a:r>
              <a:rPr lang="el-GR" sz="3200" dirty="0" smtClean="0">
                <a:latin typeface="Times New Roman" pitchFamily="18" charset="0"/>
                <a:cs typeface="Times New Roman" pitchFamily="18" charset="0"/>
              </a:rPr>
              <a:t>ω</a:t>
            </a:r>
            <a:r>
              <a:rPr lang="en-US" sz="3200" baseline="-25000" dirty="0" smtClean="0">
                <a:latin typeface="Times New Roman" pitchFamily="18" charset="0"/>
                <a:cs typeface="Times New Roman" pitchFamily="18" charset="0"/>
              </a:rPr>
              <a:t>c</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konstan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sementara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sudut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fasa</a:t>
            </a:r>
            <a:r>
              <a:rPr lang="en-US" sz="3200" dirty="0" smtClean="0">
                <a:latin typeface="Times New Roman" pitchFamily="18" charset="0"/>
                <a:cs typeface="Times New Roman" pitchFamily="18" charset="0"/>
              </a:rPr>
              <a:t> </a:t>
            </a:r>
            <a:r>
              <a:rPr lang="el-GR" sz="3200" dirty="0" smtClean="0">
                <a:latin typeface="Times New Roman" pitchFamily="18" charset="0"/>
                <a:cs typeface="Times New Roman" pitchFamily="18" charset="0"/>
              </a:rPr>
              <a:t>Φ</a:t>
            </a:r>
            <a:r>
              <a:rPr lang="en-US" sz="3200" dirty="0" smtClean="0">
                <a:latin typeface="Times New Roman" pitchFamily="18" charset="0"/>
                <a:cs typeface="Times New Roman" pitchFamily="18" charset="0"/>
              </a:rPr>
              <a:t>(t) </a:t>
            </a:r>
            <a:r>
              <a:rPr lang="en-US" sz="3200" dirty="0" err="1" smtClean="0">
                <a:latin typeface="Times New Roman" pitchFamily="18" charset="0"/>
                <a:cs typeface="Times New Roman" pitchFamily="18" charset="0"/>
              </a:rPr>
              <a:t>adalah</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merupakan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fungsi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dari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sinyal</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informasi</a:t>
            </a:r>
            <a:r>
              <a:rPr lang="en-US" sz="3200" dirty="0" smtClean="0">
                <a:latin typeface="Times New Roman" pitchFamily="18" charset="0"/>
                <a:cs typeface="Times New Roman" pitchFamily="18" charset="0"/>
              </a:rPr>
              <a:t> </a:t>
            </a:r>
            <a:r>
              <a:rPr lang="id-ID" sz="3200" dirty="0" smtClean="0">
                <a:latin typeface="Times New Roman" pitchFamily="18" charset="0"/>
                <a:cs typeface="Times New Roman" pitchFamily="18" charset="0"/>
              </a:rPr>
              <a:t>V</a:t>
            </a:r>
            <a:r>
              <a:rPr lang="en-US" sz="3200" dirty="0" smtClean="0">
                <a:latin typeface="Times New Roman" pitchFamily="18" charset="0"/>
                <a:cs typeface="Times New Roman" pitchFamily="18" charset="0"/>
              </a:rPr>
              <a:t>m(t)</a:t>
            </a:r>
            <a:endParaRPr lang="id-ID" sz="3200" dirty="0">
              <a:latin typeface="Times New Roman" pitchFamily="18" charset="0"/>
              <a:cs typeface="Times New Roman" pitchFamily="18" charset="0"/>
            </a:endParaRPr>
          </a:p>
        </p:txBody>
      </p:sp>
      <p:sp>
        <p:nvSpPr>
          <p:cNvPr id="5" name="Rectangle 4"/>
          <p:cNvSpPr/>
          <p:nvPr/>
        </p:nvSpPr>
        <p:spPr>
          <a:xfrm>
            <a:off x="0" y="3643314"/>
            <a:ext cx="9144000" cy="880241"/>
          </a:xfrm>
          <a:prstGeom prst="rect">
            <a:avLst/>
          </a:prstGeom>
        </p:spPr>
        <p:txBody>
          <a:bodyPr wrap="square">
            <a:spAutoFit/>
          </a:bodyPr>
          <a:lstStyle/>
          <a:p>
            <a:pPr algn="just">
              <a:lnSpc>
                <a:spcPct val="80000"/>
              </a:lnSpc>
              <a:buFont typeface="Wingdings" pitchFamily="2" charset="2"/>
              <a:buChar char="v"/>
              <a:defRPr/>
            </a:pPr>
            <a:r>
              <a:rPr lang="id-ID" sz="3200" dirty="0" smtClean="0"/>
              <a:t>  </a:t>
            </a:r>
            <a:r>
              <a:rPr lang="en-US" sz="3200" dirty="0" err="1" smtClean="0">
                <a:latin typeface="Times New Roman" pitchFamily="18" charset="0"/>
                <a:cs typeface="Times New Roman" pitchFamily="18" charset="0"/>
              </a:rPr>
              <a:t>Persamaan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diatas</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dapat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di</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kita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tulis</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kembali</a:t>
            </a:r>
            <a:endParaRPr lang="id-ID" sz="3200" dirty="0" smtClean="0">
              <a:latin typeface="Times New Roman" pitchFamily="18" charset="0"/>
              <a:cs typeface="Times New Roman" pitchFamily="18" charset="0"/>
            </a:endParaRPr>
          </a:p>
          <a:p>
            <a:pPr algn="just">
              <a:lnSpc>
                <a:spcPct val="80000"/>
              </a:lnSpc>
              <a:defRPr/>
            </a:pPr>
            <a:r>
              <a:rPr lang="id-ID"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menjadi</a:t>
            </a:r>
            <a:r>
              <a:rPr lang="id-ID"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persamaan</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berikut</a:t>
            </a:r>
            <a:r>
              <a:rPr lang="id-ID" sz="3200" dirty="0" smtClean="0">
                <a:latin typeface="Times New Roman" pitchFamily="18" charset="0"/>
                <a:cs typeface="Times New Roman" pitchFamily="18" charset="0"/>
              </a:rPr>
              <a:t> :</a:t>
            </a:r>
            <a:endParaRPr lang="en-US" sz="3200" dirty="0" smtClean="0">
              <a:latin typeface="Times New Roman" pitchFamily="18" charset="0"/>
              <a:cs typeface="Times New Roman" pitchFamily="18" charset="0"/>
            </a:endParaRPr>
          </a:p>
        </p:txBody>
      </p:sp>
      <p:graphicFrame>
        <p:nvGraphicFramePr>
          <p:cNvPr id="44035" name="Object 3"/>
          <p:cNvGraphicFramePr>
            <a:graphicFrameLocks noChangeAspect="1"/>
          </p:cNvGraphicFramePr>
          <p:nvPr>
            <p:extLst>
              <p:ext uri="{D42A27DB-BD31-4B8C-83A1-F6EECF244321}">
                <p14:modId xmlns:p14="http://schemas.microsoft.com/office/powerpoint/2010/main" val="3826205746"/>
              </p:ext>
            </p:extLst>
          </p:nvPr>
        </p:nvGraphicFramePr>
        <p:xfrm>
          <a:off x="1022350" y="4643438"/>
          <a:ext cx="4395788" cy="755650"/>
        </p:xfrm>
        <a:graphic>
          <a:graphicData uri="http://schemas.openxmlformats.org/presentationml/2006/ole">
            <mc:AlternateContent xmlns:mc="http://schemas.openxmlformats.org/markup-compatibility/2006">
              <mc:Choice xmlns:v="urn:schemas-microsoft-com:vml" Requires="v">
                <p:oleObj spid="_x0000_s44104" name="Equation" r:id="rId5" imgW="1180800" imgH="203040" progId="Equation.3">
                  <p:embed/>
                </p:oleObj>
              </mc:Choice>
              <mc:Fallback>
                <p:oleObj name="Equation" r:id="rId5" imgW="1180800" imgH="203040" progId="Equation.3">
                  <p:embed/>
                  <p:pic>
                    <p:nvPicPr>
                      <p:cNvPr id="0" name="Picture 3"/>
                      <p:cNvPicPr>
                        <a:picLocks noChangeAspect="1" noChangeArrowheads="1"/>
                      </p:cNvPicPr>
                      <p:nvPr/>
                    </p:nvPicPr>
                    <p:blipFill>
                      <a:blip r:embed="rId6"/>
                      <a:srcRect/>
                      <a:stretch>
                        <a:fillRect/>
                      </a:stretch>
                    </p:blipFill>
                    <p:spPr bwMode="auto">
                      <a:xfrm>
                        <a:off x="1022350" y="4643438"/>
                        <a:ext cx="4395788"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6"/>
          <p:cNvSpPr/>
          <p:nvPr/>
        </p:nvSpPr>
        <p:spPr>
          <a:xfrm>
            <a:off x="642910" y="5643578"/>
            <a:ext cx="1701107" cy="584775"/>
          </a:xfrm>
          <a:prstGeom prst="rect">
            <a:avLst/>
          </a:prstGeom>
        </p:spPr>
        <p:txBody>
          <a:bodyPr wrap="none">
            <a:spAutoFit/>
          </a:bodyPr>
          <a:lstStyle/>
          <a:p>
            <a:r>
              <a:rPr lang="en-US" sz="3200" dirty="0" err="1" smtClean="0">
                <a:latin typeface="Times New Roman" pitchFamily="18" charset="0"/>
                <a:cs typeface="Times New Roman" pitchFamily="18" charset="0"/>
              </a:rPr>
              <a:t>Dimana</a:t>
            </a:r>
            <a:r>
              <a:rPr lang="id-ID" sz="3200" dirty="0" smtClean="0">
                <a:latin typeface="Times New Roman" pitchFamily="18" charset="0"/>
                <a:cs typeface="Times New Roman" pitchFamily="18" charset="0"/>
              </a:rPr>
              <a:t> :</a:t>
            </a:r>
            <a:endParaRPr lang="id-ID" sz="3200" dirty="0">
              <a:latin typeface="Times New Roman" pitchFamily="18" charset="0"/>
              <a:cs typeface="Times New Roman" pitchFamily="18" charset="0"/>
            </a:endParaRPr>
          </a:p>
        </p:txBody>
      </p:sp>
      <p:graphicFrame>
        <p:nvGraphicFramePr>
          <p:cNvPr id="44036" name="Object 4"/>
          <p:cNvGraphicFramePr>
            <a:graphicFrameLocks noChangeAspect="1"/>
          </p:cNvGraphicFramePr>
          <p:nvPr>
            <p:extLst>
              <p:ext uri="{D42A27DB-BD31-4B8C-83A1-F6EECF244321}">
                <p14:modId xmlns:p14="http://schemas.microsoft.com/office/powerpoint/2010/main" val="1063844729"/>
              </p:ext>
            </p:extLst>
          </p:nvPr>
        </p:nvGraphicFramePr>
        <p:xfrm>
          <a:off x="2308225" y="5572125"/>
          <a:ext cx="3651250" cy="792163"/>
        </p:xfrm>
        <a:graphic>
          <a:graphicData uri="http://schemas.openxmlformats.org/presentationml/2006/ole">
            <mc:AlternateContent xmlns:mc="http://schemas.openxmlformats.org/markup-compatibility/2006">
              <mc:Choice xmlns:v="urn:schemas-microsoft-com:vml" Requires="v">
                <p:oleObj spid="_x0000_s44105" name="Equation" r:id="rId7" imgW="1054080" imgH="228600" progId="Equation.3">
                  <p:embed/>
                </p:oleObj>
              </mc:Choice>
              <mc:Fallback>
                <p:oleObj name="Equation" r:id="rId7" imgW="1054080" imgH="228600" progId="Equation.3">
                  <p:embed/>
                  <p:pic>
                    <p:nvPicPr>
                      <p:cNvPr id="0" name="Picture 4"/>
                      <p:cNvPicPr>
                        <a:picLocks noChangeAspect="1" noChangeArrowheads="1"/>
                      </p:cNvPicPr>
                      <p:nvPr/>
                    </p:nvPicPr>
                    <p:blipFill>
                      <a:blip r:embed="rId8"/>
                      <a:srcRect/>
                      <a:stretch>
                        <a:fillRect/>
                      </a:stretch>
                    </p:blipFill>
                    <p:spPr bwMode="auto">
                      <a:xfrm>
                        <a:off x="2308225" y="5572125"/>
                        <a:ext cx="365125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9144000" cy="646331"/>
          </a:xfrm>
          <a:prstGeom prst="rect">
            <a:avLst/>
          </a:prstGeom>
        </p:spPr>
        <p:txBody>
          <a:bodyPr wrap="square">
            <a:spAutoFit/>
          </a:bodyPr>
          <a:lstStyle/>
          <a:p>
            <a:pPr>
              <a:buFont typeface="Wingdings" pitchFamily="2" charset="2"/>
              <a:buChar char="§"/>
            </a:pPr>
            <a:r>
              <a:rPr lang="id-ID" sz="3200" dirty="0" smtClean="0">
                <a:latin typeface="Times New Roman" pitchFamily="18" charset="0"/>
                <a:cs typeface="Times New Roman" pitchFamily="18" charset="0"/>
              </a:rPr>
              <a:t>  </a:t>
            </a:r>
            <a:r>
              <a:rPr lang="id-ID" sz="3600" b="1" dirty="0" smtClean="0">
                <a:latin typeface="Times New Roman" pitchFamily="18" charset="0"/>
                <a:cs typeface="Times New Roman" pitchFamily="18" charset="0"/>
              </a:rPr>
              <a:t>Modulasi </a:t>
            </a:r>
            <a:r>
              <a:rPr lang="id-ID" sz="3600" b="1" dirty="0">
                <a:latin typeface="Times New Roman" pitchFamily="18" charset="0"/>
                <a:cs typeface="Times New Roman" pitchFamily="18" charset="0"/>
              </a:rPr>
              <a:t>sudut </a:t>
            </a:r>
            <a:r>
              <a:rPr lang="id-ID" sz="3600" b="1" dirty="0" smtClean="0">
                <a:latin typeface="Times New Roman" pitchFamily="18" charset="0"/>
                <a:cs typeface="Times New Roman" pitchFamily="18" charset="0"/>
              </a:rPr>
              <a:t>:</a:t>
            </a:r>
            <a:endParaRPr lang="id-ID" sz="3600" b="1" dirty="0">
              <a:latin typeface="Times New Roman" pitchFamily="18" charset="0"/>
              <a:cs typeface="Times New Roman" pitchFamily="18" charset="0"/>
            </a:endParaRPr>
          </a:p>
        </p:txBody>
      </p:sp>
      <p:sp>
        <p:nvSpPr>
          <p:cNvPr id="3" name="Rectangle 2"/>
          <p:cNvSpPr/>
          <p:nvPr/>
        </p:nvSpPr>
        <p:spPr>
          <a:xfrm>
            <a:off x="357158" y="571480"/>
            <a:ext cx="9572692" cy="1354217"/>
          </a:xfrm>
          <a:prstGeom prst="rect">
            <a:avLst/>
          </a:prstGeom>
        </p:spPr>
        <p:txBody>
          <a:bodyPr wrap="square">
            <a:spAutoFit/>
          </a:bodyPr>
          <a:lstStyle/>
          <a:p>
            <a:pPr marL="342900" indent="-342900">
              <a:buAutoNum type="arabicPeriod"/>
            </a:pPr>
            <a:r>
              <a:rPr lang="id-ID" sz="3200" dirty="0" smtClean="0">
                <a:latin typeface="Times New Roman" pitchFamily="18" charset="0"/>
                <a:cs typeface="Times New Roman" pitchFamily="18" charset="0"/>
              </a:rPr>
              <a:t>Modulasi </a:t>
            </a:r>
            <a:r>
              <a:rPr lang="id-ID" sz="3200" dirty="0">
                <a:latin typeface="Times New Roman" pitchFamily="18" charset="0"/>
                <a:cs typeface="Times New Roman" pitchFamily="18" charset="0"/>
              </a:rPr>
              <a:t>Fasa (PM = Phase Modulation</a:t>
            </a:r>
            <a:r>
              <a:rPr lang="id-ID" sz="3200" dirty="0" smtClean="0">
                <a:latin typeface="Times New Roman" pitchFamily="18" charset="0"/>
                <a:cs typeface="Times New Roman" pitchFamily="18" charset="0"/>
              </a:rPr>
              <a:t>).</a:t>
            </a:r>
          </a:p>
          <a:p>
            <a:pPr marL="342900" indent="-342900">
              <a:buAutoNum type="arabicPeriod"/>
            </a:pPr>
            <a:r>
              <a:rPr lang="id-ID" sz="3200" dirty="0">
                <a:latin typeface="Times New Roman" pitchFamily="18" charset="0"/>
                <a:cs typeface="Times New Roman" pitchFamily="18" charset="0"/>
              </a:rPr>
              <a:t>Modulasi Frekuensi (FM = </a:t>
            </a:r>
            <a:r>
              <a:rPr lang="id-ID" sz="3200" dirty="0" smtClean="0">
                <a:latin typeface="Times New Roman" pitchFamily="18" charset="0"/>
                <a:cs typeface="Times New Roman" pitchFamily="18" charset="0"/>
              </a:rPr>
              <a:t>Frequency Modulation</a:t>
            </a:r>
            <a:r>
              <a:rPr lang="id-ID" sz="3200" dirty="0">
                <a:latin typeface="Times New Roman" pitchFamily="18" charset="0"/>
                <a:cs typeface="Times New Roman" pitchFamily="18" charset="0"/>
              </a:rPr>
              <a:t>)</a:t>
            </a:r>
            <a:endParaRPr lang="id-ID" sz="3200" dirty="0" smtClean="0">
              <a:latin typeface="Times New Roman" pitchFamily="18" charset="0"/>
              <a:cs typeface="Times New Roman" pitchFamily="18" charset="0"/>
            </a:endParaRPr>
          </a:p>
          <a:p>
            <a:r>
              <a:rPr lang="id-ID" dirty="0" smtClean="0"/>
              <a:t> </a:t>
            </a:r>
            <a:endParaRPr lang="id-ID" dirty="0"/>
          </a:p>
        </p:txBody>
      </p:sp>
      <p:sp>
        <p:nvSpPr>
          <p:cNvPr id="15361" name="Rectangle 1"/>
          <p:cNvSpPr>
            <a:spLocks noChangeArrowheads="1"/>
          </p:cNvSpPr>
          <p:nvPr/>
        </p:nvSpPr>
        <p:spPr bwMode="auto">
          <a:xfrm>
            <a:off x="642910" y="1714488"/>
            <a:ext cx="8501090" cy="22467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
              <a:tabLst/>
            </a:pPr>
            <a:r>
              <a:rPr kumimoji="0" lang="id-ID"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Modulasi Fasa: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Modulasi sudut yang mana sudut fasa</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sesaat</a:t>
            </a:r>
            <a:r>
              <a:rPr kumimoji="0" lang="id-ID" sz="2800" b="0"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gelombang sinyal pembawa berubah</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menyimpang dari harga referensi, sebanding</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dengan perubahan</a:t>
            </a:r>
            <a:r>
              <a:rPr kumimoji="0" lang="id-ID" sz="2800" b="0" i="0" u="none" strike="noStrike" cap="none" normalizeH="0" dirty="0" smtClean="0">
                <a:ln>
                  <a:noFill/>
                </a:ln>
                <a:solidFill>
                  <a:schemeClr val="tx1"/>
                </a:solidFill>
                <a:effectLst/>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amplitudo gelombang sinyal</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pemodulasi (sinyal informasi).</a:t>
            </a:r>
            <a:endParaRPr kumimoji="0" lang="id-ID" sz="2800" b="0" i="0" u="none" strike="noStrike" cap="none" normalizeH="0" baseline="0" dirty="0" smtClean="0">
              <a:ln>
                <a:noFill/>
              </a:ln>
              <a:solidFill>
                <a:schemeClr val="tx1"/>
              </a:solidFill>
              <a:effectLst/>
              <a:latin typeface="Arial" pitchFamily="34" charset="0"/>
            </a:endParaRPr>
          </a:p>
        </p:txBody>
      </p:sp>
      <p:sp>
        <p:nvSpPr>
          <p:cNvPr id="15363" name="Rectangle 3"/>
          <p:cNvSpPr>
            <a:spLocks noChangeArrowheads="1"/>
          </p:cNvSpPr>
          <p:nvPr/>
        </p:nvSpPr>
        <p:spPr bwMode="auto">
          <a:xfrm>
            <a:off x="642910" y="4143380"/>
            <a:ext cx="8501090" cy="22467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
              <a:tabLst/>
            </a:pPr>
            <a:r>
              <a:rPr kumimoji="0" lang="id-ID" sz="28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Modulasi Frekuensi :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Modulasi sudut yang mana</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frekuensi sesaat gelombang sinus sinyal</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pembawa berubah sebanding dengan harga</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sesaat (aplitudo sesaat) gelombang sinyal</a:t>
            </a:r>
          </a:p>
          <a:p>
            <a:pPr marL="0" marR="0" lvl="0" indent="0" algn="just" defTabSz="914400" rtl="0" eaLnBrk="1" fontAlgn="base" latinLnBrk="0" hangingPunct="1">
              <a:lnSpc>
                <a:spcPct val="100000"/>
              </a:lnSpc>
              <a:spcBef>
                <a:spcPct val="0"/>
              </a:spcBef>
              <a:spcAft>
                <a:spcPct val="0"/>
              </a:spcAft>
              <a:buClrTx/>
              <a:buSzTx/>
              <a:tabLst/>
            </a:pPr>
            <a:r>
              <a:rPr lang="id-ID" sz="2800" dirty="0">
                <a:latin typeface="Times New Roman" pitchFamily="18" charset="0"/>
                <a:ea typeface="Calibri" pitchFamily="34" charset="0"/>
                <a:cs typeface="Times New Roman" pitchFamily="18" charset="0"/>
              </a:rPr>
              <a:t> </a:t>
            </a:r>
            <a:r>
              <a:rPr lang="id-ID" sz="2800" dirty="0" smtClean="0">
                <a:latin typeface="Times New Roman" pitchFamily="18" charset="0"/>
                <a:ea typeface="Calibri" pitchFamily="34" charset="0"/>
                <a:cs typeface="Times New Roman" pitchFamily="18" charset="0"/>
              </a:rPr>
              <a:t>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pemodulasi (sinyal informasi).</a:t>
            </a:r>
            <a:endParaRPr kumimoji="0" lang="id-ID" sz="2800" b="0" i="0" u="none" strike="noStrike" cap="none" normalizeH="0" baseline="0" dirty="0" smtClean="0">
              <a:ln>
                <a:noFill/>
              </a:ln>
              <a:solidFill>
                <a:schemeClr val="tx1"/>
              </a:solidFill>
              <a:effectLst/>
              <a:latin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90" name="Picture 6"/>
          <p:cNvPicPr>
            <a:picLocks noChangeAspect="1" noChangeArrowheads="1"/>
          </p:cNvPicPr>
          <p:nvPr/>
        </p:nvPicPr>
        <p:blipFill>
          <a:blip r:embed="rId2"/>
          <a:srcRect/>
          <a:stretch>
            <a:fillRect/>
          </a:stretch>
        </p:blipFill>
        <p:spPr bwMode="auto">
          <a:xfrm>
            <a:off x="285715" y="214289"/>
            <a:ext cx="8858286" cy="936000"/>
          </a:xfrm>
          <a:prstGeom prst="rect">
            <a:avLst/>
          </a:prstGeom>
          <a:noFill/>
          <a:ln w="9525">
            <a:noFill/>
            <a:miter lim="800000"/>
            <a:headEnd/>
            <a:tailEnd/>
          </a:ln>
          <a:effectLst/>
        </p:spPr>
      </p:pic>
      <p:sp>
        <p:nvSpPr>
          <p:cNvPr id="16391" name="Rectangle 7"/>
          <p:cNvSpPr>
            <a:spLocks noChangeArrowheads="1"/>
          </p:cNvSpPr>
          <p:nvPr/>
        </p:nvSpPr>
        <p:spPr bwMode="auto">
          <a:xfrm>
            <a:off x="214282" y="1357298"/>
            <a:ext cx="892971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
              <a:tabLst/>
            </a:pPr>
            <a:r>
              <a:rPr kumimoji="0" lang="id-ID" sz="3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lang="id-ID" sz="3200" dirty="0" smtClean="0">
                <a:latin typeface="Times New Roman" pitchFamily="18" charset="0"/>
                <a:ea typeface="Calibri" pitchFamily="34" charset="0"/>
                <a:cs typeface="Times New Roman" pitchFamily="18" charset="0"/>
              </a:rPr>
              <a:t>P</a:t>
            </a:r>
            <a:r>
              <a:rPr kumimoji="0" lang="id-ID" sz="3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ersamaan matematis sinyal termodulasi :</a:t>
            </a:r>
            <a:endParaRPr kumimoji="0" lang="id-ID" sz="3200" b="0" i="0" u="none" strike="noStrike" cap="none" normalizeH="0" baseline="0" dirty="0" smtClean="0">
              <a:ln>
                <a:noFill/>
              </a:ln>
              <a:solidFill>
                <a:schemeClr val="tx1"/>
              </a:solidFill>
              <a:effectLst/>
              <a:latin typeface="Arial" pitchFamily="34" charset="0"/>
            </a:endParaRPr>
          </a:p>
        </p:txBody>
      </p:sp>
      <p:sp>
        <p:nvSpPr>
          <p:cNvPr id="11" name="Rectangle 10"/>
          <p:cNvSpPr/>
          <p:nvPr/>
        </p:nvSpPr>
        <p:spPr>
          <a:xfrm>
            <a:off x="357159" y="4632573"/>
            <a:ext cx="8786842" cy="1077218"/>
          </a:xfrm>
          <a:prstGeom prst="rect">
            <a:avLst/>
          </a:prstGeom>
        </p:spPr>
        <p:txBody>
          <a:bodyPr wrap="square">
            <a:spAutoFit/>
          </a:bodyPr>
          <a:lstStyle/>
          <a:p>
            <a:pPr>
              <a:buFont typeface="Wingdings" pitchFamily="2" charset="2"/>
              <a:buChar char="v"/>
            </a:pPr>
            <a:r>
              <a:rPr lang="id-ID" sz="3200" dirty="0" smtClean="0">
                <a:latin typeface="Times New Roman" pitchFamily="18" charset="0"/>
                <a:cs typeface="Times New Roman" pitchFamily="18" charset="0"/>
              </a:rPr>
              <a:t> Dimana </a:t>
            </a:r>
            <a:r>
              <a:rPr lang="id-ID" sz="3200" dirty="0">
                <a:latin typeface="Times New Roman" pitchFamily="18" charset="0"/>
                <a:cs typeface="Times New Roman" pitchFamily="18" charset="0"/>
              </a:rPr>
              <a:t>k dan k</a:t>
            </a:r>
            <a:r>
              <a:rPr lang="id-ID" sz="3200" baseline="-25000" dirty="0">
                <a:latin typeface="Times New Roman" pitchFamily="18" charset="0"/>
                <a:cs typeface="Times New Roman" pitchFamily="18" charset="0"/>
              </a:rPr>
              <a:t>1</a:t>
            </a:r>
            <a:r>
              <a:rPr lang="id-ID" sz="3200" dirty="0">
                <a:latin typeface="Times New Roman" pitchFamily="18" charset="0"/>
                <a:cs typeface="Times New Roman" pitchFamily="18" charset="0"/>
              </a:rPr>
              <a:t> merupakan  suatu konstanta </a:t>
            </a:r>
            <a:r>
              <a:rPr lang="id-ID" sz="3200" dirty="0" smtClean="0">
                <a:latin typeface="Times New Roman" pitchFamily="18" charset="0"/>
                <a:cs typeface="Times New Roman" pitchFamily="18" charset="0"/>
              </a:rPr>
              <a:t>dari</a:t>
            </a:r>
          </a:p>
          <a:p>
            <a:r>
              <a:rPr lang="id-ID" sz="3200" dirty="0">
                <a:latin typeface="Times New Roman" pitchFamily="18" charset="0"/>
                <a:cs typeface="Times New Roman" pitchFamily="18" charset="0"/>
              </a:rPr>
              <a:t> </a:t>
            </a:r>
            <a:r>
              <a:rPr lang="id-ID" sz="3200" dirty="0" smtClean="0">
                <a:latin typeface="Times New Roman" pitchFamily="18" charset="0"/>
                <a:cs typeface="Times New Roman" pitchFamily="18" charset="0"/>
              </a:rPr>
              <a:t>    </a:t>
            </a:r>
            <a:r>
              <a:rPr lang="id-ID" sz="3200" dirty="0">
                <a:latin typeface="Times New Roman" pitchFamily="18" charset="0"/>
                <a:cs typeface="Times New Roman" pitchFamily="18" charset="0"/>
              </a:rPr>
              <a:t>sensitivitas modulator</a:t>
            </a:r>
          </a:p>
        </p:txBody>
      </p:sp>
      <p:sp>
        <p:nvSpPr>
          <p:cNvPr id="12" name="Rectangle 11"/>
          <p:cNvSpPr/>
          <p:nvPr/>
        </p:nvSpPr>
        <p:spPr>
          <a:xfrm>
            <a:off x="357159" y="5709791"/>
            <a:ext cx="8786842" cy="1077218"/>
          </a:xfrm>
          <a:prstGeom prst="rect">
            <a:avLst/>
          </a:prstGeom>
        </p:spPr>
        <p:txBody>
          <a:bodyPr wrap="square">
            <a:spAutoFit/>
          </a:bodyPr>
          <a:lstStyle/>
          <a:p>
            <a:pPr>
              <a:buFont typeface="Wingdings" pitchFamily="2" charset="2"/>
              <a:buChar char="v"/>
            </a:pPr>
            <a:r>
              <a:rPr lang="id-ID" sz="3200" dirty="0" smtClean="0">
                <a:latin typeface="Times New Roman" pitchFamily="18" charset="0"/>
                <a:cs typeface="Times New Roman" pitchFamily="18" charset="0"/>
              </a:rPr>
              <a:t> Untuk </a:t>
            </a:r>
            <a:r>
              <a:rPr lang="id-ID" sz="3200" dirty="0">
                <a:latin typeface="Times New Roman" pitchFamily="18" charset="0"/>
                <a:cs typeface="Times New Roman" pitchFamily="18" charset="0"/>
              </a:rPr>
              <a:t>modulator PM, k  = [radian/volt], </a:t>
            </a:r>
            <a:endParaRPr lang="id-ID" sz="3200" dirty="0" smtClean="0">
              <a:latin typeface="Times New Roman" pitchFamily="18" charset="0"/>
              <a:cs typeface="Times New Roman" pitchFamily="18" charset="0"/>
            </a:endParaRPr>
          </a:p>
          <a:p>
            <a:pPr>
              <a:buFont typeface="Wingdings" pitchFamily="2" charset="2"/>
              <a:buChar char="v"/>
            </a:pPr>
            <a:r>
              <a:rPr lang="id-ID" sz="3200" dirty="0">
                <a:latin typeface="Times New Roman" pitchFamily="18" charset="0"/>
                <a:cs typeface="Times New Roman" pitchFamily="18" charset="0"/>
              </a:rPr>
              <a:t> U</a:t>
            </a:r>
            <a:r>
              <a:rPr lang="id-ID" sz="3200" dirty="0" smtClean="0">
                <a:latin typeface="Times New Roman" pitchFamily="18" charset="0"/>
                <a:cs typeface="Times New Roman" pitchFamily="18" charset="0"/>
              </a:rPr>
              <a:t>ntuk </a:t>
            </a:r>
            <a:r>
              <a:rPr lang="id-ID" sz="3200" dirty="0">
                <a:latin typeface="Times New Roman" pitchFamily="18" charset="0"/>
                <a:cs typeface="Times New Roman" pitchFamily="18" charset="0"/>
              </a:rPr>
              <a:t>modulator FM, k</a:t>
            </a:r>
            <a:r>
              <a:rPr lang="id-ID" sz="3200" baseline="-25000" dirty="0">
                <a:latin typeface="Times New Roman" pitchFamily="18" charset="0"/>
                <a:cs typeface="Times New Roman" pitchFamily="18" charset="0"/>
              </a:rPr>
              <a:t>1 </a:t>
            </a:r>
            <a:r>
              <a:rPr lang="id-ID" sz="3200" dirty="0">
                <a:latin typeface="Times New Roman" pitchFamily="18" charset="0"/>
                <a:cs typeface="Times New Roman" pitchFamily="18" charset="0"/>
              </a:rPr>
              <a:t>= [Hertz/volt]. </a:t>
            </a:r>
          </a:p>
        </p:txBody>
      </p:sp>
      <p:pic>
        <p:nvPicPr>
          <p:cNvPr id="563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092325"/>
            <a:ext cx="8024458" cy="1737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0" y="0"/>
            <a:ext cx="7027886"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kumimoji="0" lang="id-ID" sz="3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Bentuk Gelombang PM dan FM</a:t>
            </a:r>
            <a:endParaRPr kumimoji="0" lang="id-ID" sz="3600" b="0" i="0" u="none" strike="noStrike" cap="none" normalizeH="0" baseline="0" dirty="0" smtClean="0">
              <a:ln>
                <a:noFill/>
              </a:ln>
              <a:solidFill>
                <a:schemeClr val="tx1"/>
              </a:solidFill>
              <a:effectLst/>
              <a:latin typeface="Arial" pitchFamily="34" charset="0"/>
            </a:endParaRPr>
          </a:p>
        </p:txBody>
      </p:sp>
      <p:pic>
        <p:nvPicPr>
          <p:cNvPr id="10" name="Picture 9"/>
          <p:cNvPicPr/>
          <p:nvPr/>
        </p:nvPicPr>
        <p:blipFill>
          <a:blip r:embed="rId2"/>
          <a:srcRect/>
          <a:stretch>
            <a:fillRect/>
          </a:stretch>
        </p:blipFill>
        <p:spPr bwMode="auto">
          <a:xfrm>
            <a:off x="285720" y="646330"/>
            <a:ext cx="8892000" cy="619195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0627"/>
            <a:ext cx="9144000" cy="657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5706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rotWithShape="1">
          <a:blip r:embed="rId2"/>
          <a:srcRect b="37127"/>
          <a:stretch/>
        </p:blipFill>
        <p:spPr bwMode="auto">
          <a:xfrm>
            <a:off x="-2278" y="1196752"/>
            <a:ext cx="9146278" cy="389312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135030" cy="923330"/>
          </a:xfrm>
          <a:prstGeom prst="rect">
            <a:avLst/>
          </a:prstGeom>
        </p:spPr>
        <p:txBody>
          <a:bodyPr wrap="none">
            <a:spAutoFit/>
          </a:bodyPr>
          <a:lstStyle/>
          <a:p>
            <a:r>
              <a:rPr lang="id-ID" sz="5400" dirty="0" smtClean="0"/>
              <a:t>Modulasi Frekuensi (FM)</a:t>
            </a:r>
            <a:endParaRPr lang="id-ID" sz="5400" dirty="0"/>
          </a:p>
        </p:txBody>
      </p:sp>
      <p:sp>
        <p:nvSpPr>
          <p:cNvPr id="5" name="TextBox 4"/>
          <p:cNvSpPr txBox="1"/>
          <p:nvPr/>
        </p:nvSpPr>
        <p:spPr>
          <a:xfrm>
            <a:off x="214282" y="1071546"/>
            <a:ext cx="6643734" cy="769441"/>
          </a:xfrm>
          <a:prstGeom prst="rect">
            <a:avLst/>
          </a:prstGeom>
          <a:noFill/>
        </p:spPr>
        <p:txBody>
          <a:bodyPr wrap="square" rtlCol="0">
            <a:spAutoFit/>
          </a:bodyPr>
          <a:lstStyle/>
          <a:p>
            <a:pPr>
              <a:buFont typeface="Wingdings" pitchFamily="2" charset="2"/>
              <a:buChar char="Ø"/>
            </a:pPr>
            <a:r>
              <a:rPr lang="id-ID" sz="4400" dirty="0" smtClean="0"/>
              <a:t>Modulasi Frekuensi (FM)</a:t>
            </a:r>
            <a:endParaRPr lang="id-ID" sz="4400" dirty="0"/>
          </a:p>
        </p:txBody>
      </p:sp>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236663"/>
            <a:ext cx="8761413" cy="438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75917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28604"/>
            <a:ext cx="8748464" cy="769441"/>
          </a:xfrm>
          <a:prstGeom prst="rect">
            <a:avLst/>
          </a:prstGeom>
          <a:noFill/>
        </p:spPr>
        <p:txBody>
          <a:bodyPr wrap="square" rtlCol="0">
            <a:spAutoFit/>
          </a:bodyPr>
          <a:lstStyle/>
          <a:p>
            <a:pPr>
              <a:buFont typeface="Wingdings" pitchFamily="2" charset="2"/>
              <a:buChar char="Ø"/>
            </a:pPr>
            <a:r>
              <a:rPr lang="id-ID" sz="4400" dirty="0" smtClean="0"/>
              <a:t> </a:t>
            </a:r>
            <a:r>
              <a:rPr lang="id-ID" sz="4400" dirty="0" smtClean="0"/>
              <a:t>Modulas PHASA(PM)</a:t>
            </a:r>
            <a:endParaRPr lang="id-ID" sz="4400" dirty="0"/>
          </a:p>
        </p:txBody>
      </p:sp>
      <p:pic>
        <p:nvPicPr>
          <p:cNvPr id="67586" name="Picture 2"/>
          <p:cNvPicPr>
            <a:picLocks noChangeAspect="1" noChangeArrowheads="1"/>
          </p:cNvPicPr>
          <p:nvPr/>
        </p:nvPicPr>
        <p:blipFill>
          <a:blip r:embed="rId2"/>
          <a:srcRect/>
          <a:stretch>
            <a:fillRect/>
          </a:stretch>
        </p:blipFill>
        <p:spPr bwMode="auto">
          <a:xfrm>
            <a:off x="428561" y="1428735"/>
            <a:ext cx="8666864" cy="4356000"/>
          </a:xfrm>
          <a:prstGeom prst="rect">
            <a:avLst/>
          </a:prstGeom>
          <a:noFill/>
          <a:ln w="9525">
            <a:noFill/>
            <a:miter lim="800000"/>
            <a:headEnd/>
            <a:tailEnd/>
          </a:ln>
          <a:effectLst/>
        </p:spPr>
      </p:pic>
    </p:spTree>
    <p:extLst>
      <p:ext uri="{BB962C8B-B14F-4D97-AF65-F5344CB8AC3E}">
        <p14:creationId xmlns:p14="http://schemas.microsoft.com/office/powerpoint/2010/main" val="2098043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0" y="0"/>
            <a:ext cx="8152553"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kumimoji="0" lang="id-ID" sz="3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Modulator dan Demodulator PM, FM</a:t>
            </a:r>
            <a:endParaRPr kumimoji="0" lang="id-ID" sz="3600" b="0" i="0" u="none" strike="noStrike" cap="none" normalizeH="0" baseline="0" dirty="0" smtClean="0">
              <a:ln>
                <a:noFill/>
              </a:ln>
              <a:solidFill>
                <a:schemeClr val="tx1"/>
              </a:solidFill>
              <a:effectLst/>
              <a:latin typeface="Arial" pitchFamily="34" charset="0"/>
            </a:endParaRPr>
          </a:p>
        </p:txBody>
      </p:sp>
      <p:sp>
        <p:nvSpPr>
          <p:cNvPr id="24578" name="Rectangle 2"/>
          <p:cNvSpPr>
            <a:spLocks noChangeArrowheads="1"/>
          </p:cNvSpPr>
          <p:nvPr/>
        </p:nvSpPr>
        <p:spPr bwMode="auto">
          <a:xfrm>
            <a:off x="310880" y="642918"/>
            <a:ext cx="8099718" cy="181588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Char char="•"/>
              <a:tabLst/>
            </a:pP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Modulator PM = Deferensiator + Modulator FM</a:t>
            </a:r>
            <a:endParaRPr kumimoji="0" lang="id-ID"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Modulator FM = Integrator + Modulator PM</a:t>
            </a:r>
            <a:endParaRPr kumimoji="0" lang="id-ID"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Demodulator FM </a:t>
            </a:r>
            <a:r>
              <a:rPr kumimoji="0" lang="id-ID" sz="28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Demodulator </a:t>
            </a: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PM + Deferensiator.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Demodulator PM = Demodulator FM + Integrator</a:t>
            </a:r>
            <a:endParaRPr kumimoji="0" lang="id-ID"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0" y="2357430"/>
            <a:ext cx="9072000" cy="446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453463" cy="646331"/>
          </a:xfrm>
          <a:prstGeom prst="rect">
            <a:avLst/>
          </a:prstGeom>
        </p:spPr>
        <p:txBody>
          <a:bodyPr wrap="none">
            <a:spAutoFit/>
          </a:bodyPr>
          <a:lstStyle/>
          <a:p>
            <a:pPr>
              <a:buFont typeface="Wingdings" pitchFamily="2" charset="2"/>
              <a:buChar char="Ø"/>
            </a:pPr>
            <a:r>
              <a:rPr lang="id-ID" sz="3600" b="1" dirty="0" smtClean="0"/>
              <a:t> </a:t>
            </a:r>
            <a:r>
              <a:rPr lang="id-ID" b="1" dirty="0" smtClean="0"/>
              <a:t> </a:t>
            </a:r>
            <a:r>
              <a:rPr lang="id-ID" sz="3600" b="1" dirty="0" smtClean="0">
                <a:latin typeface="Times New Roman" pitchFamily="18" charset="0"/>
                <a:cs typeface="Times New Roman" pitchFamily="18" charset="0"/>
              </a:rPr>
              <a:t>Analisis </a:t>
            </a:r>
            <a:r>
              <a:rPr lang="id-ID" sz="3600" b="1" dirty="0">
                <a:latin typeface="Times New Roman" pitchFamily="18" charset="0"/>
                <a:cs typeface="Times New Roman" pitchFamily="18" charset="0"/>
              </a:rPr>
              <a:t>Sinyal FM</a:t>
            </a:r>
            <a:endParaRPr lang="id-ID" sz="3600" dirty="0">
              <a:latin typeface="Times New Roman" pitchFamily="18" charset="0"/>
              <a:cs typeface="Times New Roman" pitchFamily="18" charset="0"/>
            </a:endParaRPr>
          </a:p>
        </p:txBody>
      </p:sp>
      <p:pic>
        <p:nvPicPr>
          <p:cNvPr id="25615" name="Picture 15"/>
          <p:cNvPicPr>
            <a:picLocks noChangeAspect="1" noChangeArrowheads="1"/>
          </p:cNvPicPr>
          <p:nvPr/>
        </p:nvPicPr>
        <p:blipFill>
          <a:blip r:embed="rId2"/>
          <a:srcRect/>
          <a:stretch>
            <a:fillRect/>
          </a:stretch>
        </p:blipFill>
        <p:spPr bwMode="auto">
          <a:xfrm>
            <a:off x="1142975" y="2643182"/>
            <a:ext cx="8001025" cy="972000"/>
          </a:xfrm>
          <a:prstGeom prst="rect">
            <a:avLst/>
          </a:prstGeom>
          <a:noFill/>
          <a:ln w="9525">
            <a:noFill/>
            <a:miter lim="800000"/>
            <a:headEnd/>
            <a:tailEnd/>
          </a:ln>
          <a:effectLst/>
        </p:spPr>
      </p:pic>
      <p:pic>
        <p:nvPicPr>
          <p:cNvPr id="25616" name="Picture 16"/>
          <p:cNvPicPr>
            <a:picLocks noChangeAspect="1" noChangeArrowheads="1"/>
          </p:cNvPicPr>
          <p:nvPr/>
        </p:nvPicPr>
        <p:blipFill>
          <a:blip r:embed="rId3"/>
          <a:srcRect/>
          <a:stretch>
            <a:fillRect/>
          </a:stretch>
        </p:blipFill>
        <p:spPr bwMode="auto">
          <a:xfrm>
            <a:off x="459697" y="714356"/>
            <a:ext cx="8684303" cy="756000"/>
          </a:xfrm>
          <a:prstGeom prst="rect">
            <a:avLst/>
          </a:prstGeom>
          <a:noFill/>
          <a:ln w="9525">
            <a:noFill/>
            <a:miter lim="800000"/>
            <a:headEnd/>
            <a:tailEnd/>
          </a:ln>
          <a:effectLst/>
        </p:spPr>
      </p:pic>
      <p:pic>
        <p:nvPicPr>
          <p:cNvPr id="25617" name="Picture 17"/>
          <p:cNvPicPr>
            <a:picLocks noChangeAspect="1" noChangeArrowheads="1"/>
          </p:cNvPicPr>
          <p:nvPr/>
        </p:nvPicPr>
        <p:blipFill>
          <a:blip r:embed="rId4"/>
          <a:srcRect/>
          <a:stretch>
            <a:fillRect/>
          </a:stretch>
        </p:blipFill>
        <p:spPr bwMode="auto">
          <a:xfrm>
            <a:off x="459697" y="1285860"/>
            <a:ext cx="8684303" cy="756000"/>
          </a:xfrm>
          <a:prstGeom prst="rect">
            <a:avLst/>
          </a:prstGeom>
          <a:noFill/>
          <a:ln w="9525">
            <a:noFill/>
            <a:miter lim="800000"/>
            <a:headEnd/>
            <a:tailEnd/>
          </a:ln>
          <a:effectLst/>
        </p:spPr>
      </p:pic>
      <p:sp>
        <p:nvSpPr>
          <p:cNvPr id="25618" name="Rectangle 18"/>
          <p:cNvSpPr>
            <a:spLocks noChangeArrowheads="1"/>
          </p:cNvSpPr>
          <p:nvPr/>
        </p:nvSpPr>
        <p:spPr bwMode="auto">
          <a:xfrm>
            <a:off x="714348" y="1928802"/>
            <a:ext cx="3357586"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
              <a:tabLst/>
            </a:pPr>
            <a:r>
              <a:rPr kumimoji="0" lang="id-ID" sz="36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Sinyal FM :</a:t>
            </a:r>
            <a:endParaRPr kumimoji="0" lang="id-ID" sz="3600" b="0" i="0" u="none" strike="noStrike" cap="none" normalizeH="0" baseline="0" dirty="0" smtClean="0">
              <a:ln>
                <a:noFill/>
              </a:ln>
              <a:solidFill>
                <a:schemeClr val="tx1"/>
              </a:solidFill>
              <a:effectLst/>
              <a:latin typeface="Arial" pitchFamily="34" charset="0"/>
            </a:endParaRPr>
          </a:p>
        </p:txBody>
      </p:sp>
      <p:sp>
        <p:nvSpPr>
          <p:cNvPr id="30" name="TextBox 29"/>
          <p:cNvSpPr txBox="1"/>
          <p:nvPr/>
        </p:nvSpPr>
        <p:spPr>
          <a:xfrm>
            <a:off x="1643042" y="3643314"/>
            <a:ext cx="6643734" cy="584775"/>
          </a:xfrm>
          <a:prstGeom prst="rect">
            <a:avLst/>
          </a:prstGeom>
          <a:noFill/>
        </p:spPr>
        <p:txBody>
          <a:bodyPr wrap="square" rtlCol="0">
            <a:spAutoFit/>
          </a:bodyPr>
          <a:lstStyle/>
          <a:p>
            <a:r>
              <a:rPr lang="id-ID" sz="3200" dirty="0" smtClean="0">
                <a:latin typeface="Times New Roman" pitchFamily="18" charset="0"/>
                <a:cs typeface="Times New Roman" pitchFamily="18" charset="0"/>
              </a:rPr>
              <a:t>Dimana m = Indeks modulasi</a:t>
            </a:r>
          </a:p>
        </p:txBody>
      </p:sp>
      <p:pic>
        <p:nvPicPr>
          <p:cNvPr id="69634" name="Picture 2"/>
          <p:cNvPicPr>
            <a:picLocks noChangeAspect="1" noChangeArrowheads="1"/>
          </p:cNvPicPr>
          <p:nvPr/>
        </p:nvPicPr>
        <p:blipFill>
          <a:blip r:embed="rId5"/>
          <a:srcRect/>
          <a:stretch>
            <a:fillRect/>
          </a:stretch>
        </p:blipFill>
        <p:spPr bwMode="auto">
          <a:xfrm>
            <a:off x="1979712" y="4167675"/>
            <a:ext cx="2266950" cy="1138236"/>
          </a:xfrm>
          <a:prstGeom prst="rect">
            <a:avLst/>
          </a:prstGeom>
          <a:noFill/>
          <a:ln w="9525">
            <a:noFill/>
            <a:miter lim="800000"/>
            <a:headEnd/>
            <a:tailEnd/>
          </a:ln>
          <a:effectLst/>
        </p:spPr>
      </p:pic>
      <p:sp>
        <p:nvSpPr>
          <p:cNvPr id="4" name="TextBox 3"/>
          <p:cNvSpPr txBox="1"/>
          <p:nvPr/>
        </p:nvSpPr>
        <p:spPr>
          <a:xfrm>
            <a:off x="714348" y="5445224"/>
            <a:ext cx="8429652" cy="1077218"/>
          </a:xfrm>
          <a:prstGeom prst="rect">
            <a:avLst/>
          </a:prstGeom>
          <a:noFill/>
        </p:spPr>
        <p:txBody>
          <a:bodyPr wrap="square" rtlCol="0">
            <a:spAutoFit/>
          </a:bodyPr>
          <a:lstStyle/>
          <a:p>
            <a:r>
              <a:rPr lang="id-ID" sz="2800" dirty="0" smtClean="0"/>
              <a:t>∆</a:t>
            </a:r>
            <a:r>
              <a:rPr lang="id-ID" sz="3200" dirty="0" smtClean="0"/>
              <a:t>f = Simpangan / deviasi maksimum sinyal FM</a:t>
            </a:r>
          </a:p>
          <a:p>
            <a:r>
              <a:rPr lang="id-ID" sz="3200" dirty="0" smtClean="0"/>
              <a:t>Fm = frekuensi maksimum sinyal informasi</a:t>
            </a:r>
            <a:endParaRPr lang="id-ID" sz="3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54" name="Picture 10"/>
          <p:cNvPicPr>
            <a:picLocks noChangeAspect="1" noChangeArrowheads="1"/>
          </p:cNvPicPr>
          <p:nvPr/>
        </p:nvPicPr>
        <p:blipFill>
          <a:blip r:embed="rId2"/>
          <a:srcRect/>
          <a:stretch>
            <a:fillRect/>
          </a:stretch>
        </p:blipFill>
        <p:spPr bwMode="auto">
          <a:xfrm>
            <a:off x="260662" y="3125039"/>
            <a:ext cx="8883337" cy="3708000"/>
          </a:xfrm>
          <a:prstGeom prst="rect">
            <a:avLst/>
          </a:prstGeom>
          <a:noFill/>
          <a:ln w="9525">
            <a:noFill/>
            <a:miter lim="800000"/>
            <a:headEnd/>
            <a:tailEnd/>
          </a:ln>
          <a:effectLst/>
        </p:spPr>
      </p:pic>
      <p:pic>
        <p:nvPicPr>
          <p:cNvPr id="20" name="Picture 2"/>
          <p:cNvPicPr>
            <a:picLocks noChangeAspect="1" noChangeArrowheads="1"/>
          </p:cNvPicPr>
          <p:nvPr/>
        </p:nvPicPr>
        <p:blipFill>
          <a:blip r:embed="rId3"/>
          <a:srcRect/>
          <a:stretch>
            <a:fillRect/>
          </a:stretch>
        </p:blipFill>
        <p:spPr bwMode="auto">
          <a:xfrm>
            <a:off x="17352" y="2060848"/>
            <a:ext cx="9034839" cy="720000"/>
          </a:xfrm>
          <a:prstGeom prst="rect">
            <a:avLst/>
          </a:prstGeom>
          <a:noFill/>
          <a:ln w="9525">
            <a:noFill/>
            <a:miter lim="800000"/>
            <a:headEnd/>
            <a:tailEnd/>
          </a:ln>
          <a:effectLst/>
        </p:spPr>
      </p:pic>
      <p:pic>
        <p:nvPicPr>
          <p:cNvPr id="563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9392"/>
            <a:ext cx="578485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52" y="836712"/>
            <a:ext cx="871855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p:cNvPicPr>
            <a:picLocks noChangeAspect="1" noChangeArrowheads="1"/>
          </p:cNvPicPr>
          <p:nvPr/>
        </p:nvPicPr>
        <p:blipFill>
          <a:blip r:embed="rId2"/>
          <a:srcRect/>
          <a:stretch>
            <a:fillRect/>
          </a:stretch>
        </p:blipFill>
        <p:spPr bwMode="auto">
          <a:xfrm>
            <a:off x="-4" y="214290"/>
            <a:ext cx="9096612" cy="666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a:srcRect l="882" r="4904" b="5882"/>
          <a:stretch>
            <a:fillRect/>
          </a:stretch>
        </p:blipFill>
        <p:spPr bwMode="auto">
          <a:xfrm>
            <a:off x="142844" y="1214422"/>
            <a:ext cx="8928000" cy="5472000"/>
          </a:xfrm>
          <a:prstGeom prst="rect">
            <a:avLst/>
          </a:prstGeom>
          <a:noFill/>
          <a:ln w="9525">
            <a:noFill/>
            <a:miter lim="800000"/>
            <a:headEnd/>
            <a:tailEnd/>
          </a:ln>
        </p:spPr>
      </p:pic>
      <p:sp>
        <p:nvSpPr>
          <p:cNvPr id="10" name="Rectangle 9"/>
          <p:cNvSpPr/>
          <p:nvPr/>
        </p:nvSpPr>
        <p:spPr>
          <a:xfrm>
            <a:off x="0" y="500042"/>
            <a:ext cx="9001156" cy="461665"/>
          </a:xfrm>
          <a:prstGeom prst="rect">
            <a:avLst/>
          </a:prstGeom>
        </p:spPr>
        <p:txBody>
          <a:bodyPr wrap="square">
            <a:spAutoFit/>
          </a:bodyPr>
          <a:lstStyle/>
          <a:p>
            <a:r>
              <a:rPr lang="id-ID" sz="2400" dirty="0"/>
              <a:t>Frekuensi-frekuensi Sisi Gelombang Sinyal FM dari Fungsi Bessel</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214282" y="357166"/>
            <a:ext cx="8892000" cy="648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rcRect/>
          <a:stretch>
            <a:fillRect/>
          </a:stretch>
        </p:blipFill>
        <p:spPr bwMode="auto">
          <a:xfrm>
            <a:off x="-21774" y="428604"/>
            <a:ext cx="9165774" cy="48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fld id="{6DD7E0A1-1D61-48F2-8883-418D88E7E749}" type="slidenum">
              <a:rPr lang="en-US" sz="1000">
                <a:latin typeface="Interstate" pitchFamily="2" charset="0"/>
              </a:rPr>
              <a:pPr eaLnBrk="1" hangingPunct="1"/>
              <a:t>17</a:t>
            </a:fld>
            <a:endParaRPr lang="en-US" sz="1000">
              <a:latin typeface="Interstate" pitchFamily="2" charset="0"/>
            </a:endParaRPr>
          </a:p>
        </p:txBody>
      </p:sp>
      <p:sp>
        <p:nvSpPr>
          <p:cNvPr id="2057" name="Text Box 2"/>
          <p:cNvSpPr txBox="1">
            <a:spLocks noChangeArrowheads="1"/>
          </p:cNvSpPr>
          <p:nvPr/>
        </p:nvSpPr>
        <p:spPr bwMode="auto">
          <a:xfrm>
            <a:off x="708025" y="285028"/>
            <a:ext cx="8188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n-US" sz="2800" b="1">
                <a:solidFill>
                  <a:schemeClr val="bg1"/>
                </a:solidFill>
                <a:latin typeface="Interstate" pitchFamily="2" charset="0"/>
              </a:rPr>
              <a:t>Spektrum </a:t>
            </a:r>
          </a:p>
        </p:txBody>
      </p:sp>
      <p:grpSp>
        <p:nvGrpSpPr>
          <p:cNvPr id="2058" name="Group 17"/>
          <p:cNvGrpSpPr>
            <a:grpSpLocks/>
          </p:cNvGrpSpPr>
          <p:nvPr/>
        </p:nvGrpSpPr>
        <p:grpSpPr bwMode="auto">
          <a:xfrm>
            <a:off x="323528" y="229610"/>
            <a:ext cx="8686800" cy="6583680"/>
            <a:chOff x="566" y="617"/>
            <a:chExt cx="4689" cy="3288"/>
          </a:xfrm>
        </p:grpSpPr>
        <p:graphicFrame>
          <p:nvGraphicFramePr>
            <p:cNvPr id="2050" name="Object 3"/>
            <p:cNvGraphicFramePr>
              <a:graphicFrameLocks noChangeAspect="1"/>
            </p:cNvGraphicFramePr>
            <p:nvPr/>
          </p:nvGraphicFramePr>
          <p:xfrm>
            <a:off x="1841" y="617"/>
            <a:ext cx="2061" cy="265"/>
          </p:xfrm>
          <a:graphic>
            <a:graphicData uri="http://schemas.openxmlformats.org/presentationml/2006/ole">
              <mc:AlternateContent xmlns:mc="http://schemas.openxmlformats.org/markup-compatibility/2006">
                <mc:Choice xmlns:v="urn:schemas-microsoft-com:vml" Requires="v">
                  <p:oleObj spid="_x0000_s55370" name="Equation" r:id="rId4" imgW="2171520" imgH="279360" progId="Equation.DSMT4">
                    <p:embed/>
                  </p:oleObj>
                </mc:Choice>
                <mc:Fallback>
                  <p:oleObj name="Equation" r:id="rId4" imgW="2171520" imgH="2793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1" y="617"/>
                          <a:ext cx="2061"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4"/>
            <p:cNvGraphicFramePr>
              <a:graphicFrameLocks noChangeAspect="1"/>
            </p:cNvGraphicFramePr>
            <p:nvPr>
              <p:extLst>
                <p:ext uri="{D42A27DB-BD31-4B8C-83A1-F6EECF244321}">
                  <p14:modId xmlns:p14="http://schemas.microsoft.com/office/powerpoint/2010/main" val="2682985369"/>
                </p:ext>
              </p:extLst>
            </p:nvPr>
          </p:nvGraphicFramePr>
          <p:xfrm>
            <a:off x="1441" y="1188"/>
            <a:ext cx="2862" cy="409"/>
          </p:xfrm>
          <a:graphic>
            <a:graphicData uri="http://schemas.openxmlformats.org/presentationml/2006/ole">
              <mc:AlternateContent xmlns:mc="http://schemas.openxmlformats.org/markup-compatibility/2006">
                <mc:Choice xmlns:v="urn:schemas-microsoft-com:vml" Requires="v">
                  <p:oleObj spid="_x0000_s55371" name="Equation" r:id="rId6" imgW="3022560" imgH="431640" progId="Equation.DSMT4">
                    <p:embed/>
                  </p:oleObj>
                </mc:Choice>
                <mc:Fallback>
                  <p:oleObj name="Equation" r:id="rId6" imgW="3022560" imgH="4316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1" y="1188"/>
                          <a:ext cx="2862"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9" name="Rectangle 5"/>
            <p:cNvSpPr>
              <a:spLocks noChangeArrowheads="1"/>
            </p:cNvSpPr>
            <p:nvPr/>
          </p:nvSpPr>
          <p:spPr bwMode="auto">
            <a:xfrm>
              <a:off x="1152" y="1597"/>
              <a:ext cx="41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b="1">
                  <a:latin typeface="Interstate" pitchFamily="2" charset="0"/>
                </a:rPr>
                <a:t>Jn (m) is the Bessel function of the first kind</a:t>
              </a:r>
            </a:p>
          </p:txBody>
        </p:sp>
        <p:graphicFrame>
          <p:nvGraphicFramePr>
            <p:cNvPr id="2052" name="Object 6"/>
            <p:cNvGraphicFramePr>
              <a:graphicFrameLocks noChangeAspect="1"/>
            </p:cNvGraphicFramePr>
            <p:nvPr/>
          </p:nvGraphicFramePr>
          <p:xfrm>
            <a:off x="1553" y="1960"/>
            <a:ext cx="2637" cy="409"/>
          </p:xfrm>
          <a:graphic>
            <a:graphicData uri="http://schemas.openxmlformats.org/presentationml/2006/ole">
              <mc:AlternateContent xmlns:mc="http://schemas.openxmlformats.org/markup-compatibility/2006">
                <mc:Choice xmlns:v="urn:schemas-microsoft-com:vml" Requires="v">
                  <p:oleObj spid="_x0000_s55372" name="Equation" r:id="rId8" imgW="2781000" imgH="431640" progId="Equation.DSMT4">
                    <p:embed/>
                  </p:oleObj>
                </mc:Choice>
                <mc:Fallback>
                  <p:oleObj name="Equation" r:id="rId8" imgW="2781000" imgH="43164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3" y="1960"/>
                          <a:ext cx="2637"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3" name="Object 7"/>
            <p:cNvGraphicFramePr>
              <a:graphicFrameLocks noChangeAspect="1"/>
            </p:cNvGraphicFramePr>
            <p:nvPr/>
          </p:nvGraphicFramePr>
          <p:xfrm>
            <a:off x="566" y="2399"/>
            <a:ext cx="4612" cy="984"/>
          </p:xfrm>
          <a:graphic>
            <a:graphicData uri="http://schemas.openxmlformats.org/presentationml/2006/ole">
              <mc:AlternateContent xmlns:mc="http://schemas.openxmlformats.org/markup-compatibility/2006">
                <mc:Choice xmlns:v="urn:schemas-microsoft-com:vml" Requires="v">
                  <p:oleObj spid="_x0000_s55373" name="Equation" r:id="rId10" imgW="4876560" imgH="1041120" progId="Equation.DSMT4">
                    <p:embed/>
                  </p:oleObj>
                </mc:Choice>
                <mc:Fallback>
                  <p:oleObj name="Equation" r:id="rId10" imgW="4876560" imgH="104112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6" y="2399"/>
                          <a:ext cx="4612" cy="9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0" name="Line 8"/>
            <p:cNvSpPr>
              <a:spLocks noChangeShapeType="1"/>
            </p:cNvSpPr>
            <p:nvPr/>
          </p:nvSpPr>
          <p:spPr bwMode="auto">
            <a:xfrm flipV="1">
              <a:off x="2605" y="868"/>
              <a:ext cx="1323" cy="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2061" name="AutoShape 9"/>
            <p:cNvSpPr>
              <a:spLocks/>
            </p:cNvSpPr>
            <p:nvPr/>
          </p:nvSpPr>
          <p:spPr bwMode="auto">
            <a:xfrm rot="16200000" flipH="1">
              <a:off x="2669" y="-681"/>
              <a:ext cx="406" cy="3551"/>
            </a:xfrm>
            <a:prstGeom prst="leftBrace">
              <a:avLst>
                <a:gd name="adj1" fmla="val 72886"/>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endParaRPr lang="en-SG"/>
            </a:p>
          </p:txBody>
        </p:sp>
        <p:grpSp>
          <p:nvGrpSpPr>
            <p:cNvPr id="2062" name="Group 10"/>
            <p:cNvGrpSpPr>
              <a:grpSpLocks/>
            </p:cNvGrpSpPr>
            <p:nvPr/>
          </p:nvGrpSpPr>
          <p:grpSpPr bwMode="auto">
            <a:xfrm>
              <a:off x="1692" y="3474"/>
              <a:ext cx="2360" cy="431"/>
              <a:chOff x="1226" y="1267"/>
              <a:chExt cx="2360" cy="431"/>
            </a:xfrm>
          </p:grpSpPr>
          <p:grpSp>
            <p:nvGrpSpPr>
              <p:cNvPr id="2063" name="Group 11"/>
              <p:cNvGrpSpPr>
                <a:grpSpLocks/>
              </p:cNvGrpSpPr>
              <p:nvPr/>
            </p:nvGrpSpPr>
            <p:grpSpPr bwMode="auto">
              <a:xfrm>
                <a:off x="1226" y="1267"/>
                <a:ext cx="993" cy="431"/>
                <a:chOff x="1226" y="1267"/>
                <a:chExt cx="993" cy="431"/>
              </a:xfrm>
            </p:grpSpPr>
            <p:graphicFrame>
              <p:nvGraphicFramePr>
                <p:cNvPr id="2055" name="Object 12"/>
                <p:cNvGraphicFramePr>
                  <a:graphicFrameLocks noChangeAspect="1"/>
                </p:cNvGraphicFramePr>
                <p:nvPr/>
              </p:nvGraphicFramePr>
              <p:xfrm>
                <a:off x="1586" y="1267"/>
                <a:ext cx="633" cy="431"/>
              </p:xfrm>
              <a:graphic>
                <a:graphicData uri="http://schemas.openxmlformats.org/presentationml/2006/ole">
                  <mc:AlternateContent xmlns:mc="http://schemas.openxmlformats.org/markup-compatibility/2006">
                    <mc:Choice xmlns:v="urn:schemas-microsoft-com:vml" Requires="v">
                      <p:oleObj spid="_x0000_s55374" name="Equation" r:id="rId12" imgW="672840" imgH="457200" progId="Equation.DSMT4">
                        <p:embed/>
                      </p:oleObj>
                    </mc:Choice>
                    <mc:Fallback>
                      <p:oleObj name="Equation" r:id="rId12" imgW="672840" imgH="4572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6" y="1267"/>
                              <a:ext cx="633"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6" name="Rectangle 13"/>
                <p:cNvSpPr>
                  <a:spLocks noChangeArrowheads="1"/>
                </p:cNvSpPr>
                <p:nvPr/>
              </p:nvSpPr>
              <p:spPr bwMode="auto">
                <a:xfrm>
                  <a:off x="1226" y="131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b="1">
                      <a:latin typeface="Interstate" pitchFamily="2" charset="0"/>
                    </a:rPr>
                    <a:t>FM:</a:t>
                  </a:r>
                </a:p>
              </p:txBody>
            </p:sp>
          </p:grpSp>
          <p:grpSp>
            <p:nvGrpSpPr>
              <p:cNvPr id="2064" name="Group 14"/>
              <p:cNvGrpSpPr>
                <a:grpSpLocks/>
              </p:cNvGrpSpPr>
              <p:nvPr/>
            </p:nvGrpSpPr>
            <p:grpSpPr bwMode="auto">
              <a:xfrm>
                <a:off x="2597" y="1306"/>
                <a:ext cx="989" cy="288"/>
                <a:chOff x="3936" y="1507"/>
                <a:chExt cx="989" cy="344"/>
              </a:xfrm>
            </p:grpSpPr>
            <p:graphicFrame>
              <p:nvGraphicFramePr>
                <p:cNvPr id="2054" name="Object 15"/>
                <p:cNvGraphicFramePr>
                  <a:graphicFrameLocks noChangeAspect="1"/>
                </p:cNvGraphicFramePr>
                <p:nvPr/>
              </p:nvGraphicFramePr>
              <p:xfrm>
                <a:off x="4320" y="1584"/>
                <a:ext cx="605" cy="230"/>
              </p:xfrm>
              <a:graphic>
                <a:graphicData uri="http://schemas.openxmlformats.org/presentationml/2006/ole">
                  <mc:AlternateContent xmlns:mc="http://schemas.openxmlformats.org/markup-compatibility/2006">
                    <mc:Choice xmlns:v="urn:schemas-microsoft-com:vml" Requires="v">
                      <p:oleObj spid="_x0000_s55375" name="Equation" r:id="rId14" imgW="634680" imgH="241200" progId="Equation.DSMT4">
                        <p:embed/>
                      </p:oleObj>
                    </mc:Choice>
                    <mc:Fallback>
                      <p:oleObj name="Equation" r:id="rId14" imgW="634680" imgH="241200"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20" y="1584"/>
                              <a:ext cx="605"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5" name="Rectangle 16"/>
                <p:cNvSpPr>
                  <a:spLocks noChangeArrowheads="1"/>
                </p:cNvSpPr>
                <p:nvPr/>
              </p:nvSpPr>
              <p:spPr bwMode="auto">
                <a:xfrm>
                  <a:off x="3936" y="1507"/>
                  <a:ext cx="446"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400" b="1">
                      <a:latin typeface="Interstate" pitchFamily="2" charset="0"/>
                    </a:rPr>
                    <a:t>PM:</a:t>
                  </a:r>
                </a:p>
              </p:txBody>
            </p:sp>
          </p:grpSp>
        </p:grpSp>
      </p:grpSp>
    </p:spTree>
    <p:extLst>
      <p:ext uri="{BB962C8B-B14F-4D97-AF65-F5344CB8AC3E}">
        <p14:creationId xmlns:p14="http://schemas.microsoft.com/office/powerpoint/2010/main" val="2608126448"/>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srcRect/>
          <a:stretch>
            <a:fillRect/>
          </a:stretch>
        </p:blipFill>
        <p:spPr bwMode="auto">
          <a:xfrm>
            <a:off x="0" y="932059"/>
            <a:ext cx="9036496" cy="5233245"/>
          </a:xfrm>
          <a:prstGeom prst="rect">
            <a:avLst/>
          </a:prstGeom>
          <a:noFill/>
          <a:ln w="9525">
            <a:noFill/>
            <a:miter lim="800000"/>
            <a:headEnd/>
            <a:tailEnd/>
          </a:ln>
          <a:effectLst/>
        </p:spPr>
      </p:pic>
      <p:sp>
        <p:nvSpPr>
          <p:cNvPr id="3" name="TextBox 2"/>
          <p:cNvSpPr txBox="1"/>
          <p:nvPr/>
        </p:nvSpPr>
        <p:spPr>
          <a:xfrm>
            <a:off x="285720" y="285728"/>
            <a:ext cx="8072494" cy="646331"/>
          </a:xfrm>
          <a:prstGeom prst="rect">
            <a:avLst/>
          </a:prstGeom>
          <a:noFill/>
        </p:spPr>
        <p:txBody>
          <a:bodyPr wrap="square" rtlCol="0">
            <a:spAutoFit/>
          </a:bodyPr>
          <a:lstStyle/>
          <a:p>
            <a:pPr>
              <a:buFont typeface="Wingdings" pitchFamily="2" charset="2"/>
              <a:buChar char="Ø"/>
            </a:pPr>
            <a:r>
              <a:rPr lang="id-ID" sz="3600" dirty="0" smtClean="0"/>
              <a:t>Fungsi Bessel yg berkaitan dg FM</a:t>
            </a:r>
            <a:endParaRPr lang="id-ID" sz="3600" dirty="0"/>
          </a:p>
        </p:txBody>
      </p:sp>
    </p:spTree>
    <p:extLst>
      <p:ext uri="{BB962C8B-B14F-4D97-AF65-F5344CB8AC3E}">
        <p14:creationId xmlns:p14="http://schemas.microsoft.com/office/powerpoint/2010/main" val="2901470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8072494" cy="646331"/>
          </a:xfrm>
          <a:prstGeom prst="rect">
            <a:avLst/>
          </a:prstGeom>
          <a:noFill/>
        </p:spPr>
        <p:txBody>
          <a:bodyPr wrap="square" rtlCol="0">
            <a:spAutoFit/>
          </a:bodyPr>
          <a:lstStyle/>
          <a:p>
            <a:pPr>
              <a:buFont typeface="Wingdings" pitchFamily="2" charset="2"/>
              <a:buChar char="Ø"/>
            </a:pPr>
            <a:r>
              <a:rPr lang="id-ID" sz="3600" dirty="0" smtClean="0"/>
              <a:t>Tabel Fungsi Bessel</a:t>
            </a:r>
            <a:endParaRPr lang="id-ID" sz="3600" dirty="0"/>
          </a:p>
        </p:txBody>
      </p:sp>
      <p:pic>
        <p:nvPicPr>
          <p:cNvPr id="81922" name="Picture 2"/>
          <p:cNvPicPr>
            <a:picLocks noChangeAspect="1" noChangeArrowheads="1"/>
          </p:cNvPicPr>
          <p:nvPr/>
        </p:nvPicPr>
        <p:blipFill>
          <a:blip r:embed="rId2"/>
          <a:srcRect/>
          <a:stretch>
            <a:fillRect/>
          </a:stretch>
        </p:blipFill>
        <p:spPr bwMode="auto">
          <a:xfrm>
            <a:off x="4" y="642918"/>
            <a:ext cx="9143995" cy="6228000"/>
          </a:xfrm>
          <a:prstGeom prst="rect">
            <a:avLst/>
          </a:prstGeom>
          <a:noFill/>
          <a:ln w="9525">
            <a:noFill/>
            <a:miter lim="800000"/>
            <a:headEnd/>
            <a:tailEnd/>
          </a:ln>
          <a:effectLst/>
        </p:spPr>
      </p:pic>
    </p:spTree>
    <p:extLst>
      <p:ext uri="{BB962C8B-B14F-4D97-AF65-F5344CB8AC3E}">
        <p14:creationId xmlns:p14="http://schemas.microsoft.com/office/powerpoint/2010/main" val="16639404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2"/>
          <a:srcRect/>
          <a:stretch>
            <a:fillRect/>
          </a:stretch>
        </p:blipFill>
        <p:spPr bwMode="auto">
          <a:xfrm>
            <a:off x="142844" y="0"/>
            <a:ext cx="9001156" cy="6858000"/>
          </a:xfrm>
          <a:prstGeom prst="rect">
            <a:avLst/>
          </a:prstGeom>
          <a:noFill/>
          <a:ln w="9525">
            <a:noFill/>
            <a:miter lim="800000"/>
            <a:headEnd/>
            <a:tailEnd/>
          </a:ln>
          <a:effectLst/>
        </p:spPr>
      </p:pic>
    </p:spTree>
    <p:extLst>
      <p:ext uri="{BB962C8B-B14F-4D97-AF65-F5344CB8AC3E}">
        <p14:creationId xmlns:p14="http://schemas.microsoft.com/office/powerpoint/2010/main" val="31828754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0" y="0"/>
            <a:ext cx="91440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kumimoji="0" lang="id-ID" sz="3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Spektrum dan Bandwidth Sinyal FM</a:t>
            </a:r>
            <a:endParaRPr kumimoji="0" lang="id-ID" sz="3600" b="0" i="0" u="none" strike="noStrike" cap="none" normalizeH="0" baseline="0" dirty="0" smtClean="0">
              <a:ln>
                <a:noFill/>
              </a:ln>
              <a:solidFill>
                <a:schemeClr val="tx1"/>
              </a:solidFill>
              <a:effectLst/>
              <a:latin typeface="Arial" pitchFamily="34" charset="0"/>
            </a:endParaRPr>
          </a:p>
        </p:txBody>
      </p:sp>
      <p:sp>
        <p:nvSpPr>
          <p:cNvPr id="28675" name="Rectangle 3"/>
          <p:cNvSpPr>
            <a:spLocks noChangeArrowheads="1"/>
          </p:cNvSpPr>
          <p:nvPr/>
        </p:nvSpPr>
        <p:spPr bwMode="auto">
          <a:xfrm>
            <a:off x="214282" y="857232"/>
            <a:ext cx="8890575"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v"/>
              <a:tabLst/>
            </a:pPr>
            <a:r>
              <a:rPr kumimoji="0" lang="id-ID" sz="2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id-ID" sz="26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Berdasarkan fungsi Bessel, bandwidth gelombang sinyal FM :</a:t>
            </a:r>
            <a:endParaRPr kumimoji="0" lang="id-ID" sz="2600" b="0" i="0" u="none" strike="noStrike" cap="none" normalizeH="0" baseline="0" dirty="0" smtClean="0">
              <a:ln>
                <a:noFill/>
              </a:ln>
              <a:solidFill>
                <a:schemeClr val="tx1"/>
              </a:solidFill>
              <a:effectLst/>
              <a:latin typeface="Arial" pitchFamily="34" charset="0"/>
            </a:endParaRPr>
          </a:p>
        </p:txBody>
      </p:sp>
      <p:sp>
        <p:nvSpPr>
          <p:cNvPr id="28676" name="Rectangle 4"/>
          <p:cNvSpPr>
            <a:spLocks noChangeArrowheads="1"/>
          </p:cNvSpPr>
          <p:nvPr/>
        </p:nvSpPr>
        <p:spPr bwMode="auto">
          <a:xfrm>
            <a:off x="2500297" y="1571611"/>
            <a:ext cx="3564000" cy="10440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id-ID" sz="4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Bw = 2.n.f</a:t>
            </a:r>
            <a:r>
              <a:rPr kumimoji="0" lang="id-ID" sz="4800" b="0" i="0" u="none" strike="noStrike" cap="none" normalizeH="0" baseline="-30000" dirty="0" smtClean="0">
                <a:ln>
                  <a:noFill/>
                </a:ln>
                <a:solidFill>
                  <a:schemeClr val="tx1"/>
                </a:solidFill>
                <a:effectLst/>
                <a:latin typeface="Times New Roman" pitchFamily="18" charset="0"/>
                <a:ea typeface="Calibri" pitchFamily="34" charset="0"/>
                <a:cs typeface="Times New Roman" pitchFamily="18" charset="0"/>
              </a:rPr>
              <a:t>m</a:t>
            </a:r>
            <a:endParaRPr kumimoji="0" lang="id-ID" sz="4800" b="0" i="0" u="none" strike="noStrike" cap="none" normalizeH="0" baseline="0" dirty="0" smtClean="0">
              <a:ln>
                <a:noFill/>
              </a:ln>
              <a:solidFill>
                <a:schemeClr val="tx1"/>
              </a:solidFill>
              <a:effectLst/>
              <a:latin typeface="Arial" pitchFamily="34" charset="0"/>
            </a:endParaRPr>
          </a:p>
        </p:txBody>
      </p:sp>
      <p:sp>
        <p:nvSpPr>
          <p:cNvPr id="28677" name="Rectangle 5"/>
          <p:cNvSpPr>
            <a:spLocks noChangeArrowheads="1"/>
          </p:cNvSpPr>
          <p:nvPr/>
        </p:nvSpPr>
        <p:spPr bwMode="auto">
          <a:xfrm>
            <a:off x="285720" y="2928934"/>
            <a:ext cx="8436925"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v"/>
              <a:tabLst/>
            </a:pPr>
            <a:r>
              <a:rPr lang="id-ID" sz="2800" dirty="0" smtClean="0">
                <a:latin typeface="Times New Roman" pitchFamily="18" charset="0"/>
                <a:ea typeface="Calibri" pitchFamily="34" charset="0"/>
                <a:cs typeface="Times New Roman" pitchFamily="18" charset="0"/>
              </a:rPr>
              <a:t> </a:t>
            </a:r>
            <a:r>
              <a:rPr lang="id-ID" sz="2400" dirty="0" smtClean="0">
                <a:latin typeface="Times New Roman" pitchFamily="18" charset="0"/>
                <a:ea typeface="Calibri" pitchFamily="34" charset="0"/>
                <a:cs typeface="Times New Roman" pitchFamily="18" charset="0"/>
              </a:rPr>
              <a:t>B</a:t>
            </a:r>
            <a:r>
              <a:rPr kumimoji="0" lang="id-ID"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andwidth gelombang sinyal FM berdasar atas rumus Carlson :</a:t>
            </a:r>
            <a:endParaRPr kumimoji="0" lang="id-ID" sz="2400" b="0" i="0" u="none" strike="noStrike" cap="none" normalizeH="0" baseline="0" dirty="0" smtClean="0">
              <a:ln>
                <a:noFill/>
              </a:ln>
              <a:solidFill>
                <a:schemeClr val="tx1"/>
              </a:solidFill>
              <a:effectLst/>
              <a:latin typeface="Arial" pitchFamily="34" charset="0"/>
            </a:endParaRPr>
          </a:p>
        </p:txBody>
      </p:sp>
      <p:pic>
        <p:nvPicPr>
          <p:cNvPr id="28678" name="Picture 6"/>
          <p:cNvPicPr>
            <a:picLocks noChangeAspect="1" noChangeArrowheads="1"/>
          </p:cNvPicPr>
          <p:nvPr/>
        </p:nvPicPr>
        <p:blipFill>
          <a:blip r:embed="rId2"/>
          <a:srcRect/>
          <a:stretch>
            <a:fillRect/>
          </a:stretch>
        </p:blipFill>
        <p:spPr bwMode="auto">
          <a:xfrm>
            <a:off x="2643174" y="3929065"/>
            <a:ext cx="4992000" cy="93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srcRect/>
          <a:stretch>
            <a:fillRect/>
          </a:stretch>
        </p:blipFill>
        <p:spPr>
          <a:xfrm>
            <a:off x="0" y="571479"/>
            <a:ext cx="9023025" cy="6300000"/>
          </a:xfrm>
          <a:prstGeom prst="rect">
            <a:avLst/>
          </a:prstGeom>
        </p:spPr>
      </p:pic>
      <p:sp>
        <p:nvSpPr>
          <p:cNvPr id="3" name="TextBox 2"/>
          <p:cNvSpPr txBox="1"/>
          <p:nvPr/>
        </p:nvSpPr>
        <p:spPr>
          <a:xfrm>
            <a:off x="285720" y="0"/>
            <a:ext cx="8643998" cy="646331"/>
          </a:xfrm>
          <a:prstGeom prst="rect">
            <a:avLst/>
          </a:prstGeom>
          <a:noFill/>
        </p:spPr>
        <p:txBody>
          <a:bodyPr wrap="square" rtlCol="0">
            <a:spAutoFit/>
          </a:bodyPr>
          <a:lstStyle/>
          <a:p>
            <a:pPr>
              <a:buFont typeface="Wingdings" pitchFamily="2" charset="2"/>
              <a:buChar char="v"/>
            </a:pPr>
            <a:r>
              <a:rPr lang="id-ID" sz="3600" dirty="0" smtClean="0">
                <a:latin typeface="Times New Roman" pitchFamily="18" charset="0"/>
                <a:cs typeface="Times New Roman" pitchFamily="18" charset="0"/>
              </a:rPr>
              <a:t> Spektrum Gelombang Sinyal FM :</a:t>
            </a:r>
            <a:endParaRPr lang="id-ID"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60647"/>
            <a:ext cx="8778240" cy="6583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41651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0" y="214290"/>
            <a:ext cx="9061520" cy="446276"/>
          </a:xfrm>
          <a:prstGeom prst="rect">
            <a:avLst/>
          </a:prstGeom>
          <a:noFill/>
          <a:ln w="9525">
            <a:noFill/>
            <a:miter lim="800000"/>
            <a:headEnd/>
            <a:tailEnd/>
          </a:ln>
        </p:spPr>
        <p:txBody>
          <a:bodyPr wrap="none">
            <a:spAutoFit/>
          </a:bodyPr>
          <a:lstStyle/>
          <a:p>
            <a:r>
              <a:rPr lang="en-US" sz="2300" b="1" dirty="0">
                <a:latin typeface="Times New Roman" pitchFamily="18" charset="0"/>
                <a:cs typeface="Times New Roman" pitchFamily="18" charset="0"/>
                <a:sym typeface="Symbol" pitchFamily="18" charset="2"/>
              </a:rPr>
              <a:t>FM modulator: f = 10 kHz, f</a:t>
            </a:r>
            <a:r>
              <a:rPr lang="en-US" sz="2300" b="1" baseline="-25000" dirty="0">
                <a:latin typeface="Times New Roman" pitchFamily="18" charset="0"/>
                <a:cs typeface="Times New Roman" pitchFamily="18" charset="0"/>
                <a:sym typeface="Symbol" pitchFamily="18" charset="2"/>
              </a:rPr>
              <a:t>m</a:t>
            </a:r>
            <a:r>
              <a:rPr lang="en-US" sz="2300" b="1" dirty="0">
                <a:latin typeface="Times New Roman" pitchFamily="18" charset="0"/>
                <a:cs typeface="Times New Roman" pitchFamily="18" charset="0"/>
                <a:sym typeface="Symbol" pitchFamily="18" charset="2"/>
              </a:rPr>
              <a:t> = 10 kHz, </a:t>
            </a:r>
            <a:r>
              <a:rPr lang="en-US" sz="2300" b="1" dirty="0" err="1">
                <a:latin typeface="Times New Roman" pitchFamily="18" charset="0"/>
                <a:cs typeface="Times New Roman" pitchFamily="18" charset="0"/>
                <a:sym typeface="Symbol" pitchFamily="18" charset="2"/>
              </a:rPr>
              <a:t>V</a:t>
            </a:r>
            <a:r>
              <a:rPr lang="en-US" sz="2300" b="1" baseline="-25000" dirty="0" err="1">
                <a:latin typeface="Times New Roman" pitchFamily="18" charset="0"/>
                <a:cs typeface="Times New Roman" pitchFamily="18" charset="0"/>
                <a:sym typeface="Symbol" pitchFamily="18" charset="2"/>
              </a:rPr>
              <a:t>c</a:t>
            </a:r>
            <a:r>
              <a:rPr lang="en-US" sz="2300" b="1" baseline="-25000" dirty="0">
                <a:latin typeface="Times New Roman" pitchFamily="18" charset="0"/>
                <a:cs typeface="Times New Roman" pitchFamily="18" charset="0"/>
                <a:sym typeface="Symbol" pitchFamily="18" charset="2"/>
              </a:rPr>
              <a:t> </a:t>
            </a:r>
            <a:r>
              <a:rPr lang="en-US" sz="2300" b="1" dirty="0">
                <a:latin typeface="Times New Roman" pitchFamily="18" charset="0"/>
                <a:cs typeface="Times New Roman" pitchFamily="18" charset="0"/>
                <a:sym typeface="Symbol" pitchFamily="18" charset="2"/>
              </a:rPr>
              <a:t>= 10 V, </a:t>
            </a:r>
            <a:r>
              <a:rPr lang="en-US" sz="2300" b="1" dirty="0" err="1">
                <a:latin typeface="Times New Roman" pitchFamily="18" charset="0"/>
                <a:cs typeface="Times New Roman" pitchFamily="18" charset="0"/>
                <a:sym typeface="Symbol" pitchFamily="18" charset="2"/>
              </a:rPr>
              <a:t>f</a:t>
            </a:r>
            <a:r>
              <a:rPr lang="en-US" sz="2300" b="1" baseline="-25000" dirty="0" err="1">
                <a:latin typeface="Times New Roman" pitchFamily="18" charset="0"/>
                <a:cs typeface="Times New Roman" pitchFamily="18" charset="0"/>
                <a:sym typeface="Symbol" pitchFamily="18" charset="2"/>
              </a:rPr>
              <a:t>c</a:t>
            </a:r>
            <a:r>
              <a:rPr lang="en-US" sz="2300" b="1" dirty="0">
                <a:latin typeface="Times New Roman" pitchFamily="18" charset="0"/>
                <a:cs typeface="Times New Roman" pitchFamily="18" charset="0"/>
                <a:sym typeface="Symbol" pitchFamily="18" charset="2"/>
              </a:rPr>
              <a:t> = 500 kHz, m=1 </a:t>
            </a:r>
          </a:p>
        </p:txBody>
      </p:sp>
      <p:pic>
        <p:nvPicPr>
          <p:cNvPr id="3" name="Picture 2" descr="f06-07"/>
          <p:cNvPicPr>
            <a:picLocks noChangeAspect="1" noChangeArrowheads="1"/>
          </p:cNvPicPr>
          <p:nvPr/>
        </p:nvPicPr>
        <p:blipFill>
          <a:blip r:embed="rId2">
            <a:clrChange>
              <a:clrFrom>
                <a:srgbClr val="FFFFFF"/>
              </a:clrFrom>
              <a:clrTo>
                <a:srgbClr val="FFFFFF">
                  <a:alpha val="0"/>
                </a:srgbClr>
              </a:clrTo>
            </a:clrChange>
            <a:lum contrast="6000"/>
          </a:blip>
          <a:srcRect l="2777" t="13834" r="2777" b="15334"/>
          <a:stretch>
            <a:fillRect/>
          </a:stretch>
        </p:blipFill>
        <p:spPr bwMode="auto">
          <a:xfrm>
            <a:off x="0" y="1000108"/>
            <a:ext cx="9142122"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829160" cy="707886"/>
          </a:xfrm>
          <a:prstGeom prst="rect">
            <a:avLst/>
          </a:prstGeom>
        </p:spPr>
        <p:txBody>
          <a:bodyPr wrap="none">
            <a:spAutoFit/>
          </a:bodyPr>
          <a:lstStyle/>
          <a:p>
            <a:pPr>
              <a:buFont typeface="Wingdings" pitchFamily="2" charset="2"/>
              <a:buChar char="Ø"/>
            </a:pPr>
            <a:r>
              <a:rPr lang="id-ID" sz="4000" dirty="0" smtClean="0"/>
              <a:t> The Index of Modulation</a:t>
            </a:r>
            <a:endParaRPr lang="id-ID" sz="4000" dirty="0"/>
          </a:p>
        </p:txBody>
      </p:sp>
      <p:pic>
        <p:nvPicPr>
          <p:cNvPr id="68611" name="Picture 3"/>
          <p:cNvPicPr>
            <a:picLocks noChangeAspect="1" noChangeArrowheads="1"/>
          </p:cNvPicPr>
          <p:nvPr/>
        </p:nvPicPr>
        <p:blipFill>
          <a:blip r:embed="rId2"/>
          <a:srcRect/>
          <a:stretch>
            <a:fillRect/>
          </a:stretch>
        </p:blipFill>
        <p:spPr bwMode="auto">
          <a:xfrm>
            <a:off x="714348" y="768567"/>
            <a:ext cx="2654873" cy="1584000"/>
          </a:xfrm>
          <a:prstGeom prst="rect">
            <a:avLst/>
          </a:prstGeom>
          <a:noFill/>
          <a:ln w="9525">
            <a:noFill/>
            <a:miter lim="800000"/>
            <a:headEnd/>
            <a:tailEnd/>
          </a:ln>
          <a:effectLst/>
        </p:spPr>
      </p:pic>
      <p:sp>
        <p:nvSpPr>
          <p:cNvPr id="5" name="TextBox 4"/>
          <p:cNvSpPr txBox="1"/>
          <p:nvPr/>
        </p:nvSpPr>
        <p:spPr>
          <a:xfrm>
            <a:off x="761734" y="3734659"/>
            <a:ext cx="5214974" cy="1938992"/>
          </a:xfrm>
          <a:prstGeom prst="rect">
            <a:avLst/>
          </a:prstGeom>
          <a:noFill/>
        </p:spPr>
        <p:txBody>
          <a:bodyPr wrap="square" rtlCol="0">
            <a:spAutoFit/>
          </a:bodyPr>
          <a:lstStyle/>
          <a:p>
            <a:r>
              <a:rPr lang="id-ID" sz="3600" dirty="0" smtClean="0"/>
              <a:t>Dimana :</a:t>
            </a:r>
          </a:p>
          <a:p>
            <a:r>
              <a:rPr lang="en-US" sz="4800" dirty="0"/>
              <a:t>m</a:t>
            </a:r>
            <a:r>
              <a:rPr lang="id-ID" sz="3600" smtClean="0"/>
              <a:t> </a:t>
            </a:r>
            <a:r>
              <a:rPr lang="id-ID" sz="3600" dirty="0" smtClean="0"/>
              <a:t>= indeks modulasi</a:t>
            </a:r>
          </a:p>
          <a:p>
            <a:endParaRPr lang="id-ID" sz="3600" dirty="0"/>
          </a:p>
        </p:txBody>
      </p:sp>
      <p:sp>
        <p:nvSpPr>
          <p:cNvPr id="6861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pic>
        <p:nvPicPr>
          <p:cNvPr id="68612"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43333" y="4838521"/>
            <a:ext cx="552450" cy="819150"/>
          </a:xfrm>
          <a:prstGeom prst="rect">
            <a:avLst/>
          </a:prstGeom>
          <a:noFill/>
        </p:spPr>
      </p:pic>
      <p:sp>
        <p:nvSpPr>
          <p:cNvPr id="8" name="TextBox 7"/>
          <p:cNvSpPr txBox="1"/>
          <p:nvPr/>
        </p:nvSpPr>
        <p:spPr>
          <a:xfrm>
            <a:off x="1357290" y="4924930"/>
            <a:ext cx="6929486" cy="646331"/>
          </a:xfrm>
          <a:prstGeom prst="rect">
            <a:avLst/>
          </a:prstGeom>
          <a:noFill/>
        </p:spPr>
        <p:txBody>
          <a:bodyPr wrap="square" rtlCol="0">
            <a:spAutoFit/>
          </a:bodyPr>
          <a:lstStyle/>
          <a:p>
            <a:r>
              <a:rPr lang="id-ID" sz="3600" dirty="0" smtClean="0"/>
              <a:t>= Deviasi frekuensi maksimum</a:t>
            </a:r>
            <a:endParaRPr lang="id-ID" sz="3600" dirty="0"/>
          </a:p>
        </p:txBody>
      </p:sp>
      <p:sp>
        <p:nvSpPr>
          <p:cNvPr id="6861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pic>
        <p:nvPicPr>
          <p:cNvPr id="68614" name="Picture 6"/>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661965" y="5577076"/>
            <a:ext cx="695325" cy="819150"/>
          </a:xfrm>
          <a:prstGeom prst="rect">
            <a:avLst/>
          </a:prstGeom>
          <a:noFill/>
        </p:spPr>
      </p:pic>
      <p:sp>
        <p:nvSpPr>
          <p:cNvPr id="11" name="TextBox 10"/>
          <p:cNvSpPr txBox="1"/>
          <p:nvPr/>
        </p:nvSpPr>
        <p:spPr>
          <a:xfrm>
            <a:off x="1428728" y="5657671"/>
            <a:ext cx="7500990" cy="1200329"/>
          </a:xfrm>
          <a:prstGeom prst="rect">
            <a:avLst/>
          </a:prstGeom>
          <a:noFill/>
        </p:spPr>
        <p:txBody>
          <a:bodyPr wrap="square" rtlCol="0">
            <a:spAutoFit/>
          </a:bodyPr>
          <a:lstStyle/>
          <a:p>
            <a:r>
              <a:rPr lang="id-ID" sz="3600" dirty="0" smtClean="0"/>
              <a:t>= Frekuensi maksimum sinyal</a:t>
            </a:r>
          </a:p>
          <a:p>
            <a:r>
              <a:rPr lang="id-ID" sz="3600" dirty="0" smtClean="0"/>
              <a:t>   informasi/ sinyal pemodulasi</a:t>
            </a:r>
            <a:endParaRPr lang="id-ID" sz="3600" dirty="0"/>
          </a:p>
        </p:txBody>
      </p:sp>
      <mc:AlternateContent xmlns:mc="http://schemas.openxmlformats.org/markup-compatibility/2006" xmlns:a14="http://schemas.microsoft.com/office/drawing/2010/main">
        <mc:Choice Requires="a14">
          <p:sp>
            <p:nvSpPr>
              <p:cNvPr id="3" name="Rectangle 2"/>
              <p:cNvSpPr/>
              <p:nvPr/>
            </p:nvSpPr>
            <p:spPr>
              <a:xfrm>
                <a:off x="761734" y="2492896"/>
                <a:ext cx="4564583" cy="1015663"/>
              </a:xfrm>
              <a:prstGeom prst="rect">
                <a:avLst/>
              </a:prstGeom>
            </p:spPr>
            <p:txBody>
              <a:bodyPr wrap="none">
                <a:spAutoFit/>
              </a:bodyPr>
              <a:lstStyle/>
              <a:p>
                <a:r>
                  <a:rPr lang="en-US" sz="6000" b="1" smtClean="0"/>
                  <a:t> m = K</a:t>
                </a:r>
                <a:r>
                  <a:rPr lang="en-US" sz="6000" b="1" baseline="-25000"/>
                  <a:t>1</a:t>
                </a:r>
                <a:r>
                  <a:rPr lang="en-US" sz="6000" b="1"/>
                  <a:t>V</a:t>
                </a:r>
                <a:r>
                  <a:rPr lang="en-US" sz="6000" b="1" baseline="-25000"/>
                  <a:t>m</a:t>
                </a:r>
                <a:r>
                  <a:rPr lang="en-US" sz="6000" b="1"/>
                  <a:t>/</a:t>
                </a:r>
                <a14:m>
                  <m:oMath xmlns:m="http://schemas.openxmlformats.org/officeDocument/2006/math">
                    <m:sSub>
                      <m:sSubPr>
                        <m:ctrlPr>
                          <a:rPr lang="en-US" sz="6000" b="1" i="1">
                            <a:latin typeface="Cambria Math"/>
                          </a:rPr>
                        </m:ctrlPr>
                      </m:sSubPr>
                      <m:e>
                        <m:r>
                          <a:rPr lang="en-US" sz="6000" b="1" i="1" smtClean="0">
                            <a:latin typeface="Cambria Math"/>
                          </a:rPr>
                          <m:t>𝒇</m:t>
                        </m:r>
                      </m:e>
                      <m:sub>
                        <m:r>
                          <a:rPr lang="en-US" sz="6000" b="1" i="1">
                            <a:latin typeface="Cambria Math"/>
                          </a:rPr>
                          <m:t>𝒎</m:t>
                        </m:r>
                      </m:sub>
                    </m:sSub>
                  </m:oMath>
                </a14:m>
                <a:endParaRPr lang="en-US" sz="6000"/>
              </a:p>
            </p:txBody>
          </p:sp>
        </mc:Choice>
        <mc:Fallback xmlns="">
          <p:sp>
            <p:nvSpPr>
              <p:cNvPr id="3" name="Rectangle 2"/>
              <p:cNvSpPr>
                <a:spLocks noRot="1" noChangeAspect="1" noMove="1" noResize="1" noEditPoints="1" noAdjustHandles="1" noChangeArrowheads="1" noChangeShapeType="1" noTextEdit="1"/>
              </p:cNvSpPr>
              <p:nvPr/>
            </p:nvSpPr>
            <p:spPr>
              <a:xfrm>
                <a:off x="761734" y="2492896"/>
                <a:ext cx="4564583" cy="1015663"/>
              </a:xfrm>
              <a:prstGeom prst="rect">
                <a:avLst/>
              </a:prstGeom>
              <a:blipFill rotWithShape="1">
                <a:blip r:embed="rId5"/>
                <a:stretch>
                  <a:fillRect l="-4406" t="-17964" b="-39521"/>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14290"/>
            <a:ext cx="5422895" cy="646331"/>
          </a:xfrm>
          <a:prstGeom prst="rect">
            <a:avLst/>
          </a:prstGeom>
        </p:spPr>
        <p:txBody>
          <a:bodyPr wrap="none">
            <a:spAutoFit/>
          </a:bodyPr>
          <a:lstStyle/>
          <a:p>
            <a:pPr>
              <a:buFont typeface="Wingdings" pitchFamily="2" charset="2"/>
              <a:buChar char="Ø"/>
            </a:pPr>
            <a:r>
              <a:rPr lang="id-ID" sz="3600" dirty="0" smtClean="0"/>
              <a:t>Percentage of Modulation</a:t>
            </a:r>
            <a:endParaRPr lang="id-ID" sz="3600" dirty="0"/>
          </a:p>
        </p:txBody>
      </p:sp>
      <p:sp>
        <p:nvSpPr>
          <p:cNvPr id="4" name="TextBox 3"/>
          <p:cNvSpPr txBox="1"/>
          <p:nvPr/>
        </p:nvSpPr>
        <p:spPr>
          <a:xfrm>
            <a:off x="0" y="3786190"/>
            <a:ext cx="9144000" cy="1200329"/>
          </a:xfrm>
          <a:prstGeom prst="rect">
            <a:avLst/>
          </a:prstGeom>
          <a:noFill/>
        </p:spPr>
        <p:txBody>
          <a:bodyPr wrap="square" rtlCol="0">
            <a:spAutoFit/>
          </a:bodyPr>
          <a:lstStyle/>
          <a:p>
            <a:r>
              <a:rPr lang="id-ID" sz="3600" dirty="0" smtClean="0"/>
              <a:t>Dimana :                      = deviasi maksimum </a:t>
            </a:r>
          </a:p>
          <a:p>
            <a:r>
              <a:rPr lang="id-ID" sz="3600" dirty="0" smtClean="0"/>
              <a:t>                 standar siaran FM komersial = 75 Khz</a:t>
            </a:r>
            <a:endParaRPr lang="id-ID" sz="3600" dirty="0"/>
          </a:p>
        </p:txBody>
      </p:sp>
      <p:sp>
        <p:nvSpPr>
          <p:cNvPr id="798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pic>
        <p:nvPicPr>
          <p:cNvPr id="79875"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857356" y="3714752"/>
            <a:ext cx="2066925" cy="819150"/>
          </a:xfrm>
          <a:prstGeom prst="rect">
            <a:avLst/>
          </a:prstGeom>
          <a:noFill/>
        </p:spPr>
      </p:pic>
      <p:pic>
        <p:nvPicPr>
          <p:cNvPr id="563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477015"/>
            <a:ext cx="8072076" cy="1807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4786314" cy="646331"/>
          </a:xfrm>
          <a:prstGeom prst="rect">
            <a:avLst/>
          </a:prstGeom>
          <a:noFill/>
        </p:spPr>
        <p:txBody>
          <a:bodyPr wrap="square" rtlCol="0">
            <a:spAutoFit/>
          </a:bodyPr>
          <a:lstStyle/>
          <a:p>
            <a:pPr>
              <a:buFont typeface="Wingdings" pitchFamily="2" charset="2"/>
              <a:buChar char="Ø"/>
            </a:pPr>
            <a:r>
              <a:rPr lang="id-ID" sz="3600" dirty="0" smtClean="0"/>
              <a:t> Spektrum FM</a:t>
            </a:r>
            <a:endParaRPr lang="id-ID" sz="3600" dirty="0"/>
          </a:p>
        </p:txBody>
      </p:sp>
      <p:pic>
        <p:nvPicPr>
          <p:cNvPr id="83970" name="Picture 2"/>
          <p:cNvPicPr>
            <a:picLocks noChangeAspect="1" noChangeArrowheads="1"/>
          </p:cNvPicPr>
          <p:nvPr/>
        </p:nvPicPr>
        <p:blipFill>
          <a:blip r:embed="rId2"/>
          <a:srcRect/>
          <a:stretch>
            <a:fillRect/>
          </a:stretch>
        </p:blipFill>
        <p:spPr bwMode="auto">
          <a:xfrm>
            <a:off x="642909" y="928669"/>
            <a:ext cx="2700000" cy="900000"/>
          </a:xfrm>
          <a:prstGeom prst="rect">
            <a:avLst/>
          </a:prstGeom>
          <a:noFill/>
          <a:ln w="9525">
            <a:noFill/>
            <a:miter lim="800000"/>
            <a:headEnd/>
            <a:tailEnd/>
          </a:ln>
          <a:effectLst/>
        </p:spPr>
      </p:pic>
      <p:pic>
        <p:nvPicPr>
          <p:cNvPr id="83972" name="Picture 4"/>
          <p:cNvPicPr>
            <a:picLocks noChangeAspect="1" noChangeArrowheads="1"/>
          </p:cNvPicPr>
          <p:nvPr/>
        </p:nvPicPr>
        <p:blipFill>
          <a:blip r:embed="rId3"/>
          <a:srcRect/>
          <a:stretch>
            <a:fillRect/>
          </a:stretch>
        </p:blipFill>
        <p:spPr bwMode="auto">
          <a:xfrm>
            <a:off x="2952000" y="1428736"/>
            <a:ext cx="6192000" cy="4742387"/>
          </a:xfrm>
          <a:prstGeom prst="rect">
            <a:avLst/>
          </a:prstGeom>
          <a:noFill/>
          <a:ln w="9525">
            <a:noFill/>
            <a:miter lim="800000"/>
            <a:headEnd/>
            <a:tailEnd/>
          </a:ln>
          <a:effectLst/>
        </p:spPr>
      </p:pic>
      <p:pic>
        <p:nvPicPr>
          <p:cNvPr id="83973" name="Picture 5"/>
          <p:cNvPicPr>
            <a:picLocks noChangeAspect="1" noChangeArrowheads="1"/>
          </p:cNvPicPr>
          <p:nvPr/>
        </p:nvPicPr>
        <p:blipFill>
          <a:blip r:embed="rId4"/>
          <a:srcRect/>
          <a:stretch>
            <a:fillRect/>
          </a:stretch>
        </p:blipFill>
        <p:spPr bwMode="auto">
          <a:xfrm>
            <a:off x="2643174" y="6143640"/>
            <a:ext cx="6516000" cy="2043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2"/>
          <a:srcRect/>
          <a:stretch>
            <a:fillRect/>
          </a:stretch>
        </p:blipFill>
        <p:spPr bwMode="auto">
          <a:xfrm>
            <a:off x="285719" y="285727"/>
            <a:ext cx="2458448" cy="1044000"/>
          </a:xfrm>
          <a:prstGeom prst="rect">
            <a:avLst/>
          </a:prstGeom>
          <a:noFill/>
          <a:ln w="9525">
            <a:noFill/>
            <a:miter lim="800000"/>
            <a:headEnd/>
            <a:tailEnd/>
          </a:ln>
          <a:effectLst/>
        </p:spPr>
      </p:pic>
      <p:pic>
        <p:nvPicPr>
          <p:cNvPr id="84995" name="Picture 3"/>
          <p:cNvPicPr>
            <a:picLocks noChangeAspect="1" noChangeArrowheads="1"/>
          </p:cNvPicPr>
          <p:nvPr/>
        </p:nvPicPr>
        <p:blipFill>
          <a:blip r:embed="rId3"/>
          <a:srcRect/>
          <a:stretch>
            <a:fillRect/>
          </a:stretch>
        </p:blipFill>
        <p:spPr bwMode="auto">
          <a:xfrm>
            <a:off x="357158" y="1285860"/>
            <a:ext cx="6663655" cy="5076000"/>
          </a:xfrm>
          <a:prstGeom prst="rect">
            <a:avLst/>
          </a:prstGeom>
          <a:noFill/>
          <a:ln w="9525">
            <a:noFill/>
            <a:miter lim="800000"/>
            <a:headEnd/>
            <a:tailEnd/>
          </a:ln>
          <a:effectLst/>
        </p:spPr>
      </p:pic>
      <p:pic>
        <p:nvPicPr>
          <p:cNvPr id="84996" name="Picture 4"/>
          <p:cNvPicPr>
            <a:picLocks noChangeAspect="1" noChangeArrowheads="1"/>
          </p:cNvPicPr>
          <p:nvPr/>
        </p:nvPicPr>
        <p:blipFill>
          <a:blip r:embed="rId4"/>
          <a:srcRect/>
          <a:stretch>
            <a:fillRect/>
          </a:stretch>
        </p:blipFill>
        <p:spPr bwMode="auto">
          <a:xfrm>
            <a:off x="0" y="6286520"/>
            <a:ext cx="7884000" cy="3188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2"/>
          <a:srcRect/>
          <a:stretch>
            <a:fillRect/>
          </a:stretch>
        </p:blipFill>
        <p:spPr bwMode="auto">
          <a:xfrm>
            <a:off x="214275" y="285728"/>
            <a:ext cx="3848731" cy="756000"/>
          </a:xfrm>
          <a:prstGeom prst="rect">
            <a:avLst/>
          </a:prstGeom>
          <a:noFill/>
          <a:ln w="9525">
            <a:noFill/>
            <a:miter lim="800000"/>
            <a:headEnd/>
            <a:tailEnd/>
          </a:ln>
          <a:effectLst/>
        </p:spPr>
      </p:pic>
      <p:pic>
        <p:nvPicPr>
          <p:cNvPr id="86019" name="Picture 3"/>
          <p:cNvPicPr>
            <a:picLocks noChangeAspect="1" noChangeArrowheads="1"/>
          </p:cNvPicPr>
          <p:nvPr/>
        </p:nvPicPr>
        <p:blipFill>
          <a:blip r:embed="rId3"/>
          <a:srcRect/>
          <a:stretch>
            <a:fillRect/>
          </a:stretch>
        </p:blipFill>
        <p:spPr bwMode="auto">
          <a:xfrm>
            <a:off x="500034" y="1214421"/>
            <a:ext cx="3132000" cy="1949500"/>
          </a:xfrm>
          <a:prstGeom prst="rect">
            <a:avLst/>
          </a:prstGeom>
          <a:noFill/>
          <a:ln w="9525">
            <a:noFill/>
            <a:miter lim="800000"/>
            <a:headEnd/>
            <a:tailEnd/>
          </a:ln>
          <a:effectLst/>
        </p:spPr>
      </p:pic>
      <p:pic>
        <p:nvPicPr>
          <p:cNvPr id="86020" name="Picture 4"/>
          <p:cNvPicPr>
            <a:picLocks noChangeAspect="1" noChangeArrowheads="1"/>
          </p:cNvPicPr>
          <p:nvPr/>
        </p:nvPicPr>
        <p:blipFill>
          <a:blip r:embed="rId4"/>
          <a:srcRect/>
          <a:stretch>
            <a:fillRect/>
          </a:stretch>
        </p:blipFill>
        <p:spPr bwMode="auto">
          <a:xfrm>
            <a:off x="3357554" y="1500174"/>
            <a:ext cx="5531357" cy="4176000"/>
          </a:xfrm>
          <a:prstGeom prst="rect">
            <a:avLst/>
          </a:prstGeom>
          <a:noFill/>
          <a:ln w="9525">
            <a:noFill/>
            <a:miter lim="800000"/>
            <a:headEnd/>
            <a:tailEnd/>
          </a:ln>
          <a:effectLst/>
        </p:spPr>
      </p:pic>
      <p:pic>
        <p:nvPicPr>
          <p:cNvPr id="86021" name="Picture 5"/>
          <p:cNvPicPr>
            <a:picLocks noChangeAspect="1" noChangeArrowheads="1"/>
          </p:cNvPicPr>
          <p:nvPr/>
        </p:nvPicPr>
        <p:blipFill>
          <a:blip r:embed="rId5"/>
          <a:srcRect/>
          <a:stretch>
            <a:fillRect/>
          </a:stretch>
        </p:blipFill>
        <p:spPr bwMode="auto">
          <a:xfrm>
            <a:off x="2857488" y="5715016"/>
            <a:ext cx="6336000" cy="23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2"/>
          <a:srcRect/>
          <a:stretch>
            <a:fillRect/>
          </a:stretch>
        </p:blipFill>
        <p:spPr bwMode="auto">
          <a:xfrm>
            <a:off x="142844" y="214290"/>
            <a:ext cx="3030965" cy="2088000"/>
          </a:xfrm>
          <a:prstGeom prst="rect">
            <a:avLst/>
          </a:prstGeom>
          <a:noFill/>
          <a:ln w="9525">
            <a:noFill/>
            <a:miter lim="800000"/>
            <a:headEnd/>
            <a:tailEnd/>
          </a:ln>
          <a:effectLst/>
        </p:spPr>
      </p:pic>
      <p:pic>
        <p:nvPicPr>
          <p:cNvPr id="87043" name="Picture 3"/>
          <p:cNvPicPr>
            <a:picLocks noChangeAspect="1" noChangeArrowheads="1"/>
          </p:cNvPicPr>
          <p:nvPr/>
        </p:nvPicPr>
        <p:blipFill>
          <a:blip r:embed="rId3"/>
          <a:srcRect/>
          <a:stretch>
            <a:fillRect/>
          </a:stretch>
        </p:blipFill>
        <p:spPr bwMode="auto">
          <a:xfrm>
            <a:off x="3071802" y="357166"/>
            <a:ext cx="5724000" cy="4388400"/>
          </a:xfrm>
          <a:prstGeom prst="rect">
            <a:avLst/>
          </a:prstGeom>
          <a:noFill/>
          <a:ln w="9525">
            <a:noFill/>
            <a:miter lim="800000"/>
            <a:headEnd/>
            <a:tailEnd/>
          </a:ln>
          <a:effectLst/>
        </p:spPr>
      </p:pic>
      <p:pic>
        <p:nvPicPr>
          <p:cNvPr id="87045" name="Picture 5"/>
          <p:cNvPicPr>
            <a:picLocks noChangeAspect="1" noChangeArrowheads="1"/>
          </p:cNvPicPr>
          <p:nvPr/>
        </p:nvPicPr>
        <p:blipFill>
          <a:blip r:embed="rId4"/>
          <a:srcRect/>
          <a:stretch>
            <a:fillRect/>
          </a:stretch>
        </p:blipFill>
        <p:spPr bwMode="auto">
          <a:xfrm>
            <a:off x="2786050" y="4857760"/>
            <a:ext cx="6480000" cy="24152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2"/>
          <a:srcRect/>
          <a:stretch>
            <a:fillRect/>
          </a:stretch>
        </p:blipFill>
        <p:spPr bwMode="auto">
          <a:xfrm>
            <a:off x="-23" y="-1"/>
            <a:ext cx="2869736" cy="2376000"/>
          </a:xfrm>
          <a:prstGeom prst="rect">
            <a:avLst/>
          </a:prstGeom>
          <a:noFill/>
          <a:ln w="9525">
            <a:noFill/>
            <a:miter lim="800000"/>
            <a:headEnd/>
            <a:tailEnd/>
          </a:ln>
          <a:effectLst/>
        </p:spPr>
      </p:pic>
      <p:pic>
        <p:nvPicPr>
          <p:cNvPr id="88067" name="Picture 3"/>
          <p:cNvPicPr>
            <a:picLocks noChangeAspect="1" noChangeArrowheads="1"/>
          </p:cNvPicPr>
          <p:nvPr/>
        </p:nvPicPr>
        <p:blipFill>
          <a:blip r:embed="rId3"/>
          <a:srcRect/>
          <a:stretch>
            <a:fillRect/>
          </a:stretch>
        </p:blipFill>
        <p:spPr bwMode="auto">
          <a:xfrm>
            <a:off x="2000232" y="2643181"/>
            <a:ext cx="5651509" cy="424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2"/>
          <a:srcRect/>
          <a:stretch>
            <a:fillRect/>
          </a:stretch>
        </p:blipFill>
        <p:spPr bwMode="auto">
          <a:xfrm>
            <a:off x="-1" y="2714618"/>
            <a:ext cx="9108000" cy="2286018"/>
          </a:xfrm>
          <a:prstGeom prst="rect">
            <a:avLst/>
          </a:prstGeom>
          <a:noFill/>
          <a:ln w="9525">
            <a:noFill/>
            <a:miter lim="800000"/>
            <a:headEnd/>
            <a:tailEnd/>
          </a:ln>
          <a:effectLst/>
        </p:spPr>
      </p:pic>
      <p:sp>
        <p:nvSpPr>
          <p:cNvPr id="89091" name="Rectangle 3"/>
          <p:cNvSpPr>
            <a:spLocks noChangeArrowheads="1"/>
          </p:cNvSpPr>
          <p:nvPr/>
        </p:nvSpPr>
        <p:spPr bwMode="auto">
          <a:xfrm>
            <a:off x="0" y="0"/>
            <a:ext cx="4847802" cy="64633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Ø"/>
              <a:tabLst/>
            </a:pPr>
            <a:r>
              <a:rPr kumimoji="0" lang="id-ID" sz="36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Daya pada Sinyal FM</a:t>
            </a:r>
            <a:endParaRPr kumimoji="0" lang="id-ID" sz="3600" b="0" i="0" u="none" strike="noStrike" cap="none" normalizeH="0" baseline="0" dirty="0" smtClean="0">
              <a:ln>
                <a:noFill/>
              </a:ln>
              <a:solidFill>
                <a:schemeClr val="tx1"/>
              </a:solidFill>
              <a:effectLst/>
              <a:latin typeface="Arial" pitchFamily="34" charset="0"/>
            </a:endParaRPr>
          </a:p>
        </p:txBody>
      </p:sp>
      <p:sp>
        <p:nvSpPr>
          <p:cNvPr id="4" name="Rectangle 3"/>
          <p:cNvSpPr/>
          <p:nvPr/>
        </p:nvSpPr>
        <p:spPr>
          <a:xfrm>
            <a:off x="571472" y="857232"/>
            <a:ext cx="8429684" cy="1569660"/>
          </a:xfrm>
          <a:prstGeom prst="rect">
            <a:avLst/>
          </a:prstGeom>
        </p:spPr>
        <p:txBody>
          <a:bodyPr wrap="square">
            <a:spAutoFit/>
          </a:bodyPr>
          <a:lstStyle/>
          <a:p>
            <a:pPr>
              <a:buFont typeface="Wingdings" pitchFamily="2" charset="2"/>
              <a:buChar char="§"/>
            </a:pPr>
            <a:r>
              <a:rPr lang="id-ID" sz="3200" dirty="0" smtClean="0"/>
              <a:t> Daya yang dipancarkan konstan baik saat tidak terjadi proses modulasi maupun saat terjadi proses modulasi.</a:t>
            </a:r>
            <a:endParaRPr lang="id-ID" sz="32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707" y="0"/>
            <a:ext cx="2044149" cy="646331"/>
          </a:xfrm>
          <a:prstGeom prst="rect">
            <a:avLst/>
          </a:prstGeom>
        </p:spPr>
        <p:txBody>
          <a:bodyPr wrap="none">
            <a:spAutoFit/>
          </a:bodyPr>
          <a:lstStyle/>
          <a:p>
            <a:pPr lvl="0" algn="ctr" fontAlgn="base">
              <a:spcBef>
                <a:spcPct val="50000"/>
              </a:spcBef>
              <a:spcAft>
                <a:spcPct val="0"/>
              </a:spcAft>
            </a:pPr>
            <a:r>
              <a:rPr lang="en-GB" sz="3600" b="1">
                <a:solidFill>
                  <a:srgbClr val="000000"/>
                </a:solidFill>
                <a:latin typeface="Times New Roman" pitchFamily="18" charset="0"/>
              </a:rPr>
              <a:t>Example </a:t>
            </a:r>
          </a:p>
        </p:txBody>
      </p:sp>
      <p:sp>
        <p:nvSpPr>
          <p:cNvPr id="3" name="Rectangle 2"/>
          <p:cNvSpPr/>
          <p:nvPr/>
        </p:nvSpPr>
        <p:spPr>
          <a:xfrm>
            <a:off x="-1418" y="646331"/>
            <a:ext cx="9144000" cy="2246769"/>
          </a:xfrm>
          <a:prstGeom prst="rect">
            <a:avLst/>
          </a:prstGeom>
        </p:spPr>
        <p:txBody>
          <a:bodyPr wrap="square">
            <a:spAutoFit/>
          </a:bodyPr>
          <a:lstStyle/>
          <a:p>
            <a:pPr marL="971550" lvl="1" indent="-514350">
              <a:buFont typeface="+mj-lt"/>
              <a:buAutoNum type="arabicPeriod"/>
            </a:pPr>
            <a:r>
              <a:rPr lang="en-GB" altLang="en-GB" sz="2800" smtClean="0"/>
              <a:t>Commercial </a:t>
            </a:r>
            <a:r>
              <a:rPr lang="en-GB" altLang="en-GB" sz="2800"/>
              <a:t>FM broadcasting stations restrict the maximum carrier frequency deviation to  75 KHz . A single modulating tone of 15 KHz is used to produce </a:t>
            </a:r>
            <a:r>
              <a:rPr lang="en-GB" altLang="en-GB" sz="2800" smtClean="0"/>
              <a:t>  the </a:t>
            </a:r>
            <a:r>
              <a:rPr lang="en-GB" altLang="en-GB" sz="2800"/>
              <a:t>peak frequency deviation of the carrier. </a:t>
            </a:r>
          </a:p>
          <a:p>
            <a:pPr lvl="1"/>
            <a:r>
              <a:rPr lang="en-GB" altLang="en-GB" sz="2800" smtClean="0"/>
              <a:t>       Determine </a:t>
            </a:r>
            <a:r>
              <a:rPr lang="en-GB" altLang="en-GB" sz="2800"/>
              <a:t>the modulation index ?</a:t>
            </a:r>
          </a:p>
        </p:txBody>
      </p:sp>
      <p:graphicFrame>
        <p:nvGraphicFramePr>
          <p:cNvPr id="4" name="Object 3"/>
          <p:cNvGraphicFramePr>
            <a:graphicFrameLocks noChangeAspect="1"/>
          </p:cNvGraphicFramePr>
          <p:nvPr>
            <p:extLst>
              <p:ext uri="{D42A27DB-BD31-4B8C-83A1-F6EECF244321}">
                <p14:modId xmlns:p14="http://schemas.microsoft.com/office/powerpoint/2010/main" val="1723214165"/>
              </p:ext>
            </p:extLst>
          </p:nvPr>
        </p:nvGraphicFramePr>
        <p:xfrm>
          <a:off x="683568" y="3140968"/>
          <a:ext cx="1244600" cy="1057275"/>
        </p:xfrm>
        <a:graphic>
          <a:graphicData uri="http://schemas.openxmlformats.org/presentationml/2006/ole">
            <mc:AlternateContent xmlns:mc="http://schemas.openxmlformats.org/markup-compatibility/2006">
              <mc:Choice xmlns:v="urn:schemas-microsoft-com:vml" Requires="v">
                <p:oleObj spid="_x0000_s45108" name="Equation" r:id="rId3" imgW="507960" imgH="431640" progId="Equation.3">
                  <p:embed/>
                </p:oleObj>
              </mc:Choice>
              <mc:Fallback>
                <p:oleObj name="Equation" r:id="rId3" imgW="507960" imgH="431640" progId="Equation.3">
                  <p:embed/>
                  <p:pic>
                    <p:nvPicPr>
                      <p:cNvPr id="0" name="Object 13"/>
                      <p:cNvPicPr>
                        <a:picLocks noChangeAspect="1" noChangeArrowheads="1"/>
                      </p:cNvPicPr>
                      <p:nvPr/>
                    </p:nvPicPr>
                    <p:blipFill>
                      <a:blip r:embed="rId4"/>
                      <a:srcRect/>
                      <a:stretch>
                        <a:fillRect/>
                      </a:stretch>
                    </p:blipFill>
                    <p:spPr bwMode="auto">
                      <a:xfrm>
                        <a:off x="683568" y="3140968"/>
                        <a:ext cx="12446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869636644"/>
              </p:ext>
            </p:extLst>
          </p:nvPr>
        </p:nvGraphicFramePr>
        <p:xfrm>
          <a:off x="611560" y="4581128"/>
          <a:ext cx="2428875" cy="963613"/>
        </p:xfrm>
        <a:graphic>
          <a:graphicData uri="http://schemas.openxmlformats.org/presentationml/2006/ole">
            <mc:AlternateContent xmlns:mc="http://schemas.openxmlformats.org/markup-compatibility/2006">
              <mc:Choice xmlns:v="urn:schemas-microsoft-com:vml" Requires="v">
                <p:oleObj spid="_x0000_s45109" name="Equation" r:id="rId5" imgW="990360" imgH="393480" progId="Equation.3">
                  <p:embed/>
                </p:oleObj>
              </mc:Choice>
              <mc:Fallback>
                <p:oleObj name="Equation" r:id="rId5" imgW="990360" imgH="393480" progId="Equation.3">
                  <p:embed/>
                  <p:pic>
                    <p:nvPicPr>
                      <p:cNvPr id="0" name="Object 17"/>
                      <p:cNvPicPr>
                        <a:picLocks noChangeAspect="1" noChangeArrowheads="1"/>
                      </p:cNvPicPr>
                      <p:nvPr/>
                    </p:nvPicPr>
                    <p:blipFill>
                      <a:blip r:embed="rId6"/>
                      <a:srcRect/>
                      <a:stretch>
                        <a:fillRect/>
                      </a:stretch>
                    </p:blipFill>
                    <p:spPr bwMode="auto">
                      <a:xfrm>
                        <a:off x="611560" y="4581128"/>
                        <a:ext cx="2428875"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0271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1" y="177681"/>
            <a:ext cx="9143999"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marL="514350" marR="0" lvl="0" indent="-514350" algn="l" defTabSz="914400" eaLnBrk="1" fontAlgn="auto" latinLnBrk="0" hangingPunct="1">
              <a:lnSpc>
                <a:spcPct val="100000"/>
              </a:lnSpc>
              <a:spcBef>
                <a:spcPts val="0"/>
              </a:spcBef>
              <a:spcAft>
                <a:spcPts val="0"/>
              </a:spcAft>
              <a:buClrTx/>
              <a:buSzTx/>
              <a:buFontTx/>
              <a:buAutoNum type="arabicPeriod" startAt="2"/>
              <a:tabLst/>
              <a:defRPr/>
            </a:pPr>
            <a:r>
              <a:rPr kumimoji="0" lang="en-GB" sz="2800" b="0" i="0" u="none" strike="noStrike" kern="0" cap="none" spc="0" normalizeH="0" baseline="0" noProof="0" smtClean="0">
                <a:ln>
                  <a:noFill/>
                </a:ln>
                <a:solidFill>
                  <a:sysClr val="windowText" lastClr="000000"/>
                </a:solidFill>
                <a:effectLst/>
                <a:uLnTx/>
                <a:uFillTx/>
              </a:rPr>
              <a:t>If the peak frequency deviation of the carrier is  100 kHz, and is produced by a 5 kHz modulating tone.</a:t>
            </a:r>
            <a:r>
              <a:rPr kumimoji="0" lang="en-GB" sz="1800" b="0" i="0" u="none" strike="noStrike" kern="0" cap="none" spc="0" normalizeH="0" baseline="0" noProof="0" smtClean="0">
                <a:ln>
                  <a:noFill/>
                </a:ln>
                <a:solidFill>
                  <a:sysClr val="windowText" lastClr="000000"/>
                </a:solidFill>
                <a:effectLst/>
                <a:uLnTx/>
                <a:uFillTx/>
              </a:rPr>
              <a:t> </a:t>
            </a:r>
            <a:endParaRPr kumimoji="0" lang="en-GB" sz="2800" b="0" i="0" u="none" strike="noStrike" kern="0" cap="none" spc="0" normalizeH="0" baseline="0" noProof="0" smtClean="0">
              <a:ln>
                <a:noFill/>
              </a:ln>
              <a:solidFill>
                <a:sysClr val="windowText" lastClr="000000"/>
              </a:solidFill>
              <a:effectLst/>
              <a:uLnTx/>
              <a:uFillTx/>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GB" altLang="en-GB" sz="2800" b="0" i="0" u="none" strike="noStrike" kern="0" cap="none" spc="0" normalizeH="0" baseline="0" noProof="0" smtClean="0">
                <a:ln>
                  <a:noFill/>
                </a:ln>
                <a:solidFill>
                  <a:sysClr val="windowText" lastClr="000000"/>
                </a:solidFill>
                <a:effectLst/>
                <a:uLnTx/>
                <a:uFillTx/>
              </a:rPr>
              <a:t>       Determine the modulation index ?</a:t>
            </a:r>
          </a:p>
        </p:txBody>
      </p:sp>
      <p:graphicFrame>
        <p:nvGraphicFramePr>
          <p:cNvPr id="3" name="Object 2"/>
          <p:cNvGraphicFramePr>
            <a:graphicFrameLocks noChangeAspect="1"/>
          </p:cNvGraphicFramePr>
          <p:nvPr>
            <p:extLst>
              <p:ext uri="{D42A27DB-BD31-4B8C-83A1-F6EECF244321}">
                <p14:modId xmlns:p14="http://schemas.microsoft.com/office/powerpoint/2010/main" val="1134955854"/>
              </p:ext>
            </p:extLst>
          </p:nvPr>
        </p:nvGraphicFramePr>
        <p:xfrm>
          <a:off x="683568" y="1484784"/>
          <a:ext cx="1244600" cy="1057275"/>
        </p:xfrm>
        <a:graphic>
          <a:graphicData uri="http://schemas.openxmlformats.org/presentationml/2006/ole">
            <mc:AlternateContent xmlns:mc="http://schemas.openxmlformats.org/markup-compatibility/2006">
              <mc:Choice xmlns:v="urn:schemas-microsoft-com:vml" Requires="v">
                <p:oleObj spid="_x0000_s46145" name="Equation" r:id="rId3" imgW="507960" imgH="431640" progId="Equation.3">
                  <p:embed/>
                </p:oleObj>
              </mc:Choice>
              <mc:Fallback>
                <p:oleObj name="Equation" r:id="rId3" imgW="507960" imgH="431640" progId="Equation.3">
                  <p:embed/>
                  <p:pic>
                    <p:nvPicPr>
                      <p:cNvPr id="0" name="Object 5"/>
                      <p:cNvPicPr>
                        <a:picLocks noChangeAspect="1" noChangeArrowheads="1"/>
                      </p:cNvPicPr>
                      <p:nvPr/>
                    </p:nvPicPr>
                    <p:blipFill>
                      <a:blip r:embed="rId4"/>
                      <a:srcRect/>
                      <a:stretch>
                        <a:fillRect/>
                      </a:stretch>
                    </p:blipFill>
                    <p:spPr bwMode="auto">
                      <a:xfrm>
                        <a:off x="683568" y="1484784"/>
                        <a:ext cx="1244600"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342505678"/>
              </p:ext>
            </p:extLst>
          </p:nvPr>
        </p:nvGraphicFramePr>
        <p:xfrm>
          <a:off x="2771800" y="1628800"/>
          <a:ext cx="2801937" cy="963612"/>
        </p:xfrm>
        <a:graphic>
          <a:graphicData uri="http://schemas.openxmlformats.org/presentationml/2006/ole">
            <mc:AlternateContent xmlns:mc="http://schemas.openxmlformats.org/markup-compatibility/2006">
              <mc:Choice xmlns:v="urn:schemas-microsoft-com:vml" Requires="v">
                <p:oleObj spid="_x0000_s46146" name="Equation" r:id="rId5" imgW="1143000" imgH="393480" progId="Equation.3">
                  <p:embed/>
                </p:oleObj>
              </mc:Choice>
              <mc:Fallback>
                <p:oleObj name="Equation" r:id="rId5" imgW="1143000" imgH="393480" progId="Equation.3">
                  <p:embed/>
                  <p:pic>
                    <p:nvPicPr>
                      <p:cNvPr id="0" name="Object 7"/>
                      <p:cNvPicPr>
                        <a:picLocks noChangeAspect="1" noChangeArrowheads="1"/>
                      </p:cNvPicPr>
                      <p:nvPr/>
                    </p:nvPicPr>
                    <p:blipFill>
                      <a:blip r:embed="rId6"/>
                      <a:srcRect/>
                      <a:stretch>
                        <a:fillRect/>
                      </a:stretch>
                    </p:blipFill>
                    <p:spPr bwMode="auto">
                      <a:xfrm>
                        <a:off x="2771800" y="1628800"/>
                        <a:ext cx="2801937" cy="963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4"/>
          <p:cNvSpPr/>
          <p:nvPr/>
        </p:nvSpPr>
        <p:spPr>
          <a:xfrm>
            <a:off x="0" y="3212976"/>
            <a:ext cx="9143999" cy="1815882"/>
          </a:xfrm>
          <a:prstGeom prst="rect">
            <a:avLst/>
          </a:prstGeom>
        </p:spPr>
        <p:txBody>
          <a:bodyPr wrap="square">
            <a:spAutoFit/>
          </a:bodyPr>
          <a:lstStyle/>
          <a:p>
            <a:pPr marL="514350" indent="-514350">
              <a:buAutoNum type="arabicPeriod" startAt="3"/>
            </a:pPr>
            <a:r>
              <a:rPr lang="en-GB" sz="2800" smtClean="0"/>
              <a:t>A </a:t>
            </a:r>
            <a:r>
              <a:rPr lang="en-GB" sz="2800"/>
              <a:t>FM system has a maximum frequency deviation </a:t>
            </a:r>
            <a:r>
              <a:rPr lang="en-GB" sz="2800" smtClean="0"/>
              <a:t>of</a:t>
            </a:r>
          </a:p>
          <a:p>
            <a:r>
              <a:rPr lang="en-GB" sz="2800"/>
              <a:t> </a:t>
            </a:r>
            <a:r>
              <a:rPr lang="en-GB" sz="2800" smtClean="0"/>
              <a:t>     </a:t>
            </a:r>
            <a:r>
              <a:rPr lang="en-GB" sz="2800"/>
              <a:t>50KHz. A test signal of 4V, 2KHz produces a frequency </a:t>
            </a:r>
            <a:endParaRPr lang="en-GB" sz="2800" smtClean="0"/>
          </a:p>
          <a:p>
            <a:r>
              <a:rPr lang="en-GB" sz="2800"/>
              <a:t> </a:t>
            </a:r>
            <a:r>
              <a:rPr lang="en-GB" sz="2800" smtClean="0"/>
              <a:t>      deviation </a:t>
            </a:r>
            <a:r>
              <a:rPr lang="en-GB" sz="2800"/>
              <a:t>of 16KHz.</a:t>
            </a:r>
          </a:p>
          <a:p>
            <a:r>
              <a:rPr lang="en-GB" sz="2800"/>
              <a:t>       Determine the modulation index ?</a:t>
            </a:r>
          </a:p>
        </p:txBody>
      </p:sp>
      <p:graphicFrame>
        <p:nvGraphicFramePr>
          <p:cNvPr id="6" name="Object 5"/>
          <p:cNvGraphicFramePr>
            <a:graphicFrameLocks noChangeAspect="1"/>
          </p:cNvGraphicFramePr>
          <p:nvPr>
            <p:extLst>
              <p:ext uri="{D42A27DB-BD31-4B8C-83A1-F6EECF244321}">
                <p14:modId xmlns:p14="http://schemas.microsoft.com/office/powerpoint/2010/main" val="2531622941"/>
              </p:ext>
            </p:extLst>
          </p:nvPr>
        </p:nvGraphicFramePr>
        <p:xfrm>
          <a:off x="1016000" y="5029200"/>
          <a:ext cx="2428875" cy="917575"/>
        </p:xfrm>
        <a:graphic>
          <a:graphicData uri="http://schemas.openxmlformats.org/presentationml/2006/ole">
            <mc:AlternateContent xmlns:mc="http://schemas.openxmlformats.org/markup-compatibility/2006">
              <mc:Choice xmlns:v="urn:schemas-microsoft-com:vml" Requires="v">
                <p:oleObj spid="_x0000_s46147" name="Equation" r:id="rId7" imgW="1143000" imgH="431640" progId="Equation.3">
                  <p:embed/>
                </p:oleObj>
              </mc:Choice>
              <mc:Fallback>
                <p:oleObj name="Equation" r:id="rId7" imgW="1143000" imgH="431640" progId="Equation.3">
                  <p:embed/>
                  <p:pic>
                    <p:nvPicPr>
                      <p:cNvPr id="0" name="Object 5"/>
                      <p:cNvPicPr>
                        <a:picLocks noChangeAspect="1" noChangeArrowheads="1"/>
                      </p:cNvPicPr>
                      <p:nvPr/>
                    </p:nvPicPr>
                    <p:blipFill>
                      <a:blip r:embed="rId8"/>
                      <a:srcRect/>
                      <a:stretch>
                        <a:fillRect/>
                      </a:stretch>
                    </p:blipFill>
                    <p:spPr bwMode="auto">
                      <a:xfrm>
                        <a:off x="1016000" y="5029200"/>
                        <a:ext cx="242887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2516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0" y="260648"/>
            <a:ext cx="8451850"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smtClean="0"/>
              <a:t>4.   A </a:t>
            </a:r>
            <a:r>
              <a:rPr lang="en-GB"/>
              <a:t>FM system has the following </a:t>
            </a:r>
            <a:r>
              <a:rPr lang="en-GB" smtClean="0"/>
              <a:t>properties: f</a:t>
            </a:r>
            <a:r>
              <a:rPr lang="en-GB" baseline="-25000" smtClean="0"/>
              <a:t>m</a:t>
            </a:r>
            <a:r>
              <a:rPr lang="en-GB" smtClean="0"/>
              <a:t> </a:t>
            </a:r>
            <a:r>
              <a:rPr lang="en-GB"/>
              <a:t>= 3KHz, </a:t>
            </a:r>
            <a:r>
              <a:rPr lang="en-GB" smtClean="0"/>
              <a:t>V</a:t>
            </a:r>
            <a:r>
              <a:rPr lang="en-GB" baseline="-25000" smtClean="0"/>
              <a:t>m</a:t>
            </a:r>
            <a:r>
              <a:rPr lang="en-GB" smtClean="0"/>
              <a:t> </a:t>
            </a:r>
            <a:r>
              <a:rPr lang="en-GB"/>
              <a:t>= 3v, </a:t>
            </a:r>
            <a:r>
              <a:rPr lang="en-US" smtClean="0">
                <a:cs typeface="Times New Roman" pitchFamily="18" charset="0"/>
              </a:rPr>
              <a:t>m</a:t>
            </a:r>
            <a:r>
              <a:rPr lang="en-GB" smtClean="0">
                <a:cs typeface="Times New Roman" pitchFamily="18" charset="0"/>
              </a:rPr>
              <a:t> </a:t>
            </a:r>
            <a:r>
              <a:rPr lang="en-GB">
                <a:cs typeface="Times New Roman" pitchFamily="18" charset="0"/>
              </a:rPr>
              <a:t>= 4, </a:t>
            </a:r>
            <a:r>
              <a:rPr lang="en-GB" smtClean="0">
                <a:cs typeface="Times New Roman" pitchFamily="18" charset="0"/>
              </a:rPr>
              <a:t>V</a:t>
            </a:r>
            <a:r>
              <a:rPr lang="en-GB" baseline="-25000" smtClean="0">
                <a:cs typeface="Times New Roman" pitchFamily="18" charset="0"/>
              </a:rPr>
              <a:t>c</a:t>
            </a:r>
            <a:r>
              <a:rPr lang="en-GB" smtClean="0">
                <a:cs typeface="Times New Roman" pitchFamily="18" charset="0"/>
              </a:rPr>
              <a:t> </a:t>
            </a:r>
            <a:r>
              <a:rPr lang="en-GB">
                <a:cs typeface="Times New Roman" pitchFamily="18" charset="0"/>
              </a:rPr>
              <a:t>= 2v, f</a:t>
            </a:r>
            <a:r>
              <a:rPr lang="en-GB" baseline="-25000">
                <a:cs typeface="Times New Roman" pitchFamily="18" charset="0"/>
              </a:rPr>
              <a:t>c</a:t>
            </a:r>
            <a:r>
              <a:rPr lang="en-GB">
                <a:cs typeface="Times New Roman" pitchFamily="18" charset="0"/>
              </a:rPr>
              <a:t> = 200KHz</a:t>
            </a:r>
          </a:p>
          <a:p>
            <a:pPr algn="l" eaLnBrk="1" hangingPunct="1"/>
            <a:endParaRPr lang="en-GB" sz="1200">
              <a:cs typeface="Times New Roman" pitchFamily="18" charset="0"/>
            </a:endParaRPr>
          </a:p>
          <a:p>
            <a:pPr marL="0" indent="0" algn="l" eaLnBrk="1" hangingPunct="1"/>
            <a:r>
              <a:rPr lang="en-GB" smtClean="0">
                <a:cs typeface="Times New Roman" pitchFamily="18" charset="0"/>
              </a:rPr>
              <a:t>      Determine </a:t>
            </a:r>
            <a:r>
              <a:rPr lang="en-GB">
                <a:cs typeface="Times New Roman" pitchFamily="18" charset="0"/>
              </a:rPr>
              <a:t>the frequency deviation ?</a:t>
            </a:r>
            <a:r>
              <a:rPr lang="en-GB"/>
              <a:t>   </a:t>
            </a:r>
          </a:p>
        </p:txBody>
      </p:sp>
      <p:sp>
        <p:nvSpPr>
          <p:cNvPr id="3" name="Text Box 9"/>
          <p:cNvSpPr txBox="1">
            <a:spLocks noChangeArrowheads="1"/>
          </p:cNvSpPr>
          <p:nvPr/>
        </p:nvSpPr>
        <p:spPr bwMode="auto">
          <a:xfrm>
            <a:off x="539552" y="1922641"/>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a:t>Modulation index</a:t>
            </a:r>
          </a:p>
        </p:txBody>
      </p:sp>
      <p:graphicFrame>
        <p:nvGraphicFramePr>
          <p:cNvPr id="4" name="Object 3"/>
          <p:cNvGraphicFramePr>
            <a:graphicFrameLocks noChangeAspect="1"/>
          </p:cNvGraphicFramePr>
          <p:nvPr>
            <p:extLst>
              <p:ext uri="{D42A27DB-BD31-4B8C-83A1-F6EECF244321}">
                <p14:modId xmlns:p14="http://schemas.microsoft.com/office/powerpoint/2010/main" val="1827879031"/>
              </p:ext>
            </p:extLst>
          </p:nvPr>
        </p:nvGraphicFramePr>
        <p:xfrm>
          <a:off x="3243064" y="1628953"/>
          <a:ext cx="1228725" cy="1044575"/>
        </p:xfrm>
        <a:graphic>
          <a:graphicData uri="http://schemas.openxmlformats.org/presentationml/2006/ole">
            <mc:AlternateContent xmlns:mc="http://schemas.openxmlformats.org/markup-compatibility/2006">
              <mc:Choice xmlns:v="urn:schemas-microsoft-com:vml" Requires="v">
                <p:oleObj spid="_x0000_s47153" name="Equation" r:id="rId3" imgW="507960" imgH="431640" progId="Equation.3">
                  <p:embed/>
                </p:oleObj>
              </mc:Choice>
              <mc:Fallback>
                <p:oleObj name="Equation" r:id="rId3" imgW="507960" imgH="431640" progId="Equation.3">
                  <p:embed/>
                  <p:pic>
                    <p:nvPicPr>
                      <p:cNvPr id="0" name="Object 10"/>
                      <p:cNvPicPr>
                        <a:picLocks noChangeAspect="1" noChangeArrowheads="1"/>
                      </p:cNvPicPr>
                      <p:nvPr/>
                    </p:nvPicPr>
                    <p:blipFill>
                      <a:blip r:embed="rId4"/>
                      <a:srcRect/>
                      <a:stretch>
                        <a:fillRect/>
                      </a:stretch>
                    </p:blipFill>
                    <p:spPr bwMode="auto">
                      <a:xfrm>
                        <a:off x="3243064" y="1628953"/>
                        <a:ext cx="1228725"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12"/>
          <p:cNvSpPr txBox="1">
            <a:spLocks noChangeArrowheads="1"/>
          </p:cNvSpPr>
          <p:nvPr/>
        </p:nvSpPr>
        <p:spPr bwMode="auto">
          <a:xfrm>
            <a:off x="683568" y="3573016"/>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a:t>Thus</a:t>
            </a:r>
          </a:p>
        </p:txBody>
      </p:sp>
      <p:graphicFrame>
        <p:nvGraphicFramePr>
          <p:cNvPr id="6" name="Object 5"/>
          <p:cNvGraphicFramePr>
            <a:graphicFrameLocks noChangeAspect="1"/>
          </p:cNvGraphicFramePr>
          <p:nvPr>
            <p:extLst>
              <p:ext uri="{D42A27DB-BD31-4B8C-83A1-F6EECF244321}">
                <p14:modId xmlns:p14="http://schemas.microsoft.com/office/powerpoint/2010/main" val="675670384"/>
              </p:ext>
            </p:extLst>
          </p:nvPr>
        </p:nvGraphicFramePr>
        <p:xfrm>
          <a:off x="1774825" y="3546475"/>
          <a:ext cx="4452938" cy="552450"/>
        </p:xfrm>
        <a:graphic>
          <a:graphicData uri="http://schemas.openxmlformats.org/presentationml/2006/ole">
            <mc:AlternateContent xmlns:mc="http://schemas.openxmlformats.org/markup-compatibility/2006">
              <mc:Choice xmlns:v="urn:schemas-microsoft-com:vml" Requires="v">
                <p:oleObj spid="_x0000_s47154" name="Equation" r:id="rId5" imgW="1841400" imgH="228600" progId="Equation.3">
                  <p:embed/>
                </p:oleObj>
              </mc:Choice>
              <mc:Fallback>
                <p:oleObj name="Equation" r:id="rId5" imgW="1841400" imgH="228600" progId="Equation.3">
                  <p:embed/>
                  <p:pic>
                    <p:nvPicPr>
                      <p:cNvPr id="0" name="Object 13"/>
                      <p:cNvPicPr>
                        <a:picLocks noChangeAspect="1" noChangeArrowheads="1"/>
                      </p:cNvPicPr>
                      <p:nvPr/>
                    </p:nvPicPr>
                    <p:blipFill>
                      <a:blip r:embed="rId6"/>
                      <a:srcRect/>
                      <a:stretch>
                        <a:fillRect/>
                      </a:stretch>
                    </p:blipFill>
                    <p:spPr bwMode="auto">
                      <a:xfrm>
                        <a:off x="1774825" y="3546475"/>
                        <a:ext cx="4452938"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72950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0" y="45690"/>
            <a:ext cx="87757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457200" indent="-457200"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spcBef>
                <a:spcPts val="0"/>
              </a:spcBef>
              <a:buAutoNum type="arabicPeriod" startAt="5"/>
            </a:pPr>
            <a:r>
              <a:rPr lang="en-GB" smtClean="0"/>
              <a:t>A </a:t>
            </a:r>
            <a:r>
              <a:rPr lang="en-GB"/>
              <a:t>FM system has the following </a:t>
            </a:r>
            <a:r>
              <a:rPr lang="en-GB" smtClean="0"/>
              <a:t>properties: f</a:t>
            </a:r>
            <a:r>
              <a:rPr lang="en-GB" baseline="-25000" smtClean="0"/>
              <a:t>m</a:t>
            </a:r>
            <a:r>
              <a:rPr lang="en-GB" smtClean="0"/>
              <a:t> </a:t>
            </a:r>
            <a:r>
              <a:rPr lang="en-GB"/>
              <a:t>= 3KHz, </a:t>
            </a:r>
            <a:r>
              <a:rPr lang="en-GB" smtClean="0"/>
              <a:t>V</a:t>
            </a:r>
            <a:r>
              <a:rPr lang="en-GB" baseline="-25000" smtClean="0"/>
              <a:t>m</a:t>
            </a:r>
            <a:r>
              <a:rPr lang="en-GB" smtClean="0"/>
              <a:t> </a:t>
            </a:r>
            <a:r>
              <a:rPr lang="en-GB"/>
              <a:t>= </a:t>
            </a:r>
            <a:r>
              <a:rPr lang="en-GB" smtClean="0"/>
              <a:t>3v, </a:t>
            </a:r>
          </a:p>
          <a:p>
            <a:pPr marL="0" indent="0" algn="l" eaLnBrk="1" hangingPunct="1">
              <a:spcBef>
                <a:spcPts val="0"/>
              </a:spcBef>
            </a:pPr>
            <a:r>
              <a:rPr lang="en-GB">
                <a:cs typeface="Times New Roman" pitchFamily="18" charset="0"/>
              </a:rPr>
              <a:t> </a:t>
            </a:r>
            <a:r>
              <a:rPr lang="en-GB" smtClean="0">
                <a:cs typeface="Times New Roman" pitchFamily="18" charset="0"/>
              </a:rPr>
              <a:t>      </a:t>
            </a:r>
            <a:r>
              <a:rPr lang="en-US" smtClean="0">
                <a:cs typeface="Times New Roman" pitchFamily="18" charset="0"/>
              </a:rPr>
              <a:t>m</a:t>
            </a:r>
            <a:r>
              <a:rPr lang="en-GB" smtClean="0">
                <a:cs typeface="Times New Roman" pitchFamily="18" charset="0"/>
              </a:rPr>
              <a:t> </a:t>
            </a:r>
            <a:r>
              <a:rPr lang="en-GB">
                <a:cs typeface="Times New Roman" pitchFamily="18" charset="0"/>
              </a:rPr>
              <a:t>= 4, </a:t>
            </a:r>
            <a:r>
              <a:rPr lang="en-GB" smtClean="0">
                <a:cs typeface="Times New Roman" pitchFamily="18" charset="0"/>
              </a:rPr>
              <a:t>V</a:t>
            </a:r>
            <a:r>
              <a:rPr lang="en-GB" baseline="-25000" smtClean="0">
                <a:cs typeface="Times New Roman" pitchFamily="18" charset="0"/>
              </a:rPr>
              <a:t>c</a:t>
            </a:r>
            <a:r>
              <a:rPr lang="en-GB" smtClean="0">
                <a:cs typeface="Times New Roman" pitchFamily="18" charset="0"/>
              </a:rPr>
              <a:t> </a:t>
            </a:r>
            <a:r>
              <a:rPr lang="en-GB">
                <a:cs typeface="Times New Roman" pitchFamily="18" charset="0"/>
              </a:rPr>
              <a:t>= 2v, f</a:t>
            </a:r>
            <a:r>
              <a:rPr lang="en-GB" baseline="-25000">
                <a:cs typeface="Times New Roman" pitchFamily="18" charset="0"/>
              </a:rPr>
              <a:t>c</a:t>
            </a:r>
            <a:r>
              <a:rPr lang="en-GB">
                <a:cs typeface="Times New Roman" pitchFamily="18" charset="0"/>
              </a:rPr>
              <a:t> = </a:t>
            </a:r>
            <a:r>
              <a:rPr lang="en-GB" smtClean="0">
                <a:cs typeface="Times New Roman" pitchFamily="18" charset="0"/>
              </a:rPr>
              <a:t>200KHz</a:t>
            </a:r>
          </a:p>
          <a:p>
            <a:pPr marL="0" indent="0" algn="l" eaLnBrk="1" hangingPunct="1">
              <a:spcBef>
                <a:spcPts val="0"/>
              </a:spcBef>
            </a:pPr>
            <a:endParaRPr lang="en-GB" sz="1200">
              <a:cs typeface="Times New Roman" pitchFamily="18" charset="0"/>
            </a:endParaRPr>
          </a:p>
          <a:p>
            <a:pPr marL="0" indent="0" algn="l" eaLnBrk="1" hangingPunct="1"/>
            <a:r>
              <a:rPr lang="en-GB" smtClean="0">
                <a:cs typeface="Times New Roman" pitchFamily="18" charset="0"/>
              </a:rPr>
              <a:t>     Determine </a:t>
            </a:r>
            <a:r>
              <a:rPr lang="en-GB">
                <a:cs typeface="Times New Roman" pitchFamily="18" charset="0"/>
              </a:rPr>
              <a:t>the modulation sensitivity ?</a:t>
            </a:r>
            <a:r>
              <a:rPr lang="en-GB"/>
              <a:t>   </a:t>
            </a:r>
          </a:p>
        </p:txBody>
      </p:sp>
      <p:sp>
        <p:nvSpPr>
          <p:cNvPr id="3" name="Text Box 4"/>
          <p:cNvSpPr txBox="1">
            <a:spLocks noChangeArrowheads="1"/>
          </p:cNvSpPr>
          <p:nvPr/>
        </p:nvSpPr>
        <p:spPr bwMode="auto">
          <a:xfrm>
            <a:off x="467544" y="1988840"/>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a:t>Modulation index</a:t>
            </a:r>
          </a:p>
        </p:txBody>
      </p:sp>
      <p:sp>
        <p:nvSpPr>
          <p:cNvPr id="4" name="Text Box 6"/>
          <p:cNvSpPr txBox="1">
            <a:spLocks noChangeArrowheads="1"/>
          </p:cNvSpPr>
          <p:nvPr/>
        </p:nvSpPr>
        <p:spPr bwMode="auto">
          <a:xfrm>
            <a:off x="441855" y="3068960"/>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a:t>Thus</a:t>
            </a:r>
          </a:p>
        </p:txBody>
      </p:sp>
      <p:sp>
        <p:nvSpPr>
          <p:cNvPr id="5" name="Text Box 8"/>
          <p:cNvSpPr txBox="1">
            <a:spLocks noChangeArrowheads="1"/>
          </p:cNvSpPr>
          <p:nvPr/>
        </p:nvSpPr>
        <p:spPr bwMode="auto">
          <a:xfrm>
            <a:off x="441854" y="4357688"/>
            <a:ext cx="331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50000"/>
              </a:spcBef>
              <a:spcAft>
                <a:spcPct val="0"/>
              </a:spcAft>
              <a:defRPr sz="2400">
                <a:solidFill>
                  <a:srgbClr val="000000"/>
                </a:solidFill>
                <a:latin typeface="Times New Roman" pitchFamily="18" charset="0"/>
              </a:defRPr>
            </a:lvl6pPr>
            <a:lvl7pPr marL="2971800" indent="-228600" algn="ctr" eaLnBrk="0" fontAlgn="base" hangingPunct="0">
              <a:spcBef>
                <a:spcPct val="50000"/>
              </a:spcBef>
              <a:spcAft>
                <a:spcPct val="0"/>
              </a:spcAft>
              <a:defRPr sz="2400">
                <a:solidFill>
                  <a:srgbClr val="000000"/>
                </a:solidFill>
                <a:latin typeface="Times New Roman" pitchFamily="18" charset="0"/>
              </a:defRPr>
            </a:lvl7pPr>
            <a:lvl8pPr marL="3429000" indent="-228600" algn="ctr" eaLnBrk="0" fontAlgn="base" hangingPunct="0">
              <a:spcBef>
                <a:spcPct val="50000"/>
              </a:spcBef>
              <a:spcAft>
                <a:spcPct val="0"/>
              </a:spcAft>
              <a:defRPr sz="2400">
                <a:solidFill>
                  <a:srgbClr val="000000"/>
                </a:solidFill>
                <a:latin typeface="Times New Roman" pitchFamily="18" charset="0"/>
              </a:defRPr>
            </a:lvl8pPr>
            <a:lvl9pPr marL="3886200" indent="-228600" algn="ctr" eaLnBrk="0" fontAlgn="base" hangingPunct="0">
              <a:spcBef>
                <a:spcPct val="50000"/>
              </a:spcBef>
              <a:spcAft>
                <a:spcPct val="0"/>
              </a:spcAft>
              <a:defRPr sz="2400">
                <a:solidFill>
                  <a:srgbClr val="000000"/>
                </a:solidFill>
                <a:latin typeface="Times New Roman" pitchFamily="18" charset="0"/>
              </a:defRPr>
            </a:lvl9pPr>
          </a:lstStyle>
          <a:p>
            <a:pPr algn="l" eaLnBrk="1" hangingPunct="1"/>
            <a:r>
              <a:rPr lang="en-GB"/>
              <a:t>Thus</a:t>
            </a:r>
          </a:p>
        </p:txBody>
      </p:sp>
      <p:graphicFrame>
        <p:nvGraphicFramePr>
          <p:cNvPr id="6" name="Object 5"/>
          <p:cNvGraphicFramePr>
            <a:graphicFrameLocks noChangeAspect="1"/>
          </p:cNvGraphicFramePr>
          <p:nvPr>
            <p:extLst>
              <p:ext uri="{D42A27DB-BD31-4B8C-83A1-F6EECF244321}">
                <p14:modId xmlns:p14="http://schemas.microsoft.com/office/powerpoint/2010/main" val="1529912881"/>
              </p:ext>
            </p:extLst>
          </p:nvPr>
        </p:nvGraphicFramePr>
        <p:xfrm>
          <a:off x="3155950" y="1782763"/>
          <a:ext cx="1987550" cy="868362"/>
        </p:xfrm>
        <a:graphic>
          <a:graphicData uri="http://schemas.openxmlformats.org/presentationml/2006/ole">
            <mc:AlternateContent xmlns:mc="http://schemas.openxmlformats.org/markup-compatibility/2006">
              <mc:Choice xmlns:v="urn:schemas-microsoft-com:vml" Requires="v">
                <p:oleObj spid="_x0000_s48199" name="Equation" r:id="rId3" imgW="1015920" imgH="444240" progId="Equation.3">
                  <p:embed/>
                </p:oleObj>
              </mc:Choice>
              <mc:Fallback>
                <p:oleObj name="Equation" r:id="rId3" imgW="1015920" imgH="444240" progId="Equation.3">
                  <p:embed/>
                  <p:pic>
                    <p:nvPicPr>
                      <p:cNvPr id="0" name="Object 5"/>
                      <p:cNvPicPr>
                        <a:picLocks noChangeAspect="1" noChangeArrowheads="1"/>
                      </p:cNvPicPr>
                      <p:nvPr/>
                    </p:nvPicPr>
                    <p:blipFill>
                      <a:blip r:embed="rId4"/>
                      <a:srcRect/>
                      <a:stretch>
                        <a:fillRect/>
                      </a:stretch>
                    </p:blipFill>
                    <p:spPr bwMode="auto">
                      <a:xfrm>
                        <a:off x="3155950" y="1782763"/>
                        <a:ext cx="1987550"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65171801"/>
              </p:ext>
            </p:extLst>
          </p:nvPr>
        </p:nvGraphicFramePr>
        <p:xfrm>
          <a:off x="2957513" y="3005138"/>
          <a:ext cx="1657350" cy="584200"/>
        </p:xfrm>
        <a:graphic>
          <a:graphicData uri="http://schemas.openxmlformats.org/presentationml/2006/ole">
            <mc:AlternateContent xmlns:mc="http://schemas.openxmlformats.org/markup-compatibility/2006">
              <mc:Choice xmlns:v="urn:schemas-microsoft-com:vml" Requires="v">
                <p:oleObj spid="_x0000_s48200" name="Equation" r:id="rId5" imgW="685800" imgH="241200" progId="Equation.3">
                  <p:embed/>
                </p:oleObj>
              </mc:Choice>
              <mc:Fallback>
                <p:oleObj name="Equation" r:id="rId5" imgW="685800" imgH="241200" progId="Equation.3">
                  <p:embed/>
                  <p:pic>
                    <p:nvPicPr>
                      <p:cNvPr id="0" name="Object 7"/>
                      <p:cNvPicPr>
                        <a:picLocks noChangeAspect="1" noChangeArrowheads="1"/>
                      </p:cNvPicPr>
                      <p:nvPr/>
                    </p:nvPicPr>
                    <p:blipFill>
                      <a:blip r:embed="rId6"/>
                      <a:srcRect/>
                      <a:stretch>
                        <a:fillRect/>
                      </a:stretch>
                    </p:blipFill>
                    <p:spPr bwMode="auto">
                      <a:xfrm>
                        <a:off x="2957513" y="3005138"/>
                        <a:ext cx="165735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539676616"/>
              </p:ext>
            </p:extLst>
          </p:nvPr>
        </p:nvGraphicFramePr>
        <p:xfrm>
          <a:off x="2267744" y="4063206"/>
          <a:ext cx="2700337" cy="1046163"/>
        </p:xfrm>
        <a:graphic>
          <a:graphicData uri="http://schemas.openxmlformats.org/presentationml/2006/ole">
            <mc:AlternateContent xmlns:mc="http://schemas.openxmlformats.org/markup-compatibility/2006">
              <mc:Choice xmlns:v="urn:schemas-microsoft-com:vml" Requires="v">
                <p:oleObj spid="_x0000_s48201" name="Equation" r:id="rId7" imgW="1117440" imgH="431640" progId="Equation.3">
                  <p:embed/>
                </p:oleObj>
              </mc:Choice>
              <mc:Fallback>
                <p:oleObj name="Equation" r:id="rId7" imgW="1117440" imgH="431640" progId="Equation.3">
                  <p:embed/>
                  <p:pic>
                    <p:nvPicPr>
                      <p:cNvPr id="0" name="Object 9"/>
                      <p:cNvPicPr>
                        <a:picLocks noChangeAspect="1" noChangeArrowheads="1"/>
                      </p:cNvPicPr>
                      <p:nvPr/>
                    </p:nvPicPr>
                    <p:blipFill>
                      <a:blip r:embed="rId8"/>
                      <a:srcRect/>
                      <a:stretch>
                        <a:fillRect/>
                      </a:stretch>
                    </p:blipFill>
                    <p:spPr bwMode="auto">
                      <a:xfrm>
                        <a:off x="2267744" y="4063206"/>
                        <a:ext cx="2700337" cy="1046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5669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6632"/>
            <a:ext cx="9144000" cy="1815882"/>
          </a:xfrm>
          <a:prstGeom prst="rect">
            <a:avLst/>
          </a:prstGeom>
        </p:spPr>
        <p:txBody>
          <a:bodyPr wrap="square">
            <a:spAutoFit/>
          </a:bodyPr>
          <a:lstStyle/>
          <a:p>
            <a:r>
              <a:rPr lang="en-US" sz="2800"/>
              <a:t>6. Given that the deviation constant is 1kHz/10mV, what is</a:t>
            </a:r>
          </a:p>
          <a:p>
            <a:r>
              <a:rPr lang="en-US" sz="2800"/>
              <a:t>     the shift in frequency for a voltage level of 50 mV?</a:t>
            </a:r>
          </a:p>
          <a:p>
            <a:endParaRPr lang="en-US" sz="2800"/>
          </a:p>
          <a:p>
            <a:r>
              <a:rPr lang="en-US" sz="2800"/>
              <a:t>    Frequency deviation ∆f </a:t>
            </a:r>
            <a:r>
              <a:rPr lang="en-US" sz="2800" smtClean="0"/>
              <a:t>= </a:t>
            </a:r>
            <a:endParaRPr lang="en-US" sz="2800"/>
          </a:p>
        </p:txBody>
      </p:sp>
      <p:graphicFrame>
        <p:nvGraphicFramePr>
          <p:cNvPr id="3" name="Object 2"/>
          <p:cNvGraphicFramePr>
            <a:graphicFrameLocks noChangeAspect="1"/>
          </p:cNvGraphicFramePr>
          <p:nvPr>
            <p:extLst>
              <p:ext uri="{D42A27DB-BD31-4B8C-83A1-F6EECF244321}">
                <p14:modId xmlns:p14="http://schemas.microsoft.com/office/powerpoint/2010/main" val="677595207"/>
              </p:ext>
            </p:extLst>
          </p:nvPr>
        </p:nvGraphicFramePr>
        <p:xfrm>
          <a:off x="4139952" y="1196752"/>
          <a:ext cx="2236902" cy="914400"/>
        </p:xfrm>
        <a:graphic>
          <a:graphicData uri="http://schemas.openxmlformats.org/presentationml/2006/ole">
            <mc:AlternateContent xmlns:mc="http://schemas.openxmlformats.org/markup-compatibility/2006">
              <mc:Choice xmlns:v="urn:schemas-microsoft-com:vml" Requires="v">
                <p:oleObj spid="_x0000_s52243" name="Equation" r:id="rId3" imgW="965160" imgH="393480" progId="Equation.3">
                  <p:embed/>
                </p:oleObj>
              </mc:Choice>
              <mc:Fallback>
                <p:oleObj name="Equation" r:id="rId3" imgW="965160" imgH="3934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196752"/>
                        <a:ext cx="223690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3"/>
          <p:cNvSpPr txBox="1">
            <a:spLocks noChangeArrowheads="1"/>
          </p:cNvSpPr>
          <p:nvPr/>
        </p:nvSpPr>
        <p:spPr bwMode="auto">
          <a:xfrm>
            <a:off x="220662" y="2204864"/>
            <a:ext cx="89233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457200" indent="-457200" eaLnBrk="1" hangingPunct="1">
              <a:buAutoNum type="arabicPeriod" startAt="7"/>
            </a:pPr>
            <a:r>
              <a:rPr lang="en-US" smtClean="0"/>
              <a:t>In </a:t>
            </a:r>
            <a:r>
              <a:rPr lang="en-US"/>
              <a:t>an FM system when the audio frequency is 300 Hz and </a:t>
            </a:r>
            <a:r>
              <a:rPr lang="en-US" smtClean="0"/>
              <a:t>the </a:t>
            </a:r>
            <a:r>
              <a:rPr lang="en-US"/>
              <a:t>audio voltage is 2.0V, the deviation is 5kHz. If the audio voltage is now increased to 6V what is the new deviation? If the voltage is now increased to 9V and the frequency dropped to 100Hz what is the deviation? Find the modulation index in each case.</a:t>
            </a:r>
          </a:p>
        </p:txBody>
      </p:sp>
    </p:spTree>
    <p:extLst>
      <p:ext uri="{BB962C8B-B14F-4D97-AF65-F5344CB8AC3E}">
        <p14:creationId xmlns:p14="http://schemas.microsoft.com/office/powerpoint/2010/main" val="26270694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9" name="Text Box 3"/>
          <p:cNvSpPr txBox="1">
            <a:spLocks noChangeArrowheads="1"/>
          </p:cNvSpPr>
          <p:nvPr/>
        </p:nvSpPr>
        <p:spPr bwMode="auto">
          <a:xfrm>
            <a:off x="0" y="188640"/>
            <a:ext cx="9144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smtClean="0"/>
              <a:t>7. In </a:t>
            </a:r>
            <a:r>
              <a:rPr lang="en-US"/>
              <a:t>an FM system when the audio frequency is 300 Hz and the </a:t>
            </a:r>
            <a:endParaRPr lang="en-US" smtClean="0"/>
          </a:p>
          <a:p>
            <a:pPr eaLnBrk="1" hangingPunct="1"/>
            <a:r>
              <a:rPr lang="en-US"/>
              <a:t> </a:t>
            </a:r>
            <a:r>
              <a:rPr lang="en-US" smtClean="0"/>
              <a:t>   audio </a:t>
            </a:r>
            <a:r>
              <a:rPr lang="en-US"/>
              <a:t>voltage is 2.0V, the deviation is 5kHz. If the audio </a:t>
            </a:r>
            <a:endParaRPr lang="en-US" smtClean="0"/>
          </a:p>
          <a:p>
            <a:pPr eaLnBrk="1" hangingPunct="1"/>
            <a:r>
              <a:rPr lang="en-US"/>
              <a:t> </a:t>
            </a:r>
            <a:r>
              <a:rPr lang="en-US" smtClean="0"/>
              <a:t>   voltage </a:t>
            </a:r>
            <a:r>
              <a:rPr lang="en-US"/>
              <a:t>is now increased to 6V what is the new deviation? If </a:t>
            </a:r>
            <a:endParaRPr lang="en-US" smtClean="0"/>
          </a:p>
          <a:p>
            <a:pPr eaLnBrk="1" hangingPunct="1"/>
            <a:r>
              <a:rPr lang="en-US"/>
              <a:t> </a:t>
            </a:r>
            <a:r>
              <a:rPr lang="en-US" smtClean="0"/>
              <a:t>   the </a:t>
            </a:r>
            <a:r>
              <a:rPr lang="en-US"/>
              <a:t>voltage is now increased to 9V and the frequency </a:t>
            </a:r>
            <a:r>
              <a:rPr lang="en-US" smtClean="0"/>
              <a:t>dropped</a:t>
            </a:r>
          </a:p>
          <a:p>
            <a:pPr eaLnBrk="1" hangingPunct="1"/>
            <a:r>
              <a:rPr lang="en-US"/>
              <a:t> </a:t>
            </a:r>
            <a:r>
              <a:rPr lang="en-US" smtClean="0"/>
              <a:t>   </a:t>
            </a:r>
            <a:r>
              <a:rPr lang="en-US"/>
              <a:t>to 100Hz what is the deviation? Find the modulation index in </a:t>
            </a:r>
            <a:endParaRPr lang="en-US" smtClean="0"/>
          </a:p>
          <a:p>
            <a:pPr eaLnBrk="1" hangingPunct="1"/>
            <a:r>
              <a:rPr lang="en-US"/>
              <a:t> </a:t>
            </a:r>
            <a:r>
              <a:rPr lang="en-US" smtClean="0"/>
              <a:t>   each </a:t>
            </a:r>
            <a:r>
              <a:rPr lang="en-US"/>
              <a:t>case.</a:t>
            </a:r>
          </a:p>
        </p:txBody>
      </p:sp>
      <p:graphicFrame>
        <p:nvGraphicFramePr>
          <p:cNvPr id="15362" name="Object 4"/>
          <p:cNvGraphicFramePr>
            <a:graphicFrameLocks noChangeAspect="1"/>
          </p:cNvGraphicFramePr>
          <p:nvPr>
            <p:extLst>
              <p:ext uri="{D42A27DB-BD31-4B8C-83A1-F6EECF244321}">
                <p14:modId xmlns:p14="http://schemas.microsoft.com/office/powerpoint/2010/main" val="555178220"/>
              </p:ext>
            </p:extLst>
          </p:nvPr>
        </p:nvGraphicFramePr>
        <p:xfrm>
          <a:off x="250825" y="3814763"/>
          <a:ext cx="2182813" cy="1143000"/>
        </p:xfrm>
        <a:graphic>
          <a:graphicData uri="http://schemas.openxmlformats.org/presentationml/2006/ole">
            <mc:AlternateContent xmlns:mc="http://schemas.openxmlformats.org/markup-compatibility/2006">
              <mc:Choice xmlns:v="urn:schemas-microsoft-com:vml" Requires="v">
                <p:oleObj spid="_x0000_s53347" name="Equation" r:id="rId3" imgW="1257120" imgH="660240" progId="Equation.3">
                  <p:embed/>
                </p:oleObj>
              </mc:Choice>
              <mc:Fallback>
                <p:oleObj name="Equation" r:id="rId3" imgW="1257120" imgH="660240" progId="Equation.3">
                  <p:embed/>
                  <p:pic>
                    <p:nvPicPr>
                      <p:cNvPr id="0" name=""/>
                      <p:cNvPicPr>
                        <a:picLocks noChangeAspect="1" noChangeArrowheads="1"/>
                      </p:cNvPicPr>
                      <p:nvPr/>
                    </p:nvPicPr>
                    <p:blipFill>
                      <a:blip r:embed="rId4"/>
                      <a:srcRect/>
                      <a:stretch>
                        <a:fillRect/>
                      </a:stretch>
                    </p:blipFill>
                    <p:spPr bwMode="auto">
                      <a:xfrm>
                        <a:off x="250825" y="3814763"/>
                        <a:ext cx="2182813"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3" name="Object 5"/>
          <p:cNvGraphicFramePr>
            <a:graphicFrameLocks noChangeAspect="1"/>
          </p:cNvGraphicFramePr>
          <p:nvPr>
            <p:extLst>
              <p:ext uri="{D42A27DB-BD31-4B8C-83A1-F6EECF244321}">
                <p14:modId xmlns:p14="http://schemas.microsoft.com/office/powerpoint/2010/main" val="3478176784"/>
              </p:ext>
            </p:extLst>
          </p:nvPr>
        </p:nvGraphicFramePr>
        <p:xfrm>
          <a:off x="3059832" y="3861048"/>
          <a:ext cx="2743200" cy="913802"/>
        </p:xfrm>
        <a:graphic>
          <a:graphicData uri="http://schemas.openxmlformats.org/presentationml/2006/ole">
            <mc:AlternateContent xmlns:mc="http://schemas.openxmlformats.org/markup-compatibility/2006">
              <mc:Choice xmlns:v="urn:schemas-microsoft-com:vml" Requires="v">
                <p:oleObj spid="_x0000_s53348" name="Equation" r:id="rId5" imgW="1409400" imgH="469800" progId="Equation.3">
                  <p:embed/>
                </p:oleObj>
              </mc:Choice>
              <mc:Fallback>
                <p:oleObj name="Equation" r:id="rId5" imgW="1409400" imgH="469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832" y="3861048"/>
                        <a:ext cx="2743200" cy="9138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6"/>
          <p:cNvGraphicFramePr>
            <a:graphicFrameLocks noChangeAspect="1"/>
          </p:cNvGraphicFramePr>
          <p:nvPr>
            <p:extLst>
              <p:ext uri="{D42A27DB-BD31-4B8C-83A1-F6EECF244321}">
                <p14:modId xmlns:p14="http://schemas.microsoft.com/office/powerpoint/2010/main" val="1834598251"/>
              </p:ext>
            </p:extLst>
          </p:nvPr>
        </p:nvGraphicFramePr>
        <p:xfrm>
          <a:off x="6084168" y="3933055"/>
          <a:ext cx="2926080" cy="880534"/>
        </p:xfrm>
        <a:graphic>
          <a:graphicData uri="http://schemas.openxmlformats.org/presentationml/2006/ole">
            <mc:AlternateContent xmlns:mc="http://schemas.openxmlformats.org/markup-compatibility/2006">
              <mc:Choice xmlns:v="urn:schemas-microsoft-com:vml" Requires="v">
                <p:oleObj spid="_x0000_s53349" name="Equation" r:id="rId7" imgW="1562040" imgH="469800" progId="Equation.3">
                  <p:embed/>
                </p:oleObj>
              </mc:Choice>
              <mc:Fallback>
                <p:oleObj name="Equation" r:id="rId7" imgW="1562040" imgH="469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168" y="3933055"/>
                        <a:ext cx="2926080" cy="8805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5" name="Object 7"/>
          <p:cNvGraphicFramePr>
            <a:graphicFrameLocks noChangeAspect="1"/>
          </p:cNvGraphicFramePr>
          <p:nvPr>
            <p:extLst>
              <p:ext uri="{D42A27DB-BD31-4B8C-83A1-F6EECF244321}">
                <p14:modId xmlns:p14="http://schemas.microsoft.com/office/powerpoint/2010/main" val="1110696293"/>
              </p:ext>
            </p:extLst>
          </p:nvPr>
        </p:nvGraphicFramePr>
        <p:xfrm>
          <a:off x="0" y="5301208"/>
          <a:ext cx="2743200" cy="846084"/>
        </p:xfrm>
        <a:graphic>
          <a:graphicData uri="http://schemas.openxmlformats.org/presentationml/2006/ole">
            <mc:AlternateContent xmlns:mc="http://schemas.openxmlformats.org/markup-compatibility/2006">
              <mc:Choice xmlns:v="urn:schemas-microsoft-com:vml" Requires="v">
                <p:oleObj spid="_x0000_s53350" name="Equation" r:id="rId9" imgW="1600200" imgH="495000" progId="Equation.3">
                  <p:embed/>
                </p:oleObj>
              </mc:Choice>
              <mc:Fallback>
                <p:oleObj name="Equation" r:id="rId9" imgW="1600200" imgH="495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5301208"/>
                        <a:ext cx="2743200" cy="8460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8"/>
          <p:cNvGraphicFramePr>
            <a:graphicFrameLocks noChangeAspect="1"/>
          </p:cNvGraphicFramePr>
          <p:nvPr>
            <p:extLst>
              <p:ext uri="{D42A27DB-BD31-4B8C-83A1-F6EECF244321}">
                <p14:modId xmlns:p14="http://schemas.microsoft.com/office/powerpoint/2010/main" val="4125780371"/>
              </p:ext>
            </p:extLst>
          </p:nvPr>
        </p:nvGraphicFramePr>
        <p:xfrm>
          <a:off x="3131840" y="5301208"/>
          <a:ext cx="2468880" cy="880703"/>
        </p:xfrm>
        <a:graphic>
          <a:graphicData uri="http://schemas.openxmlformats.org/presentationml/2006/ole">
            <mc:AlternateContent xmlns:mc="http://schemas.openxmlformats.org/markup-compatibility/2006">
              <mc:Choice xmlns:v="urn:schemas-microsoft-com:vml" Requires="v">
                <p:oleObj spid="_x0000_s53351" name="Equation" r:id="rId11" imgW="1384200" imgH="495000" progId="Equation.3">
                  <p:embed/>
                </p:oleObj>
              </mc:Choice>
              <mc:Fallback>
                <p:oleObj name="Equation" r:id="rId11" imgW="1384200" imgH="495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1840" y="5301208"/>
                        <a:ext cx="2468880" cy="8807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9"/>
          <p:cNvGraphicFramePr>
            <a:graphicFrameLocks noChangeAspect="1"/>
          </p:cNvGraphicFramePr>
          <p:nvPr>
            <p:extLst>
              <p:ext uri="{D42A27DB-BD31-4B8C-83A1-F6EECF244321}">
                <p14:modId xmlns:p14="http://schemas.microsoft.com/office/powerpoint/2010/main" val="2214285259"/>
              </p:ext>
            </p:extLst>
          </p:nvPr>
        </p:nvGraphicFramePr>
        <p:xfrm>
          <a:off x="6012160" y="5301206"/>
          <a:ext cx="2834640" cy="889047"/>
        </p:xfrm>
        <a:graphic>
          <a:graphicData uri="http://schemas.openxmlformats.org/presentationml/2006/ole">
            <mc:AlternateContent xmlns:mc="http://schemas.openxmlformats.org/markup-compatibility/2006">
              <mc:Choice xmlns:v="urn:schemas-microsoft-com:vml" Requires="v">
                <p:oleObj spid="_x0000_s53352" name="Equation" r:id="rId13" imgW="1574640" imgH="495000" progId="Equation.3">
                  <p:embed/>
                </p:oleObj>
              </mc:Choice>
              <mc:Fallback>
                <p:oleObj name="Equation" r:id="rId13" imgW="1574640" imgH="495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2160" y="5301206"/>
                        <a:ext cx="2834640" cy="889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 name="Rectangle 2"/>
              <p:cNvSpPr/>
              <p:nvPr/>
            </p:nvSpPr>
            <p:spPr>
              <a:xfrm>
                <a:off x="179512" y="3177432"/>
                <a:ext cx="487146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a:latin typeface="Cambria Math"/>
                        </a:rPr>
                        <m:t>𝛅</m:t>
                      </m:r>
                      <m:r>
                        <a:rPr lang="en-US" sz="2000" b="1">
                          <a:latin typeface="Cambria Math"/>
                        </a:rPr>
                        <m:t>=∆</m:t>
                      </m:r>
                      <m:r>
                        <a:rPr lang="en-US" sz="2000" b="1" i="1">
                          <a:latin typeface="Cambria Math"/>
                        </a:rPr>
                        <m:t>𝐟</m:t>
                      </m:r>
                      <m:r>
                        <a:rPr lang="en-US" sz="2000" b="1">
                          <a:latin typeface="Cambria Math"/>
                        </a:rPr>
                        <m:t>=</m:t>
                      </m:r>
                      <m:r>
                        <a:rPr lang="en-US" sz="2000" b="1" i="1">
                          <a:latin typeface="Cambria Math"/>
                        </a:rPr>
                        <m:t>𝐃𝐞𝐯𝐢𝐚𝐬𝐢</m:t>
                      </m:r>
                      <m:r>
                        <a:rPr lang="en-US" sz="2000" b="1">
                          <a:latin typeface="Cambria Math"/>
                        </a:rPr>
                        <m:t> </m:t>
                      </m:r>
                      <m:r>
                        <a:rPr lang="en-US" sz="2000" b="1" i="1">
                          <a:latin typeface="Cambria Math"/>
                        </a:rPr>
                        <m:t>𝐟𝐫𝐞𝐤𝐮𝐞𝐧𝐬𝐢</m:t>
                      </m:r>
                      <m:r>
                        <a:rPr lang="en-US" sz="2000" b="1">
                          <a:latin typeface="Cambria Math"/>
                        </a:rPr>
                        <m:t> </m:t>
                      </m:r>
                      <m:r>
                        <a:rPr lang="en-US" sz="2000" b="1" i="1">
                          <a:latin typeface="Cambria Math"/>
                        </a:rPr>
                        <m:t>𝐦𝐚𝐤𝐬𝐢𝐦𝐮𝐦</m:t>
                      </m:r>
                    </m:oMath>
                  </m:oMathPara>
                </a14:m>
                <a:endParaRPr lang="en-US" sz="2000"/>
              </a:p>
            </p:txBody>
          </p:sp>
        </mc:Choice>
        <mc:Fallback xmlns="">
          <p:sp>
            <p:nvSpPr>
              <p:cNvPr id="3" name="Rectangle 2"/>
              <p:cNvSpPr>
                <a:spLocks noRot="1" noChangeAspect="1" noMove="1" noResize="1" noEditPoints="1" noAdjustHandles="1" noChangeArrowheads="1" noChangeShapeType="1" noTextEdit="1"/>
              </p:cNvSpPr>
              <p:nvPr/>
            </p:nvSpPr>
            <p:spPr>
              <a:xfrm>
                <a:off x="179512" y="3177432"/>
                <a:ext cx="4871462" cy="400110"/>
              </a:xfrm>
              <a:prstGeom prst="rect">
                <a:avLst/>
              </a:prstGeom>
              <a:blipFill rotWithShape="1">
                <a:blip r:embed="rId1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681128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1" name="Text Box 2"/>
          <p:cNvSpPr txBox="1">
            <a:spLocks noChangeArrowheads="1"/>
          </p:cNvSpPr>
          <p:nvPr/>
        </p:nvSpPr>
        <p:spPr bwMode="auto">
          <a:xfrm>
            <a:off x="0" y="5796"/>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457200" indent="-457200" eaLnBrk="1" hangingPunct="1">
              <a:buAutoNum type="arabicPeriod" startAt="8"/>
            </a:pPr>
            <a:r>
              <a:rPr lang="en-US" smtClean="0"/>
              <a:t>Find </a:t>
            </a:r>
            <a:r>
              <a:rPr lang="en-US"/>
              <a:t>the carrier and modulating frequencies, the modulating </a:t>
            </a:r>
            <a:endParaRPr lang="en-US" smtClean="0"/>
          </a:p>
          <a:p>
            <a:pPr eaLnBrk="1" hangingPunct="1"/>
            <a:r>
              <a:rPr lang="en-US"/>
              <a:t> </a:t>
            </a:r>
            <a:r>
              <a:rPr lang="en-US" smtClean="0"/>
              <a:t>    index</a:t>
            </a:r>
            <a:r>
              <a:rPr lang="en-US"/>
              <a:t>, and the max. deviation of an FM wave below. What </a:t>
            </a:r>
            <a:endParaRPr lang="en-US" smtClean="0"/>
          </a:p>
          <a:p>
            <a:pPr eaLnBrk="1" hangingPunct="1"/>
            <a:r>
              <a:rPr lang="en-US"/>
              <a:t> </a:t>
            </a:r>
            <a:r>
              <a:rPr lang="en-US" smtClean="0"/>
              <a:t>    power </a:t>
            </a:r>
            <a:r>
              <a:rPr lang="en-US"/>
              <a:t>will the wave dissipate in a 10 ohm resistor?</a:t>
            </a:r>
          </a:p>
        </p:txBody>
      </p:sp>
      <p:graphicFrame>
        <p:nvGraphicFramePr>
          <p:cNvPr id="16386" name="Object 3"/>
          <p:cNvGraphicFramePr>
            <a:graphicFrameLocks noChangeAspect="1"/>
          </p:cNvGraphicFramePr>
          <p:nvPr/>
        </p:nvGraphicFramePr>
        <p:xfrm>
          <a:off x="1981200" y="1600200"/>
          <a:ext cx="5410200" cy="593725"/>
        </p:xfrm>
        <a:graphic>
          <a:graphicData uri="http://schemas.openxmlformats.org/presentationml/2006/ole">
            <mc:AlternateContent xmlns:mc="http://schemas.openxmlformats.org/markup-compatibility/2006">
              <mc:Choice xmlns:v="urn:schemas-microsoft-com:vml" Requires="v">
                <p:oleObj spid="_x0000_s54344" name="Equation" r:id="rId3" imgW="2184120" imgH="241200" progId="Equation.3">
                  <p:embed/>
                </p:oleObj>
              </mc:Choice>
              <mc:Fallback>
                <p:oleObj name="Equation" r:id="rId3" imgW="218412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600200"/>
                        <a:ext cx="541020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2" name="Text Box 4"/>
          <p:cNvSpPr txBox="1">
            <a:spLocks noChangeArrowheads="1"/>
          </p:cNvSpPr>
          <p:nvPr/>
        </p:nvSpPr>
        <p:spPr bwMode="auto">
          <a:xfrm>
            <a:off x="822325" y="2243138"/>
            <a:ext cx="2730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t>Compare this with:</a:t>
            </a:r>
          </a:p>
        </p:txBody>
      </p:sp>
      <p:graphicFrame>
        <p:nvGraphicFramePr>
          <p:cNvPr id="16387" name="Object 5"/>
          <p:cNvGraphicFramePr>
            <a:graphicFrameLocks noChangeAspect="1"/>
          </p:cNvGraphicFramePr>
          <p:nvPr/>
        </p:nvGraphicFramePr>
        <p:xfrm>
          <a:off x="2819400" y="2667000"/>
          <a:ext cx="3200400" cy="920750"/>
        </p:xfrm>
        <a:graphic>
          <a:graphicData uri="http://schemas.openxmlformats.org/presentationml/2006/ole">
            <mc:AlternateContent xmlns:mc="http://schemas.openxmlformats.org/markup-compatibility/2006">
              <mc:Choice xmlns:v="urn:schemas-microsoft-com:vml" Requires="v">
                <p:oleObj spid="_x0000_s54345" name="Equation" r:id="rId5" imgW="1892160" imgH="545760" progId="Equation.3">
                  <p:embed/>
                </p:oleObj>
              </mc:Choice>
              <mc:Fallback>
                <p:oleObj name="Equation" r:id="rId5" imgW="1892160" imgH="5457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667000"/>
                        <a:ext cx="32004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8" name="Object 6"/>
          <p:cNvGraphicFramePr>
            <a:graphicFrameLocks noChangeAspect="1"/>
          </p:cNvGraphicFramePr>
          <p:nvPr/>
        </p:nvGraphicFramePr>
        <p:xfrm>
          <a:off x="533400" y="3886200"/>
          <a:ext cx="3543300" cy="795338"/>
        </p:xfrm>
        <a:graphic>
          <a:graphicData uri="http://schemas.openxmlformats.org/presentationml/2006/ole">
            <mc:AlternateContent xmlns:mc="http://schemas.openxmlformats.org/markup-compatibility/2006">
              <mc:Choice xmlns:v="urn:schemas-microsoft-com:vml" Requires="v">
                <p:oleObj spid="_x0000_s54346" name="Equation" r:id="rId7" imgW="2095200" imgH="469800" progId="Equation.3">
                  <p:embed/>
                </p:oleObj>
              </mc:Choice>
              <mc:Fallback>
                <p:oleObj name="Equation" r:id="rId7" imgW="2095200" imgH="469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886200"/>
                        <a:ext cx="3543300"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9" name="Object 7"/>
          <p:cNvGraphicFramePr>
            <a:graphicFrameLocks noChangeAspect="1"/>
          </p:cNvGraphicFramePr>
          <p:nvPr/>
        </p:nvGraphicFramePr>
        <p:xfrm>
          <a:off x="5133975" y="3897313"/>
          <a:ext cx="3028950" cy="773112"/>
        </p:xfrm>
        <a:graphic>
          <a:graphicData uri="http://schemas.openxmlformats.org/presentationml/2006/ole">
            <mc:AlternateContent xmlns:mc="http://schemas.openxmlformats.org/markup-compatibility/2006">
              <mc:Choice xmlns:v="urn:schemas-microsoft-com:vml" Requires="v">
                <p:oleObj spid="_x0000_s54347" name="Equation" r:id="rId9" imgW="1790640" imgH="457200" progId="Equation.3">
                  <p:embed/>
                </p:oleObj>
              </mc:Choice>
              <mc:Fallback>
                <p:oleObj name="Equation" r:id="rId9" imgW="179064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33975" y="3897313"/>
                        <a:ext cx="3028950" cy="77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3" name="Text Box 8"/>
          <p:cNvSpPr txBox="1">
            <a:spLocks noChangeArrowheads="1"/>
          </p:cNvSpPr>
          <p:nvPr/>
        </p:nvSpPr>
        <p:spPr bwMode="auto">
          <a:xfrm>
            <a:off x="669925" y="4986338"/>
            <a:ext cx="416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t>Modulating index=5 as given.</a:t>
            </a:r>
          </a:p>
        </p:txBody>
      </p:sp>
      <p:sp>
        <p:nvSpPr>
          <p:cNvPr id="16394" name="Text Box 9"/>
          <p:cNvSpPr txBox="1">
            <a:spLocks noChangeArrowheads="1"/>
          </p:cNvSpPr>
          <p:nvPr/>
        </p:nvSpPr>
        <p:spPr bwMode="auto">
          <a:xfrm>
            <a:off x="762000" y="5943600"/>
            <a:ext cx="110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a:t>Power,</a:t>
            </a:r>
          </a:p>
        </p:txBody>
      </p:sp>
      <p:graphicFrame>
        <p:nvGraphicFramePr>
          <p:cNvPr id="16390" name="Object 10"/>
          <p:cNvGraphicFramePr>
            <a:graphicFrameLocks noChangeAspect="1"/>
          </p:cNvGraphicFramePr>
          <p:nvPr/>
        </p:nvGraphicFramePr>
        <p:xfrm>
          <a:off x="2209800" y="5486400"/>
          <a:ext cx="3994150" cy="1160463"/>
        </p:xfrm>
        <a:graphic>
          <a:graphicData uri="http://schemas.openxmlformats.org/presentationml/2006/ole">
            <mc:AlternateContent xmlns:mc="http://schemas.openxmlformats.org/markup-compatibility/2006">
              <mc:Choice xmlns:v="urn:schemas-microsoft-com:vml" Requires="v">
                <p:oleObj spid="_x0000_s54348" name="Equation" r:id="rId11" imgW="2361960" imgH="685800" progId="Equation.3">
                  <p:embed/>
                </p:oleObj>
              </mc:Choice>
              <mc:Fallback>
                <p:oleObj name="Equation" r:id="rId11" imgW="2361960" imgH="685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9800" y="5486400"/>
                        <a:ext cx="3994150"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625531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818</TotalTime>
  <Words>862</Words>
  <Application>Microsoft Office PowerPoint</Application>
  <PresentationFormat>On-screen Show (4:3)</PresentationFormat>
  <Paragraphs>112</Paragraphs>
  <Slides>39</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1" baseType="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Slameta</cp:lastModifiedBy>
  <cp:revision>36</cp:revision>
  <dcterms:created xsi:type="dcterms:W3CDTF">2012-05-01T14:54:37Z</dcterms:created>
  <dcterms:modified xsi:type="dcterms:W3CDTF">2015-05-18T04:30:30Z</dcterms:modified>
</cp:coreProperties>
</file>