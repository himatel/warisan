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8" r:id="rId3"/>
    <p:sldId id="257" r:id="rId4"/>
    <p:sldId id="260" r:id="rId5"/>
    <p:sldId id="261" r:id="rId6"/>
    <p:sldId id="287" r:id="rId7"/>
    <p:sldId id="262" r:id="rId8"/>
    <p:sldId id="264" r:id="rId9"/>
    <p:sldId id="288" r:id="rId10"/>
    <p:sldId id="265" r:id="rId11"/>
    <p:sldId id="266" r:id="rId12"/>
    <p:sldId id="289" r:id="rId13"/>
    <p:sldId id="290" r:id="rId14"/>
    <p:sldId id="286" r:id="rId15"/>
    <p:sldId id="259" r:id="rId16"/>
    <p:sldId id="267" r:id="rId17"/>
    <p:sldId id="268" r:id="rId18"/>
    <p:sldId id="269" r:id="rId19"/>
    <p:sldId id="284" r:id="rId20"/>
    <p:sldId id="270" r:id="rId21"/>
    <p:sldId id="271" r:id="rId22"/>
    <p:sldId id="272" r:id="rId23"/>
    <p:sldId id="278" r:id="rId24"/>
    <p:sldId id="279" r:id="rId25"/>
    <p:sldId id="273" r:id="rId26"/>
    <p:sldId id="27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8153" autoAdjust="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882C1-EF75-40F7-A17A-6B88151641AC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95ACC-1592-42DB-90B7-9956307E2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1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: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menyisipkan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pada </a:t>
            </a:r>
            <a:r>
              <a:rPr lang="en-US" dirty="0" err="1"/>
              <a:t>tabel</a:t>
            </a:r>
            <a:r>
              <a:rPr lang="en-US" dirty="0"/>
              <a:t>. </a:t>
            </a:r>
          </a:p>
          <a:p>
            <a:r>
              <a:rPr lang="en-US" dirty="0"/>
              <a:t> insert into "</a:t>
            </a:r>
            <a:r>
              <a:rPr lang="en-US" dirty="0" err="1"/>
              <a:t>tablename</a:t>
            </a:r>
            <a:r>
              <a:rPr lang="en-US" dirty="0"/>
              <a:t>" (</a:t>
            </a:r>
            <a:r>
              <a:rPr lang="en-US" dirty="0" err="1"/>
              <a:t>first_column</a:t>
            </a:r>
            <a:r>
              <a:rPr lang="en-US" dirty="0"/>
              <a:t>,...</a:t>
            </a:r>
            <a:r>
              <a:rPr lang="en-US" dirty="0" err="1"/>
              <a:t>last_column</a:t>
            </a:r>
            <a:r>
              <a:rPr lang="en-US" dirty="0"/>
              <a:t>)  values (</a:t>
            </a:r>
            <a:r>
              <a:rPr lang="en-US" dirty="0" err="1"/>
              <a:t>first_value</a:t>
            </a:r>
            <a:r>
              <a:rPr lang="en-US" dirty="0"/>
              <a:t>,...</a:t>
            </a:r>
            <a:r>
              <a:rPr lang="en-US" dirty="0" err="1"/>
              <a:t>last_value</a:t>
            </a:r>
            <a:r>
              <a:rPr lang="en-US" dirty="0"/>
              <a:t>);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95ACC-1592-42DB-90B7-9956307E2F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 </a:t>
            </a:r>
            <a:r>
              <a:rPr lang="en-US" dirty="0" err="1"/>
              <a:t>tabel</a:t>
            </a:r>
            <a:r>
              <a:rPr lang="en-US" dirty="0"/>
              <a:t> 1: </a:t>
            </a:r>
            <a:r>
              <a:rPr lang="en-US" dirty="0" err="1"/>
              <a:t>data_lahir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2: data2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95ACC-1592-42DB-90B7-9956307E2F2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10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44469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21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0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125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37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694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00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97029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58342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959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5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357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380A-6FDE-4EB6-9FB0-F67CD27E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B768-C20E-4953-905B-BE4B830B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70649"/>
            <a:ext cx="5330212" cy="35664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Tampilan</a:t>
            </a:r>
            <a:r>
              <a:rPr lang="en-US" dirty="0"/>
              <a:t> MySQL</a:t>
            </a:r>
          </a:p>
        </p:txBody>
      </p:sp>
      <p:pic>
        <p:nvPicPr>
          <p:cNvPr id="1026" name="Picture 50">
            <a:extLst>
              <a:ext uri="{FF2B5EF4-FFF2-40B4-BE49-F238E27FC236}">
                <a16:creationId xmlns:a16="http://schemas.microsoft.com/office/drawing/2014/main" id="{8F1FAF55-1CD7-49C3-9300-0B54661A0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799477"/>
            <a:ext cx="7609771" cy="370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850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886C-5877-43C4-933E-87027782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737EC-0DCD-411E-AE83-F8A020DC4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93" y="3197995"/>
            <a:ext cx="5201422" cy="133928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Membuat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Database 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CREATE DATABASE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Nama_Database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Menampilkan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Database yang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tersedia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SHOW DATABASES;</a:t>
            </a:r>
          </a:p>
          <a:p>
            <a:pPr algn="just"/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Menghapus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Database yang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telah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dibuat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DROP DATABASE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Nama_Database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7A6ED-873F-4406-BF51-7F9878146F81}"/>
              </a:ext>
            </a:extLst>
          </p:cNvPr>
          <p:cNvSpPr/>
          <p:nvPr/>
        </p:nvSpPr>
        <p:spPr>
          <a:xfrm>
            <a:off x="5786125" y="1971078"/>
            <a:ext cx="416559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mysql</a:t>
            </a:r>
            <a:r>
              <a:rPr lang="en-US" sz="2000" dirty="0"/>
              <a:t>&gt; create database </a:t>
            </a:r>
            <a:r>
              <a:rPr lang="en-US" sz="2000" dirty="0" err="1"/>
              <a:t>latihan</a:t>
            </a:r>
            <a:r>
              <a:rPr lang="en-US" sz="2000" dirty="0"/>
              <a:t>;</a:t>
            </a:r>
          </a:p>
          <a:p>
            <a:r>
              <a:rPr lang="en-US" sz="2000" dirty="0"/>
              <a:t>Query OK, 1 row affected (0.01 sec)</a:t>
            </a:r>
          </a:p>
          <a:p>
            <a:endParaRPr lang="en-US" sz="2000" dirty="0"/>
          </a:p>
          <a:p>
            <a:r>
              <a:rPr lang="en-US" sz="2000" dirty="0" err="1"/>
              <a:t>mysql</a:t>
            </a:r>
            <a:r>
              <a:rPr lang="en-US" sz="2000" dirty="0"/>
              <a:t>&gt; show databases;</a:t>
            </a:r>
          </a:p>
          <a:p>
            <a:r>
              <a:rPr lang="en-US" sz="2000" dirty="0"/>
              <a:t>+--------------------+</a:t>
            </a:r>
          </a:p>
          <a:p>
            <a:r>
              <a:rPr lang="en-US" sz="2000" dirty="0"/>
              <a:t>| Database           |</a:t>
            </a:r>
          </a:p>
          <a:p>
            <a:r>
              <a:rPr lang="en-US" sz="2000" dirty="0"/>
              <a:t>+--------------------+</a:t>
            </a:r>
          </a:p>
          <a:p>
            <a:r>
              <a:rPr lang="en-US" sz="2000" dirty="0"/>
              <a:t>| </a:t>
            </a:r>
            <a:r>
              <a:rPr lang="en-US" sz="2000" dirty="0" err="1"/>
              <a:t>information_schema</a:t>
            </a:r>
            <a:r>
              <a:rPr lang="en-US" sz="2000" dirty="0"/>
              <a:t> |</a:t>
            </a:r>
          </a:p>
          <a:p>
            <a:r>
              <a:rPr lang="en-US" sz="2000" dirty="0"/>
              <a:t>| </a:t>
            </a:r>
            <a:r>
              <a:rPr lang="en-US" sz="2000" dirty="0" err="1"/>
              <a:t>latihan</a:t>
            </a:r>
            <a:r>
              <a:rPr lang="en-US" sz="2000" dirty="0"/>
              <a:t>            |</a:t>
            </a:r>
          </a:p>
          <a:p>
            <a:r>
              <a:rPr lang="en-US" sz="2000" dirty="0"/>
              <a:t>| </a:t>
            </a:r>
            <a:r>
              <a:rPr lang="en-US" sz="2000" dirty="0" err="1"/>
              <a:t>mysql</a:t>
            </a:r>
            <a:r>
              <a:rPr lang="en-US" sz="2000" dirty="0"/>
              <a:t>              |</a:t>
            </a:r>
          </a:p>
          <a:p>
            <a:r>
              <a:rPr lang="en-US" sz="2000" dirty="0"/>
              <a:t>| </a:t>
            </a:r>
            <a:r>
              <a:rPr lang="en-US" sz="2000" dirty="0" err="1"/>
              <a:t>performance_schema</a:t>
            </a:r>
            <a:r>
              <a:rPr lang="en-US" sz="2000" dirty="0"/>
              <a:t> |</a:t>
            </a:r>
          </a:p>
          <a:p>
            <a:r>
              <a:rPr lang="en-US" sz="2000" dirty="0"/>
              <a:t>| test               |</a:t>
            </a:r>
          </a:p>
          <a:p>
            <a:r>
              <a:rPr lang="en-US" sz="2000" dirty="0"/>
              <a:t>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403223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86C15-C338-4E40-922B-157E64B4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A7FC-6BC7-41BC-A8E5-A4FE3DE58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7615"/>
            <a:ext cx="6180216" cy="676224"/>
          </a:xfrm>
        </p:spPr>
        <p:txBody>
          <a:bodyPr>
            <a:noAutofit/>
          </a:bodyPr>
          <a:lstStyle/>
          <a:p>
            <a:r>
              <a:rPr lang="en-US" dirty="0" err="1"/>
              <a:t>Memilih</a:t>
            </a:r>
            <a:r>
              <a:rPr lang="en-US" dirty="0"/>
              <a:t> database / </a:t>
            </a:r>
            <a:r>
              <a:rPr lang="en-US" dirty="0" err="1"/>
              <a:t>koneksi</a:t>
            </a:r>
            <a:r>
              <a:rPr lang="en-US" dirty="0"/>
              <a:t> database:</a:t>
            </a:r>
          </a:p>
          <a:p>
            <a:pPr marL="0" indent="0">
              <a:buNone/>
            </a:pPr>
            <a:r>
              <a:rPr lang="en-US" dirty="0"/>
              <a:t>     CONNECT </a:t>
            </a:r>
            <a:r>
              <a:rPr lang="en-US" dirty="0" err="1"/>
              <a:t>Nama_Database</a:t>
            </a:r>
            <a:r>
              <a:rPr lang="en-US" dirty="0"/>
              <a:t>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366B3-6450-4C85-8A53-5D2D5B1D7961}"/>
              </a:ext>
            </a:extLst>
          </p:cNvPr>
          <p:cNvSpPr/>
          <p:nvPr/>
        </p:nvSpPr>
        <p:spPr>
          <a:xfrm>
            <a:off x="673789" y="3335498"/>
            <a:ext cx="31921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 err="1"/>
              <a:t>mysql</a:t>
            </a:r>
            <a:r>
              <a:rPr lang="en-US" dirty="0"/>
              <a:t>&gt; connect </a:t>
            </a:r>
            <a:r>
              <a:rPr lang="en-US" dirty="0" err="1"/>
              <a:t>latihan</a:t>
            </a:r>
            <a:r>
              <a:rPr lang="en-US" dirty="0"/>
              <a:t>;</a:t>
            </a:r>
          </a:p>
          <a:p>
            <a:r>
              <a:rPr lang="en-US" dirty="0"/>
              <a:t>Connection id:    7</a:t>
            </a:r>
          </a:p>
          <a:p>
            <a:r>
              <a:rPr lang="en-US" dirty="0"/>
              <a:t>Current database: </a:t>
            </a:r>
            <a:r>
              <a:rPr lang="en-US" dirty="0" err="1"/>
              <a:t>latihan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mysql</a:t>
            </a:r>
            <a:r>
              <a:rPr lang="en-US" dirty="0"/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D5BBE-4062-44A7-A874-279EE4C40814}"/>
              </a:ext>
            </a:extLst>
          </p:cNvPr>
          <p:cNvSpPr/>
          <p:nvPr/>
        </p:nvSpPr>
        <p:spPr>
          <a:xfrm>
            <a:off x="5470967" y="2187615"/>
            <a:ext cx="70217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Membuat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tabel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di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dalam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database yang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dipilih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CREATE TABLE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Nama_Tabel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Nama_Atribut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Tipe_Data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Keterangan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), 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Nama_Atribut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Tipe_Data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Keterangan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), … 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0C6F32-5E43-4EB7-9A12-5608CF01F62E}"/>
              </a:ext>
            </a:extLst>
          </p:cNvPr>
          <p:cNvSpPr/>
          <p:nvPr/>
        </p:nvSpPr>
        <p:spPr>
          <a:xfrm>
            <a:off x="5514808" y="365845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mysql</a:t>
            </a:r>
            <a:r>
              <a:rPr lang="en-US" dirty="0"/>
              <a:t>&gt; create table latih1 (</a:t>
            </a:r>
            <a:r>
              <a:rPr lang="en-US" dirty="0" err="1"/>
              <a:t>nama_depan</a:t>
            </a:r>
            <a:r>
              <a:rPr lang="en-US" dirty="0"/>
              <a:t> char(30), </a:t>
            </a:r>
            <a:r>
              <a:rPr lang="en-US" dirty="0" err="1"/>
              <a:t>nama_akhir</a:t>
            </a:r>
            <a:r>
              <a:rPr lang="en-US" dirty="0"/>
              <a:t> char(30));</a:t>
            </a:r>
          </a:p>
          <a:p>
            <a:r>
              <a:rPr lang="en-US" dirty="0"/>
              <a:t>Query OK, 0 rows affected (0.27 sec)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5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38CE-32E6-4808-9337-8D492F86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DE92E-1507-4C57-874C-04C535EB660E}"/>
              </a:ext>
            </a:extLst>
          </p:cNvPr>
          <p:cNvSpPr txBox="1"/>
          <p:nvPr/>
        </p:nvSpPr>
        <p:spPr>
          <a:xfrm>
            <a:off x="429253" y="2164456"/>
            <a:ext cx="5462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Untuk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memastikan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Tabel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telah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dibuat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telah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tersedia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gunakan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perintah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: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SHOW TABLES;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65A3B-8536-4B33-B9FE-60AC62F27A35}"/>
              </a:ext>
            </a:extLst>
          </p:cNvPr>
          <p:cNvSpPr txBox="1"/>
          <p:nvPr/>
        </p:nvSpPr>
        <p:spPr>
          <a:xfrm>
            <a:off x="6956385" y="2302945"/>
            <a:ext cx="4479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Untuk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menghapus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Tabel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gunakan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perintah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: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DROP TABLE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Nama_Tabel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284989-C94E-44D1-A67E-4CADD4A0F9AB}"/>
              </a:ext>
            </a:extLst>
          </p:cNvPr>
          <p:cNvSpPr/>
          <p:nvPr/>
        </p:nvSpPr>
        <p:spPr>
          <a:xfrm>
            <a:off x="720088" y="3536286"/>
            <a:ext cx="31227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mysql</a:t>
            </a:r>
            <a:r>
              <a:rPr lang="en-US" dirty="0"/>
              <a:t>&gt; show tables;</a:t>
            </a:r>
          </a:p>
          <a:p>
            <a:r>
              <a:rPr lang="en-US" dirty="0"/>
              <a:t>+-------------------+</a:t>
            </a:r>
          </a:p>
          <a:p>
            <a:r>
              <a:rPr lang="en-US" dirty="0"/>
              <a:t>| </a:t>
            </a:r>
            <a:r>
              <a:rPr lang="en-US" dirty="0" err="1"/>
              <a:t>Tables_in_latihan</a:t>
            </a:r>
            <a:r>
              <a:rPr lang="en-US" dirty="0"/>
              <a:t> |</a:t>
            </a:r>
          </a:p>
          <a:p>
            <a:r>
              <a:rPr lang="en-US" dirty="0"/>
              <a:t>+-------------------+</a:t>
            </a:r>
          </a:p>
          <a:p>
            <a:r>
              <a:rPr lang="en-US" dirty="0"/>
              <a:t>| latih1            |</a:t>
            </a:r>
          </a:p>
          <a:p>
            <a:r>
              <a:rPr lang="en-US" dirty="0"/>
              <a:t>+-------------------+</a:t>
            </a:r>
          </a:p>
          <a:p>
            <a:r>
              <a:rPr lang="en-US" dirty="0"/>
              <a:t>1 row in set (0.05 sec)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6E7A36-E863-43AA-B9D8-B20B30B500E9}"/>
              </a:ext>
            </a:extLst>
          </p:cNvPr>
          <p:cNvSpPr/>
          <p:nvPr/>
        </p:nvSpPr>
        <p:spPr>
          <a:xfrm>
            <a:off x="6751899" y="3664717"/>
            <a:ext cx="44794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mysql</a:t>
            </a:r>
            <a:r>
              <a:rPr lang="en-US" dirty="0"/>
              <a:t>&gt; drop table latih1;</a:t>
            </a:r>
          </a:p>
          <a:p>
            <a:r>
              <a:rPr lang="en-US" dirty="0"/>
              <a:t>Query OK, 0 rows affected (0.05 sec)</a:t>
            </a:r>
          </a:p>
          <a:p>
            <a:endParaRPr lang="en-US" dirty="0"/>
          </a:p>
          <a:p>
            <a:r>
              <a:rPr lang="en-US" dirty="0" err="1"/>
              <a:t>mysql</a:t>
            </a:r>
            <a:r>
              <a:rPr lang="en-US" dirty="0"/>
              <a:t>&gt; show tables;</a:t>
            </a:r>
          </a:p>
          <a:p>
            <a:r>
              <a:rPr lang="en-US" dirty="0"/>
              <a:t>Empty set (0.00 sec)</a:t>
            </a:r>
          </a:p>
        </p:txBody>
      </p:sp>
    </p:spTree>
    <p:extLst>
      <p:ext uri="{BB962C8B-B14F-4D97-AF65-F5344CB8AC3E}">
        <p14:creationId xmlns:p14="http://schemas.microsoft.com/office/powerpoint/2010/main" val="330359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4DC5-8DA3-47F1-98B7-4181EC56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78604-C0FA-46B0-B14A-F3A606176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015946"/>
          </a:xfrm>
        </p:spPr>
        <p:txBody>
          <a:bodyPr>
            <a:normAutofit/>
          </a:bodyPr>
          <a:lstStyle/>
          <a:p>
            <a:r>
              <a:rPr lang="en-US" sz="2400" dirty="0"/>
              <a:t>Create :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baru</a:t>
            </a:r>
            <a:r>
              <a:rPr lang="en-US" sz="2400" dirty="0"/>
              <a:t> </a:t>
            </a:r>
          </a:p>
          <a:p>
            <a:r>
              <a:rPr lang="en-US" sz="2400" dirty="0"/>
              <a:t> create table "</a:t>
            </a:r>
            <a:r>
              <a:rPr lang="en-US" sz="2400" dirty="0" err="1"/>
              <a:t>tablename</a:t>
            </a:r>
            <a:r>
              <a:rPr lang="en-US" sz="2400" dirty="0"/>
              <a:t>" ("column1" "data type" [constraint], "column2" "data type"  [constraint], "column3" "data type" [constraint]);  </a:t>
            </a:r>
            <a:br>
              <a:rPr lang="en-US" sz="2400" dirty="0"/>
            </a:br>
            <a:r>
              <a:rPr lang="en-US" sz="2400" dirty="0" err="1"/>
              <a:t>Ket</a:t>
            </a:r>
            <a:r>
              <a:rPr lang="en-US" sz="2400" dirty="0"/>
              <a:t> : [ ] = optional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05FE0-FD2A-4867-9865-360BBA2E2E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46" r="13571" b="77388"/>
          <a:stretch/>
        </p:blipFill>
        <p:spPr>
          <a:xfrm>
            <a:off x="695896" y="4359633"/>
            <a:ext cx="9738061" cy="8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8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DE10-1513-4052-A2CA-F9D069DB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Memasukkan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32152-FCC5-4A87-A2A4-F6FA234E3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31478"/>
            <a:ext cx="8897658" cy="858917"/>
          </a:xfrm>
        </p:spPr>
        <p:txBody>
          <a:bodyPr/>
          <a:lstStyle/>
          <a:p>
            <a:r>
              <a:rPr lang="en-US" dirty="0"/>
              <a:t>INSERT INTO </a:t>
            </a:r>
            <a:r>
              <a:rPr lang="en-US" dirty="0" err="1"/>
              <a:t>Nama_Tabel</a:t>
            </a:r>
            <a:r>
              <a:rPr lang="en-US" dirty="0"/>
              <a:t> VALUES (</a:t>
            </a:r>
            <a:r>
              <a:rPr lang="en-US" dirty="0" err="1"/>
              <a:t>Nilai_Atribut</a:t>
            </a:r>
            <a:r>
              <a:rPr lang="en-US" dirty="0"/>
              <a:t>, </a:t>
            </a:r>
            <a:r>
              <a:rPr lang="en-US" dirty="0" err="1"/>
              <a:t>Nilai_Atribut</a:t>
            </a:r>
            <a:r>
              <a:rPr lang="en-US" dirty="0"/>
              <a:t>,……..   );</a:t>
            </a:r>
          </a:p>
        </p:txBody>
      </p:sp>
      <p:pic>
        <p:nvPicPr>
          <p:cNvPr id="5" name="Picture 74">
            <a:extLst>
              <a:ext uri="{FF2B5EF4-FFF2-40B4-BE49-F238E27FC236}">
                <a16:creationId xmlns:a16="http://schemas.microsoft.com/office/drawing/2014/main" id="{FA299357-E002-48FE-A45E-C73AF3939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86" t="18134" r="38680" b="-18134"/>
          <a:stretch/>
        </p:blipFill>
        <p:spPr bwMode="auto">
          <a:xfrm>
            <a:off x="221964" y="2690395"/>
            <a:ext cx="6456422" cy="4791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66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908A-0391-440A-9EBF-F63AE547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Menampilkan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3588-2096-4A59-B430-6ED56D137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592" y="1883141"/>
            <a:ext cx="11469294" cy="1660159"/>
          </a:xfrm>
        </p:spPr>
        <p:txBody>
          <a:bodyPr>
            <a:normAutofit/>
          </a:bodyPr>
          <a:lstStyle/>
          <a:p>
            <a:r>
              <a:rPr lang="en-US" sz="2400" dirty="0"/>
              <a:t>Select :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menampilkan</a:t>
            </a:r>
            <a:r>
              <a:rPr lang="en-US" sz="2400" dirty="0"/>
              <a:t> data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r>
              <a:rPr lang="en-US" sz="2400" dirty="0"/>
              <a:t> yang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tentukan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 err="1"/>
              <a:t>Instruksi</a:t>
            </a:r>
            <a:r>
              <a:rPr lang="en-US" sz="2400" dirty="0"/>
              <a:t>: SELECT "column1"  [,"column2",etc]  FROM "</a:t>
            </a:r>
            <a:r>
              <a:rPr lang="en-US" sz="2400" dirty="0" err="1"/>
              <a:t>tablename</a:t>
            </a:r>
            <a:r>
              <a:rPr lang="en-US" sz="2400" dirty="0"/>
              <a:t>"  [where "condition"];   </a:t>
            </a:r>
          </a:p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data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: SELECT * FROM </a:t>
            </a:r>
            <a:r>
              <a:rPr lang="en-US" sz="2400" dirty="0" err="1"/>
              <a:t>Nama_Tabel</a:t>
            </a:r>
            <a:r>
              <a:rPr lang="en-US" sz="2400" dirty="0"/>
              <a:t> ;</a:t>
            </a:r>
          </a:p>
        </p:txBody>
      </p:sp>
      <p:pic>
        <p:nvPicPr>
          <p:cNvPr id="8194" name="Picture 80">
            <a:extLst>
              <a:ext uri="{FF2B5EF4-FFF2-40B4-BE49-F238E27FC236}">
                <a16:creationId xmlns:a16="http://schemas.microsoft.com/office/drawing/2014/main" id="{566283C1-47F9-44BD-90E6-89C6CEF5A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27"/>
          <a:stretch/>
        </p:blipFill>
        <p:spPr bwMode="auto">
          <a:xfrm>
            <a:off x="777134" y="3543300"/>
            <a:ext cx="8354139" cy="2099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088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30-24C0-4BFA-9EB4-D0D8079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B14E6-617E-4AD0-9387-BCD5BACE7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Tampilkan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</a:t>
            </a:r>
            <a:r>
              <a:rPr lang="en-US" sz="2400" dirty="0" err="1"/>
              <a:t>depan</a:t>
            </a:r>
            <a:r>
              <a:rPr lang="en-US" sz="2400" dirty="0"/>
              <a:t> dan </a:t>
            </a:r>
            <a:r>
              <a:rPr lang="en-US" sz="2400" dirty="0" err="1"/>
              <a:t>nama</a:t>
            </a:r>
            <a:r>
              <a:rPr lang="en-US" sz="2400" dirty="0"/>
              <a:t> </a:t>
            </a:r>
            <a:r>
              <a:rPr lang="en-US" sz="2400" dirty="0" err="1"/>
              <a:t>belakang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 di </a:t>
            </a:r>
            <a:r>
              <a:rPr lang="en-US" sz="2400" dirty="0" err="1"/>
              <a:t>atas</a:t>
            </a:r>
            <a:r>
              <a:rPr lang="en-US" sz="2400" dirty="0"/>
              <a:t> : SELECT </a:t>
            </a:r>
            <a:r>
              <a:rPr lang="en-US" sz="2400" dirty="0" err="1"/>
              <a:t>nama_depan</a:t>
            </a:r>
            <a:r>
              <a:rPr lang="en-US" sz="2400" dirty="0"/>
              <a:t>, </a:t>
            </a:r>
            <a:r>
              <a:rPr lang="en-US" sz="2400" dirty="0" err="1"/>
              <a:t>nama_belakang</a:t>
            </a:r>
            <a:r>
              <a:rPr lang="en-US" sz="2400" dirty="0"/>
              <a:t> FROM latih1; 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Tampilkan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</a:t>
            </a:r>
            <a:r>
              <a:rPr lang="en-US" sz="2400" dirty="0" err="1"/>
              <a:t>depan</a:t>
            </a:r>
            <a:r>
              <a:rPr lang="en-US" sz="2400" dirty="0"/>
              <a:t> dan </a:t>
            </a:r>
            <a:r>
              <a:rPr lang="en-US" sz="2400" dirty="0" err="1"/>
              <a:t>nama</a:t>
            </a:r>
            <a:r>
              <a:rPr lang="en-US" sz="2400" dirty="0"/>
              <a:t> </a:t>
            </a:r>
            <a:r>
              <a:rPr lang="en-US" sz="2400" dirty="0" err="1"/>
              <a:t>belakang</a:t>
            </a:r>
            <a:r>
              <a:rPr lang="en-US" sz="2400" dirty="0"/>
              <a:t> yang </a:t>
            </a:r>
            <a:r>
              <a:rPr lang="en-US" sz="2400" dirty="0" err="1"/>
              <a:t>bukan</a:t>
            </a:r>
            <a:r>
              <a:rPr lang="en-US" sz="2400" dirty="0"/>
              <a:t> </a:t>
            </a:r>
            <a:r>
              <a:rPr lang="en-US" sz="2400" dirty="0" err="1"/>
              <a:t>Syamsul</a:t>
            </a:r>
            <a:r>
              <a:rPr lang="en-US" sz="2400" dirty="0"/>
              <a:t>: SELECT </a:t>
            </a:r>
            <a:r>
              <a:rPr lang="en-US" sz="2400" dirty="0" err="1"/>
              <a:t>nama_depan</a:t>
            </a:r>
            <a:r>
              <a:rPr lang="en-US" sz="2400" dirty="0"/>
              <a:t>, </a:t>
            </a:r>
            <a:r>
              <a:rPr lang="en-US" sz="2400" dirty="0" err="1"/>
              <a:t>nama_belakang</a:t>
            </a:r>
            <a:r>
              <a:rPr lang="en-US" sz="2400" dirty="0"/>
              <a:t> FROM latih1 where </a:t>
            </a:r>
            <a:r>
              <a:rPr lang="en-US" sz="2400" dirty="0" err="1"/>
              <a:t>nama_depan</a:t>
            </a:r>
            <a:r>
              <a:rPr lang="en-US" sz="2400" dirty="0"/>
              <a:t> &lt;&gt; ‘</a:t>
            </a:r>
            <a:r>
              <a:rPr lang="en-US" sz="2400" dirty="0" err="1"/>
              <a:t>Syamsul</a:t>
            </a:r>
            <a:r>
              <a:rPr lang="en-US" sz="2400" dirty="0"/>
              <a:t>'; 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Tampilkan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nama_depan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“</a:t>
            </a:r>
            <a:r>
              <a:rPr lang="en-US" sz="2400" dirty="0" err="1"/>
              <a:t>Dedi</a:t>
            </a:r>
            <a:r>
              <a:rPr lang="en-US" sz="2400" dirty="0"/>
              <a:t>“ : SELECT * FROM latih1 where </a:t>
            </a:r>
            <a:r>
              <a:rPr lang="en-US" sz="2400" dirty="0" err="1"/>
              <a:t>nama_depan</a:t>
            </a:r>
            <a:r>
              <a:rPr lang="en-US" sz="2400" dirty="0"/>
              <a:t>= ‘</a:t>
            </a:r>
            <a:r>
              <a:rPr lang="en-US" sz="2400" dirty="0" err="1"/>
              <a:t>Dedi</a:t>
            </a:r>
            <a:r>
              <a:rPr lang="en-US" sz="2400" dirty="0"/>
              <a:t>'; 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Tampilkan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nama_depan</a:t>
            </a:r>
            <a:r>
              <a:rPr lang="en-US" sz="2400" dirty="0"/>
              <a:t> </a:t>
            </a:r>
            <a:r>
              <a:rPr lang="en-US" sz="2400" dirty="0" err="1"/>
              <a:t>mengandung</a:t>
            </a:r>
            <a:r>
              <a:rPr lang="en-US" sz="2400" dirty="0"/>
              <a:t> “</a:t>
            </a:r>
            <a:r>
              <a:rPr lang="en-US" sz="2400" dirty="0" err="1"/>
              <a:t>Dedi</a:t>
            </a:r>
            <a:r>
              <a:rPr lang="en-US" sz="2400" dirty="0"/>
              <a:t>“:  SELECT * FROM latih1 where </a:t>
            </a:r>
            <a:r>
              <a:rPr lang="en-US" sz="2400" dirty="0" err="1"/>
              <a:t>nama_depan</a:t>
            </a:r>
            <a:r>
              <a:rPr lang="en-US" sz="2400" dirty="0"/>
              <a:t> LIKE ‘%</a:t>
            </a:r>
            <a:r>
              <a:rPr lang="en-US" sz="2400" dirty="0" err="1"/>
              <a:t>Dedi</a:t>
            </a:r>
            <a:r>
              <a:rPr lang="en-US" sz="2400" dirty="0"/>
              <a:t>%'; </a:t>
            </a:r>
          </a:p>
        </p:txBody>
      </p:sp>
    </p:spTree>
    <p:extLst>
      <p:ext uri="{BB962C8B-B14F-4D97-AF65-F5344CB8AC3E}">
        <p14:creationId xmlns:p14="http://schemas.microsoft.com/office/powerpoint/2010/main" val="174775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789E-D727-4E91-BCE3-4FF55F23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D540A-447E-481E-8EA2-446123DDE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70254"/>
            <a:ext cx="9053372" cy="710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Misal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ingin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menampilkan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Nama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Nama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Akhirnya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adalah“Doni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gunakan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perintah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SELECT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Nama_Atribut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Nama_Tabel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WHERE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Kondisi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</a:p>
        </p:txBody>
      </p:sp>
      <p:pic>
        <p:nvPicPr>
          <p:cNvPr id="5" name="Picture 80">
            <a:extLst>
              <a:ext uri="{FF2B5EF4-FFF2-40B4-BE49-F238E27FC236}">
                <a16:creationId xmlns:a16="http://schemas.microsoft.com/office/drawing/2014/main" id="{9C2779A0-03BB-4F67-A7CB-7A65E3859B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" b="54104"/>
          <a:stretch/>
        </p:blipFill>
        <p:spPr bwMode="auto">
          <a:xfrm>
            <a:off x="581192" y="3278059"/>
            <a:ext cx="9765990" cy="221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98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2063-5705-4DD6-8A97-F49885A5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LAIN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59D37-A452-48F3-88E9-DE8DCD7D4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7918864" cy="562704"/>
          </a:xfrm>
        </p:spPr>
        <p:txBody>
          <a:bodyPr/>
          <a:lstStyle/>
          <a:p>
            <a:r>
              <a:rPr lang="id-ID" dirty="0"/>
              <a:t>Specific Rows</a:t>
            </a:r>
            <a:endParaRPr lang="en-US" dirty="0"/>
          </a:p>
          <a:p>
            <a:endParaRPr lang="en-US" dirty="0"/>
          </a:p>
        </p:txBody>
      </p:sp>
      <p:pic>
        <p:nvPicPr>
          <p:cNvPr id="9218" name="Picture 83">
            <a:extLst>
              <a:ext uri="{FF2B5EF4-FFF2-40B4-BE49-F238E27FC236}">
                <a16:creationId xmlns:a16="http://schemas.microsoft.com/office/drawing/2014/main" id="{9939B378-CB7B-4018-87F5-C32971250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75" r="-295" b="19755"/>
          <a:stretch/>
        </p:blipFill>
        <p:spPr bwMode="auto">
          <a:xfrm>
            <a:off x="581192" y="2461849"/>
            <a:ext cx="6914312" cy="171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4E4B44-606D-485F-864B-22FBD38E4A9D}"/>
              </a:ext>
            </a:extLst>
          </p:cNvPr>
          <p:cNvSpPr txBox="1">
            <a:spLocks/>
          </p:cNvSpPr>
          <p:nvPr/>
        </p:nvSpPr>
        <p:spPr>
          <a:xfrm>
            <a:off x="450258" y="4639280"/>
            <a:ext cx="7918864" cy="562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Specific Columns</a:t>
            </a:r>
            <a:endParaRPr lang="en-US" dirty="0"/>
          </a:p>
          <a:p>
            <a:endParaRPr lang="en-US" dirty="0"/>
          </a:p>
        </p:txBody>
      </p:sp>
      <p:pic>
        <p:nvPicPr>
          <p:cNvPr id="9219" name="Picture 86">
            <a:extLst>
              <a:ext uri="{FF2B5EF4-FFF2-40B4-BE49-F238E27FC236}">
                <a16:creationId xmlns:a16="http://schemas.microsoft.com/office/drawing/2014/main" id="{1FD0F9B5-4573-44D0-94A4-F51FFFE54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4" r="4521" b="39474"/>
          <a:stretch/>
        </p:blipFill>
        <p:spPr bwMode="auto">
          <a:xfrm>
            <a:off x="581192" y="4920632"/>
            <a:ext cx="6888172" cy="1738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33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858D-2A64-4271-9A71-D47FF99B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Penyaringan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8465-BD19-41F5-8FBF-01E6BB70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08414"/>
            <a:ext cx="11191707" cy="4669971"/>
          </a:xfrm>
        </p:spPr>
        <p:txBody>
          <a:bodyPr>
            <a:normAutofit fontScale="92500"/>
          </a:bodyPr>
          <a:lstStyle/>
          <a:p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Penyaringan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memilih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berdasarkan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ketentuan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kolom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lain. Proses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penyaringan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sangat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penting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proses UPDATE dan DELETE. </a:t>
            </a:r>
          </a:p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Update :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mengupdate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merubah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isi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data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Instruksi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update 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tablename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set 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columnname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= 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newvalue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[,"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nextcolumn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= "newvalue2"...] where 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columnname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  OPERATOR "value"   [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and|or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"column"   OPERATOR "value"]; </a:t>
            </a:r>
          </a:p>
          <a:p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 update  latih1 set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nama_depan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‘Agung’, 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nama_belakang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‘Hendra’ where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nama_depan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=‘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Agus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</a:p>
          <a:p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 :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menghapus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baris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/record data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delete from 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tablename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where "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columnname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OPERATOR "value"  [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and|or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"column" OPERATOR "value"];  </a:t>
            </a:r>
          </a:p>
          <a:p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 delete from latih1 where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nama_depan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‘Agung'</a:t>
            </a:r>
          </a:p>
        </p:txBody>
      </p:sp>
    </p:spTree>
    <p:extLst>
      <p:ext uri="{BB962C8B-B14F-4D97-AF65-F5344CB8AC3E}">
        <p14:creationId xmlns:p14="http://schemas.microsoft.com/office/powerpoint/2010/main" val="1255606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3D3BC-7D77-4250-972F-DF1CB567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A801-8456-4320-9D99-18BCA5687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379133"/>
          </a:xfrm>
        </p:spPr>
        <p:txBody>
          <a:bodyPr>
            <a:normAutofit/>
          </a:bodyPr>
          <a:lstStyle/>
          <a:p>
            <a:r>
              <a:rPr lang="en-US" sz="2400" dirty="0"/>
              <a:t>Drop :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menghapus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endParaRPr lang="en-US" sz="2400" dirty="0"/>
          </a:p>
          <a:p>
            <a:r>
              <a:rPr lang="en-US" sz="2400" dirty="0" err="1"/>
              <a:t>contoh</a:t>
            </a:r>
            <a:r>
              <a:rPr lang="en-US" sz="2400" dirty="0"/>
              <a:t> : drop table latih1 </a:t>
            </a:r>
          </a:p>
        </p:txBody>
      </p:sp>
    </p:spTree>
    <p:extLst>
      <p:ext uri="{BB962C8B-B14F-4D97-AF65-F5344CB8AC3E}">
        <p14:creationId xmlns:p14="http://schemas.microsoft.com/office/powerpoint/2010/main" val="1722190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D147FF-58F9-4E51-9D9A-3F54BBAEE5A3}"/>
              </a:ext>
            </a:extLst>
          </p:cNvPr>
          <p:cNvSpPr/>
          <p:nvPr/>
        </p:nvSpPr>
        <p:spPr>
          <a:xfrm>
            <a:off x="1038159" y="1797784"/>
            <a:ext cx="110296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MENAMBAHKAN DAN MENGUBAH KOLOM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Instruksi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  :  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ALTER TABLE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N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ama_tab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el 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Calibri" panose="020F0502020204030204" pitchFamily="34" charset="0"/>
                <a:cs typeface="+mn-cs"/>
              </a:rPr>
              <a:t>ADD nama_kolom tipe_data;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Calibri" panose="020F0502020204030204" pitchFamily="34" charset="0"/>
                <a:cs typeface="+mn-cs"/>
              </a:rPr>
              <a:t>      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Atau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Calibri" panose="020F0502020204030204" pitchFamily="34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ALTER TABLE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N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ama_ta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bel 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Times New Roman" panose="02020603050405020304" pitchFamily="18" charset="0"/>
                <a:cs typeface="Calibri" panose="020F0502020204030204" pitchFamily="34" charset="0"/>
              </a:rPr>
              <a:t>MODIFY </a:t>
            </a:r>
            <a:r>
              <a:rPr kumimoji="0" lang="id-ID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Calibri" panose="020F0502020204030204" pitchFamily="34" charset="0"/>
                <a:cs typeface="+mn-cs"/>
              </a:rPr>
              <a:t>nama_kolom tipe_data;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877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BAAE-26F4-4BEE-8656-99B34199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8D89711-3F26-429C-9C34-F99B36B8C512}"/>
              </a:ext>
            </a:extLst>
          </p:cNvPr>
          <p:cNvSpPr txBox="1">
            <a:spLocks/>
          </p:cNvSpPr>
          <p:nvPr/>
        </p:nvSpPr>
        <p:spPr>
          <a:xfrm>
            <a:off x="864527" y="2515348"/>
            <a:ext cx="11029616" cy="833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Memb</a:t>
            </a:r>
            <a:r>
              <a:rPr lang="id-ID" dirty="0"/>
              <a:t>uat suatu tabel dan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id-ID" dirty="0"/>
              <a:t>tabel tersebut dengan data-data dari tabel  lain </a:t>
            </a:r>
            <a:r>
              <a:rPr lang="en-US" dirty="0"/>
              <a:t>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5CAE4-1817-44E8-868C-50E63481431C}"/>
              </a:ext>
            </a:extLst>
          </p:cNvPr>
          <p:cNvSpPr/>
          <p:nvPr/>
        </p:nvSpPr>
        <p:spPr>
          <a:xfrm>
            <a:off x="864527" y="3309834"/>
            <a:ext cx="11029616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nama_tabel_baru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nama_kolom1,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nama_kolom2,...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nama_tabel_lain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E2461-D12E-42BD-AA8B-C716348F4684}"/>
              </a:ext>
            </a:extLst>
          </p:cNvPr>
          <p:cNvSpPr/>
          <p:nvPr/>
        </p:nvSpPr>
        <p:spPr>
          <a:xfrm>
            <a:off x="864527" y="3785074"/>
            <a:ext cx="11029616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nama_tabel_baru 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*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nama_tabel_l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0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EC4D-18CE-4B7D-AFE6-73855FD8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346E6-4E2C-4865-9E5D-427ECFD5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9335540" cy="794524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Contoh</a:t>
            </a:r>
            <a:r>
              <a:rPr lang="en-US" dirty="0"/>
              <a:t> Nama </a:t>
            </a:r>
            <a:r>
              <a:rPr lang="en-US" dirty="0" err="1"/>
              <a:t>depan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abjad ascending :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Nama_Atribut_yang_ditampilkan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Nama_Tabel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ORDER BY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Nama_Atribut_yang_diurutkan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;</a:t>
            </a:r>
            <a:endParaRPr lang="en-US" dirty="0"/>
          </a:p>
        </p:txBody>
      </p:sp>
      <p:pic>
        <p:nvPicPr>
          <p:cNvPr id="10242" name="Picture 1">
            <a:extLst>
              <a:ext uri="{FF2B5EF4-FFF2-40B4-BE49-F238E27FC236}">
                <a16:creationId xmlns:a16="http://schemas.microsoft.com/office/drawing/2014/main" id="{5D16F398-D790-484C-8B67-7CA3472E6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3" t="8732" r="9801" b="62998"/>
          <a:stretch/>
        </p:blipFill>
        <p:spPr bwMode="auto">
          <a:xfrm>
            <a:off x="709980" y="3270854"/>
            <a:ext cx="7068859" cy="243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9942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05C4-9A74-443F-B445-A7EB614D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16F4B-43F7-472A-89BC-970CFC978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210526" cy="549825"/>
          </a:xfrm>
        </p:spPr>
        <p:txBody>
          <a:bodyPr/>
          <a:lstStyle/>
          <a:p>
            <a:r>
              <a:rPr lang="en-US" dirty="0"/>
              <a:t>Nama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abjad ascending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266" name="Picture 92">
            <a:extLst>
              <a:ext uri="{FF2B5EF4-FFF2-40B4-BE49-F238E27FC236}">
                <a16:creationId xmlns:a16="http://schemas.microsoft.com/office/drawing/2014/main" id="{05830803-70AD-4183-BF19-F9B7619AA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730321"/>
            <a:ext cx="6824160" cy="335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585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B131-DC6E-4B74-9BFF-792623EB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6093-0A17-4629-9B8B-E0B55431A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704476" cy="3437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Nama </a:t>
            </a:r>
            <a:r>
              <a:rPr lang="en-US" dirty="0" err="1"/>
              <a:t>depan</a:t>
            </a:r>
            <a:r>
              <a:rPr lang="en-US" dirty="0"/>
              <a:t> ascending,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diurutkan</a:t>
            </a:r>
            <a:r>
              <a:rPr lang="en-US" dirty="0"/>
              <a:t> descending</a:t>
            </a:r>
          </a:p>
        </p:txBody>
      </p:sp>
      <p:pic>
        <p:nvPicPr>
          <p:cNvPr id="12290" name="Picture 95">
            <a:extLst>
              <a:ext uri="{FF2B5EF4-FFF2-40B4-BE49-F238E27FC236}">
                <a16:creationId xmlns:a16="http://schemas.microsoft.com/office/drawing/2014/main" id="{F15B0AD8-2788-4E45-9AB3-F87F6D226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52" r="1203"/>
          <a:stretch/>
        </p:blipFill>
        <p:spPr bwMode="auto">
          <a:xfrm>
            <a:off x="581192" y="2756077"/>
            <a:ext cx="7210526" cy="222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1176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7161-AE6B-4501-9420-44A29440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635128"/>
            <a:ext cx="11029616" cy="1013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Bag 2</a:t>
            </a:r>
          </a:p>
        </p:txBody>
      </p:sp>
    </p:spTree>
    <p:extLst>
      <p:ext uri="{BB962C8B-B14F-4D97-AF65-F5344CB8AC3E}">
        <p14:creationId xmlns:p14="http://schemas.microsoft.com/office/powerpoint/2010/main" val="692752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F2AD-E991-4AF4-8E2A-D201FB81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table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data_lahir</a:t>
            </a:r>
            <a:endParaRPr lang="en-US" dirty="0"/>
          </a:p>
        </p:txBody>
      </p:sp>
      <p:pic>
        <p:nvPicPr>
          <p:cNvPr id="13314" name="Picture 1">
            <a:extLst>
              <a:ext uri="{FF2B5EF4-FFF2-40B4-BE49-F238E27FC236}">
                <a16:creationId xmlns:a16="http://schemas.microsoft.com/office/drawing/2014/main" id="{65AA5130-384D-461F-A19A-83324EBE0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81" t="11019" r="10909" b="45359"/>
          <a:stretch/>
        </p:blipFill>
        <p:spPr bwMode="auto">
          <a:xfrm>
            <a:off x="581192" y="2215167"/>
            <a:ext cx="6619740" cy="345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101">
            <a:extLst>
              <a:ext uri="{FF2B5EF4-FFF2-40B4-BE49-F238E27FC236}">
                <a16:creationId xmlns:a16="http://schemas.microsoft.com/office/drawing/2014/main" id="{1617F388-DE79-42BF-AFF9-E76E6300B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09"/>
          <a:stretch/>
        </p:blipFill>
        <p:spPr bwMode="auto">
          <a:xfrm>
            <a:off x="7319963" y="2215167"/>
            <a:ext cx="4434049" cy="2550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0329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6658-4496-4268-98A7-73EEF738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UMUr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0D12A-2063-451C-8F02-3CC890E8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44710"/>
            <a:ext cx="5999912" cy="1043189"/>
          </a:xfrm>
        </p:spPr>
        <p:txBody>
          <a:bodyPr>
            <a:normAutofit/>
          </a:bodyPr>
          <a:lstStyle/>
          <a:p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, </a:t>
            </a:r>
            <a:r>
              <a:rPr lang="en-US" dirty="0" err="1"/>
              <a:t>tgl</a:t>
            </a:r>
            <a:r>
              <a:rPr lang="en-US" dirty="0"/>
              <a:t>, </a:t>
            </a:r>
            <a:r>
              <a:rPr lang="en-US" dirty="0" err="1"/>
              <a:t>curdate</a:t>
            </a:r>
            <a:r>
              <a:rPr lang="en-US" dirty="0"/>
              <a:t>(</a:t>
            </a:r>
            <a:r>
              <a:rPr lang="en-US" dirty="0" err="1"/>
              <a:t>tanggal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).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CURDATE </a:t>
            </a:r>
            <a:r>
              <a:rPr lang="en-US" dirty="0" err="1"/>
              <a:t>dikurangi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tgl</a:t>
            </a:r>
            <a:r>
              <a:rPr lang="en-US" dirty="0"/>
              <a:t>.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diklasifikasikan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umur</a:t>
            </a:r>
            <a:r>
              <a:rPr lang="en-US" dirty="0"/>
              <a:t>. 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D6506CFA-B9EA-4E21-AD26-CFA8D2299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93" t="6087" r="20699" b="65372"/>
          <a:stretch/>
        </p:blipFill>
        <p:spPr bwMode="auto">
          <a:xfrm>
            <a:off x="763073" y="3232596"/>
            <a:ext cx="5572154" cy="278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B47A55-BFCB-47F1-A0D0-87F9F88EE99A}"/>
              </a:ext>
            </a:extLst>
          </p:cNvPr>
          <p:cNvSpPr/>
          <p:nvPr/>
        </p:nvSpPr>
        <p:spPr>
          <a:xfrm>
            <a:off x="6864439" y="1944710"/>
            <a:ext cx="4958365" cy="104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Apabila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menampilkan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kolom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curdate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tinggal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ditentukan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kolom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ditampilkan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pilihan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select.</a:t>
            </a:r>
          </a:p>
        </p:txBody>
      </p:sp>
      <p:pic>
        <p:nvPicPr>
          <p:cNvPr id="14339" name="Picture 1">
            <a:extLst>
              <a:ext uri="{FF2B5EF4-FFF2-40B4-BE49-F238E27FC236}">
                <a16:creationId xmlns:a16="http://schemas.microsoft.com/office/drawing/2014/main" id="{D6680C4A-DCA9-4BF7-ADC5-A9D72F419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4" t="5014" r="27058" b="62637"/>
          <a:stretch/>
        </p:blipFill>
        <p:spPr bwMode="auto">
          <a:xfrm>
            <a:off x="7032812" y="3221443"/>
            <a:ext cx="4577995" cy="279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F43B1E-802F-4E67-A0A4-341387BBFECE}"/>
              </a:ext>
            </a:extLst>
          </p:cNvPr>
          <p:cNvSpPr/>
          <p:nvPr/>
        </p:nvSpPr>
        <p:spPr>
          <a:xfrm>
            <a:off x="485104" y="6259131"/>
            <a:ext cx="11125703" cy="392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Hari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dihitung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dengan mengubah “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 menjadi  “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“DATE”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5167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C8C8-32B8-4071-A750-B0190E95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C74A-7528-4F47-845D-43FEE2519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25014"/>
            <a:ext cx="11029617" cy="914400"/>
          </a:xfrm>
        </p:spPr>
        <p:txBody>
          <a:bodyPr>
            <a:normAutofit fontScale="92500"/>
          </a:bodyPr>
          <a:lstStyle/>
          <a:p>
            <a:r>
              <a:rPr lang="id-ID" b="1" dirty="0"/>
              <a:t>UPDATE DATA</a:t>
            </a:r>
            <a:endParaRPr lang="en-US" dirty="0"/>
          </a:p>
          <a:p>
            <a:r>
              <a:rPr lang="id-ID" dirty="0"/>
              <a:t>Instruksi </a:t>
            </a:r>
            <a:r>
              <a:rPr lang="en-US" dirty="0"/>
              <a:t>yang </a:t>
            </a:r>
            <a:r>
              <a:rPr lang="en-US" dirty="0" err="1"/>
              <a:t>digunakan</a:t>
            </a:r>
            <a:r>
              <a:rPr lang="en-US" dirty="0"/>
              <a:t> : </a:t>
            </a:r>
            <a:r>
              <a:rPr lang="id-ID" dirty="0"/>
              <a:t>UPDATE </a:t>
            </a:r>
            <a:r>
              <a:rPr lang="en-US" dirty="0"/>
              <a:t>N</a:t>
            </a:r>
            <a:r>
              <a:rPr lang="id-ID" dirty="0"/>
              <a:t>ama_</a:t>
            </a:r>
            <a:r>
              <a:rPr lang="en-US" dirty="0"/>
              <a:t>T</a:t>
            </a:r>
            <a:r>
              <a:rPr lang="id-ID" dirty="0"/>
              <a:t>abe</a:t>
            </a:r>
            <a:r>
              <a:rPr lang="en-US" dirty="0"/>
              <a:t>l </a:t>
            </a:r>
            <a:r>
              <a:rPr lang="id-ID" dirty="0"/>
              <a:t>SET kolom</a:t>
            </a:r>
            <a:r>
              <a:rPr lang="en-US" dirty="0"/>
              <a:t>1</a:t>
            </a:r>
            <a:r>
              <a:rPr lang="id-ID" dirty="0"/>
              <a:t> = </a:t>
            </a:r>
            <a:r>
              <a:rPr lang="en-US" dirty="0"/>
              <a:t>“</a:t>
            </a:r>
            <a:r>
              <a:rPr lang="id-ID" dirty="0"/>
              <a:t>nilai1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”</a:t>
            </a:r>
            <a:r>
              <a:rPr lang="id-ID" dirty="0"/>
              <a:t>, kolom2 =</a:t>
            </a:r>
            <a:r>
              <a:rPr lang="en-US" dirty="0"/>
              <a:t> “</a:t>
            </a:r>
            <a:r>
              <a:rPr lang="id-ID" dirty="0"/>
              <a:t>nilai2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”</a:t>
            </a:r>
            <a:r>
              <a:rPr lang="id-ID" dirty="0"/>
              <a:t>,...</a:t>
            </a:r>
            <a:r>
              <a:rPr lang="en-US" dirty="0"/>
              <a:t> </a:t>
            </a:r>
            <a:r>
              <a:rPr lang="id-ID" dirty="0"/>
              <a:t>WHERE kondisi;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BBA4C2-759A-4323-B992-130B74D7D3BF}"/>
              </a:ext>
            </a:extLst>
          </p:cNvPr>
          <p:cNvSpPr/>
          <p:nvPr/>
        </p:nvSpPr>
        <p:spPr>
          <a:xfrm>
            <a:off x="581192" y="3293926"/>
            <a:ext cx="11029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b="1" dirty="0"/>
              <a:t>DELETE DATA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dirty="0"/>
              <a:t>Instruksi </a:t>
            </a:r>
            <a:r>
              <a:rPr lang="en-US" dirty="0"/>
              <a:t>yang </a:t>
            </a:r>
            <a:r>
              <a:rPr lang="en-US" dirty="0" err="1"/>
              <a:t>digunakan</a:t>
            </a:r>
            <a:r>
              <a:rPr lang="en-US" dirty="0"/>
              <a:t> : </a:t>
            </a:r>
            <a:r>
              <a:rPr lang="id-ID" dirty="0"/>
              <a:t>DELETE FROM </a:t>
            </a:r>
            <a:r>
              <a:rPr lang="en-US" dirty="0"/>
              <a:t>N</a:t>
            </a:r>
            <a:r>
              <a:rPr lang="id-ID" dirty="0"/>
              <a:t>ama_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id-ID" dirty="0"/>
              <a:t>WHERE kondisi;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4DDE1-0A24-4617-984F-C424711FA2E2}"/>
              </a:ext>
            </a:extLst>
          </p:cNvPr>
          <p:cNvSpPr/>
          <p:nvPr/>
        </p:nvSpPr>
        <p:spPr>
          <a:xfrm>
            <a:off x="581192" y="4351917"/>
            <a:ext cx="110296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d-ID" b="1" dirty="0"/>
              <a:t>MENAMBAHKAN DAN MENGUBAH KOLOM</a:t>
            </a:r>
            <a:endParaRPr lang="en-US" b="1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 err="1">
                <a:ea typeface="Times New Roman" panose="02020603050405020304" pitchFamily="18" charset="0"/>
                <a:cs typeface="Calibri" panose="020F0502020204030204" pitchFamily="34" charset="0"/>
              </a:rPr>
              <a:t>Instruksi</a:t>
            </a:r>
            <a:r>
              <a:rPr lang="en-US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  :  </a:t>
            </a:r>
            <a:r>
              <a:rPr lang="id-ID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ALTER TABLE </a:t>
            </a:r>
            <a:r>
              <a:rPr lang="en-US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N</a:t>
            </a:r>
            <a:r>
              <a:rPr lang="id-ID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ama_tab</a:t>
            </a:r>
            <a:r>
              <a:rPr lang="en-US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el </a:t>
            </a:r>
            <a:r>
              <a:rPr lang="id-ID" altLang="en-US" dirty="0">
                <a:ea typeface="Calibri" panose="020F0502020204030204" pitchFamily="34" charset="0"/>
              </a:rPr>
              <a:t>ADD nama_kolom tipe_data;</a:t>
            </a:r>
            <a:r>
              <a:rPr lang="en-US" altLang="en-US" dirty="0">
                <a:ea typeface="Calibri" panose="020F0502020204030204" pitchFamily="34" charset="0"/>
              </a:rPr>
              <a:t>       </a:t>
            </a:r>
            <a:r>
              <a:rPr lang="en-US" altLang="en-US" dirty="0" err="1"/>
              <a:t>Atau</a:t>
            </a:r>
            <a:r>
              <a:rPr lang="en-US" altLang="en-US" dirty="0"/>
              <a:t> </a:t>
            </a:r>
            <a:endParaRPr lang="en-US" altLang="en-US" dirty="0">
              <a:ea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               	  </a:t>
            </a:r>
            <a:r>
              <a:rPr lang="id-ID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ALTER TABLE </a:t>
            </a:r>
            <a:r>
              <a:rPr lang="en-US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N</a:t>
            </a:r>
            <a:r>
              <a:rPr lang="id-ID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ama_ta</a:t>
            </a:r>
            <a:r>
              <a:rPr lang="en-US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bel </a:t>
            </a:r>
            <a:r>
              <a:rPr lang="id-ID" altLang="en-US" dirty="0">
                <a:ea typeface="Times New Roman" panose="02020603050405020304" pitchFamily="18" charset="0"/>
                <a:cs typeface="Calibri" panose="020F0502020204030204" pitchFamily="34" charset="0"/>
              </a:rPr>
              <a:t>MODIFY </a:t>
            </a:r>
            <a:r>
              <a:rPr lang="id-ID" altLang="en-US" dirty="0">
                <a:ea typeface="Calibri" panose="020F0502020204030204" pitchFamily="34" charset="0"/>
              </a:rPr>
              <a:t>nama_kolom tipe_data;</a:t>
            </a:r>
            <a:r>
              <a:rPr lang="en-US" altLang="en-US" dirty="0"/>
              <a:t> 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54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1559-EB9C-4EA6-9944-3F234C9F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Menampilkan</a:t>
            </a:r>
            <a:r>
              <a:rPr lang="en-US" dirty="0"/>
              <a:t> data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E17D-2B5F-4C03-82BB-8114D5FC0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593014"/>
          </a:xfrm>
        </p:spPr>
        <p:txBody>
          <a:bodyPr/>
          <a:lstStyle/>
          <a:p>
            <a:r>
              <a:rPr lang="id-ID" dirty="0"/>
              <a:t>Instruksi :</a:t>
            </a:r>
            <a:endParaRPr lang="en-US" dirty="0"/>
          </a:p>
          <a:p>
            <a:r>
              <a:rPr lang="id-ID" altLang="en-US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 </a:t>
            </a:r>
            <a:r>
              <a:rPr lang="id-ID" altLang="en-US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*</a:t>
            </a:r>
            <a:r>
              <a:rPr lang="id-ID" altLang="en-US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FROM</a:t>
            </a:r>
            <a:r>
              <a:rPr lang="id-ID" altLang="en-US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nama_tabel1, nama_tabel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2;</a:t>
            </a:r>
          </a:p>
          <a:p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id-ID" altLang="en-US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 </a:t>
            </a:r>
            <a:r>
              <a:rPr lang="id-ID" altLang="en-US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A.nama_kolom1, A.nama_kolom2, B.nama_kolom1, B.nama_kolom2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id-ID" altLang="en-US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FROM     </a:t>
            </a:r>
            <a:r>
              <a:rPr lang="id-ID" altLang="en-US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nama_tabel1  A, nama_tabel2  B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id-ID" altLang="en-US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WHERE   </a:t>
            </a:r>
            <a:r>
              <a:rPr lang="id-ID" altLang="en-US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kondisi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 contoh :   A.nama_kolomABC = B.nama_kolomABC;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0CD63E-8E06-4BAA-8FB1-8B087837B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807"/>
            <a:ext cx="166712" cy="261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8" name="Picture 143">
            <a:extLst>
              <a:ext uri="{FF2B5EF4-FFF2-40B4-BE49-F238E27FC236}">
                <a16:creationId xmlns:a16="http://schemas.microsoft.com/office/drawing/2014/main" id="{7E415D2B-24CB-41C5-B68E-17F306442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3556601"/>
            <a:ext cx="9412491" cy="268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2894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71C4-2D50-437B-8266-4818D458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kalkulasi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B6E0-B283-4651-BC2E-150B64FBD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876349"/>
          </a:xfrm>
        </p:spPr>
        <p:txBody>
          <a:bodyPr/>
          <a:lstStyle/>
          <a:p>
            <a:r>
              <a:rPr lang="en-US" b="1" dirty="0" err="1"/>
              <a:t>Instruksi</a:t>
            </a:r>
            <a:r>
              <a:rPr lang="en-US" b="1" dirty="0"/>
              <a:t> :</a:t>
            </a:r>
          </a:p>
          <a:p>
            <a:r>
              <a:rPr lang="id-ID" b="1" dirty="0"/>
              <a:t>SELECT</a:t>
            </a:r>
            <a:r>
              <a:rPr lang="id-ID" dirty="0"/>
              <a:t>   A.nama_kolomxxx, B.nama_kolomxyz,  A.nama_kolom123 * B.nama_kolom456  nama_kolom_baru</a:t>
            </a:r>
            <a:r>
              <a:rPr lang="en-US" dirty="0"/>
              <a:t> </a:t>
            </a:r>
            <a:r>
              <a:rPr lang="id-ID" b="1" dirty="0"/>
              <a:t>FROM</a:t>
            </a:r>
            <a:r>
              <a:rPr lang="id-ID" dirty="0"/>
              <a:t>    nama_tabel1  A, nama_tabel2  B</a:t>
            </a:r>
            <a:endParaRPr lang="en-US" dirty="0"/>
          </a:p>
          <a:p>
            <a:r>
              <a:rPr lang="id-ID" b="1" dirty="0"/>
              <a:t>WHERE</a:t>
            </a:r>
            <a:r>
              <a:rPr lang="id-ID" dirty="0"/>
              <a:t>  kondisi </a:t>
            </a:r>
            <a:r>
              <a:rPr lang="id-ID" dirty="0">
                <a:sym typeface="Wingdings" panose="05000000000000000000" pitchFamily="2" charset="2"/>
              </a:rPr>
              <a:t></a:t>
            </a:r>
            <a:r>
              <a:rPr lang="id-ID" dirty="0"/>
              <a:t>  contoh :   A.nama_kolomABC = B.nama_kolomABC;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368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E1EE-964D-4553-B676-2A9CE1873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B2188-5AEB-4E6A-9007-69894B111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6" cy="833160"/>
          </a:xfrm>
        </p:spPr>
        <p:txBody>
          <a:bodyPr/>
          <a:lstStyle/>
          <a:p>
            <a:r>
              <a:rPr lang="id-ID" dirty="0"/>
              <a:t>Buat suatu tabel dan isilah tabel tersebut dengan data-data dari tabel  lain dengan memanfaatkan instruksi berikut :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D76F9-5559-49F7-A664-2F11B047B524}"/>
              </a:ext>
            </a:extLst>
          </p:cNvPr>
          <p:cNvSpPr/>
          <p:nvPr/>
        </p:nvSpPr>
        <p:spPr>
          <a:xfrm>
            <a:off x="581192" y="2974983"/>
            <a:ext cx="11029616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nama_tabel_baru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nama_kolom1,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nama_kolom2,...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nama_tabel_lain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8DDDBD-1492-47D0-AD6C-2552768A3786}"/>
              </a:ext>
            </a:extLst>
          </p:cNvPr>
          <p:cNvSpPr/>
          <p:nvPr/>
        </p:nvSpPr>
        <p:spPr>
          <a:xfrm>
            <a:off x="581192" y="3450223"/>
            <a:ext cx="11029616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INTO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nama_tabel_baru 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*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id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r>
              <a:rPr lang="id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nama_tabel_l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777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34D2-C941-466C-B030-9EBB324C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Latihan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8DD66-A69C-4EA2-A6E5-D03C77D9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494" y="2369713"/>
            <a:ext cx="11029615" cy="4488286"/>
          </a:xfrm>
        </p:spPr>
        <p:txBody>
          <a:bodyPr>
            <a:normAutofit/>
          </a:bodyPr>
          <a:lstStyle/>
          <a:p>
            <a:r>
              <a:rPr lang="id-ID" dirty="0"/>
              <a:t>Buatlah  tabel-tabel  dengan data-data sebagai berikut :</a:t>
            </a:r>
            <a:endParaRPr lang="en-US" dirty="0"/>
          </a:p>
          <a:p>
            <a:r>
              <a:rPr lang="id-ID" dirty="0"/>
              <a:t>Tabel  Transaksi Penjualan Toko A	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id-ID" dirty="0"/>
              <a:t>Tabel  Transaksi Penjualan Toko </a:t>
            </a:r>
            <a:r>
              <a:rPr lang="en-US" dirty="0"/>
              <a:t>B</a:t>
            </a:r>
            <a:r>
              <a:rPr lang="id-ID" dirty="0"/>
              <a:t>	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id-ID" dirty="0"/>
              <a:t>Tabel Hasil Penggabungan Toko A dan Toko B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DBF71C-0DC3-4666-B36E-A86E59DD3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23804"/>
              </p:ext>
            </p:extLst>
          </p:nvPr>
        </p:nvGraphicFramePr>
        <p:xfrm>
          <a:off x="721413" y="2607791"/>
          <a:ext cx="5129888" cy="10765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086">
                  <a:extLst>
                    <a:ext uri="{9D8B030D-6E8A-4147-A177-3AD203B41FA5}">
                      <a16:colId xmlns:a16="http://schemas.microsoft.com/office/drawing/2014/main" val="422577140"/>
                    </a:ext>
                  </a:extLst>
                </a:gridCol>
                <a:gridCol w="1057505">
                  <a:extLst>
                    <a:ext uri="{9D8B030D-6E8A-4147-A177-3AD203B41FA5}">
                      <a16:colId xmlns:a16="http://schemas.microsoft.com/office/drawing/2014/main" val="3771324805"/>
                    </a:ext>
                  </a:extLst>
                </a:gridCol>
                <a:gridCol w="676486">
                  <a:extLst>
                    <a:ext uri="{9D8B030D-6E8A-4147-A177-3AD203B41FA5}">
                      <a16:colId xmlns:a16="http://schemas.microsoft.com/office/drawing/2014/main" val="4025186496"/>
                    </a:ext>
                  </a:extLst>
                </a:gridCol>
                <a:gridCol w="1045623">
                  <a:extLst>
                    <a:ext uri="{9D8B030D-6E8A-4147-A177-3AD203B41FA5}">
                      <a16:colId xmlns:a16="http://schemas.microsoft.com/office/drawing/2014/main" val="939643017"/>
                    </a:ext>
                  </a:extLst>
                </a:gridCol>
                <a:gridCol w="666188">
                  <a:extLst>
                    <a:ext uri="{9D8B030D-6E8A-4147-A177-3AD203B41FA5}">
                      <a16:colId xmlns:a16="http://schemas.microsoft.com/office/drawing/2014/main" val="3102270360"/>
                    </a:ext>
                  </a:extLst>
                </a:gridCol>
              </a:tblGrid>
              <a:tr h="4391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Nama_Komponen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Part Number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Jumlah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Harga Satuan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Total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9197611"/>
                  </a:ext>
                </a:extLst>
              </a:tr>
              <a:tr h="2124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Resistor 330K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102010101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2500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42819"/>
                  </a:ext>
                </a:extLst>
              </a:tr>
              <a:tr h="2124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Kapasitor 22uF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102020102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300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6000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3118683"/>
                  </a:ext>
                </a:extLst>
              </a:tr>
              <a:tr h="2124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Transistor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102020103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25000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10512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7544137-A29D-4AC8-9AA7-C691BEB2A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179977"/>
              </p:ext>
            </p:extLst>
          </p:nvPr>
        </p:nvGraphicFramePr>
        <p:xfrm>
          <a:off x="721413" y="4180465"/>
          <a:ext cx="5129888" cy="1090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086">
                  <a:extLst>
                    <a:ext uri="{9D8B030D-6E8A-4147-A177-3AD203B41FA5}">
                      <a16:colId xmlns:a16="http://schemas.microsoft.com/office/drawing/2014/main" val="1972357065"/>
                    </a:ext>
                  </a:extLst>
                </a:gridCol>
                <a:gridCol w="1057505">
                  <a:extLst>
                    <a:ext uri="{9D8B030D-6E8A-4147-A177-3AD203B41FA5}">
                      <a16:colId xmlns:a16="http://schemas.microsoft.com/office/drawing/2014/main" val="1393150618"/>
                    </a:ext>
                  </a:extLst>
                </a:gridCol>
                <a:gridCol w="676486">
                  <a:extLst>
                    <a:ext uri="{9D8B030D-6E8A-4147-A177-3AD203B41FA5}">
                      <a16:colId xmlns:a16="http://schemas.microsoft.com/office/drawing/2014/main" val="557752836"/>
                    </a:ext>
                  </a:extLst>
                </a:gridCol>
                <a:gridCol w="1045623">
                  <a:extLst>
                    <a:ext uri="{9D8B030D-6E8A-4147-A177-3AD203B41FA5}">
                      <a16:colId xmlns:a16="http://schemas.microsoft.com/office/drawing/2014/main" val="595896425"/>
                    </a:ext>
                  </a:extLst>
                </a:gridCol>
                <a:gridCol w="666188">
                  <a:extLst>
                    <a:ext uri="{9D8B030D-6E8A-4147-A177-3AD203B41FA5}">
                      <a16:colId xmlns:a16="http://schemas.microsoft.com/office/drawing/2014/main" val="2172874540"/>
                    </a:ext>
                  </a:extLst>
                </a:gridCol>
              </a:tblGrid>
              <a:tr h="4449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Nama_Komponen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Part Number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Jumlah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Harga Satuan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Total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648730"/>
                  </a:ext>
                </a:extLst>
              </a:tr>
              <a:tr h="2152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Resistor 330K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102010101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3750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4016579"/>
                  </a:ext>
                </a:extLst>
              </a:tr>
              <a:tr h="2152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Kapasitor 22uF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102020102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300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9000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5490662"/>
                  </a:ext>
                </a:extLst>
              </a:tr>
              <a:tr h="2152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Transistor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102020103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50000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65853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1C9B6C-66FA-428C-928A-41C6C1A95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254096"/>
              </p:ext>
            </p:extLst>
          </p:nvPr>
        </p:nvGraphicFramePr>
        <p:xfrm>
          <a:off x="721413" y="5767285"/>
          <a:ext cx="5129888" cy="1090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086">
                  <a:extLst>
                    <a:ext uri="{9D8B030D-6E8A-4147-A177-3AD203B41FA5}">
                      <a16:colId xmlns:a16="http://schemas.microsoft.com/office/drawing/2014/main" val="114537993"/>
                    </a:ext>
                  </a:extLst>
                </a:gridCol>
                <a:gridCol w="1057505">
                  <a:extLst>
                    <a:ext uri="{9D8B030D-6E8A-4147-A177-3AD203B41FA5}">
                      <a16:colId xmlns:a16="http://schemas.microsoft.com/office/drawing/2014/main" val="2827363193"/>
                    </a:ext>
                  </a:extLst>
                </a:gridCol>
                <a:gridCol w="676486">
                  <a:extLst>
                    <a:ext uri="{9D8B030D-6E8A-4147-A177-3AD203B41FA5}">
                      <a16:colId xmlns:a16="http://schemas.microsoft.com/office/drawing/2014/main" val="13467465"/>
                    </a:ext>
                  </a:extLst>
                </a:gridCol>
                <a:gridCol w="1045623">
                  <a:extLst>
                    <a:ext uri="{9D8B030D-6E8A-4147-A177-3AD203B41FA5}">
                      <a16:colId xmlns:a16="http://schemas.microsoft.com/office/drawing/2014/main" val="418900291"/>
                    </a:ext>
                  </a:extLst>
                </a:gridCol>
                <a:gridCol w="666188">
                  <a:extLst>
                    <a:ext uri="{9D8B030D-6E8A-4147-A177-3AD203B41FA5}">
                      <a16:colId xmlns:a16="http://schemas.microsoft.com/office/drawing/2014/main" val="4289866438"/>
                    </a:ext>
                  </a:extLst>
                </a:gridCol>
              </a:tblGrid>
              <a:tr h="4449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Nama_Komponen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Part Number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Jumlah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Harga Satuan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Total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5824591"/>
                  </a:ext>
                </a:extLst>
              </a:tr>
              <a:tr h="2152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Resistor 330K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102010101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6250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1363436"/>
                  </a:ext>
                </a:extLst>
              </a:tr>
              <a:tr h="2152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Kapasitor 22uF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102020102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300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15000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839792"/>
                  </a:ext>
                </a:extLst>
              </a:tr>
              <a:tr h="2152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Transistor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102020103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75000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40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796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Words>1329</Words>
  <Application>Microsoft Office PowerPoint</Application>
  <PresentationFormat>Widescreen</PresentationFormat>
  <Paragraphs>192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Calibri</vt:lpstr>
      <vt:lpstr>Franklin Gothic Book</vt:lpstr>
      <vt:lpstr>Gill Sans MT</vt:lpstr>
      <vt:lpstr>Symbol</vt:lpstr>
      <vt:lpstr>Times New Roman</vt:lpstr>
      <vt:lpstr>Wingdings</vt:lpstr>
      <vt:lpstr>Wingdings 2</vt:lpstr>
      <vt:lpstr>Dividend</vt:lpstr>
      <vt:lpstr>Crop</vt:lpstr>
      <vt:lpstr>PowerPoint Presentation</vt:lpstr>
      <vt:lpstr> </vt:lpstr>
      <vt:lpstr>PowerPoint Presentation</vt:lpstr>
      <vt:lpstr>PowerPoint Presentation</vt:lpstr>
      <vt:lpstr>Membuat tabel</vt:lpstr>
      <vt:lpstr>Memasukkan Data ke dalam tabel</vt:lpstr>
      <vt:lpstr>Menampilkan Data</vt:lpstr>
      <vt:lpstr>PowerPoint Presentation</vt:lpstr>
      <vt:lpstr>PowerPoint Presentation</vt:lpstr>
      <vt:lpstr>Contoh LAIN </vt:lpstr>
      <vt:lpstr>Penyaringan data</vt:lpstr>
      <vt:lpstr>Menghapus tabel</vt:lpstr>
      <vt:lpstr>PowerPoint Presentation</vt:lpstr>
      <vt:lpstr>PowerPoint Presentation</vt:lpstr>
      <vt:lpstr>Sorting</vt:lpstr>
      <vt:lpstr>PowerPoint Presentation</vt:lpstr>
      <vt:lpstr>PowerPoint Presentation</vt:lpstr>
      <vt:lpstr>Bag 2</vt:lpstr>
      <vt:lpstr>Membuat table baru data_lahir</vt:lpstr>
      <vt:lpstr>Menghitung UMUr</vt:lpstr>
      <vt:lpstr>PowerPoint Presentation</vt:lpstr>
      <vt:lpstr>Menampilkan data lebih dari satu tabel</vt:lpstr>
      <vt:lpstr>Melakukan kalkulasi</vt:lpstr>
      <vt:lpstr>LATIHAN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MYSQL</dc:title>
  <dc:creator>axioo</dc:creator>
  <cp:lastModifiedBy>rahmawati hasanah</cp:lastModifiedBy>
  <cp:revision>36</cp:revision>
  <dcterms:created xsi:type="dcterms:W3CDTF">2017-05-01T22:48:32Z</dcterms:created>
  <dcterms:modified xsi:type="dcterms:W3CDTF">2024-04-23T03:26:21Z</dcterms:modified>
</cp:coreProperties>
</file>