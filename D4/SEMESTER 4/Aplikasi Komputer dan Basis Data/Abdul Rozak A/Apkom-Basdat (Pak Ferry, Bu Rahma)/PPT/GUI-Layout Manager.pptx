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60" r:id="rId5"/>
    <p:sldId id="261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uiswing/layout/box.html" TargetMode="External"/><Relationship Id="rId2" Type="http://schemas.openxmlformats.org/officeDocument/2006/relationships/hyperlink" Target="https://www.javatpoint.com/java-gridbaglayout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tutorialspoint.com/how-to-combine-flowlayout-and-boxlayout-in-jav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Layout Manager</a:t>
            </a:r>
            <a:br>
              <a:rPr lang="en-US" dirty="0"/>
            </a:br>
            <a:r>
              <a:rPr lang="en-US" sz="2700" dirty="0"/>
              <a:t>Teori Minggu ke 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Manager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31537" y="2112213"/>
            <a:ext cx="9572336" cy="3684588"/>
          </a:xfrm>
        </p:spPr>
        <p:txBody>
          <a:bodyPr/>
          <a:lstStyle/>
          <a:p>
            <a:r>
              <a:rPr lang="en-US" sz="2400" dirty="0"/>
              <a:t>Layout Manager digunakan untuk mengatur tata letak komponen  di dalam kontainer. </a:t>
            </a:r>
          </a:p>
          <a:p>
            <a:r>
              <a:rPr lang="en-US" sz="2400" dirty="0"/>
              <a:t>Terdapat beberapa jenis layout, yaitu: </a:t>
            </a:r>
            <a:br>
              <a:rPr lang="en-US" sz="2400" dirty="0"/>
            </a:br>
            <a:r>
              <a:rPr lang="en-US" sz="2400" dirty="0"/>
              <a:t>1. Flow Layout</a:t>
            </a:r>
            <a:br>
              <a:rPr lang="en-US" sz="2400" dirty="0"/>
            </a:br>
            <a:r>
              <a:rPr lang="en-US" sz="2400" dirty="0"/>
              <a:t>2. Border Layout</a:t>
            </a:r>
            <a:br>
              <a:rPr lang="en-US" sz="2400" dirty="0"/>
            </a:br>
            <a:r>
              <a:rPr lang="en-US" sz="2400" dirty="0"/>
              <a:t>3. Box Layout</a:t>
            </a:r>
            <a:br>
              <a:rPr lang="en-US" sz="2400" dirty="0"/>
            </a:br>
            <a:r>
              <a:rPr lang="en-US" sz="2400" dirty="0"/>
              <a:t>4. Card Layout</a:t>
            </a:r>
            <a:br>
              <a:rPr lang="en-US" sz="2400" dirty="0"/>
            </a:br>
            <a:r>
              <a:rPr lang="en-US" sz="2400" dirty="0"/>
              <a:t>5. Grid Layout</a:t>
            </a:r>
            <a:br>
              <a:rPr lang="en-US" sz="2400" dirty="0"/>
            </a:br>
            <a:r>
              <a:rPr lang="en-US" sz="2400" dirty="0"/>
              <a:t>6. GridBag Layout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FLOW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Flow layout adalah jenis layout yang sederhana, digunkaan untuk mengatur komponen sesuai dengan ukurannya, dan penempatannya berada dalam satu garis jajar (in line) sesuai urutan aliran (flow).</a:t>
            </a:r>
          </a:p>
          <a:p>
            <a:r>
              <a:rPr lang="en-US" dirty="0"/>
              <a:t>Penempatan dapat dilakukan dari kiri ke kanan, atau dari atas ke bawah.</a:t>
            </a:r>
          </a:p>
          <a:p>
            <a:r>
              <a:rPr lang="en-US" dirty="0"/>
              <a:t>Karakter flow layout :</a:t>
            </a:r>
          </a:p>
          <a:p>
            <a:pPr marL="0" indent="0">
              <a:buNone/>
            </a:pPr>
            <a:r>
              <a:rPr lang="en-US" dirty="0"/>
              <a:t>   - pilihan tata letak pada flow layout yaitu kiri (Left), tengah(Center), dan kanan (Right)</a:t>
            </a:r>
          </a:p>
          <a:p>
            <a:pPr marL="0" indent="0">
              <a:buNone/>
            </a:pPr>
            <a:r>
              <a:rPr lang="en-US" dirty="0"/>
              <a:t>   - memiliki vertikal dan horizontal padding </a:t>
            </a:r>
          </a:p>
          <a:p>
            <a:pPr marL="0" indent="0">
              <a:buNone/>
            </a:pPr>
            <a:r>
              <a:rPr lang="en-US" dirty="0"/>
              <a:t>   - default posisi komponen-komponen menggunakan CENTER</a:t>
            </a:r>
          </a:p>
          <a:p>
            <a:pPr marL="0" indent="0">
              <a:buNone/>
            </a:pPr>
            <a:r>
              <a:rPr lang="en-US" dirty="0"/>
              <a:t>   - Flow Layout digunakan secara default pada JPanel.</a:t>
            </a:r>
          </a:p>
        </p:txBody>
      </p:sp>
    </p:spTree>
    <p:extLst>
      <p:ext uri="{BB962C8B-B14F-4D97-AF65-F5344CB8AC3E}">
        <p14:creationId xmlns:p14="http://schemas.microsoft.com/office/powerpoint/2010/main" val="118586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726" t="12947" r="43641" b="38661"/>
          <a:stretch/>
        </p:blipFill>
        <p:spPr>
          <a:xfrm>
            <a:off x="444500" y="1272812"/>
            <a:ext cx="6233056" cy="5042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1579" t="35624" r="13623" b="21875"/>
          <a:stretch/>
        </p:blipFill>
        <p:spPr>
          <a:xfrm>
            <a:off x="7243353" y="1554479"/>
            <a:ext cx="4415247" cy="4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0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208" t="22947" r="13522" b="11160"/>
          <a:stretch/>
        </p:blipFill>
        <p:spPr>
          <a:xfrm>
            <a:off x="248557" y="1181444"/>
            <a:ext cx="9796780" cy="53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6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749" t="17411" r="11715" b="36160"/>
          <a:stretch/>
        </p:blipFill>
        <p:spPr>
          <a:xfrm>
            <a:off x="274682" y="1078455"/>
            <a:ext cx="10763431" cy="47192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172" y="5851306"/>
            <a:ext cx="6545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Gantilah nilai Trailing dengan 40,40 perhatikan perbedaannya.</a:t>
            </a:r>
          </a:p>
          <a:p>
            <a:r>
              <a:rPr lang="en-US" dirty="0">
                <a:solidFill>
                  <a:schemeClr val="bg1"/>
                </a:solidFill>
              </a:rPr>
              <a:t>Ganti TRAILING dengan LEADING, perhatikan perbedaannya.</a:t>
            </a:r>
          </a:p>
        </p:txBody>
      </p:sp>
    </p:spTree>
    <p:extLst>
      <p:ext uri="{BB962C8B-B14F-4D97-AF65-F5344CB8AC3E}">
        <p14:creationId xmlns:p14="http://schemas.microsoft.com/office/powerpoint/2010/main" val="3158552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BORDER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3366" y="1825625"/>
            <a:ext cx="616525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Pada border layout, komponen diletakkan pada posisi NORTH, SOUTH, EAST, WEST, dan CENTER.</a:t>
            </a:r>
          </a:p>
          <a:p>
            <a:r>
              <a:rPr lang="en-US" dirty="0"/>
              <a:t>Border layout adalah default yang digunakan pada Jwindow dan JFrame.</a:t>
            </a:r>
          </a:p>
          <a:p>
            <a:r>
              <a:rPr lang="en-US" dirty="0"/>
              <a:t>BorderLayout juga mendukung konstanta posisi relatif, PAGE_START, PAGE_END, LINE_START, dan LINE_END.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8572" t="26988" r="14435" b="24716"/>
          <a:stretch/>
        </p:blipFill>
        <p:spPr>
          <a:xfrm>
            <a:off x="7211291" y="1745673"/>
            <a:ext cx="3512127" cy="353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1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491" t="17329" r="44463" b="36501"/>
          <a:stretch/>
        </p:blipFill>
        <p:spPr>
          <a:xfrm>
            <a:off x="444500" y="1381249"/>
            <a:ext cx="5317103" cy="52989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91927" y="1911927"/>
            <a:ext cx="4999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Tambahkan perintah :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layout.setLayout(new BorderLayout(20,5));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Perhatikan layout yang dihasilkan</a:t>
            </a:r>
          </a:p>
        </p:txBody>
      </p:sp>
    </p:spTree>
    <p:extLst>
      <p:ext uri="{BB962C8B-B14F-4D97-AF65-F5344CB8AC3E}">
        <p14:creationId xmlns:p14="http://schemas.microsoft.com/office/powerpoint/2010/main" val="3551470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19" t="23110" r="43564" b="9874"/>
          <a:stretch/>
        </p:blipFill>
        <p:spPr>
          <a:xfrm>
            <a:off x="444500" y="1330034"/>
            <a:ext cx="5623790" cy="5153621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2"/>
          <a:srcRect l="58837" t="31979" r="15859" b="22686"/>
          <a:stretch/>
        </p:blipFill>
        <p:spPr>
          <a:xfrm>
            <a:off x="7148946" y="1828801"/>
            <a:ext cx="3387436" cy="341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3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BOX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Digunakan untuk membuat toolbar atau vertikal button bars</a:t>
            </a:r>
          </a:p>
          <a:p>
            <a:r>
              <a:rPr lang="en-US" dirty="0"/>
              <a:t>Posisi komponen diletakkan pada baris atau kolom.</a:t>
            </a:r>
          </a:p>
          <a:p>
            <a:r>
              <a:rPr lang="en-US" dirty="0"/>
              <a:t>Mirip dengan flow layout namun tidak menambah baris.</a:t>
            </a:r>
          </a:p>
          <a:p>
            <a:r>
              <a:rPr lang="en-US" dirty="0"/>
              <a:t>Terdapat 2 macam tampilan yaitu Horizontal (X_AXIS) dan Vertikal (Y_AXIS)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335" t="55398" r="48616" b="29829"/>
          <a:stretch/>
        </p:blipFill>
        <p:spPr>
          <a:xfrm>
            <a:off x="710055" y="4625037"/>
            <a:ext cx="5340927" cy="1080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9133" t="26217" r="15713" b="51989"/>
          <a:stretch/>
        </p:blipFill>
        <p:spPr>
          <a:xfrm>
            <a:off x="7166141" y="4193231"/>
            <a:ext cx="3377299" cy="27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543" t="17329" r="38235" b="40341"/>
          <a:stretch/>
        </p:blipFill>
        <p:spPr>
          <a:xfrm>
            <a:off x="444499" y="1558635"/>
            <a:ext cx="6875573" cy="49252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6277" y="2288370"/>
            <a:ext cx="43739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Gantilah bagian Y_AXIS dengan X_AXIS</a:t>
            </a:r>
          </a:p>
          <a:p>
            <a:r>
              <a:rPr lang="en-US" dirty="0">
                <a:solidFill>
                  <a:schemeClr val="bg1"/>
                </a:solidFill>
              </a:rPr>
              <a:t>Perhatikan perbedaan yang dihasilkan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9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634" t="25852" r="15234" b="15909"/>
          <a:stretch/>
        </p:blipFill>
        <p:spPr>
          <a:xfrm>
            <a:off x="444500" y="1392381"/>
            <a:ext cx="8833384" cy="465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26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CARD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Digunakan untuk efek penumpukan komponen.</a:t>
            </a:r>
          </a:p>
          <a:p>
            <a:r>
              <a:rPr lang="en-US" dirty="0"/>
              <a:t>Hanya satu komponen yang ditampilkan dalam satu waktu. Sehingga komponen dianggap seperti kartu.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9280" t="34090" r="51171" b="13353"/>
          <a:stretch/>
        </p:blipFill>
        <p:spPr>
          <a:xfrm>
            <a:off x="4348609" y="3275453"/>
            <a:ext cx="3404746" cy="340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0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498" t="17045" r="34560" b="32112"/>
          <a:stretch/>
        </p:blipFill>
        <p:spPr>
          <a:xfrm>
            <a:off x="444500" y="1078456"/>
            <a:ext cx="7249523" cy="57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GRID LAYOUT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Posisi komponen diletakkan pada baris dan kolom </a:t>
            </a:r>
          </a:p>
          <a:p>
            <a:r>
              <a:rPr lang="en-US" dirty="0"/>
              <a:t>Grid layout bermanfaat untuk peletakan komponen dengan ukuran yang sama.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4419" t="30966" r="14116" b="33523"/>
          <a:stretch/>
        </p:blipFill>
        <p:spPr>
          <a:xfrm>
            <a:off x="3470564" y="3428999"/>
            <a:ext cx="4094018" cy="259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96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7585" t="17614" r="38872" b="26420"/>
          <a:stretch/>
        </p:blipFill>
        <p:spPr>
          <a:xfrm>
            <a:off x="2887253" y="161504"/>
            <a:ext cx="6948863" cy="651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5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GRIDBAG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4500" y="1521096"/>
            <a:ext cx="7121217" cy="4351338"/>
          </a:xfrm>
        </p:spPr>
        <p:txBody>
          <a:bodyPr/>
          <a:lstStyle/>
          <a:p>
            <a:r>
              <a:rPr lang="en-US" dirty="0"/>
              <a:t>Tata letak yang paling flexible dan kompleks</a:t>
            </a:r>
          </a:p>
          <a:p>
            <a:r>
              <a:rPr lang="en-US" dirty="0"/>
              <a:t>Posisi komponen diletakkan pada : grid of rows atau grid of columns</a:t>
            </a:r>
          </a:p>
          <a:p>
            <a:r>
              <a:rPr lang="en-US" dirty="0"/>
              <a:t>Komponen dapat menggunakan baris/ kolom dan tinggi/lebar yang berbeda.</a:t>
            </a:r>
          </a:p>
          <a:p>
            <a:r>
              <a:rPr lang="en-US" dirty="0"/>
              <a:t>Ketentuan layout: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315" t="46591" r="46060" b="38352"/>
          <a:stretch/>
        </p:blipFill>
        <p:spPr>
          <a:xfrm>
            <a:off x="790017" y="4776426"/>
            <a:ext cx="6430181" cy="17212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4294" t="44318" r="36477" b="25284"/>
          <a:stretch/>
        </p:blipFill>
        <p:spPr>
          <a:xfrm>
            <a:off x="7855528" y="2182091"/>
            <a:ext cx="3803072" cy="222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5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995" t="13068" r="37116" b="45739"/>
          <a:stretch/>
        </p:blipFill>
        <p:spPr>
          <a:xfrm>
            <a:off x="444500" y="1517073"/>
            <a:ext cx="8138391" cy="460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98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474" t="32102" r="42227" b="22159"/>
          <a:stretch/>
        </p:blipFill>
        <p:spPr>
          <a:xfrm>
            <a:off x="444500" y="1641762"/>
            <a:ext cx="6621318" cy="48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6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Referensi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Sari Dewi Budiwati, Reza Budiawan, “Pengenalan Layout Manager”, Telkom University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De Rosal Ignatius Moses, GUI Layout Manager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https://www.javatpoint.com/java-gridbaglayout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  <a:t>https://docs.oracle.com/javase/tutorial/uiswing/layout/box.html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hlinkClick r:id="rId4"/>
              </a:rPr>
              <a:t>https://www.tutorialspoint.com/how-to-combine-flowlayout-and-boxlayout-in-java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97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495</Words>
  <Application>Microsoft Office PowerPoint</Application>
  <PresentationFormat>Widescreen</PresentationFormat>
  <Paragraphs>74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Trade Gothic LT Pro</vt:lpstr>
      <vt:lpstr>Trebuchet MS</vt:lpstr>
      <vt:lpstr>Office Theme</vt:lpstr>
      <vt:lpstr>Layout Manager Teori Minggu ke 13</vt:lpstr>
      <vt:lpstr>Layout Manager</vt:lpstr>
      <vt:lpstr>1. FLOW LAYOUT</vt:lpstr>
      <vt:lpstr>Contoh 1</vt:lpstr>
      <vt:lpstr>Contoh 2</vt:lpstr>
      <vt:lpstr>Contoh 3</vt:lpstr>
      <vt:lpstr>2. BORDER LAYOUT</vt:lpstr>
      <vt:lpstr>Contoh 1</vt:lpstr>
      <vt:lpstr>Contoh 2</vt:lpstr>
      <vt:lpstr>3. BOX LAYOUT</vt:lpstr>
      <vt:lpstr>Contoh 1</vt:lpstr>
      <vt:lpstr>Contoh 2</vt:lpstr>
      <vt:lpstr>4. CARD LAYOUT</vt:lpstr>
      <vt:lpstr>Contoh 1</vt:lpstr>
      <vt:lpstr>5. GRID LAYOUT </vt:lpstr>
      <vt:lpstr>Contoh 1</vt:lpstr>
      <vt:lpstr>6. GRIDBAG LAYOUT</vt:lpstr>
      <vt:lpstr>Contoh</vt:lpstr>
      <vt:lpstr>PowerPoint Presentation</vt:lpstr>
      <vt:lpstr>Referensi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2021-01-12T01:12:50Z</dcterms:created>
  <dcterms:modified xsi:type="dcterms:W3CDTF">2024-04-03T13:57:07Z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