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59" r:id="rId5"/>
    <p:sldId id="263" r:id="rId6"/>
    <p:sldId id="261" r:id="rId7"/>
    <p:sldId id="262" r:id="rId8"/>
    <p:sldId id="264" r:id="rId9"/>
    <p:sldId id="265" r:id="rId10"/>
    <p:sldId id="267" r:id="rId11"/>
    <p:sldId id="266" r:id="rId12"/>
    <p:sldId id="268" r:id="rId13"/>
    <p:sldId id="269" r:id="rId14"/>
    <p:sldId id="270" r:id="rId15"/>
    <p:sldId id="271" r:id="rId16"/>
    <p:sldId id="26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9" d="100"/>
          <a:sy n="79" d="100"/>
        </p:scale>
        <p:origin x="18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4/29/2024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4/29/2024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4/29/2024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4/29/2024</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4/29/2024</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4/29/2024</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4/29/2024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4/29/2024</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4/29/2024</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4/29/2024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4/29/2024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4/29/2024</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s://kelasprogrammer.com/cara-membuat-primary-key-foreign-key-mysql/"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t>Auto Increment, Primary Key, Foreign Key, Outer Join, Inner Join </a:t>
            </a:r>
          </a:p>
        </p:txBody>
      </p:sp>
      <p:sp>
        <p:nvSpPr>
          <p:cNvPr id="3" name="Subtitle 2"/>
          <p:cNvSpPr>
            <a:spLocks noGrp="1"/>
          </p:cNvSpPr>
          <p:nvPr>
            <p:ph type="subTitle" idx="1"/>
          </p:nvPr>
        </p:nvSpPr>
        <p:spPr/>
        <p:txBody>
          <a:bodyPr/>
          <a:lstStyle/>
          <a:p>
            <a:r>
              <a:rPr lang="en-US" dirty="0" err="1"/>
              <a:t>Praktikum</a:t>
            </a:r>
            <a:r>
              <a:rPr lang="en-US" dirty="0"/>
              <a:t> </a:t>
            </a:r>
            <a:r>
              <a:rPr lang="en-US" dirty="0" err="1"/>
              <a:t>Minggu</a:t>
            </a:r>
            <a:r>
              <a:rPr lang="en-US"/>
              <a:t> 11</a:t>
            </a:r>
            <a:endParaRPr lang="en-US" dirty="0"/>
          </a:p>
        </p:txBody>
      </p:sp>
    </p:spTree>
    <p:extLst>
      <p:ext uri="{BB962C8B-B14F-4D97-AF65-F5344CB8AC3E}">
        <p14:creationId xmlns:p14="http://schemas.microsoft.com/office/powerpoint/2010/main" val="2136457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Penjelasan istilah </a:t>
            </a:r>
          </a:p>
        </p:txBody>
      </p:sp>
      <p:sp>
        <p:nvSpPr>
          <p:cNvPr id="5" name="Rectangle 2"/>
          <p:cNvSpPr>
            <a:spLocks noChangeArrowheads="1"/>
          </p:cNvSpPr>
          <p:nvPr/>
        </p:nvSpPr>
        <p:spPr bwMode="auto">
          <a:xfrm>
            <a:off x="3869268" y="1123837"/>
            <a:ext cx="7315200" cy="489364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1" u="none" strike="noStrike" cap="none" normalizeH="0" baseline="0" dirty="0">
                <a:ln>
                  <a:noFill/>
                </a:ln>
                <a:solidFill>
                  <a:srgbClr val="444444"/>
                </a:solidFill>
                <a:effectLst/>
                <a:cs typeface="Arial" panose="020B0604020202020204" pitchFamily="34" charset="0"/>
              </a:rPr>
              <a:t>Primary key</a:t>
            </a:r>
            <a:r>
              <a:rPr kumimoji="0" lang="en-US" altLang="en-US" b="0" i="0" u="none" strike="noStrike" cap="none" normalizeH="0" baseline="0" dirty="0">
                <a:ln>
                  <a:noFill/>
                </a:ln>
                <a:solidFill>
                  <a:srgbClr val="444444"/>
                </a:solidFill>
                <a:effectLst/>
                <a:cs typeface="Arial" panose="020B0604020202020204" pitchFamily="34" charset="0"/>
              </a:rPr>
              <a:t> merupakan istilah yang sering kita sebut sebagai kunci utama pada field tertentu didalam sebuah tabel yang menjadi acuan yan dapat dipakai untuk mendefinisikan suatu baris (</a:t>
            </a:r>
            <a:r>
              <a:rPr kumimoji="0" lang="en-US" altLang="en-US" b="0" i="1" u="none" strike="noStrike" cap="none" normalizeH="0" baseline="0" dirty="0">
                <a:ln>
                  <a:noFill/>
                </a:ln>
                <a:solidFill>
                  <a:srgbClr val="444444"/>
                </a:solidFill>
                <a:effectLst/>
                <a:cs typeface="Arial" panose="020B0604020202020204" pitchFamily="34" charset="0"/>
              </a:rPr>
              <a:t>rows</a:t>
            </a:r>
            <a:r>
              <a:rPr kumimoji="0" lang="en-US" altLang="en-US" b="0" i="0" u="none" strike="noStrike" cap="none" normalizeH="0" baseline="0" dirty="0">
                <a:ln>
                  <a:noFill/>
                </a:ln>
                <a:solidFill>
                  <a:srgbClr val="444444"/>
                </a:solidFill>
                <a:effectLst/>
                <a:cs typeface="Arial" panose="020B0604020202020204" pitchFamily="34" charset="0"/>
              </a:rPr>
              <a:t>) data. </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444444"/>
              </a:solidFill>
              <a:effectLst/>
              <a:cs typeface="Arial" panose="020B0604020202020204" pitchFamily="34" charset="0"/>
            </a:endParaRP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1" u="none" strike="noStrike" cap="none" normalizeH="0" baseline="0" dirty="0">
                <a:ln>
                  <a:noFill/>
                </a:ln>
                <a:solidFill>
                  <a:srgbClr val="444444"/>
                </a:solidFill>
                <a:effectLst/>
                <a:cs typeface="Arial" panose="020B0604020202020204" pitchFamily="34" charset="0"/>
              </a:rPr>
              <a:t>Foreign key</a:t>
            </a:r>
            <a:r>
              <a:rPr kumimoji="0" lang="en-US" altLang="en-US" b="0" i="0" u="none" strike="noStrike" cap="none" normalizeH="0" baseline="0" dirty="0">
                <a:ln>
                  <a:noFill/>
                </a:ln>
                <a:solidFill>
                  <a:srgbClr val="444444"/>
                </a:solidFill>
                <a:effectLst/>
                <a:cs typeface="Arial" panose="020B0604020202020204" pitchFamily="34" charset="0"/>
              </a:rPr>
              <a:t> merupakan suatu atribut pada tabel yang menunjukan relasi (hubungan) ke tabel induknya.</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444444"/>
              </a:solidFill>
              <a:effectLst/>
              <a:cs typeface="Arial" panose="020B0604020202020204" pitchFamily="34" charset="0"/>
            </a:endParaRPr>
          </a:p>
          <a:p>
            <a:pPr marL="285750" lvl="0" indent="-285750" defTabSz="914400">
              <a:buFont typeface="Arial" panose="020B0604020202020204" pitchFamily="34" charset="0"/>
              <a:buChar char="•"/>
            </a:pPr>
            <a:r>
              <a:rPr lang="en-US" i="1" dirty="0">
                <a:cs typeface="Arial" panose="020B0604020202020204" pitchFamily="34" charset="0"/>
              </a:rPr>
              <a:t>Auto_increment </a:t>
            </a:r>
            <a:r>
              <a:rPr lang="en-US" dirty="0">
                <a:cs typeface="Arial" panose="020B0604020202020204" pitchFamily="34" charset="0"/>
              </a:rPr>
              <a:t>merupakan perintah untuk membuat nilai pada field terisi secara otomatis oleh sistem.	</a:t>
            </a:r>
            <a:br>
              <a:rPr lang="en-US" dirty="0">
                <a:cs typeface="Arial" panose="020B0604020202020204" pitchFamily="34" charset="0"/>
              </a:rPr>
            </a:br>
            <a:endParaRPr lang="en-US" dirty="0">
              <a:cs typeface="Arial" panose="020B0604020202020204" pitchFamily="34" charset="0"/>
            </a:endParaRPr>
          </a:p>
          <a:p>
            <a:pPr marL="285750" lvl="0" indent="-285750" defTabSz="914400">
              <a:buFont typeface="Arial" panose="020B0604020202020204" pitchFamily="34" charset="0"/>
              <a:buChar char="•"/>
            </a:pPr>
            <a:r>
              <a:rPr lang="en-US" dirty="0">
                <a:cs typeface="Arial" panose="020B0604020202020204" pitchFamily="34" charset="0"/>
              </a:rPr>
              <a:t>Constraint NOT NULL berfungsi untuk membatasi nilai yang akan dimasukkan ke dalam suatu kolom. Batasan yang dimaksud adalah kolom yang dipasangi constraint NOT NULL harus berisi nilai. Jadi kalau tidak berisi nilai (kosong) maka tidak akan bisa diisi data.</a:t>
            </a:r>
          </a:p>
          <a:p>
            <a:pPr marL="285750" lvl="0" indent="-285750" algn="just" defTabSz="914400">
              <a:buFont typeface="Arial" panose="020B0604020202020204" pitchFamily="34" charset="0"/>
              <a:buChar char="•"/>
            </a:pPr>
            <a:endParaRPr kumimoji="0" lang="en-US" altLang="en-US" sz="20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br>
              <a:rPr kumimoji="0" lang="en-US" altLang="en-US" sz="1400" b="0" i="0" u="none" strike="noStrike" cap="none" normalizeH="0" baseline="0" dirty="0">
                <a:ln>
                  <a:noFill/>
                </a:ln>
                <a:solidFill>
                  <a:srgbClr val="444444"/>
                </a:solidFill>
                <a:effectLst/>
                <a:latin typeface="Ubuntu"/>
              </a:rPr>
            </a:b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8348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01188" y="615406"/>
            <a:ext cx="10955383" cy="5955211"/>
          </a:xfrm>
        </p:spPr>
        <p:style>
          <a:lnRef idx="2">
            <a:schemeClr val="accent1"/>
          </a:lnRef>
          <a:fillRef idx="1">
            <a:schemeClr val="lt1"/>
          </a:fillRef>
          <a:effectRef idx="0">
            <a:schemeClr val="accent1"/>
          </a:effectRef>
          <a:fontRef idx="minor">
            <a:schemeClr val="dk1"/>
          </a:fontRef>
        </p:style>
        <p:txBody>
          <a:bodyPr>
            <a:normAutofit/>
          </a:bodyPr>
          <a:lstStyle/>
          <a:p>
            <a:pPr marL="457200" indent="-457200">
              <a:buAutoNum type="arabicPeriod"/>
            </a:pPr>
            <a:r>
              <a:rPr lang="en-US" dirty="0"/>
              <a:t>Membuat Table dengan Auto Increment Field  dan PRIMARY KEY:</a:t>
            </a:r>
          </a:p>
          <a:p>
            <a:pPr marL="0" indent="0">
              <a:buNone/>
            </a:pPr>
            <a:r>
              <a:rPr lang="en-US" dirty="0"/>
              <a:t>CREATE TABLE table_ai (</a:t>
            </a:r>
          </a:p>
          <a:p>
            <a:pPr marL="0" indent="0">
              <a:buNone/>
            </a:pPr>
            <a:r>
              <a:rPr lang="en-US" dirty="0"/>
              <a:t>        kode_transaksi INT NULL AUTO_INCREMENT, 		</a:t>
            </a:r>
          </a:p>
          <a:p>
            <a:pPr marL="0" indent="0">
              <a:buNone/>
            </a:pPr>
            <a:r>
              <a:rPr lang="en-US" dirty="0"/>
              <a:t>        deskripsi VARCHAR(200), </a:t>
            </a:r>
          </a:p>
          <a:p>
            <a:pPr marL="0" indent="0">
              <a:buNone/>
            </a:pPr>
            <a:r>
              <a:rPr lang="en-US" dirty="0"/>
              <a:t>	PRIMARY KEY (kode_transaksi)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2. Menambahkan primary key pada suatu tabel yang telah dibuat:</a:t>
            </a:r>
          </a:p>
          <a:p>
            <a:pPr marL="0" indent="0">
              <a:buNone/>
            </a:pPr>
            <a:r>
              <a:rPr lang="en-US" dirty="0"/>
              <a:t>ALTER TABLE table_ai ADD PRIMARY KEY(kode_transaksi);</a:t>
            </a:r>
          </a:p>
        </p:txBody>
      </p:sp>
      <p:pic>
        <p:nvPicPr>
          <p:cNvPr id="4" name="Picture 3"/>
          <p:cNvPicPr>
            <a:picLocks noChangeAspect="1"/>
          </p:cNvPicPr>
          <p:nvPr/>
        </p:nvPicPr>
        <p:blipFill rotWithShape="1">
          <a:blip r:embed="rId2"/>
          <a:srcRect l="6461" t="35901" r="19445" b="57946"/>
          <a:stretch/>
        </p:blipFill>
        <p:spPr>
          <a:xfrm>
            <a:off x="977536" y="3709852"/>
            <a:ext cx="10602685" cy="705394"/>
          </a:xfrm>
          <a:prstGeom prst="rect">
            <a:avLst/>
          </a:prstGeom>
        </p:spPr>
      </p:pic>
    </p:spTree>
    <p:extLst>
      <p:ext uri="{BB962C8B-B14F-4D97-AF65-F5344CB8AC3E}">
        <p14:creationId xmlns:p14="http://schemas.microsoft.com/office/powerpoint/2010/main" val="2231378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79565" y="602342"/>
            <a:ext cx="5233852" cy="5902961"/>
          </a:xfrm>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en-US" dirty="0"/>
              <a:t>3. Menambahkan beberapa data pada table tersebut dan setelah itu kita membaca hasilnya </a:t>
            </a:r>
          </a:p>
          <a:p>
            <a:pPr marL="0" indent="0">
              <a:buNone/>
            </a:pPr>
            <a:r>
              <a:rPr lang="en-US" dirty="0"/>
              <a:t>INSERT INTO table_ai(deskripsi) VALUES ('deskripsi 1');</a:t>
            </a:r>
          </a:p>
          <a:p>
            <a:pPr marL="0" indent="0">
              <a:buNone/>
            </a:pPr>
            <a:r>
              <a:rPr lang="en-US" dirty="0"/>
              <a:t>INSERT INTO table_ai(deskripsi) VALUES ('deskripsi 2');</a:t>
            </a:r>
          </a:p>
          <a:p>
            <a:pPr marL="0" indent="0">
              <a:buNone/>
            </a:pPr>
            <a:r>
              <a:rPr lang="en-US" dirty="0"/>
              <a:t>SELECT * FROM table_ai;</a:t>
            </a:r>
          </a:p>
          <a:p>
            <a:pPr marL="0" indent="0">
              <a:buNone/>
            </a:pPr>
            <a:endParaRPr lang="en-US" dirty="0"/>
          </a:p>
          <a:p>
            <a:pPr marL="0" indent="0">
              <a:buNone/>
            </a:pPr>
            <a:r>
              <a:rPr lang="en-US" dirty="0"/>
              <a:t>4. Coba juga eksekusi dengan perintah berikut ini.</a:t>
            </a:r>
          </a:p>
          <a:p>
            <a:pPr marL="0" indent="0">
              <a:buNone/>
            </a:pPr>
            <a:r>
              <a:rPr lang="en-US" dirty="0"/>
              <a:t>INSERT INTO table_ai(kode_transaksi, deskripsi) VALUES (NULL,'deskripsi 3');</a:t>
            </a:r>
          </a:p>
          <a:p>
            <a:pPr marL="0" indent="0">
              <a:buNone/>
            </a:pPr>
            <a:r>
              <a:rPr lang="en-US" dirty="0"/>
              <a:t>SELECT * FROM table_ai;</a:t>
            </a:r>
          </a:p>
          <a:p>
            <a:pPr marL="0" indent="0">
              <a:buNone/>
            </a:pPr>
            <a:endParaRPr lang="en-US" dirty="0"/>
          </a:p>
        </p:txBody>
      </p:sp>
      <p:pic>
        <p:nvPicPr>
          <p:cNvPr id="4" name="Picture 3"/>
          <p:cNvPicPr>
            <a:picLocks noChangeAspect="1"/>
          </p:cNvPicPr>
          <p:nvPr/>
        </p:nvPicPr>
        <p:blipFill rotWithShape="1">
          <a:blip r:embed="rId2"/>
          <a:srcRect l="6461" t="40445" r="55488" b="26519"/>
          <a:stretch/>
        </p:blipFill>
        <p:spPr>
          <a:xfrm>
            <a:off x="6400798" y="602342"/>
            <a:ext cx="5512527" cy="2690813"/>
          </a:xfrm>
          <a:prstGeom prst="rect">
            <a:avLst/>
          </a:prstGeom>
        </p:spPr>
      </p:pic>
      <p:pic>
        <p:nvPicPr>
          <p:cNvPr id="5" name="Picture 4"/>
          <p:cNvPicPr>
            <a:picLocks noChangeAspect="1"/>
          </p:cNvPicPr>
          <p:nvPr/>
        </p:nvPicPr>
        <p:blipFill rotWithShape="1">
          <a:blip r:embed="rId3"/>
          <a:srcRect l="6361" t="45268" r="44143" b="27054"/>
          <a:stretch/>
        </p:blipFill>
        <p:spPr>
          <a:xfrm>
            <a:off x="6400799" y="3722915"/>
            <a:ext cx="5512527" cy="2416629"/>
          </a:xfrm>
          <a:prstGeom prst="rect">
            <a:avLst/>
          </a:prstGeom>
        </p:spPr>
      </p:pic>
    </p:spTree>
    <p:extLst>
      <p:ext uri="{BB962C8B-B14F-4D97-AF65-F5344CB8AC3E}">
        <p14:creationId xmlns:p14="http://schemas.microsoft.com/office/powerpoint/2010/main" val="3366470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8244" y="932934"/>
            <a:ext cx="3211135" cy="369332"/>
          </a:xfrm>
          <a:prstGeom prst="rect">
            <a:avLst/>
          </a:prstGeom>
        </p:spPr>
        <p:txBody>
          <a:bodyPr wrap="none">
            <a:spAutoFit/>
          </a:bodyPr>
          <a:lstStyle/>
          <a:p>
            <a:pPr fontAlgn="base"/>
            <a:r>
              <a:rPr lang="en-US" b="1" dirty="0">
                <a:solidFill>
                  <a:srgbClr val="444444"/>
                </a:solidFill>
                <a:latin typeface="Ubuntu"/>
              </a:rPr>
              <a:t>5. Menghapus Primary Key:</a:t>
            </a:r>
            <a:endParaRPr lang="en-US" b="1" i="0" dirty="0">
              <a:solidFill>
                <a:srgbClr val="444444"/>
              </a:solidFill>
              <a:effectLst/>
              <a:latin typeface="Ubuntu"/>
            </a:endParaRPr>
          </a:p>
        </p:txBody>
      </p:sp>
      <p:sp>
        <p:nvSpPr>
          <p:cNvPr id="3" name="Rectangle 2"/>
          <p:cNvSpPr/>
          <p:nvPr/>
        </p:nvSpPr>
        <p:spPr>
          <a:xfrm>
            <a:off x="758244" y="1567934"/>
            <a:ext cx="5250155" cy="369332"/>
          </a:xfrm>
          <a:prstGeom prst="rect">
            <a:avLst/>
          </a:prstGeom>
        </p:spPr>
        <p:txBody>
          <a:bodyPr wrap="none">
            <a:spAutoFit/>
          </a:bodyPr>
          <a:lstStyle/>
          <a:p>
            <a:r>
              <a:rPr lang="en-US" dirty="0">
                <a:solidFill>
                  <a:srgbClr val="000000"/>
                </a:solidFill>
                <a:latin typeface="Consolas" panose="020B0609020204030204" pitchFamily="49" charset="0"/>
              </a:rPr>
              <a:t>ALTER TABLE nama_tabel DROP PRIMARY KEY</a:t>
            </a:r>
            <a:r>
              <a:rPr lang="en-US" dirty="0">
                <a:solidFill>
                  <a:srgbClr val="666600"/>
                </a:solidFill>
                <a:latin typeface="Consolas" panose="020B0609020204030204" pitchFamily="49" charset="0"/>
              </a:rPr>
              <a:t>;</a:t>
            </a:r>
            <a:endParaRPr lang="en-US" dirty="0"/>
          </a:p>
        </p:txBody>
      </p:sp>
    </p:spTree>
    <p:extLst>
      <p:ext uri="{BB962C8B-B14F-4D97-AF65-F5344CB8AC3E}">
        <p14:creationId xmlns:p14="http://schemas.microsoft.com/office/powerpoint/2010/main" val="1994206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Penggunaan PK dan FK</a:t>
            </a:r>
          </a:p>
        </p:txBody>
      </p:sp>
      <p:sp>
        <p:nvSpPr>
          <p:cNvPr id="3" name="Content Placeholder 2"/>
          <p:cNvSpPr>
            <a:spLocks noGrp="1"/>
          </p:cNvSpPr>
          <p:nvPr>
            <p:ph idx="1"/>
          </p:nvPr>
        </p:nvSpPr>
        <p:spPr>
          <a:xfrm>
            <a:off x="3669641" y="367719"/>
            <a:ext cx="7315200" cy="572806"/>
          </a:xfrm>
        </p:spPr>
        <p:txBody>
          <a:bodyPr>
            <a:normAutofit fontScale="92500" lnSpcReduction="10000"/>
          </a:bodyPr>
          <a:lstStyle/>
          <a:p>
            <a:r>
              <a:rPr lang="en-US" dirty="0"/>
              <a:t>Diketahui, 3 buah tabel pada database Penjualan, yang saling berhubungan sebagai berikut :</a:t>
            </a:r>
          </a:p>
        </p:txBody>
      </p:sp>
      <p:pic>
        <p:nvPicPr>
          <p:cNvPr id="4" name="Picture 3"/>
          <p:cNvPicPr>
            <a:picLocks noChangeAspect="1"/>
          </p:cNvPicPr>
          <p:nvPr/>
        </p:nvPicPr>
        <p:blipFill rotWithShape="1">
          <a:blip r:embed="rId2"/>
          <a:srcRect l="12686" t="51339" r="38421" b="33482"/>
          <a:stretch/>
        </p:blipFill>
        <p:spPr>
          <a:xfrm>
            <a:off x="1716532" y="940525"/>
            <a:ext cx="10475468" cy="1828369"/>
          </a:xfrm>
          <a:prstGeom prst="rect">
            <a:avLst/>
          </a:prstGeom>
        </p:spPr>
      </p:pic>
      <p:sp>
        <p:nvSpPr>
          <p:cNvPr id="5" name="Rectangle 4"/>
          <p:cNvSpPr/>
          <p:nvPr/>
        </p:nvSpPr>
        <p:spPr>
          <a:xfrm>
            <a:off x="3669641" y="3121411"/>
            <a:ext cx="7976259" cy="2308324"/>
          </a:xfrm>
          <a:prstGeom prst="rect">
            <a:avLst/>
          </a:prstGeom>
        </p:spPr>
        <p:txBody>
          <a:bodyPr wrap="square">
            <a:spAutoFit/>
          </a:bodyPr>
          <a:lstStyle/>
          <a:p>
            <a:pPr marL="285750" indent="-285750" algn="just">
              <a:buFont typeface="Arial" panose="020B0604020202020204" pitchFamily="34" charset="0"/>
              <a:buChar char="•"/>
            </a:pPr>
            <a:r>
              <a:rPr lang="en-US" dirty="0">
                <a:solidFill>
                  <a:srgbClr val="444444"/>
                </a:solidFill>
                <a:latin typeface="+mj-lt"/>
              </a:rPr>
              <a:t>Field </a:t>
            </a:r>
            <a:r>
              <a:rPr lang="en-US" b="1" dirty="0">
                <a:solidFill>
                  <a:srgbClr val="444444"/>
                </a:solidFill>
                <a:latin typeface="+mj-lt"/>
              </a:rPr>
              <a:t>id_pembeli</a:t>
            </a:r>
            <a:r>
              <a:rPr lang="en-US" dirty="0">
                <a:solidFill>
                  <a:srgbClr val="444444"/>
                </a:solidFill>
                <a:latin typeface="+mj-lt"/>
              </a:rPr>
              <a:t> pada tabel pembeli yang merupakan kunci utama </a:t>
            </a:r>
            <a:r>
              <a:rPr lang="en-US" i="1" dirty="0">
                <a:solidFill>
                  <a:srgbClr val="444444"/>
                </a:solidFill>
                <a:latin typeface="+mj-lt"/>
              </a:rPr>
              <a:t>(primary key</a:t>
            </a:r>
            <a:r>
              <a:rPr lang="en-US" dirty="0">
                <a:solidFill>
                  <a:srgbClr val="444444"/>
                </a:solidFill>
                <a:latin typeface="+mj-lt"/>
              </a:rPr>
              <a:t>) dapat menjadi kunci tamu (</a:t>
            </a:r>
            <a:r>
              <a:rPr lang="en-US" i="1" dirty="0">
                <a:solidFill>
                  <a:srgbClr val="444444"/>
                </a:solidFill>
                <a:latin typeface="+mj-lt"/>
              </a:rPr>
              <a:t>foreign key</a:t>
            </a:r>
            <a:r>
              <a:rPr lang="en-US" dirty="0">
                <a:solidFill>
                  <a:srgbClr val="444444"/>
                </a:solidFill>
                <a:latin typeface="+mj-lt"/>
              </a:rPr>
              <a:t>) pada tabel Transaksi.</a:t>
            </a:r>
          </a:p>
          <a:p>
            <a:pPr marL="285750" indent="-285750" algn="just">
              <a:buFont typeface="Arial" panose="020B0604020202020204" pitchFamily="34" charset="0"/>
              <a:buChar char="•"/>
            </a:pPr>
            <a:r>
              <a:rPr lang="en-US" dirty="0">
                <a:solidFill>
                  <a:srgbClr val="444444"/>
                </a:solidFill>
                <a:latin typeface="+mj-lt"/>
              </a:rPr>
              <a:t>Begitu juga field </a:t>
            </a:r>
            <a:r>
              <a:rPr lang="en-US" b="1" dirty="0">
                <a:solidFill>
                  <a:srgbClr val="444444"/>
                </a:solidFill>
                <a:latin typeface="+mj-lt"/>
              </a:rPr>
              <a:t>id_barang</a:t>
            </a:r>
            <a:r>
              <a:rPr lang="en-US" dirty="0">
                <a:solidFill>
                  <a:srgbClr val="444444"/>
                </a:solidFill>
                <a:latin typeface="+mj-lt"/>
              </a:rPr>
              <a:t> sebagai </a:t>
            </a:r>
            <a:r>
              <a:rPr lang="en-US" i="1" dirty="0">
                <a:solidFill>
                  <a:srgbClr val="444444"/>
                </a:solidFill>
                <a:latin typeface="+mj-lt"/>
              </a:rPr>
              <a:t>primary key </a:t>
            </a:r>
            <a:r>
              <a:rPr lang="en-US" dirty="0">
                <a:solidFill>
                  <a:srgbClr val="444444"/>
                </a:solidFill>
                <a:latin typeface="+mj-lt"/>
              </a:rPr>
              <a:t>pada tabel barang dapat menjadi </a:t>
            </a:r>
            <a:r>
              <a:rPr lang="en-US" i="1" dirty="0">
                <a:solidFill>
                  <a:srgbClr val="444444"/>
                </a:solidFill>
                <a:latin typeface="+mj-lt"/>
              </a:rPr>
              <a:t>foreign key </a:t>
            </a:r>
            <a:r>
              <a:rPr lang="en-US" dirty="0">
                <a:solidFill>
                  <a:srgbClr val="444444"/>
                </a:solidFill>
                <a:latin typeface="+mj-lt"/>
              </a:rPr>
              <a:t>pada tabel transaksi.</a:t>
            </a:r>
          </a:p>
          <a:p>
            <a:pPr marL="285750" indent="-285750" algn="just">
              <a:buFont typeface="Arial" panose="020B0604020202020204" pitchFamily="34" charset="0"/>
              <a:buChar char="•"/>
            </a:pPr>
            <a:r>
              <a:rPr lang="en-US" dirty="0">
                <a:latin typeface="+mj-lt"/>
              </a:rPr>
              <a:t>Kita dapat membuat relasi dari ketiga tabel tersebut dengan menghubungkan antara tabel pembeli ke tabel transaksi dengan menggunakn field </a:t>
            </a:r>
            <a:r>
              <a:rPr lang="en-US" b="1" dirty="0">
                <a:latin typeface="+mj-lt"/>
              </a:rPr>
              <a:t>id_pembeli</a:t>
            </a:r>
            <a:r>
              <a:rPr lang="en-US" dirty="0">
                <a:latin typeface="+mj-lt"/>
              </a:rPr>
              <a:t> dan dari tabel transaksi ke tabel barang menggunakan field </a:t>
            </a:r>
            <a:r>
              <a:rPr lang="en-US" b="1" dirty="0">
                <a:latin typeface="+mj-lt"/>
              </a:rPr>
              <a:t>id_barang</a:t>
            </a:r>
            <a:r>
              <a:rPr lang="en-US" dirty="0">
                <a:latin typeface="+mj-lt"/>
              </a:rPr>
              <a:t>.</a:t>
            </a:r>
          </a:p>
        </p:txBody>
      </p:sp>
    </p:spTree>
    <p:extLst>
      <p:ext uri="{BB962C8B-B14F-4D97-AF65-F5344CB8AC3E}">
        <p14:creationId xmlns:p14="http://schemas.microsoft.com/office/powerpoint/2010/main" val="3518003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47700" y="680135"/>
            <a:ext cx="7912100" cy="369332"/>
          </a:xfrm>
          <a:prstGeom prst="rect">
            <a:avLst/>
          </a:prstGeom>
        </p:spPr>
        <p:txBody>
          <a:bodyPr wrap="square">
            <a:spAutoFit/>
          </a:bodyPr>
          <a:lstStyle/>
          <a:p>
            <a:pPr fontAlgn="base"/>
            <a:r>
              <a:rPr lang="en-US" b="1" dirty="0">
                <a:solidFill>
                  <a:srgbClr val="444444"/>
                </a:solidFill>
                <a:latin typeface="Ubuntu"/>
              </a:rPr>
              <a:t>Query yang diperlukan untuk membuat 3 tabel tersebut :</a:t>
            </a:r>
            <a:endParaRPr lang="en-US" b="1" i="0" dirty="0">
              <a:solidFill>
                <a:srgbClr val="444444"/>
              </a:solidFill>
              <a:effectLst/>
              <a:latin typeface="Ubuntu"/>
            </a:endParaRPr>
          </a:p>
        </p:txBody>
      </p:sp>
      <p:sp>
        <p:nvSpPr>
          <p:cNvPr id="5" name="Rectangle 4"/>
          <p:cNvSpPr/>
          <p:nvPr/>
        </p:nvSpPr>
        <p:spPr>
          <a:xfrm>
            <a:off x="647700" y="1457236"/>
            <a:ext cx="9537700" cy="923330"/>
          </a:xfrm>
          <a:prstGeom prst="rect">
            <a:avLst/>
          </a:prstGeom>
        </p:spPr>
        <p:txBody>
          <a:bodyPr wrap="square">
            <a:spAutoFit/>
          </a:bodyPr>
          <a:lstStyle/>
          <a:p>
            <a:r>
              <a:rPr lang="en-US" dirty="0">
                <a:solidFill>
                  <a:srgbClr val="000000"/>
                </a:solidFill>
                <a:latin typeface="Consolas" panose="020B0609020204030204" pitchFamily="49" charset="0"/>
              </a:rPr>
              <a:t>create table pembeli </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 id_pembeli </a:t>
            </a:r>
            <a:r>
              <a:rPr lang="en-US" dirty="0">
                <a:solidFill>
                  <a:srgbClr val="000088"/>
                </a:solidFill>
                <a:latin typeface="Consolas" panose="020B0609020204030204" pitchFamily="49" charset="0"/>
              </a:rPr>
              <a:t>int</a:t>
            </a:r>
            <a:r>
              <a:rPr lang="en-US" dirty="0">
                <a:solidFill>
                  <a:srgbClr val="000000"/>
                </a:solidFill>
                <a:latin typeface="Consolas" panose="020B0609020204030204" pitchFamily="49" charset="0"/>
              </a:rPr>
              <a:t> </a:t>
            </a:r>
            <a:r>
              <a:rPr lang="en-US" dirty="0">
                <a:solidFill>
                  <a:srgbClr val="000088"/>
                </a:solidFill>
                <a:latin typeface="Consolas" panose="020B0609020204030204" pitchFamily="49" charset="0"/>
              </a:rPr>
              <a:t>not</a:t>
            </a:r>
            <a:r>
              <a:rPr lang="en-US" dirty="0">
                <a:solidFill>
                  <a:srgbClr val="000000"/>
                </a:solidFill>
                <a:latin typeface="Consolas" panose="020B0609020204030204" pitchFamily="49" charset="0"/>
              </a:rPr>
              <a:t> </a:t>
            </a:r>
            <a:r>
              <a:rPr lang="en-US" dirty="0">
                <a:solidFill>
                  <a:srgbClr val="000088"/>
                </a:solidFill>
                <a:latin typeface="Consolas" panose="020B0609020204030204" pitchFamily="49" charset="0"/>
              </a:rPr>
              <a:t>null</a:t>
            </a:r>
            <a:r>
              <a:rPr lang="en-US" dirty="0">
                <a:solidFill>
                  <a:srgbClr val="000000"/>
                </a:solidFill>
                <a:latin typeface="Consolas" panose="020B0609020204030204" pitchFamily="49" charset="0"/>
              </a:rPr>
              <a:t> auto_increment PRIMARY KEY</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 nama_pembeli varchar</a:t>
            </a:r>
            <a:r>
              <a:rPr lang="en-US" dirty="0">
                <a:solidFill>
                  <a:srgbClr val="666600"/>
                </a:solidFill>
                <a:latin typeface="Consolas" panose="020B0609020204030204" pitchFamily="49" charset="0"/>
              </a:rPr>
              <a:t>(</a:t>
            </a:r>
            <a:r>
              <a:rPr lang="en-US" dirty="0">
                <a:solidFill>
                  <a:srgbClr val="006666"/>
                </a:solidFill>
                <a:latin typeface="Consolas" panose="020B0609020204030204" pitchFamily="49" charset="0"/>
              </a:rPr>
              <a:t>30</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88"/>
                </a:solidFill>
                <a:latin typeface="Consolas" panose="020B0609020204030204" pitchFamily="49" charset="0"/>
              </a:rPr>
              <a:t>not</a:t>
            </a:r>
            <a:r>
              <a:rPr lang="en-US" dirty="0">
                <a:solidFill>
                  <a:srgbClr val="000000"/>
                </a:solidFill>
                <a:latin typeface="Consolas" panose="020B0609020204030204" pitchFamily="49" charset="0"/>
              </a:rPr>
              <a:t> </a:t>
            </a:r>
            <a:r>
              <a:rPr lang="en-US" dirty="0">
                <a:solidFill>
                  <a:srgbClr val="000088"/>
                </a:solidFill>
                <a:latin typeface="Consolas" panose="020B0609020204030204" pitchFamily="49" charset="0"/>
              </a:rPr>
              <a:t>null</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 jk </a:t>
            </a:r>
            <a:r>
              <a:rPr lang="en-US" dirty="0">
                <a:solidFill>
                  <a:srgbClr val="000088"/>
                </a:solidFill>
                <a:latin typeface="Consolas" panose="020B0609020204030204" pitchFamily="49" charset="0"/>
              </a:rPr>
              <a:t>char</a:t>
            </a:r>
            <a:r>
              <a:rPr lang="en-US" dirty="0">
                <a:solidFill>
                  <a:srgbClr val="666600"/>
                </a:solidFill>
                <a:latin typeface="Consolas" panose="020B0609020204030204" pitchFamily="49" charset="0"/>
              </a:rPr>
              <a:t>(</a:t>
            </a:r>
            <a:r>
              <a:rPr lang="en-US" dirty="0">
                <a:solidFill>
                  <a:srgbClr val="006666"/>
                </a:solidFill>
                <a:latin typeface="Consolas" panose="020B0609020204030204" pitchFamily="49" charset="0"/>
              </a:rPr>
              <a:t>1</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 no_telp </a:t>
            </a:r>
            <a:r>
              <a:rPr lang="en-US" dirty="0">
                <a:solidFill>
                  <a:srgbClr val="000088"/>
                </a:solidFill>
                <a:latin typeface="Consolas" panose="020B0609020204030204" pitchFamily="49" charset="0"/>
              </a:rPr>
              <a:t>char</a:t>
            </a:r>
            <a:r>
              <a:rPr lang="en-US" dirty="0">
                <a:solidFill>
                  <a:srgbClr val="666600"/>
                </a:solidFill>
                <a:latin typeface="Consolas" panose="020B0609020204030204" pitchFamily="49" charset="0"/>
              </a:rPr>
              <a:t>(</a:t>
            </a:r>
            <a:r>
              <a:rPr lang="en-US" dirty="0">
                <a:solidFill>
                  <a:srgbClr val="006666"/>
                </a:solidFill>
                <a:latin typeface="Consolas" panose="020B0609020204030204" pitchFamily="49" charset="0"/>
              </a:rPr>
              <a:t>14</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 alamat varchar</a:t>
            </a:r>
            <a:r>
              <a:rPr lang="en-US" dirty="0">
                <a:solidFill>
                  <a:srgbClr val="666600"/>
                </a:solidFill>
                <a:latin typeface="Consolas" panose="020B0609020204030204" pitchFamily="49" charset="0"/>
              </a:rPr>
              <a:t>(</a:t>
            </a:r>
            <a:r>
              <a:rPr lang="en-US" dirty="0">
                <a:solidFill>
                  <a:srgbClr val="006666"/>
                </a:solidFill>
                <a:latin typeface="Consolas" panose="020B0609020204030204" pitchFamily="49" charset="0"/>
              </a:rPr>
              <a:t>50</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666600"/>
                </a:solidFill>
                <a:latin typeface="Consolas" panose="020B0609020204030204" pitchFamily="49" charset="0"/>
              </a:rPr>
              <a:t>);</a:t>
            </a:r>
            <a:endParaRPr lang="en-US" dirty="0"/>
          </a:p>
        </p:txBody>
      </p:sp>
      <p:sp>
        <p:nvSpPr>
          <p:cNvPr id="6" name="Rectangle 5"/>
          <p:cNvSpPr/>
          <p:nvPr/>
        </p:nvSpPr>
        <p:spPr>
          <a:xfrm>
            <a:off x="647700" y="2788335"/>
            <a:ext cx="9906000" cy="646331"/>
          </a:xfrm>
          <a:prstGeom prst="rect">
            <a:avLst/>
          </a:prstGeom>
        </p:spPr>
        <p:txBody>
          <a:bodyPr wrap="square">
            <a:spAutoFit/>
          </a:bodyPr>
          <a:lstStyle/>
          <a:p>
            <a:r>
              <a:rPr lang="en-US" dirty="0">
                <a:solidFill>
                  <a:srgbClr val="000000"/>
                </a:solidFill>
                <a:latin typeface="Consolas" panose="020B0609020204030204" pitchFamily="49" charset="0"/>
              </a:rPr>
              <a:t>create table barang </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 id_barang </a:t>
            </a:r>
            <a:r>
              <a:rPr lang="en-US" dirty="0">
                <a:solidFill>
                  <a:srgbClr val="000088"/>
                </a:solidFill>
                <a:latin typeface="Consolas" panose="020B0609020204030204" pitchFamily="49" charset="0"/>
              </a:rPr>
              <a:t>int</a:t>
            </a:r>
            <a:r>
              <a:rPr lang="en-US" dirty="0">
                <a:solidFill>
                  <a:srgbClr val="000000"/>
                </a:solidFill>
                <a:latin typeface="Consolas" panose="020B0609020204030204" pitchFamily="49" charset="0"/>
              </a:rPr>
              <a:t> </a:t>
            </a:r>
            <a:r>
              <a:rPr lang="en-US" dirty="0">
                <a:solidFill>
                  <a:srgbClr val="000088"/>
                </a:solidFill>
                <a:latin typeface="Consolas" panose="020B0609020204030204" pitchFamily="49" charset="0"/>
              </a:rPr>
              <a:t>not</a:t>
            </a:r>
            <a:r>
              <a:rPr lang="en-US" dirty="0">
                <a:solidFill>
                  <a:srgbClr val="000000"/>
                </a:solidFill>
                <a:latin typeface="Consolas" panose="020B0609020204030204" pitchFamily="49" charset="0"/>
              </a:rPr>
              <a:t> </a:t>
            </a:r>
            <a:r>
              <a:rPr lang="en-US" dirty="0">
                <a:solidFill>
                  <a:srgbClr val="000088"/>
                </a:solidFill>
                <a:latin typeface="Consolas" panose="020B0609020204030204" pitchFamily="49" charset="0"/>
              </a:rPr>
              <a:t>null</a:t>
            </a:r>
            <a:r>
              <a:rPr lang="en-US" dirty="0">
                <a:solidFill>
                  <a:srgbClr val="000000"/>
                </a:solidFill>
                <a:latin typeface="Consolas" panose="020B0609020204030204" pitchFamily="49" charset="0"/>
              </a:rPr>
              <a:t> auto_increment PRIMARY KEY</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 nama_barang varchar</a:t>
            </a:r>
            <a:r>
              <a:rPr lang="en-US" dirty="0">
                <a:solidFill>
                  <a:srgbClr val="666600"/>
                </a:solidFill>
                <a:latin typeface="Consolas" panose="020B0609020204030204" pitchFamily="49" charset="0"/>
              </a:rPr>
              <a:t>(</a:t>
            </a:r>
            <a:r>
              <a:rPr lang="en-US" dirty="0">
                <a:solidFill>
                  <a:srgbClr val="006666"/>
                </a:solidFill>
                <a:latin typeface="Consolas" panose="020B0609020204030204" pitchFamily="49" charset="0"/>
              </a:rPr>
              <a:t>20</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88"/>
                </a:solidFill>
                <a:latin typeface="Consolas" panose="020B0609020204030204" pitchFamily="49" charset="0"/>
              </a:rPr>
              <a:t>not</a:t>
            </a:r>
            <a:r>
              <a:rPr lang="en-US" dirty="0">
                <a:solidFill>
                  <a:srgbClr val="000000"/>
                </a:solidFill>
                <a:latin typeface="Consolas" panose="020B0609020204030204" pitchFamily="49" charset="0"/>
              </a:rPr>
              <a:t> </a:t>
            </a:r>
            <a:r>
              <a:rPr lang="en-US" dirty="0">
                <a:solidFill>
                  <a:srgbClr val="000088"/>
                </a:solidFill>
                <a:latin typeface="Consolas" panose="020B0609020204030204" pitchFamily="49" charset="0"/>
              </a:rPr>
              <a:t>null</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 harga </a:t>
            </a:r>
            <a:r>
              <a:rPr lang="en-US" dirty="0">
                <a:solidFill>
                  <a:srgbClr val="000088"/>
                </a:solidFill>
                <a:latin typeface="Consolas" panose="020B0609020204030204" pitchFamily="49" charset="0"/>
              </a:rPr>
              <a:t>int</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 stok </a:t>
            </a:r>
            <a:r>
              <a:rPr lang="en-US" dirty="0">
                <a:solidFill>
                  <a:srgbClr val="000088"/>
                </a:solidFill>
                <a:latin typeface="Consolas" panose="020B0609020204030204" pitchFamily="49" charset="0"/>
              </a:rPr>
              <a:t>int</a:t>
            </a:r>
            <a:r>
              <a:rPr lang="en-US" dirty="0">
                <a:solidFill>
                  <a:srgbClr val="000000"/>
                </a:solidFill>
                <a:latin typeface="Consolas" panose="020B0609020204030204" pitchFamily="49" charset="0"/>
              </a:rPr>
              <a:t> </a:t>
            </a:r>
            <a:r>
              <a:rPr lang="en-US" dirty="0">
                <a:solidFill>
                  <a:srgbClr val="666600"/>
                </a:solidFill>
                <a:latin typeface="Consolas" panose="020B0609020204030204" pitchFamily="49" charset="0"/>
              </a:rPr>
              <a:t>);</a:t>
            </a:r>
            <a:endParaRPr lang="en-US" dirty="0"/>
          </a:p>
        </p:txBody>
      </p:sp>
      <p:sp>
        <p:nvSpPr>
          <p:cNvPr id="7" name="Rectangle 6"/>
          <p:cNvSpPr/>
          <p:nvPr/>
        </p:nvSpPr>
        <p:spPr>
          <a:xfrm>
            <a:off x="647700" y="3835401"/>
            <a:ext cx="10058400" cy="1477328"/>
          </a:xfrm>
          <a:prstGeom prst="rect">
            <a:avLst/>
          </a:prstGeom>
        </p:spPr>
        <p:txBody>
          <a:bodyPr wrap="square">
            <a:spAutoFit/>
          </a:bodyPr>
          <a:lstStyle/>
          <a:p>
            <a:r>
              <a:rPr lang="en-US" dirty="0">
                <a:solidFill>
                  <a:srgbClr val="000000"/>
                </a:solidFill>
                <a:latin typeface="Consolas" panose="020B0609020204030204" pitchFamily="49" charset="0"/>
              </a:rPr>
              <a:t>create table transaksi </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 id_transaksi </a:t>
            </a:r>
            <a:r>
              <a:rPr lang="en-US" dirty="0">
                <a:solidFill>
                  <a:srgbClr val="000088"/>
                </a:solidFill>
                <a:latin typeface="Consolas" panose="020B0609020204030204" pitchFamily="49" charset="0"/>
              </a:rPr>
              <a:t>int</a:t>
            </a:r>
            <a:r>
              <a:rPr lang="en-US" dirty="0">
                <a:solidFill>
                  <a:srgbClr val="000000"/>
                </a:solidFill>
                <a:latin typeface="Consolas" panose="020B0609020204030204" pitchFamily="49" charset="0"/>
              </a:rPr>
              <a:t> </a:t>
            </a:r>
            <a:r>
              <a:rPr lang="en-US" dirty="0">
                <a:solidFill>
                  <a:srgbClr val="000088"/>
                </a:solidFill>
                <a:latin typeface="Consolas" panose="020B0609020204030204" pitchFamily="49" charset="0"/>
              </a:rPr>
              <a:t>not</a:t>
            </a:r>
            <a:r>
              <a:rPr lang="en-US" dirty="0">
                <a:solidFill>
                  <a:srgbClr val="000000"/>
                </a:solidFill>
                <a:latin typeface="Consolas" panose="020B0609020204030204" pitchFamily="49" charset="0"/>
              </a:rPr>
              <a:t> </a:t>
            </a:r>
            <a:r>
              <a:rPr lang="en-US" dirty="0">
                <a:solidFill>
                  <a:srgbClr val="000088"/>
                </a:solidFill>
                <a:latin typeface="Consolas" panose="020B0609020204030204" pitchFamily="49" charset="0"/>
              </a:rPr>
              <a:t>null</a:t>
            </a:r>
            <a:r>
              <a:rPr lang="en-US" dirty="0">
                <a:solidFill>
                  <a:srgbClr val="000000"/>
                </a:solidFill>
                <a:latin typeface="Consolas" panose="020B0609020204030204" pitchFamily="49" charset="0"/>
              </a:rPr>
              <a:t> auto_increment primary key</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 id_barang </a:t>
            </a:r>
            <a:r>
              <a:rPr lang="en-US" dirty="0">
                <a:solidFill>
                  <a:srgbClr val="000088"/>
                </a:solidFill>
                <a:latin typeface="Consolas" panose="020B0609020204030204" pitchFamily="49" charset="0"/>
              </a:rPr>
              <a:t>int</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 id_pembeli </a:t>
            </a:r>
            <a:r>
              <a:rPr lang="en-US" dirty="0">
                <a:solidFill>
                  <a:srgbClr val="000088"/>
                </a:solidFill>
                <a:latin typeface="Consolas" panose="020B0609020204030204" pitchFamily="49" charset="0"/>
              </a:rPr>
              <a:t>int</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 tanggal date</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 keterangan varchar</a:t>
            </a:r>
            <a:r>
              <a:rPr lang="en-US" dirty="0">
                <a:solidFill>
                  <a:srgbClr val="666600"/>
                </a:solidFill>
                <a:latin typeface="Consolas" panose="020B0609020204030204" pitchFamily="49" charset="0"/>
              </a:rPr>
              <a:t>(</a:t>
            </a:r>
            <a:r>
              <a:rPr lang="en-US" dirty="0">
                <a:solidFill>
                  <a:srgbClr val="006666"/>
                </a:solidFill>
                <a:latin typeface="Consolas" panose="020B0609020204030204" pitchFamily="49" charset="0"/>
              </a:rPr>
              <a:t>100</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 CONSTRAINT id_barang FOREIGN KEY </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id_barang</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 REFERENCES barang </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id_barang</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 CONSTRAINT id_pembeli FOREIGN KEY </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id_pembeli</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 REFERENCES pembeli </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id_pembeli</a:t>
            </a:r>
            <a:r>
              <a:rPr lang="en-US" dirty="0">
                <a:solidFill>
                  <a:srgbClr val="66660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666600"/>
                </a:solidFill>
                <a:latin typeface="Consolas" panose="020B0609020204030204" pitchFamily="49" charset="0"/>
              </a:rPr>
              <a:t>);</a:t>
            </a:r>
            <a:endParaRPr lang="en-US" dirty="0"/>
          </a:p>
        </p:txBody>
      </p:sp>
    </p:spTree>
    <p:extLst>
      <p:ext uri="{BB962C8B-B14F-4D97-AF65-F5344CB8AC3E}">
        <p14:creationId xmlns:p14="http://schemas.microsoft.com/office/powerpoint/2010/main" val="253170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Penggabungan beberapa Tabel dengan Perintah JOIN</a:t>
            </a:r>
          </a:p>
        </p:txBody>
      </p:sp>
      <p:sp>
        <p:nvSpPr>
          <p:cNvPr id="3" name="Content Placeholder 2"/>
          <p:cNvSpPr>
            <a:spLocks noGrp="1"/>
          </p:cNvSpPr>
          <p:nvPr>
            <p:ph idx="1"/>
          </p:nvPr>
        </p:nvSpPr>
        <p:spPr/>
        <p:txBody>
          <a:bodyPr>
            <a:normAutofit/>
          </a:bodyPr>
          <a:lstStyle/>
          <a:p>
            <a:pPr algn="just"/>
            <a:r>
              <a:rPr lang="en-US" dirty="0">
                <a:latin typeface="+mj-lt"/>
              </a:rPr>
              <a:t>Di dalam suatu RDBMS, dalam satu database biasanya terdiri atas beberapa tabel. Masing-masing tabel tersebut berhubungan satu sama lain atau dengan kata lain memiliki relasi. Relasi antartabel dapat berupa relasi 1-1, 1-M, atau M-N.</a:t>
            </a:r>
          </a:p>
          <a:p>
            <a:r>
              <a:rPr lang="en-US" dirty="0">
                <a:latin typeface="+mj-lt"/>
              </a:rPr>
              <a:t>Sebagai contoh, perhatikan relasi tabel pada Sistem Pemesanan/penjualan Barang berikut :</a:t>
            </a:r>
          </a:p>
          <a:p>
            <a:endParaRPr lang="en-US" dirty="0"/>
          </a:p>
          <a:p>
            <a:endParaRPr lang="en-US" dirty="0"/>
          </a:p>
          <a:p>
            <a:endParaRPr lang="en-US" dirty="0"/>
          </a:p>
          <a:p>
            <a:endParaRPr lang="en-US" dirty="0"/>
          </a:p>
          <a:p>
            <a:endParaRPr lang="en-US" dirty="0"/>
          </a:p>
          <a:p>
            <a:endParaRPr lang="en-US" dirty="0"/>
          </a:p>
          <a:p>
            <a:endParaRPr lang="en-US" dirty="0"/>
          </a:p>
        </p:txBody>
      </p:sp>
      <p:pic>
        <p:nvPicPr>
          <p:cNvPr id="4" name="Picture 3"/>
          <p:cNvPicPr>
            <a:picLocks noChangeAspect="1"/>
          </p:cNvPicPr>
          <p:nvPr/>
        </p:nvPicPr>
        <p:blipFill rotWithShape="1">
          <a:blip r:embed="rId2"/>
          <a:srcRect l="29502" t="45313" r="30674" b="16493"/>
          <a:stretch/>
        </p:blipFill>
        <p:spPr>
          <a:xfrm>
            <a:off x="4171952" y="3018105"/>
            <a:ext cx="6709832" cy="3618047"/>
          </a:xfrm>
          <a:prstGeom prst="rect">
            <a:avLst/>
          </a:prstGeom>
        </p:spPr>
      </p:pic>
    </p:spTree>
    <p:extLst>
      <p:ext uri="{BB962C8B-B14F-4D97-AF65-F5344CB8AC3E}">
        <p14:creationId xmlns:p14="http://schemas.microsoft.com/office/powerpoint/2010/main" val="742933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927100" y="685800"/>
            <a:ext cx="10655300" cy="5121275"/>
          </a:xfrm>
        </p:spPr>
        <p:txBody>
          <a:bodyPr/>
          <a:lstStyle/>
          <a:p>
            <a:pPr algn="just"/>
            <a:r>
              <a:rPr lang="en-US" dirty="0">
                <a:latin typeface="+mj-lt"/>
              </a:rPr>
              <a:t>Terkadang kita memerlukan tampilan data yang tidak hanya berasal dari 1 (satu) tabel, namun bisa dari beberapa tabel sekaligus. </a:t>
            </a:r>
          </a:p>
          <a:p>
            <a:pPr algn="just"/>
            <a:r>
              <a:rPr lang="en-US" dirty="0">
                <a:latin typeface="+mj-lt"/>
              </a:rPr>
              <a:t>Contohnya, dari class diagram diatas, kita ingin menampilkan nama pelanggan berikut transaksi yang pernah dilakukannya. Maka kita harus bisa menggabungkan minimal dua tabel, yaitu pelanggan dan pesan.</a:t>
            </a:r>
          </a:p>
          <a:p>
            <a:pPr algn="just"/>
            <a:r>
              <a:rPr lang="en-US" dirty="0">
                <a:latin typeface="+mj-lt"/>
              </a:rPr>
              <a:t> Untuk menggabungkan 2 (dua) atau lebih tabel, kita dapat menggunakan bentuk perintah JOIN.</a:t>
            </a:r>
          </a:p>
          <a:p>
            <a:pPr algn="just"/>
            <a:endParaRPr lang="en-US" dirty="0">
              <a:latin typeface="+mj-lt"/>
            </a:endParaRPr>
          </a:p>
          <a:p>
            <a:pPr marL="0" indent="0" algn="just">
              <a:buNone/>
            </a:pPr>
            <a:endParaRPr lang="en-US" dirty="0">
              <a:latin typeface="+mj-lt"/>
            </a:endParaRPr>
          </a:p>
          <a:p>
            <a:pPr algn="just">
              <a:buFont typeface="Wingdings" panose="05000000000000000000" pitchFamily="2" charset="2"/>
              <a:buChar char="Ø"/>
            </a:pPr>
            <a:r>
              <a:rPr lang="en-US" b="1" dirty="0">
                <a:latin typeface="+mj-lt"/>
              </a:rPr>
              <a:t> Latihan : </a:t>
            </a:r>
            <a:r>
              <a:rPr lang="en-US" dirty="0">
                <a:latin typeface="+mj-lt"/>
              </a:rPr>
              <a:t>Buatlah tabel-tabel pada Sistem Penjualan Barang pada slide 8 dengan memperhatikan Primary Key dan Foreign Key nya menggunakan contoh query yang ada pada slide 7. Kemudian isi beberapa data pada tabel tersebut.</a:t>
            </a:r>
          </a:p>
          <a:p>
            <a:endParaRPr lang="en-US" dirty="0">
              <a:latin typeface="+mj-lt"/>
            </a:endParaRPr>
          </a:p>
        </p:txBody>
      </p:sp>
    </p:spTree>
    <p:extLst>
      <p:ext uri="{BB962C8B-B14F-4D97-AF65-F5344CB8AC3E}">
        <p14:creationId xmlns:p14="http://schemas.microsoft.com/office/powerpoint/2010/main" val="3810344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809869" y="844063"/>
            <a:ext cx="10655300" cy="5263660"/>
          </a:xfrm>
          <a:prstGeom prst="rect">
            <a:avLst/>
          </a:prstGeom>
        </p:spPr>
        <p:txBody>
          <a:bodyPr vert="horz" lIns="91440" tIns="45720" rIns="91440" bIns="45720" rtlCol="0" anchor="ctr">
            <a:norm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0" indent="0">
              <a:buNone/>
            </a:pPr>
            <a:r>
              <a:rPr lang="en-US" dirty="0">
                <a:latin typeface="+mj-lt"/>
              </a:rPr>
              <a:t>Misal, didapat tabel dan record data sebagai berikut : </a:t>
            </a:r>
          </a:p>
          <a:p>
            <a:pPr marL="457200" indent="-457200">
              <a:buAutoNum type="arabicPeriod"/>
            </a:pPr>
            <a:r>
              <a:rPr lang="en-US" dirty="0">
                <a:latin typeface="+mj-lt"/>
              </a:rPr>
              <a:t>Tabel pelanggan (hanya ditampilkan id_pelanggan, nm_pelanggan, email)</a:t>
            </a:r>
          </a:p>
          <a:p>
            <a:pPr marL="457200" indent="-457200">
              <a:buAutoNum type="arabicPeriod"/>
            </a:pPr>
            <a:endParaRPr lang="en-US" dirty="0">
              <a:latin typeface="+mj-lt"/>
            </a:endParaRPr>
          </a:p>
          <a:p>
            <a:pPr marL="457200" indent="-457200">
              <a:buAutoNum type="arabicPeriod"/>
            </a:pPr>
            <a:endParaRPr lang="en-US" dirty="0">
              <a:latin typeface="+mj-lt"/>
            </a:endParaRPr>
          </a:p>
          <a:p>
            <a:pPr marL="457200" indent="-457200">
              <a:buAutoNum type="arabicPeriod"/>
            </a:pPr>
            <a:endParaRPr lang="en-US" dirty="0">
              <a:latin typeface="+mj-lt"/>
            </a:endParaRPr>
          </a:p>
          <a:p>
            <a:pPr marL="457200" indent="-457200">
              <a:buAutoNum type="arabicPeriod"/>
            </a:pPr>
            <a:endParaRPr lang="en-US" dirty="0">
              <a:latin typeface="+mj-lt"/>
            </a:endParaRPr>
          </a:p>
          <a:p>
            <a:pPr marL="457200" indent="-457200">
              <a:buAutoNum type="arabicPeriod"/>
            </a:pPr>
            <a:r>
              <a:rPr lang="en-US" dirty="0">
                <a:latin typeface="+mj-lt"/>
              </a:rPr>
              <a:t>Tabel pesan (id_pesan, id_pelanggan, tgl_pesan)</a:t>
            </a:r>
          </a:p>
          <a:p>
            <a:pPr marL="457200" indent="-457200">
              <a:buAutoNum type="arabicPeriod"/>
            </a:pPr>
            <a:endParaRPr lang="en-US" dirty="0">
              <a:latin typeface="+mj-lt"/>
            </a:endParaRPr>
          </a:p>
          <a:p>
            <a:pPr marL="457200" indent="-457200">
              <a:buAutoNum type="arabicPeriod"/>
            </a:pPr>
            <a:endParaRPr lang="en-US" dirty="0">
              <a:latin typeface="+mj-lt"/>
            </a:endParaRPr>
          </a:p>
          <a:p>
            <a:pPr marL="457200" indent="-457200">
              <a:buAutoNum type="arabicPeriod"/>
            </a:pPr>
            <a:endParaRPr lang="en-US" dirty="0">
              <a:latin typeface="+mj-lt"/>
            </a:endParaRPr>
          </a:p>
          <a:p>
            <a:pPr marL="457200" indent="-457200">
              <a:buAutoNum type="arabicPeriod"/>
            </a:pPr>
            <a:endParaRPr lang="en-US" dirty="0">
              <a:latin typeface="+mj-lt"/>
            </a:endParaRPr>
          </a:p>
          <a:p>
            <a:pPr marL="0" indent="0">
              <a:buNone/>
            </a:pPr>
            <a:r>
              <a:rPr lang="en-US" dirty="0">
                <a:latin typeface="+mj-lt"/>
              </a:rPr>
              <a:t>Kita dapat menggabungkan tabel tersebut dengan beberapa jenis penggabungan, antara lain : </a:t>
            </a:r>
          </a:p>
        </p:txBody>
      </p:sp>
      <p:pic>
        <p:nvPicPr>
          <p:cNvPr id="3" name="Picture 2"/>
          <p:cNvPicPr>
            <a:picLocks noChangeAspect="1"/>
          </p:cNvPicPr>
          <p:nvPr/>
        </p:nvPicPr>
        <p:blipFill rotWithShape="1">
          <a:blip r:embed="rId2"/>
          <a:srcRect l="31710" t="27644" r="38287" b="61298"/>
          <a:stretch/>
        </p:blipFill>
        <p:spPr>
          <a:xfrm>
            <a:off x="1535724" y="1841260"/>
            <a:ext cx="5427784" cy="1124677"/>
          </a:xfrm>
          <a:prstGeom prst="rect">
            <a:avLst/>
          </a:prstGeom>
        </p:spPr>
      </p:pic>
      <p:pic>
        <p:nvPicPr>
          <p:cNvPr id="4" name="Picture 3"/>
          <p:cNvPicPr>
            <a:picLocks noChangeAspect="1"/>
          </p:cNvPicPr>
          <p:nvPr/>
        </p:nvPicPr>
        <p:blipFill rotWithShape="1">
          <a:blip r:embed="rId2"/>
          <a:srcRect l="32160" t="76363" r="46216" b="8253"/>
          <a:stretch/>
        </p:blipFill>
        <p:spPr>
          <a:xfrm>
            <a:off x="1535723" y="3941029"/>
            <a:ext cx="3927230" cy="1570893"/>
          </a:xfrm>
          <a:prstGeom prst="rect">
            <a:avLst/>
          </a:prstGeom>
        </p:spPr>
      </p:pic>
      <p:pic>
        <p:nvPicPr>
          <p:cNvPr id="6" name="Picture 5"/>
          <p:cNvPicPr>
            <a:picLocks noChangeAspect="1"/>
          </p:cNvPicPr>
          <p:nvPr/>
        </p:nvPicPr>
        <p:blipFill rotWithShape="1">
          <a:blip r:embed="rId2"/>
          <a:srcRect l="31980" t="64664" r="38647" b="31650"/>
          <a:stretch/>
        </p:blipFill>
        <p:spPr>
          <a:xfrm>
            <a:off x="1535723" y="2965937"/>
            <a:ext cx="5427785" cy="379291"/>
          </a:xfrm>
          <a:prstGeom prst="rect">
            <a:avLst/>
          </a:prstGeom>
        </p:spPr>
      </p:pic>
    </p:spTree>
    <p:extLst>
      <p:ext uri="{BB962C8B-B14F-4D97-AF65-F5344CB8AC3E}">
        <p14:creationId xmlns:p14="http://schemas.microsoft.com/office/powerpoint/2010/main" val="3173774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547496" y="455527"/>
            <a:ext cx="10655300" cy="4316046"/>
          </a:xfrm>
          <a:prstGeom prst="rect">
            <a:avLst/>
          </a:prstGeom>
        </p:spPr>
        <p:txBody>
          <a:bodyPr vert="horz" lIns="91440" tIns="45720" rIns="91440" bIns="45720" rtlCol="0" anchor="ctr">
            <a:normAutofit lnSpcReduction="10000"/>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457200" indent="-457200">
              <a:buAutoNum type="alphaUcPeriod"/>
            </a:pPr>
            <a:r>
              <a:rPr lang="en-US" b="1" dirty="0">
                <a:latin typeface="+mj-lt"/>
              </a:rPr>
              <a:t>INNER JOIN</a:t>
            </a:r>
          </a:p>
          <a:p>
            <a:pPr algn="just"/>
            <a:r>
              <a:rPr lang="en-US" dirty="0"/>
              <a:t>Dengan inner join, tabel akan digabungkan dua arah, sehingga tidak ada data yang NULL di satu sisi. </a:t>
            </a:r>
          </a:p>
          <a:p>
            <a:pPr algn="just"/>
            <a:r>
              <a:rPr lang="en-US" dirty="0"/>
              <a:t>Contoh, kita akan menggabungkan tabel pelanggan dan pesan dimana kita akan menampilkan daftar pelanggan yang pernah melakukan pemesanan (transaksi). Isi tabel pelanggan dan pesan adalah sebagai berikut : </a:t>
            </a:r>
            <a:endParaRPr lang="en-US" dirty="0">
              <a:latin typeface="+mj-lt"/>
            </a:endParaRPr>
          </a:p>
          <a:p>
            <a:pPr marL="0" indent="0">
              <a:buNone/>
            </a:pPr>
            <a:r>
              <a:rPr lang="en-US" b="1" dirty="0"/>
              <a:t>Cara 1 : </a:t>
            </a:r>
            <a:r>
              <a:rPr lang="en-US" dirty="0"/>
              <a:t>Penggabungan dengan </a:t>
            </a:r>
            <a:r>
              <a:rPr lang="en-US" b="1" dirty="0"/>
              <a:t>WHERE</a:t>
            </a:r>
            <a:r>
              <a:rPr lang="en-US" dirty="0"/>
              <a:t> </a:t>
            </a:r>
          </a:p>
          <a:p>
            <a:pPr marL="0" indent="0">
              <a:buNone/>
            </a:pPr>
            <a:r>
              <a:rPr lang="en-US" dirty="0"/>
              <a:t>Bentuk umum:</a:t>
            </a:r>
            <a:br>
              <a:rPr lang="en-US" dirty="0"/>
            </a:br>
            <a:r>
              <a:rPr lang="en-US" dirty="0"/>
              <a:t>SELECT tabel1.*, tabel2.* FROM tabel1, tabel2 WHERE tabel1.PK=tabel2.FK; </a:t>
            </a:r>
          </a:p>
          <a:p>
            <a:pPr marL="0" indent="0">
              <a:buNone/>
            </a:pPr>
            <a:r>
              <a:rPr lang="en-US" dirty="0"/>
              <a:t>Perintah SQL untuk menggabungkan tabel pelanggan dan pesan: </a:t>
            </a:r>
            <a:br>
              <a:rPr lang="en-US" dirty="0"/>
            </a:br>
            <a:r>
              <a:rPr lang="en-US" b="1" dirty="0"/>
              <a:t>SELECT pelanggan.id_pelanggan, pelanggan.nm_pelanggan, pesan.id_pesan, pesan.tgl_pesan FROM pelanggan, pesan WHERE pelanggan.id_pelanggan=pesan.id_pelanggan;</a:t>
            </a:r>
          </a:p>
          <a:p>
            <a:pPr marL="0" indent="0">
              <a:buNone/>
            </a:pPr>
            <a:r>
              <a:rPr lang="en-US" dirty="0">
                <a:latin typeface="+mj-lt"/>
              </a:rPr>
              <a:t>Hasil :</a:t>
            </a:r>
          </a:p>
        </p:txBody>
      </p:sp>
      <p:pic>
        <p:nvPicPr>
          <p:cNvPr id="4" name="Picture 3"/>
          <p:cNvPicPr>
            <a:picLocks noChangeAspect="1"/>
          </p:cNvPicPr>
          <p:nvPr/>
        </p:nvPicPr>
        <p:blipFill rotWithShape="1">
          <a:blip r:embed="rId2"/>
          <a:srcRect l="32160" t="26362" r="36575" b="56971"/>
          <a:stretch/>
        </p:blipFill>
        <p:spPr>
          <a:xfrm>
            <a:off x="692639" y="4771573"/>
            <a:ext cx="6314191" cy="1892438"/>
          </a:xfrm>
          <a:prstGeom prst="rect">
            <a:avLst/>
          </a:prstGeom>
        </p:spPr>
      </p:pic>
      <p:sp>
        <p:nvSpPr>
          <p:cNvPr id="5" name="Content Placeholder 2"/>
          <p:cNvSpPr txBox="1">
            <a:spLocks/>
          </p:cNvSpPr>
          <p:nvPr/>
        </p:nvSpPr>
        <p:spPr>
          <a:xfrm>
            <a:off x="4575210" y="4060373"/>
            <a:ext cx="6165361" cy="3604846"/>
          </a:xfrm>
          <a:prstGeom prst="rect">
            <a:avLst/>
          </a:prstGeom>
        </p:spPr>
        <p:txBody>
          <a:bodyPr vert="horz" lIns="91440" tIns="45720" rIns="91440" bIns="45720" rtlCol="0" anchor="ctr">
            <a:norm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457200" indent="-457200">
              <a:buAutoNum type="alphaUcPeriod"/>
            </a:pPr>
            <a:endParaRPr lang="en-US" dirty="0">
              <a:latin typeface="+mj-lt"/>
            </a:endParaRPr>
          </a:p>
        </p:txBody>
      </p:sp>
    </p:spTree>
    <p:extLst>
      <p:ext uri="{BB962C8B-B14F-4D97-AF65-F5344CB8AC3E}">
        <p14:creationId xmlns:p14="http://schemas.microsoft.com/office/powerpoint/2010/main" val="1127047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1199" y="606923"/>
            <a:ext cx="10334172" cy="3293209"/>
          </a:xfrm>
          <a:prstGeom prst="rect">
            <a:avLst/>
          </a:prstGeom>
        </p:spPr>
        <p:txBody>
          <a:bodyPr wrap="square">
            <a:spAutoFit/>
          </a:bodyPr>
          <a:lstStyle/>
          <a:p>
            <a:r>
              <a:rPr lang="en-US" sz="2400" b="1" dirty="0"/>
              <a:t>Cara 2 : </a:t>
            </a:r>
            <a:r>
              <a:rPr lang="en-US" sz="2400" dirty="0"/>
              <a:t>Penggabungan dengan </a:t>
            </a:r>
            <a:r>
              <a:rPr lang="en-US" sz="2400" b="1" dirty="0"/>
              <a:t>INNER JOIN </a:t>
            </a:r>
          </a:p>
          <a:p>
            <a:endParaRPr lang="en-US" sz="2400" dirty="0"/>
          </a:p>
          <a:p>
            <a:r>
              <a:rPr lang="en-US" sz="2000" dirty="0"/>
              <a:t>Bentuk umum :</a:t>
            </a:r>
            <a:br>
              <a:rPr lang="en-US" sz="2000" dirty="0"/>
            </a:br>
            <a:r>
              <a:rPr lang="en-US" sz="2000" b="1" dirty="0"/>
              <a:t>SELECT</a:t>
            </a:r>
            <a:r>
              <a:rPr lang="en-US" sz="2000" dirty="0"/>
              <a:t> tabel1.*, tabel2.* </a:t>
            </a:r>
            <a:r>
              <a:rPr lang="en-US" sz="2000" b="1" dirty="0"/>
              <a:t>FROM</a:t>
            </a:r>
            <a:r>
              <a:rPr lang="en-US" sz="2000" dirty="0"/>
              <a:t> tabel1 </a:t>
            </a:r>
            <a:r>
              <a:rPr lang="en-US" sz="2000" b="1" dirty="0"/>
              <a:t>INNER JOIN </a:t>
            </a:r>
            <a:r>
              <a:rPr lang="en-US" sz="2000" dirty="0"/>
              <a:t>tabel2 </a:t>
            </a:r>
            <a:r>
              <a:rPr lang="en-US" sz="2000" b="1" dirty="0"/>
              <a:t>ON </a:t>
            </a:r>
            <a:r>
              <a:rPr lang="en-US" sz="2000" dirty="0"/>
              <a:t>tabel1.PK=tabel2.FK; </a:t>
            </a:r>
          </a:p>
          <a:p>
            <a:endParaRPr lang="en-US" sz="2000" dirty="0"/>
          </a:p>
          <a:p>
            <a:r>
              <a:rPr lang="en-US" sz="2000" dirty="0"/>
              <a:t>Perintah SQL untuk menggabungkan tabel pelanggan dan pesan: </a:t>
            </a:r>
            <a:br>
              <a:rPr lang="en-US" sz="2000" dirty="0"/>
            </a:br>
            <a:r>
              <a:rPr lang="en-US" sz="2000" b="1" dirty="0"/>
              <a:t>SELECT </a:t>
            </a:r>
            <a:r>
              <a:rPr lang="en-US" sz="2000" dirty="0"/>
              <a:t>pelanggan.id_pelanggan, pelanggan.nm_pelanggan, pesan.id_pesan, pesan.tgl_pesan </a:t>
            </a:r>
            <a:r>
              <a:rPr lang="en-US" sz="2000" b="1" dirty="0"/>
              <a:t>FROM</a:t>
            </a:r>
            <a:r>
              <a:rPr lang="en-US" sz="2000" dirty="0"/>
              <a:t> pelanggan </a:t>
            </a:r>
            <a:r>
              <a:rPr lang="en-US" sz="2000" b="1" dirty="0"/>
              <a:t>INNER JOIN </a:t>
            </a:r>
            <a:r>
              <a:rPr lang="en-US" sz="2000" dirty="0"/>
              <a:t>pesan </a:t>
            </a:r>
            <a:r>
              <a:rPr lang="en-US" sz="2000" b="1" dirty="0"/>
              <a:t>ON</a:t>
            </a:r>
            <a:r>
              <a:rPr lang="en-US" sz="2000" dirty="0"/>
              <a:t> pelanggan.id_pelanggan=pesan.id_pelanggan; </a:t>
            </a:r>
          </a:p>
          <a:p>
            <a:endParaRPr lang="en-US" sz="2000" dirty="0"/>
          </a:p>
          <a:p>
            <a:r>
              <a:rPr lang="en-US" sz="2000" dirty="0"/>
              <a:t>Hasil :</a:t>
            </a:r>
          </a:p>
        </p:txBody>
      </p:sp>
      <p:pic>
        <p:nvPicPr>
          <p:cNvPr id="3" name="Picture 2"/>
          <p:cNvPicPr>
            <a:picLocks noChangeAspect="1"/>
          </p:cNvPicPr>
          <p:nvPr/>
        </p:nvPicPr>
        <p:blipFill rotWithShape="1">
          <a:blip r:embed="rId2"/>
          <a:srcRect l="32040" t="68006" r="36725" b="15923"/>
          <a:stretch/>
        </p:blipFill>
        <p:spPr>
          <a:xfrm>
            <a:off x="711198" y="4049484"/>
            <a:ext cx="6371947" cy="1843316"/>
          </a:xfrm>
          <a:prstGeom prst="rect">
            <a:avLst/>
          </a:prstGeom>
        </p:spPr>
      </p:pic>
      <p:sp>
        <p:nvSpPr>
          <p:cNvPr id="4" name="Rectangle 3"/>
          <p:cNvSpPr/>
          <p:nvPr/>
        </p:nvSpPr>
        <p:spPr>
          <a:xfrm>
            <a:off x="7645458" y="3827559"/>
            <a:ext cx="4430428" cy="2862322"/>
          </a:xfrm>
          <a:prstGeom prst="rect">
            <a:avLst/>
          </a:prstGeom>
        </p:spPr>
        <p:txBody>
          <a:bodyPr wrap="square">
            <a:spAutoFit/>
          </a:bodyPr>
          <a:lstStyle/>
          <a:p>
            <a:pPr marL="285750" indent="-285750">
              <a:buFont typeface="Wingdings" panose="05000000000000000000" pitchFamily="2" charset="2"/>
              <a:buChar char="Ø"/>
            </a:pPr>
            <a:r>
              <a:rPr lang="en-US" dirty="0"/>
              <a:t>Dengan menggunakan WHERE ataupun INNER JOIN, didapat hasil yg sama ;</a:t>
            </a:r>
          </a:p>
          <a:p>
            <a:pPr marL="285750" indent="-285750">
              <a:buFont typeface="Wingdings" panose="05000000000000000000" pitchFamily="2" charset="2"/>
              <a:buChar char="Ø"/>
            </a:pPr>
            <a:r>
              <a:rPr lang="en-US" dirty="0"/>
              <a:t>Hasil menampilkan terdapat 5 (lima) transaksi yang dilakukan oleh 3 (tiga) orang pelanggan. </a:t>
            </a:r>
          </a:p>
          <a:p>
            <a:pPr marL="285750" indent="-285750">
              <a:buFont typeface="Wingdings" panose="05000000000000000000" pitchFamily="2" charset="2"/>
              <a:buChar char="Ø"/>
            </a:pPr>
            <a:r>
              <a:rPr lang="en-US" dirty="0"/>
              <a:t>Terdapat satu pelanggan yang tidak ditampilkan yaitu id pelanggan P0003. Pelanggan tersebut tidak ditampilkan karena belum pernah melakukan transaksi.</a:t>
            </a:r>
          </a:p>
        </p:txBody>
      </p:sp>
    </p:spTree>
    <p:extLst>
      <p:ext uri="{BB962C8B-B14F-4D97-AF65-F5344CB8AC3E}">
        <p14:creationId xmlns:p14="http://schemas.microsoft.com/office/powerpoint/2010/main" val="257897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620068" y="499070"/>
            <a:ext cx="10655300" cy="4316046"/>
          </a:xfrm>
          <a:prstGeom prst="rect">
            <a:avLst/>
          </a:prstGeom>
        </p:spPr>
        <p:txBody>
          <a:bodyPr vert="horz" lIns="91440" tIns="45720" rIns="91440" bIns="45720" rtlCol="0" anchor="ctr">
            <a:norm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0" indent="0">
              <a:buNone/>
            </a:pPr>
            <a:r>
              <a:rPr lang="en-US" b="1" dirty="0">
                <a:latin typeface="+mj-lt"/>
              </a:rPr>
              <a:t>B. OUTER JOIN</a:t>
            </a:r>
          </a:p>
          <a:p>
            <a:pPr algn="just"/>
            <a:r>
              <a:rPr lang="en-US" dirty="0"/>
              <a:t>Dengan outer join, tabel akan digabungkan satu arah, sehingga memungkinkan ada data yang NULL (kosong) di satu sisi. </a:t>
            </a:r>
          </a:p>
          <a:p>
            <a:pPr algn="just"/>
            <a:r>
              <a:rPr lang="en-US" dirty="0"/>
              <a:t>Outer Join terbagi menjadi 2 (dua) yaitu </a:t>
            </a:r>
            <a:r>
              <a:rPr lang="en-US" b="1" dirty="0"/>
              <a:t>LEFT JOIN</a:t>
            </a:r>
            <a:r>
              <a:rPr lang="en-US" dirty="0"/>
              <a:t> dan </a:t>
            </a:r>
            <a:r>
              <a:rPr lang="en-US" b="1" dirty="0"/>
              <a:t>RIGHT.</a:t>
            </a:r>
            <a:r>
              <a:rPr lang="en-US" dirty="0"/>
              <a:t> </a:t>
            </a:r>
          </a:p>
          <a:p>
            <a:pPr marL="0" indent="0" algn="just">
              <a:buNone/>
            </a:pPr>
            <a:r>
              <a:rPr lang="en-US" b="1" dirty="0"/>
              <a:t>1) LEFT JOIN </a:t>
            </a:r>
          </a:p>
          <a:p>
            <a:pPr marL="0" indent="0">
              <a:buNone/>
            </a:pPr>
            <a:r>
              <a:rPr lang="en-US" dirty="0"/>
              <a:t>Bentuk umum :	</a:t>
            </a:r>
            <a:br>
              <a:rPr lang="en-US" dirty="0"/>
            </a:br>
            <a:r>
              <a:rPr lang="en-US" b="1" dirty="0"/>
              <a:t>SELECT</a:t>
            </a:r>
            <a:r>
              <a:rPr lang="en-US" dirty="0"/>
              <a:t> tabel1.*, tabel2.* </a:t>
            </a:r>
            <a:r>
              <a:rPr lang="en-US" b="1" dirty="0"/>
              <a:t>FROM</a:t>
            </a:r>
            <a:r>
              <a:rPr lang="en-US" dirty="0"/>
              <a:t> tabel1 </a:t>
            </a:r>
            <a:r>
              <a:rPr lang="en-US" b="1" dirty="0"/>
              <a:t>LEFT JOIN </a:t>
            </a:r>
            <a:r>
              <a:rPr lang="en-US" dirty="0"/>
              <a:t>tabel2 </a:t>
            </a:r>
            <a:r>
              <a:rPr lang="en-US" b="1" dirty="0"/>
              <a:t>ON</a:t>
            </a:r>
            <a:r>
              <a:rPr lang="en-US" dirty="0"/>
              <a:t> tabel1.PK=tabel2.FK; </a:t>
            </a:r>
          </a:p>
          <a:p>
            <a:pPr marL="0" indent="0">
              <a:buNone/>
            </a:pPr>
            <a:r>
              <a:rPr lang="en-US" dirty="0"/>
              <a:t>Perintah SQL nya untuk menggabungkan tabel pelanggan dan pesan: </a:t>
            </a:r>
            <a:br>
              <a:rPr lang="en-US" dirty="0"/>
            </a:br>
            <a:r>
              <a:rPr lang="en-US" b="1" dirty="0"/>
              <a:t>SELECT </a:t>
            </a:r>
            <a:r>
              <a:rPr lang="en-US" dirty="0"/>
              <a:t>pelanggan.id_pelanggan, pelanggan.nm_pelanggan, pesan.id_pesan, pesan.tgl_pesan </a:t>
            </a:r>
            <a:r>
              <a:rPr lang="en-US" b="1" dirty="0"/>
              <a:t>FROM</a:t>
            </a:r>
            <a:r>
              <a:rPr lang="en-US" dirty="0"/>
              <a:t> pelanggan </a:t>
            </a:r>
            <a:r>
              <a:rPr lang="en-US" b="1" dirty="0"/>
              <a:t>LEFT JOIN </a:t>
            </a:r>
            <a:r>
              <a:rPr lang="en-US" dirty="0"/>
              <a:t>pesan </a:t>
            </a:r>
            <a:r>
              <a:rPr lang="en-US" b="1" dirty="0"/>
              <a:t>ON</a:t>
            </a:r>
            <a:r>
              <a:rPr lang="en-US" dirty="0"/>
              <a:t> pelanggan.id_pelanggan=pesan.id_pelanggan;</a:t>
            </a:r>
          </a:p>
          <a:p>
            <a:pPr marL="0" indent="0">
              <a:buNone/>
            </a:pPr>
            <a:r>
              <a:rPr lang="en-US" dirty="0"/>
              <a:t>Hasil : </a:t>
            </a:r>
            <a:endParaRPr lang="en-US" dirty="0">
              <a:latin typeface="+mj-lt"/>
            </a:endParaRPr>
          </a:p>
        </p:txBody>
      </p:sp>
      <p:pic>
        <p:nvPicPr>
          <p:cNvPr id="3" name="Picture 2"/>
          <p:cNvPicPr>
            <a:picLocks noChangeAspect="1"/>
          </p:cNvPicPr>
          <p:nvPr/>
        </p:nvPicPr>
        <p:blipFill rotWithShape="1">
          <a:blip r:embed="rId2"/>
          <a:srcRect l="32151" t="36260" r="37060" b="45684"/>
          <a:stretch/>
        </p:blipFill>
        <p:spPr>
          <a:xfrm>
            <a:off x="1244182" y="4684488"/>
            <a:ext cx="5940389" cy="1958606"/>
          </a:xfrm>
          <a:prstGeom prst="rect">
            <a:avLst/>
          </a:prstGeom>
        </p:spPr>
      </p:pic>
      <p:sp>
        <p:nvSpPr>
          <p:cNvPr id="4" name="Rectangle 3"/>
          <p:cNvSpPr/>
          <p:nvPr/>
        </p:nvSpPr>
        <p:spPr>
          <a:xfrm>
            <a:off x="7808685" y="4549676"/>
            <a:ext cx="3947886" cy="2308324"/>
          </a:xfrm>
          <a:prstGeom prst="rect">
            <a:avLst/>
          </a:prstGeom>
        </p:spPr>
        <p:txBody>
          <a:bodyPr wrap="square">
            <a:spAutoFit/>
          </a:bodyPr>
          <a:lstStyle/>
          <a:p>
            <a:pPr marL="285750" indent="-285750">
              <a:buFont typeface="Arial" panose="020B0604020202020204" pitchFamily="34" charset="0"/>
              <a:buChar char="•"/>
            </a:pPr>
            <a:r>
              <a:rPr lang="en-US" dirty="0"/>
              <a:t>Left join akan menampilkan juga data pelanggan dengan id P0003, walaupun pelanggan tersebut belum pernah bertransaksi.</a:t>
            </a:r>
          </a:p>
          <a:p>
            <a:pPr marL="285750" indent="-285750">
              <a:buFont typeface="Arial" panose="020B0604020202020204" pitchFamily="34" charset="0"/>
              <a:buChar char="•"/>
            </a:pPr>
            <a:r>
              <a:rPr lang="en-US" dirty="0"/>
              <a:t>Pada kolom id_pesan dan tgl_pesan untuk pelanggan P0003 isinya NULL, artinya di tabel kanan (tabel pesan) pelanggan tersebut tidak ada. </a:t>
            </a:r>
          </a:p>
        </p:txBody>
      </p:sp>
    </p:spTree>
    <p:extLst>
      <p:ext uri="{BB962C8B-B14F-4D97-AF65-F5344CB8AC3E}">
        <p14:creationId xmlns:p14="http://schemas.microsoft.com/office/powerpoint/2010/main" val="14471345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4743" y="584538"/>
            <a:ext cx="9855200" cy="2862322"/>
          </a:xfrm>
          <a:prstGeom prst="rect">
            <a:avLst/>
          </a:prstGeom>
        </p:spPr>
        <p:txBody>
          <a:bodyPr wrap="square">
            <a:spAutoFit/>
          </a:bodyPr>
          <a:lstStyle/>
          <a:p>
            <a:r>
              <a:rPr lang="en-US" b="1" dirty="0"/>
              <a:t>2) RIGHT JOIN </a:t>
            </a:r>
          </a:p>
          <a:p>
            <a:endParaRPr lang="en-US" dirty="0"/>
          </a:p>
          <a:p>
            <a:pPr marL="285750" indent="-285750">
              <a:buFont typeface="Arial" panose="020B0604020202020204" pitchFamily="34" charset="0"/>
              <a:buChar char="•"/>
            </a:pPr>
            <a:r>
              <a:rPr lang="en-US" dirty="0"/>
              <a:t>Bentuk umum:</a:t>
            </a:r>
            <a:br>
              <a:rPr lang="en-US" dirty="0"/>
            </a:br>
            <a:r>
              <a:rPr lang="en-US" b="1" dirty="0"/>
              <a:t>SELECT</a:t>
            </a:r>
            <a:r>
              <a:rPr lang="en-US" dirty="0"/>
              <a:t> tabel1.*, tabel2.* </a:t>
            </a:r>
            <a:r>
              <a:rPr lang="en-US" b="1" dirty="0"/>
              <a:t>FROM</a:t>
            </a:r>
            <a:r>
              <a:rPr lang="en-US" dirty="0"/>
              <a:t> tabel1 </a:t>
            </a:r>
            <a:r>
              <a:rPr lang="en-US" b="1" dirty="0"/>
              <a:t>RIGHT JOIN </a:t>
            </a:r>
            <a:r>
              <a:rPr lang="en-US" dirty="0"/>
              <a:t>tabel2 </a:t>
            </a:r>
            <a:r>
              <a:rPr lang="en-US" b="1" dirty="0"/>
              <a:t>ON</a:t>
            </a:r>
            <a:r>
              <a:rPr lang="en-US" dirty="0"/>
              <a:t> tabel1.PK=tabel2.FK;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Perintah SQL untuk menggabungkan tabel pelanggan dan pesan: </a:t>
            </a:r>
          </a:p>
          <a:p>
            <a:r>
              <a:rPr lang="en-US" dirty="0"/>
              <a:t>      </a:t>
            </a:r>
            <a:r>
              <a:rPr lang="en-US" b="1" dirty="0"/>
              <a:t>SELECT</a:t>
            </a:r>
            <a:r>
              <a:rPr lang="en-US" dirty="0"/>
              <a:t> pelanggan.id_pelanggan, pelanggan.nm_pelanggan, pesan.id_pesan, pesan.tgl_pesan            </a:t>
            </a:r>
            <a:r>
              <a:rPr lang="en-US" b="1" dirty="0"/>
              <a:t>FROM</a:t>
            </a:r>
            <a:r>
              <a:rPr lang="en-US" dirty="0"/>
              <a:t> pelanggan </a:t>
            </a:r>
            <a:r>
              <a:rPr lang="en-US" b="1" dirty="0"/>
              <a:t>RIGHT JOIN </a:t>
            </a:r>
            <a:r>
              <a:rPr lang="en-US" dirty="0"/>
              <a:t>pesan </a:t>
            </a:r>
            <a:r>
              <a:rPr lang="en-US" b="1" dirty="0"/>
              <a:t>ON</a:t>
            </a:r>
            <a:r>
              <a:rPr lang="en-US" dirty="0"/>
              <a:t> pelanggan.id_pelanggan=pesan.id_pelanggan; </a:t>
            </a:r>
          </a:p>
          <a:p>
            <a:endParaRPr lang="en-US" dirty="0"/>
          </a:p>
          <a:p>
            <a:r>
              <a:rPr lang="en-US" dirty="0"/>
              <a:t>Hasil : </a:t>
            </a:r>
          </a:p>
        </p:txBody>
      </p:sp>
      <p:pic>
        <p:nvPicPr>
          <p:cNvPr id="3" name="Picture 2"/>
          <p:cNvPicPr>
            <a:picLocks noChangeAspect="1"/>
          </p:cNvPicPr>
          <p:nvPr/>
        </p:nvPicPr>
        <p:blipFill rotWithShape="1">
          <a:blip r:embed="rId2"/>
          <a:srcRect l="32040" t="30705" r="36948" b="53819"/>
          <a:stretch/>
        </p:blipFill>
        <p:spPr>
          <a:xfrm>
            <a:off x="754743" y="3570514"/>
            <a:ext cx="6776683" cy="1901371"/>
          </a:xfrm>
          <a:prstGeom prst="rect">
            <a:avLst/>
          </a:prstGeom>
        </p:spPr>
      </p:pic>
      <p:sp>
        <p:nvSpPr>
          <p:cNvPr id="4" name="Rectangle 3"/>
          <p:cNvSpPr/>
          <p:nvPr/>
        </p:nvSpPr>
        <p:spPr>
          <a:xfrm>
            <a:off x="7895771" y="3570514"/>
            <a:ext cx="4122057" cy="2031325"/>
          </a:xfrm>
          <a:prstGeom prst="rect">
            <a:avLst/>
          </a:prstGeom>
        </p:spPr>
        <p:txBody>
          <a:bodyPr wrap="square">
            <a:spAutoFit/>
          </a:bodyPr>
          <a:lstStyle/>
          <a:p>
            <a:pPr marL="285750" indent="-285750">
              <a:buFont typeface="Arial" panose="020B0604020202020204" pitchFamily="34" charset="0"/>
              <a:buChar char="•"/>
            </a:pPr>
            <a:r>
              <a:rPr lang="en-US" dirty="0"/>
              <a:t>Pada  </a:t>
            </a:r>
            <a:r>
              <a:rPr lang="en-US" b="1" dirty="0"/>
              <a:t>right join</a:t>
            </a:r>
            <a:r>
              <a:rPr lang="en-US" dirty="0"/>
              <a:t>, tabel yang menjadi acuan adalah tabel sebelah kanan (tabel pesan), jadi semua isi tabel pesan akan ditampilkan. </a:t>
            </a:r>
          </a:p>
          <a:p>
            <a:pPr marL="285750" indent="-285750">
              <a:buFont typeface="Arial" panose="020B0604020202020204" pitchFamily="34" charset="0"/>
              <a:buChar char="•"/>
            </a:pPr>
            <a:r>
              <a:rPr lang="en-US" dirty="0"/>
              <a:t>Jika data pelanggan tidak ada di tabel pelanggan, maka isi tabel pesan tetap ditampilkan. </a:t>
            </a:r>
          </a:p>
        </p:txBody>
      </p:sp>
    </p:spTree>
    <p:extLst>
      <p:ext uri="{BB962C8B-B14F-4D97-AF65-F5344CB8AC3E}">
        <p14:creationId xmlns:p14="http://schemas.microsoft.com/office/powerpoint/2010/main" val="1341344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6686" y="494997"/>
            <a:ext cx="10348685" cy="3600986"/>
          </a:xfrm>
          <a:prstGeom prst="rect">
            <a:avLst/>
          </a:prstGeom>
        </p:spPr>
        <p:txBody>
          <a:bodyPr wrap="square">
            <a:spAutoFit/>
          </a:bodyPr>
          <a:lstStyle/>
          <a:p>
            <a:r>
              <a:rPr lang="en-US" sz="2400" b="1" dirty="0"/>
              <a:t>Menggabungkan Tiga Tabel </a:t>
            </a:r>
          </a:p>
          <a:p>
            <a:endParaRPr lang="en-US" sz="2400" b="1" dirty="0"/>
          </a:p>
          <a:p>
            <a:r>
              <a:rPr lang="en-US" dirty="0"/>
              <a:t>Untuk menggabungkan tiga tabel atau lebih, pada dasarnya sama dengan penggabungan 2 (dua) tabel. </a:t>
            </a:r>
          </a:p>
          <a:p>
            <a:r>
              <a:rPr lang="en-US" dirty="0"/>
              <a:t>Sebagai contoh misalnya kita akan menampilkan barang-barang yang dipesan beserta nama barang dan harganya untuk pemesanan dengan nomor 1. </a:t>
            </a:r>
          </a:p>
          <a:p>
            <a:endParaRPr lang="en-US" dirty="0"/>
          </a:p>
          <a:p>
            <a:r>
              <a:rPr lang="en-US" dirty="0"/>
              <a:t>Perintah SQL-nya: </a:t>
            </a:r>
            <a:br>
              <a:rPr lang="en-US" dirty="0"/>
            </a:br>
            <a:r>
              <a:rPr lang="en-US" b="1" dirty="0"/>
              <a:t>SELECT</a:t>
            </a:r>
            <a:r>
              <a:rPr lang="en-US" dirty="0"/>
              <a:t> pesan.id_pesan, produk.id_produk, produk.nm_produk, detil_pesan.harga, detil_pesan.jumlah </a:t>
            </a:r>
            <a:r>
              <a:rPr lang="en-US" b="1" dirty="0"/>
              <a:t>FROM</a:t>
            </a:r>
            <a:r>
              <a:rPr lang="en-US" dirty="0"/>
              <a:t> pesan, detil_pesan, produk </a:t>
            </a:r>
            <a:r>
              <a:rPr lang="en-US" b="1" dirty="0"/>
              <a:t>WHERE</a:t>
            </a:r>
            <a:r>
              <a:rPr lang="en-US" dirty="0"/>
              <a:t> pesan.id_pesan=detil_pesan.id_pesan </a:t>
            </a:r>
            <a:r>
              <a:rPr lang="en-US" b="1" dirty="0"/>
              <a:t>AND</a:t>
            </a:r>
            <a:r>
              <a:rPr lang="en-US" dirty="0"/>
              <a:t> detil_pesan.id_produk=produk.id_produk </a:t>
            </a:r>
            <a:r>
              <a:rPr lang="en-US" b="1" dirty="0"/>
              <a:t>AND</a:t>
            </a:r>
            <a:r>
              <a:rPr lang="en-US" dirty="0"/>
              <a:t> pesan.id_pesan='1' </a:t>
            </a:r>
          </a:p>
          <a:p>
            <a:endParaRPr lang="en-US" dirty="0"/>
          </a:p>
          <a:p>
            <a:r>
              <a:rPr lang="en-US" dirty="0"/>
              <a:t>Hasil :</a:t>
            </a:r>
          </a:p>
        </p:txBody>
      </p:sp>
      <p:pic>
        <p:nvPicPr>
          <p:cNvPr id="3" name="Picture 2"/>
          <p:cNvPicPr>
            <a:picLocks noChangeAspect="1"/>
          </p:cNvPicPr>
          <p:nvPr/>
        </p:nvPicPr>
        <p:blipFill rotWithShape="1">
          <a:blip r:embed="rId2"/>
          <a:srcRect l="32040" t="64236" r="39068" b="23066"/>
          <a:stretch/>
        </p:blipFill>
        <p:spPr>
          <a:xfrm>
            <a:off x="827314" y="4339771"/>
            <a:ext cx="5991230" cy="1480458"/>
          </a:xfrm>
          <a:prstGeom prst="rect">
            <a:avLst/>
          </a:prstGeom>
        </p:spPr>
      </p:pic>
    </p:spTree>
    <p:extLst>
      <p:ext uri="{BB962C8B-B14F-4D97-AF65-F5344CB8AC3E}">
        <p14:creationId xmlns:p14="http://schemas.microsoft.com/office/powerpoint/2010/main" val="8941779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0559" y="976424"/>
            <a:ext cx="10223863" cy="1477328"/>
          </a:xfrm>
          <a:prstGeom prst="rect">
            <a:avLst/>
          </a:prstGeom>
        </p:spPr>
        <p:txBody>
          <a:bodyPr wrap="square">
            <a:spAutoFit/>
          </a:bodyPr>
          <a:lstStyle/>
          <a:p>
            <a:pPr marL="285750" indent="-285750">
              <a:buFont typeface="Arial" panose="020B0604020202020204" pitchFamily="34" charset="0"/>
              <a:buChar char="•"/>
            </a:pPr>
            <a:r>
              <a:rPr lang="en-US" b="1" dirty="0"/>
              <a:t>Referensi :</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Achmad Solichin, “MySQL 5 Dari Pemula Hingga Mahir”, 2010, Jakarta</a:t>
            </a:r>
          </a:p>
          <a:p>
            <a:pPr marL="285750" indent="-285750">
              <a:buFont typeface="Arial" panose="020B0604020202020204" pitchFamily="34" charset="0"/>
              <a:buChar char="•"/>
            </a:pPr>
            <a:r>
              <a:rPr lang="en-US" b="1" dirty="0">
                <a:hlinkClick r:id="rId2"/>
              </a:rPr>
              <a:t>https://kelasprogrammer.com/cara-membuat-primary-key-foreign-key-mysql/</a:t>
            </a:r>
            <a:endParaRPr lang="en-US" b="1" dirty="0"/>
          </a:p>
          <a:p>
            <a:endParaRPr lang="en-US" b="1" dirty="0"/>
          </a:p>
        </p:txBody>
      </p:sp>
    </p:spTree>
    <p:extLst>
      <p:ext uri="{BB962C8B-B14F-4D97-AF65-F5344CB8AC3E}">
        <p14:creationId xmlns:p14="http://schemas.microsoft.com/office/powerpoint/2010/main" val="4098212591"/>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docProps/app.xml><?xml version="1.0" encoding="utf-8"?>
<Properties xmlns="http://schemas.openxmlformats.org/officeDocument/2006/extended-properties" xmlns:vt="http://schemas.openxmlformats.org/officeDocument/2006/docPropsVTypes">
  <Template>Frame</Template>
  <TotalTime>2283</TotalTime>
  <Words>1483</Words>
  <Application>Microsoft Office PowerPoint</Application>
  <PresentationFormat>Widescreen</PresentationFormat>
  <Paragraphs>115</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Consolas</vt:lpstr>
      <vt:lpstr>Corbel</vt:lpstr>
      <vt:lpstr>Ubuntu</vt:lpstr>
      <vt:lpstr>Wingdings</vt:lpstr>
      <vt:lpstr>Wingdings 2</vt:lpstr>
      <vt:lpstr>Frame</vt:lpstr>
      <vt:lpstr>Auto Increment, Primary Key, Foreign Key, Outer Join, Inner Join </vt:lpstr>
      <vt:lpstr>Penjelasan istilah </vt:lpstr>
      <vt:lpstr>PowerPoint Presentation</vt:lpstr>
      <vt:lpstr>PowerPoint Presentation</vt:lpstr>
      <vt:lpstr>PowerPoint Presentation</vt:lpstr>
      <vt:lpstr>Penggunaan PK dan FK</vt:lpstr>
      <vt:lpstr>PowerPoint Presentation</vt:lpstr>
      <vt:lpstr>Penggabungan beberapa Tabel dengan Perintah JOIN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Abu Bakar Prakoso Bekti</dc:creator>
  <cp:lastModifiedBy>rahmawati hasanah</cp:lastModifiedBy>
  <cp:revision>30</cp:revision>
  <dcterms:created xsi:type="dcterms:W3CDTF">2021-01-25T14:18:35Z</dcterms:created>
  <dcterms:modified xsi:type="dcterms:W3CDTF">2024-04-30T03:19:53Z</dcterms:modified>
</cp:coreProperties>
</file>