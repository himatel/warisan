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97" r:id="rId1"/>
  </p:sldMasterIdLst>
  <p:sldIdLst>
    <p:sldId id="256" r:id="rId2"/>
    <p:sldId id="260" r:id="rId3"/>
    <p:sldId id="261" r:id="rId4"/>
    <p:sldId id="262" r:id="rId5"/>
    <p:sldId id="263" r:id="rId6"/>
    <p:sldId id="257" r:id="rId7"/>
    <p:sldId id="258" r:id="rId8"/>
    <p:sldId id="259" r:id="rId9"/>
    <p:sldId id="264" r:id="rId10"/>
    <p:sldId id="266" r:id="rId11"/>
    <p:sldId id="267" r:id="rId12"/>
    <p:sldId id="269" r:id="rId13"/>
    <p:sldId id="268" r:id="rId14"/>
    <p:sldId id="272" r:id="rId15"/>
    <p:sldId id="270" r:id="rId16"/>
    <p:sldId id="271" r:id="rId17"/>
    <p:sldId id="265"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81" autoAdjust="0"/>
    <p:restoredTop sz="94660"/>
  </p:normalViewPr>
  <p:slideViewPr>
    <p:cSldViewPr snapToGrid="0">
      <p:cViewPr varScale="1">
        <p:scale>
          <a:sx n="79" d="100"/>
          <a:sy n="79" d="100"/>
        </p:scale>
        <p:origin x="20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1160EA64-D806-43AC-9DF2-F8C432F32B4C}" type="datetimeFigureOut">
              <a:rPr lang="en-US" smtClean="0"/>
              <a:t>4/2/2024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
        <p:nvSpPr>
          <p:cNvPr id="13" name="Rectangle 12"/>
          <p:cNvSpPr/>
          <p:nvPr/>
        </p:nvSpPr>
        <p:spPr>
          <a:xfrm>
            <a:off x="0" y="0"/>
            <a:ext cx="12192000" cy="4572001"/>
          </a:xfrm>
          <a:prstGeom prst="rect">
            <a:avLst/>
          </a:prstGeom>
          <a:blipFill dpi="0" rotWithShape="1">
            <a:blip r:embed="rId2">
              <a:duotone>
                <a:schemeClr val="accent2">
                  <a:shade val="45000"/>
                  <a:satMod val="135000"/>
                </a:schemeClr>
                <a:prstClr val="white"/>
              </a:duotone>
            </a:blip>
            <a:srcRect/>
            <a:tile tx="-393700" ty="-82550" sx="35000" sy="35000" flip="none" algn="tl"/>
          </a:blip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4" name="Straight Connector 13"/>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34381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070A7B3-6521-4DCA-87E5-044747A908C1}" type="datetimeFigureOut">
              <a:rPr lang="en-US" smtClean="0"/>
              <a:t>4/2/2024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2236372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160EA64-D806-43AC-9DF2-F8C432F32B4C}" type="datetimeFigureOut">
              <a:rPr lang="en-US" smtClean="0"/>
              <a:t>4/2/2024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0" y="0"/>
            <a:ext cx="12192000" cy="4572000"/>
          </a:xfrm>
          <a:prstGeom prst="rect">
            <a:avLst/>
          </a:prstGeom>
          <a:blipFill dpi="0" rotWithShape="1">
            <a:blip r:embed="rId2">
              <a:duotone>
                <a:schemeClr val="accent1">
                  <a:shade val="45000"/>
                  <a:satMod val="135000"/>
                </a:schemeClr>
                <a:prstClr val="white"/>
              </a:duotone>
            </a:blip>
            <a:srcRect/>
            <a:tile tx="-393700" ty="-82550" sx="35000" sy="3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91823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B134690-1557-4C89-A502-4959FE7FAD70}" type="datetimeFigureOut">
              <a:rPr lang="en-US" smtClean="0"/>
              <a:t>4/2/2024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14189531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2"/>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smtClean="0"/>
              <a:t>4/2/2024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201632408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smtClean="0"/>
              <a:t>4/2/2024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333895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smtClean="0"/>
              <a:t>4/2/2024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30247162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160EA64-D806-43AC-9DF2-F8C432F32B4C}" type="datetimeFigureOut">
              <a:rPr lang="en-US" smtClean="0"/>
              <a:t>4/2/2024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11529932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2">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160EA64-D806-43AC-9DF2-F8C432F32B4C}" type="datetimeFigureOut">
              <a:rPr lang="en-US" smtClean="0"/>
              <a:t>4/2/2024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A7A6979-0714-4377-B894-6BE4C2D6E202}" type="slidenum">
              <a:rPr lang="en-US" smtClean="0"/>
              <a:pPr/>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783188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smtClean="0"/>
              <a:t>4/2/2024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13357694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smtClean="0"/>
              <a:t>4/2/2024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t>‹#›</a:t>
            </a:fld>
            <a:endParaRPr lang="en-US" dirty="0"/>
          </a:p>
        </p:txBody>
      </p:sp>
      <p:cxnSp>
        <p:nvCxnSpPr>
          <p:cNvPr id="8" name="Straight Connector 7"/>
          <p:cNvCxnSpPr/>
          <p:nvPr/>
        </p:nvCxnSpPr>
        <p:spPr>
          <a:xfrm rot="5400000" flipV="1">
            <a:off x="10058400" y="59263"/>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2697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1160EA64-D806-43AC-9DF2-F8C432F32B4C}" type="datetimeFigureOut">
              <a:rPr lang="en-US" smtClean="0"/>
              <a:t>4/2/2024</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8A7A6979-0714-4377-B894-6BE4C2D6E202}" type="slidenum">
              <a:rPr lang="en-US" smtClean="0"/>
              <a:pPr/>
              <a:t>‹#›</a:t>
            </a:fld>
            <a:endParaRPr lang="en-US" dirty="0"/>
          </a:p>
        </p:txBody>
      </p:sp>
      <p:cxnSp>
        <p:nvCxnSpPr>
          <p:cNvPr id="8" name="Straight Connector 7"/>
          <p:cNvCxnSpPr/>
          <p:nvPr/>
        </p:nvCxnSpPr>
        <p:spPr>
          <a:xfrm flipV="1">
            <a:off x="7620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3148136"/>
      </p:ext>
    </p:extLst>
  </p:cSld>
  <p:clrMap bg1="lt1" tx1="dk1" bg2="lt2" tx2="dk2" accent1="accent1" accent2="accent2" accent3="accent3" accent4="accent4" accent5="accent5" accent6="accent6" hlink="hlink" folHlink="folHlink"/>
  <p:sldLayoutIdLst>
    <p:sldLayoutId id="2147483898" r:id="rId1"/>
    <p:sldLayoutId id="2147483899" r:id="rId2"/>
    <p:sldLayoutId id="2147483900" r:id="rId3"/>
    <p:sldLayoutId id="2147483901" r:id="rId4"/>
    <p:sldLayoutId id="2147483902" r:id="rId5"/>
    <p:sldLayoutId id="2147483903" r:id="rId6"/>
    <p:sldLayoutId id="2147483904" r:id="rId7"/>
    <p:sldLayoutId id="2147483905" r:id="rId8"/>
    <p:sldLayoutId id="2147483906" r:id="rId9"/>
    <p:sldLayoutId id="2147483907" r:id="rId10"/>
    <p:sldLayoutId id="2147483908" r:id="rId11"/>
  </p:sldLayoutIdLst>
  <p:hf sldNum="0"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termasmedia.com/pemrograman/java/267-tipe-event-listener-dan-kelas-pemicu-event-source-object-di-java.html" TargetMode="External"/><Relationship Id="rId2" Type="http://schemas.openxmlformats.org/officeDocument/2006/relationships/hyperlink" Target="https://www3.ntu.edu.sg/home/ehchua/programming/java/j4a_gui.html#zz-3.3"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2800" dirty="0"/>
              <a:t>GUI (Graphical User INTERFACE)</a:t>
            </a:r>
          </a:p>
        </p:txBody>
      </p:sp>
      <p:sp>
        <p:nvSpPr>
          <p:cNvPr id="3" name="Subtitle 2"/>
          <p:cNvSpPr>
            <a:spLocks noGrp="1"/>
          </p:cNvSpPr>
          <p:nvPr>
            <p:ph type="subTitle" idx="1"/>
          </p:nvPr>
        </p:nvSpPr>
        <p:spPr/>
        <p:txBody>
          <a:bodyPr/>
          <a:lstStyle/>
          <a:p>
            <a:r>
              <a:rPr lang="en-US" sz="1600" dirty="0"/>
              <a:t>Teori Minggu </a:t>
            </a:r>
            <a:r>
              <a:rPr lang="en-US" sz="1600" dirty="0" err="1"/>
              <a:t>ke</a:t>
            </a:r>
            <a:r>
              <a:rPr lang="en-US" sz="1600"/>
              <a:t> 8</a:t>
            </a:r>
            <a:endParaRPr lang="en-US" sz="1600" dirty="0"/>
          </a:p>
          <a:p>
            <a:r>
              <a:rPr lang="en-US" sz="1400" dirty="0"/>
              <a:t>Aplikasi Komputer &amp; Basis Data</a:t>
            </a:r>
          </a:p>
        </p:txBody>
      </p:sp>
    </p:spTree>
    <p:extLst>
      <p:ext uri="{BB962C8B-B14F-4D97-AF65-F5344CB8AC3E}">
        <p14:creationId xmlns:p14="http://schemas.microsoft.com/office/powerpoint/2010/main" val="1737710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a:t>Tujuan</a:t>
            </a:r>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dirty="0"/>
              <a:t>Mempelajari dasar pembuatan user-interface dalam program GUI.</a:t>
            </a:r>
          </a:p>
          <a:p>
            <a:pPr>
              <a:buFont typeface="Wingdings" panose="05000000000000000000" pitchFamily="2" charset="2"/>
              <a:buChar char="Ø"/>
            </a:pPr>
            <a:r>
              <a:rPr lang="en-US" dirty="0"/>
              <a:t>Mempelajari cara penanganan event-event yang terjadi pada komponen-komponen.</a:t>
            </a:r>
          </a:p>
          <a:p>
            <a:pPr>
              <a:buFont typeface="Wingdings" panose="05000000000000000000" pitchFamily="2" charset="2"/>
              <a:buChar char="Ø"/>
            </a:pPr>
            <a:r>
              <a:rPr lang="en-US" dirty="0"/>
              <a:t>Mempelajari komponen Swing beserta API (Application Programming Interface) di dalamnya.</a:t>
            </a:r>
          </a:p>
          <a:p>
            <a:endParaRPr lang="en-US" dirty="0"/>
          </a:p>
          <a:p>
            <a:endParaRPr lang="en-US" dirty="0"/>
          </a:p>
          <a:p>
            <a:endParaRPr lang="en-US" dirty="0"/>
          </a:p>
        </p:txBody>
      </p:sp>
    </p:spTree>
    <p:extLst>
      <p:ext uri="{BB962C8B-B14F-4D97-AF65-F5344CB8AC3E}">
        <p14:creationId xmlns:p14="http://schemas.microsoft.com/office/powerpoint/2010/main" val="3520474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4312" y="820348"/>
            <a:ext cx="9720072" cy="812510"/>
          </a:xfrm>
        </p:spPr>
        <p:txBody>
          <a:bodyPr>
            <a:normAutofit/>
          </a:bodyPr>
          <a:lstStyle/>
          <a:p>
            <a:r>
              <a:rPr lang="en-US" sz="4400" dirty="0"/>
              <a:t>AWT dan SWING</a:t>
            </a:r>
          </a:p>
        </p:txBody>
      </p:sp>
      <p:sp>
        <p:nvSpPr>
          <p:cNvPr id="3" name="Content Placeholder 2"/>
          <p:cNvSpPr>
            <a:spLocks noGrp="1"/>
          </p:cNvSpPr>
          <p:nvPr>
            <p:ph idx="1"/>
          </p:nvPr>
        </p:nvSpPr>
        <p:spPr>
          <a:xfrm>
            <a:off x="854311" y="2090057"/>
            <a:ext cx="10288306" cy="4023360"/>
          </a:xfrm>
        </p:spPr>
        <p:txBody>
          <a:bodyPr/>
          <a:lstStyle/>
          <a:p>
            <a:pPr>
              <a:buFont typeface="Arial" panose="020B0604020202020204" pitchFamily="34" charset="0"/>
              <a:buChar char="•"/>
            </a:pPr>
            <a:r>
              <a:rPr lang="en-US" dirty="0"/>
              <a:t>Dalam java, terdapat 2 paket untuk mengembangkan GUI, yaitu AWT (Abstract Window Toolkit) dan Swing.</a:t>
            </a:r>
          </a:p>
          <a:p>
            <a:pPr>
              <a:buFont typeface="Arial" panose="020B0604020202020204" pitchFamily="34" charset="0"/>
              <a:buChar char="•"/>
            </a:pPr>
            <a:r>
              <a:rPr lang="en-US" dirty="0"/>
              <a:t>AWT merupakan sekumpulan library yang tidak tergantung pada platform (platform independent) dan digunakan untuk menyederhanakan implementasi User-Interace.</a:t>
            </a:r>
          </a:p>
          <a:p>
            <a:pPr>
              <a:buFont typeface="Arial" panose="020B0604020202020204" pitchFamily="34" charset="0"/>
              <a:buChar char="•"/>
            </a:pPr>
            <a:r>
              <a:rPr lang="en-US" dirty="0"/>
              <a:t>Swing merupakan pengembangan dari AWT yang menambahkan komponen-komponen dalam sistem GUI tetapi masih berdasarkan arsitektur AWT (misalnya dalam pembuatan event-handling).</a:t>
            </a:r>
          </a:p>
          <a:p>
            <a:pPr>
              <a:buFont typeface="Arial" panose="020B0604020202020204" pitchFamily="34" charset="0"/>
              <a:buChar char="•"/>
            </a:pPr>
            <a:r>
              <a:rPr lang="en-US" dirty="0"/>
              <a:t>AWT dan Swing dapat berelasi satu dengan lainnya dengan konsep inheritance, dimana AWT dan Swing ini merupakan sebuah komponen yang dapat digunakan dalam program yang sama.</a:t>
            </a:r>
          </a:p>
          <a:p>
            <a:endParaRPr lang="en-US" dirty="0"/>
          </a:p>
          <a:p>
            <a:endParaRPr lang="en-US" dirty="0"/>
          </a:p>
        </p:txBody>
      </p:sp>
    </p:spTree>
    <p:extLst>
      <p:ext uri="{BB962C8B-B14F-4D97-AF65-F5344CB8AC3E}">
        <p14:creationId xmlns:p14="http://schemas.microsoft.com/office/powerpoint/2010/main" val="12346905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Font typeface="Wingdings" panose="05000000000000000000" pitchFamily="2" charset="2"/>
              <a:buChar char="§"/>
            </a:pPr>
            <a:r>
              <a:rPr lang="en-US" dirty="0"/>
              <a:t>AWT hanya menangani interface grafis yang sederhana. </a:t>
            </a:r>
          </a:p>
          <a:p>
            <a:pPr>
              <a:buFont typeface="Wingdings" panose="05000000000000000000" pitchFamily="2" charset="2"/>
              <a:buChar char="§"/>
            </a:pPr>
            <a:r>
              <a:rPr lang="en-US" dirty="0"/>
              <a:t>Swing memiliki fungsi yang lebih berkembang, komponen-komponen yang baru, fitur yang lebih luas, dan event-handling yang lebih baik. </a:t>
            </a:r>
          </a:p>
          <a:p>
            <a:pPr>
              <a:buFont typeface="Wingdings" panose="05000000000000000000" pitchFamily="2" charset="2"/>
              <a:buChar char="§"/>
            </a:pPr>
            <a:r>
              <a:rPr lang="en-US" dirty="0"/>
              <a:t>Bila dibandingkan dengan AWT, penggunaan komponen pada swing lebih memakan resource yang sedikit.</a:t>
            </a:r>
          </a:p>
          <a:p>
            <a:pPr>
              <a:buFont typeface="Wingdings" panose="05000000000000000000" pitchFamily="2" charset="2"/>
              <a:buChar char="§"/>
            </a:pPr>
            <a:r>
              <a:rPr lang="en-US" dirty="0"/>
              <a:t>Program-program GUI yang ada saat ini banyak dikembangkan dalam bentuk Swing.  </a:t>
            </a:r>
          </a:p>
          <a:p>
            <a:pPr>
              <a:buFont typeface="Wingdings" panose="05000000000000000000" pitchFamily="2" charset="2"/>
              <a:buChar char="§"/>
            </a:pPr>
            <a:r>
              <a:rPr lang="en-US" dirty="0"/>
              <a:t>Komponen Swing sering diawali dengan J</a:t>
            </a:r>
          </a:p>
        </p:txBody>
      </p:sp>
      <p:sp>
        <p:nvSpPr>
          <p:cNvPr id="4" name="Title 1"/>
          <p:cNvSpPr>
            <a:spLocks noGrp="1"/>
          </p:cNvSpPr>
          <p:nvPr>
            <p:ph type="title"/>
          </p:nvPr>
        </p:nvSpPr>
        <p:spPr>
          <a:xfrm>
            <a:off x="932688" y="768096"/>
            <a:ext cx="9720072" cy="995390"/>
          </a:xfrm>
        </p:spPr>
        <p:txBody>
          <a:bodyPr>
            <a:normAutofit/>
          </a:bodyPr>
          <a:lstStyle/>
          <a:p>
            <a:r>
              <a:rPr lang="en-US" sz="3600" dirty="0"/>
              <a:t>AWT dan SWING</a:t>
            </a:r>
          </a:p>
        </p:txBody>
      </p:sp>
    </p:spTree>
    <p:extLst>
      <p:ext uri="{BB962C8B-B14F-4D97-AF65-F5344CB8AC3E}">
        <p14:creationId xmlns:p14="http://schemas.microsoft.com/office/powerpoint/2010/main" val="38276055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Event-handling</a:t>
            </a:r>
          </a:p>
        </p:txBody>
      </p:sp>
      <p:sp>
        <p:nvSpPr>
          <p:cNvPr id="3" name="Content Placeholder 2"/>
          <p:cNvSpPr>
            <a:spLocks noGrp="1"/>
          </p:cNvSpPr>
          <p:nvPr>
            <p:ph idx="1"/>
          </p:nvPr>
        </p:nvSpPr>
        <p:spPr/>
        <p:txBody>
          <a:bodyPr/>
          <a:lstStyle/>
          <a:p>
            <a:pPr>
              <a:buFont typeface="Arial" panose="020B0604020202020204" pitchFamily="34" charset="0"/>
              <a:buChar char="•"/>
            </a:pPr>
            <a:r>
              <a:rPr lang="en-US" dirty="0"/>
              <a:t>Event-handling merupakan teknik untuk melakukan pekerjaan tertentu pada saat suatu event terjadi. </a:t>
            </a:r>
          </a:p>
          <a:p>
            <a:pPr>
              <a:buFont typeface="Arial" panose="020B0604020202020204" pitchFamily="34" charset="0"/>
              <a:buChar char="•"/>
            </a:pPr>
            <a:r>
              <a:rPr lang="en-US" dirty="0"/>
              <a:t>Misalnya, user melakukan pengisian karakter melalui keyboar atau mengklik mouse, hal ini dikatakan suatu event telah terjadi.</a:t>
            </a:r>
          </a:p>
          <a:p>
            <a:pPr>
              <a:buFont typeface="Arial" panose="020B0604020202020204" pitchFamily="34" charset="0"/>
              <a:buChar char="•"/>
            </a:pPr>
            <a:r>
              <a:rPr lang="en-US" dirty="0"/>
              <a:t>Event-event tersebut dapat ditangani oleh program untuk kemudian diproses sesuai kebutuhan yang diinginkan. Misalnya setelah mouse diklik lalu muncul sebuah form dialog.</a:t>
            </a:r>
          </a:p>
          <a:p>
            <a:pPr>
              <a:buFont typeface="Arial" panose="020B0604020202020204" pitchFamily="34" charset="0"/>
              <a:buChar char="•"/>
            </a:pPr>
            <a:r>
              <a:rPr lang="en-US" dirty="0"/>
              <a:t>Mekanisme event-handling didasarkan pada delegation event model (model pendelegasian event) yang mendefinisikan cara standar dan konsisten untuk membangkitkan dan memproses suatu event.</a:t>
            </a:r>
          </a:p>
        </p:txBody>
      </p:sp>
    </p:spTree>
    <p:extLst>
      <p:ext uri="{BB962C8B-B14F-4D97-AF65-F5344CB8AC3E}">
        <p14:creationId xmlns:p14="http://schemas.microsoft.com/office/powerpoint/2010/main" val="16716268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sz="4000" dirty="0"/>
              <a:t>Delegasi event model</a:t>
            </a:r>
          </a:p>
        </p:txBody>
      </p:sp>
      <p:sp>
        <p:nvSpPr>
          <p:cNvPr id="6" name="Content Placeholder 5"/>
          <p:cNvSpPr>
            <a:spLocks noGrp="1"/>
          </p:cNvSpPr>
          <p:nvPr>
            <p:ph idx="1"/>
          </p:nvPr>
        </p:nvSpPr>
        <p:spPr>
          <a:xfrm>
            <a:off x="635821" y="1910218"/>
            <a:ext cx="9835938" cy="4603315"/>
          </a:xfrm>
        </p:spPr>
        <p:txBody>
          <a:bodyPr>
            <a:normAutofit fontScale="47500" lnSpcReduction="20000"/>
          </a:bodyPr>
          <a:lstStyle/>
          <a:p>
            <a:pPr>
              <a:lnSpc>
                <a:spcPct val="120000"/>
              </a:lnSpc>
            </a:pPr>
            <a:r>
              <a:rPr lang="en-US" sz="2900" dirty="0">
                <a:cs typeface="Arial" panose="020B0604020202020204" pitchFamily="34" charset="0"/>
              </a:rPr>
              <a:t>Delegasi event model menguraikan bagaimana program Anda dapat merespon interaksi dari user. Terdapat tiga komponen utamanya yaitu:</a:t>
            </a:r>
          </a:p>
          <a:p>
            <a:pPr>
              <a:lnSpc>
                <a:spcPct val="120000"/>
              </a:lnSpc>
            </a:pPr>
            <a:r>
              <a:rPr lang="en-US" sz="2900" b="1" dirty="0">
                <a:cs typeface="Arial" panose="020B0604020202020204" pitchFamily="34" charset="0"/>
              </a:rPr>
              <a:t>1. Event Source</a:t>
            </a:r>
          </a:p>
          <a:p>
            <a:pPr>
              <a:lnSpc>
                <a:spcPct val="120000"/>
              </a:lnSpc>
            </a:pPr>
            <a:r>
              <a:rPr lang="en-US" sz="2900" dirty="0">
                <a:cs typeface="Arial" panose="020B0604020202020204" pitchFamily="34" charset="0"/>
              </a:rPr>
              <a:t>Event source mengacu pada komponen GUI yang meng-generate event. Sebagai contoh, jika user menekan tombol, event source dalam hal ini adalah tombol.</a:t>
            </a:r>
          </a:p>
          <a:p>
            <a:pPr>
              <a:lnSpc>
                <a:spcPct val="120000"/>
              </a:lnSpc>
            </a:pPr>
            <a:r>
              <a:rPr lang="en-US" sz="2900" b="1" dirty="0">
                <a:cs typeface="Arial" panose="020B0604020202020204" pitchFamily="34" charset="0"/>
              </a:rPr>
              <a:t>2. Event Listener/Handler</a:t>
            </a:r>
          </a:p>
          <a:p>
            <a:pPr>
              <a:lnSpc>
                <a:spcPct val="120000"/>
              </a:lnSpc>
            </a:pPr>
            <a:r>
              <a:rPr lang="en-US" sz="2900" dirty="0">
                <a:cs typeface="Arial" panose="020B0604020202020204" pitchFamily="34" charset="0"/>
              </a:rPr>
              <a:t>Event listener menerima berita dari event-event dan proses-proses interaksi user. Ketika tombol ditekan, listener akan mengendalikan dengan menampilkan sebuah informasi yang berguna untuk user.</a:t>
            </a:r>
          </a:p>
          <a:p>
            <a:pPr>
              <a:lnSpc>
                <a:spcPct val="120000"/>
              </a:lnSpc>
            </a:pPr>
            <a:r>
              <a:rPr lang="en-US" sz="2900" b="1" dirty="0">
                <a:cs typeface="Arial" panose="020B0604020202020204" pitchFamily="34" charset="0"/>
              </a:rPr>
              <a:t>3. Event Object</a:t>
            </a:r>
          </a:p>
          <a:p>
            <a:pPr>
              <a:lnSpc>
                <a:spcPct val="120000"/>
              </a:lnSpc>
            </a:pPr>
            <a:r>
              <a:rPr lang="en-US" sz="2900" dirty="0">
                <a:cs typeface="Arial" panose="020B0604020202020204" pitchFamily="34" charset="0"/>
              </a:rPr>
              <a:t>Ketika sebuah event terjadi (misal, ketika user berinteraksi dengan komponen GUI), sebuah object event diciptakan. Object berisi semua informasi yang perlu tentang event yang telah terjadi. Informasi meliputi tipe dari event yang telah terjadi, seperti ketika mouse telah di-klik. Ada beberapa class event untuk kategori yang berbeda dari </a:t>
            </a:r>
            <a:r>
              <a:rPr lang="en-US" sz="2900" i="1" dirty="0">
                <a:cs typeface="Arial" panose="020B0604020202020204" pitchFamily="34" charset="0"/>
              </a:rPr>
              <a:t>user action</a:t>
            </a:r>
            <a:r>
              <a:rPr lang="en-US" sz="2900" dirty="0">
                <a:cs typeface="Arial" panose="020B0604020202020204" pitchFamily="34" charset="0"/>
              </a:rPr>
              <a:t>. Sebuah </a:t>
            </a:r>
            <a:r>
              <a:rPr lang="en-US" sz="2900" i="1" dirty="0">
                <a:cs typeface="Arial" panose="020B0604020202020204" pitchFamily="34" charset="0"/>
              </a:rPr>
              <a:t>event object </a:t>
            </a:r>
            <a:r>
              <a:rPr lang="en-US" sz="2900" dirty="0">
                <a:cs typeface="Arial" panose="020B0604020202020204" pitchFamily="34" charset="0"/>
              </a:rPr>
              <a:t>mempunyai tipe data mengenai salah satu dari class ini.</a:t>
            </a:r>
          </a:p>
          <a:p>
            <a:pPr>
              <a:lnSpc>
                <a:spcPct val="120000"/>
              </a:lnSpc>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453798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1"/>
          </p:nvPr>
        </p:nvPicPr>
        <p:blipFill>
          <a:blip r:embed="rId2"/>
          <a:srcRect/>
          <a:stretch>
            <a:fillRect/>
          </a:stretch>
        </p:blipFill>
        <p:spPr bwMode="auto">
          <a:xfrm>
            <a:off x="1580835" y="1445250"/>
            <a:ext cx="3361278" cy="4022725"/>
          </a:xfrm>
          <a:prstGeom prst="rect">
            <a:avLst/>
          </a:prstGeom>
          <a:noFill/>
          <a:ln w="9525">
            <a:noFill/>
            <a:miter lim="800000"/>
            <a:headEnd/>
            <a:tailEnd/>
          </a:ln>
        </p:spPr>
      </p:pic>
      <p:sp>
        <p:nvSpPr>
          <p:cNvPr id="5" name="Rectangle 4"/>
          <p:cNvSpPr/>
          <p:nvPr/>
        </p:nvSpPr>
        <p:spPr>
          <a:xfrm>
            <a:off x="5347062" y="702782"/>
            <a:ext cx="6096000" cy="5507662"/>
          </a:xfrm>
          <a:prstGeom prst="rect">
            <a:avLst/>
          </a:prstGeom>
        </p:spPr>
        <p:txBody>
          <a:bodyPr>
            <a:spAutoFit/>
          </a:bodyPr>
          <a:lstStyle/>
          <a:p>
            <a:pPr marL="285750" indent="-285750" algn="just">
              <a:lnSpc>
                <a:spcPct val="115000"/>
              </a:lnSpc>
              <a:spcAft>
                <a:spcPts val="0"/>
              </a:spcAft>
              <a:buFont typeface="Arial" panose="020B0604020202020204" pitchFamily="34" charset="0"/>
              <a:buChar char="•"/>
            </a:pPr>
            <a:r>
              <a:rPr lang="en-US" dirty="0">
                <a:ea typeface="Calibri" panose="020F0502020204030204" pitchFamily="34" charset="0"/>
                <a:cs typeface="Verdana" panose="020B0604030504040204" pitchFamily="34" charset="0"/>
              </a:rPr>
              <a:t>Pada awalnya, sebuah listener diregistrasikan dengan sebuah source sehingga dapat menerima informasi tentang event-event yang terjadi pada source tersebut.</a:t>
            </a:r>
          </a:p>
          <a:p>
            <a:pPr marL="285750" indent="-285750" algn="just">
              <a:lnSpc>
                <a:spcPct val="115000"/>
              </a:lnSpc>
              <a:spcAft>
                <a:spcPts val="0"/>
              </a:spcAft>
              <a:buFont typeface="Arial" panose="020B0604020202020204" pitchFamily="34" charset="0"/>
              <a:buChar char="•"/>
            </a:pPr>
            <a:r>
              <a:rPr lang="en-US" dirty="0">
                <a:ea typeface="Calibri" panose="020F0502020204030204" pitchFamily="34" charset="0"/>
                <a:cs typeface="Verdana" panose="020B0604030504040204" pitchFamily="34" charset="0"/>
              </a:rPr>
              <a:t>Hanya listener yang sudah teregistrasi yang dapat menerima pemberitahuan event-event. Ketika telah teregistrasi, sebuah listener hanya tinggal menunggu sampai event terjadi.</a:t>
            </a:r>
            <a:endParaRPr lang="en-US" dirty="0">
              <a:ea typeface="Calibri" panose="020F0502020204030204" pitchFamily="34" charset="0"/>
              <a:cs typeface="Times New Roman" panose="02020603050405020304" pitchFamily="18" charset="0"/>
            </a:endParaRPr>
          </a:p>
          <a:p>
            <a:pPr marL="285750" indent="-285750" algn="just">
              <a:lnSpc>
                <a:spcPct val="115000"/>
              </a:lnSpc>
              <a:spcAft>
                <a:spcPts val="0"/>
              </a:spcAft>
              <a:buFont typeface="Arial" panose="020B0604020202020204" pitchFamily="34" charset="0"/>
              <a:buChar char="•"/>
            </a:pPr>
            <a:r>
              <a:rPr lang="en-US" dirty="0">
                <a:ea typeface="Calibri" panose="020F0502020204030204" pitchFamily="34" charset="0"/>
                <a:cs typeface="Verdana" panose="020B0604030504040204" pitchFamily="34" charset="0"/>
              </a:rPr>
              <a:t>Ketika sesuatu terjadi dengan event source, sebuah event object akan menguraikan event yang diciptakan. </a:t>
            </a:r>
          </a:p>
          <a:p>
            <a:pPr marL="285750" indent="-285750" algn="just">
              <a:lnSpc>
                <a:spcPct val="115000"/>
              </a:lnSpc>
              <a:spcAft>
                <a:spcPts val="0"/>
              </a:spcAft>
              <a:buFont typeface="Arial" panose="020B0604020202020204" pitchFamily="34" charset="0"/>
              <a:buChar char="•"/>
            </a:pPr>
            <a:r>
              <a:rPr lang="en-US" dirty="0">
                <a:ea typeface="Calibri" panose="020F0502020204030204" pitchFamily="34" charset="0"/>
                <a:cs typeface="Verdana" panose="020B0604030504040204" pitchFamily="34" charset="0"/>
              </a:rPr>
              <a:t>Event kemudian ditembak oleh source pada listener yang teregistrasi. Saat listener menerima sebuah event object (pemberitahuan) dari source, dia akan bekerja. </a:t>
            </a:r>
          </a:p>
          <a:p>
            <a:pPr marL="285750" indent="-285750" algn="just">
              <a:lnSpc>
                <a:spcPct val="115000"/>
              </a:lnSpc>
              <a:spcAft>
                <a:spcPts val="0"/>
              </a:spcAft>
              <a:buFont typeface="Arial" panose="020B0604020202020204" pitchFamily="34" charset="0"/>
              <a:buChar char="•"/>
            </a:pPr>
            <a:r>
              <a:rPr lang="en-US" dirty="0">
                <a:ea typeface="Calibri" panose="020F0502020204030204" pitchFamily="34" charset="0"/>
                <a:cs typeface="Verdana" panose="020B0604030504040204" pitchFamily="34" charset="0"/>
              </a:rPr>
              <a:t>Listener akan menerjemahkan pemberitahuan dan memproses event yang terjadi.</a:t>
            </a:r>
            <a:endParaRPr lang="en-US" dirty="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032848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931580"/>
            <a:ext cx="9720072" cy="647839"/>
          </a:xfrm>
        </p:spPr>
        <p:txBody>
          <a:bodyPr>
            <a:normAutofit/>
          </a:bodyPr>
          <a:lstStyle/>
          <a:p>
            <a:r>
              <a:rPr lang="en-US" sz="4000" dirty="0"/>
              <a:t>Class Event</a:t>
            </a:r>
          </a:p>
        </p:txBody>
      </p:sp>
      <p:sp>
        <p:nvSpPr>
          <p:cNvPr id="3" name="Content Placeholder 2"/>
          <p:cNvSpPr>
            <a:spLocks noGrp="1"/>
          </p:cNvSpPr>
          <p:nvPr>
            <p:ph idx="1"/>
          </p:nvPr>
        </p:nvSpPr>
        <p:spPr>
          <a:xfrm>
            <a:off x="1024127" y="2161309"/>
            <a:ext cx="9720073" cy="4023360"/>
          </a:xfrm>
        </p:spPr>
        <p:txBody>
          <a:bodyPr/>
          <a:lstStyle/>
          <a:p>
            <a:r>
              <a:rPr lang="en-US" dirty="0"/>
              <a:t>Kelas event dapat menjadi tipe parameter dari metoda yang didefinisikan di dalam interface yang bersesuaian dengan tipe event.</a:t>
            </a:r>
          </a:p>
          <a:p>
            <a:r>
              <a:rPr lang="en-US" dirty="0"/>
              <a:t>Obyek kelas event berisi properti-properti yang berkaitan dengan event tersebut. Setiap nama tipe event mempunyai nama interface listener dan nama metoda untuk registrasi yang bersesuaian kecuali interface MouseMotionListener. </a:t>
            </a:r>
          </a:p>
          <a:p>
            <a:r>
              <a:rPr lang="en-US" dirty="0"/>
              <a:t>Tabel beberapa tipe event, listener dan kelas (source object) yang memicu munculnya event:</a:t>
            </a:r>
          </a:p>
        </p:txBody>
      </p:sp>
    </p:spTree>
    <p:extLst>
      <p:ext uri="{BB962C8B-B14F-4D97-AF65-F5344CB8AC3E}">
        <p14:creationId xmlns:p14="http://schemas.microsoft.com/office/powerpoint/2010/main" val="2842374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12968" t="16823" r="47561" b="12457"/>
          <a:stretch/>
        </p:blipFill>
        <p:spPr>
          <a:xfrm>
            <a:off x="2370804" y="180109"/>
            <a:ext cx="6629382" cy="6677891"/>
          </a:xfrm>
          <a:prstGeom prst="rect">
            <a:avLst/>
          </a:prstGeom>
        </p:spPr>
      </p:pic>
    </p:spTree>
    <p:extLst>
      <p:ext uri="{BB962C8B-B14F-4D97-AF65-F5344CB8AC3E}">
        <p14:creationId xmlns:p14="http://schemas.microsoft.com/office/powerpoint/2010/main" val="4095820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Komponen</a:t>
            </a:r>
            <a:r>
              <a:rPr lang="en-US" dirty="0"/>
              <a:t> </a:t>
            </a:r>
            <a:r>
              <a:rPr lang="en-US" sz="4000" dirty="0"/>
              <a:t>SWING </a:t>
            </a:r>
          </a:p>
        </p:txBody>
      </p:sp>
      <p:sp>
        <p:nvSpPr>
          <p:cNvPr id="3" name="Content Placeholder 2"/>
          <p:cNvSpPr>
            <a:spLocks noGrp="1"/>
          </p:cNvSpPr>
          <p:nvPr>
            <p:ph idx="1"/>
          </p:nvPr>
        </p:nvSpPr>
        <p:spPr>
          <a:xfrm>
            <a:off x="1024128" y="2216727"/>
            <a:ext cx="9720073" cy="4023360"/>
          </a:xfrm>
        </p:spPr>
        <p:txBody>
          <a:bodyPr/>
          <a:lstStyle/>
          <a:p>
            <a:r>
              <a:rPr lang="en-US" dirty="0"/>
              <a:t>Komponen UI Swing dapat dikategorikan sebagai berikut :</a:t>
            </a:r>
          </a:p>
        </p:txBody>
      </p:sp>
      <p:pic>
        <p:nvPicPr>
          <p:cNvPr id="4" name="Picture 3"/>
          <p:cNvPicPr>
            <a:picLocks noChangeAspect="1"/>
          </p:cNvPicPr>
          <p:nvPr/>
        </p:nvPicPr>
        <p:blipFill rotWithShape="1">
          <a:blip r:embed="rId2"/>
          <a:srcRect l="23060" t="45739" r="26148" b="12216"/>
          <a:stretch/>
        </p:blipFill>
        <p:spPr>
          <a:xfrm>
            <a:off x="1024128" y="2632363"/>
            <a:ext cx="8604781" cy="4004742"/>
          </a:xfrm>
          <a:prstGeom prst="rect">
            <a:avLst/>
          </a:prstGeom>
        </p:spPr>
      </p:pic>
    </p:spTree>
    <p:extLst>
      <p:ext uri="{BB962C8B-B14F-4D97-AF65-F5344CB8AC3E}">
        <p14:creationId xmlns:p14="http://schemas.microsoft.com/office/powerpoint/2010/main" val="35736793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24127" y="623454"/>
            <a:ext cx="9720073" cy="429491"/>
          </a:xfrm>
        </p:spPr>
        <p:txBody>
          <a:bodyPr/>
          <a:lstStyle/>
          <a:p>
            <a:r>
              <a:rPr lang="en-US" dirty="0"/>
              <a:t>Kelas hirarki dari GUI Swing :</a:t>
            </a:r>
          </a:p>
        </p:txBody>
      </p:sp>
      <p:pic>
        <p:nvPicPr>
          <p:cNvPr id="4" name="Picture 3"/>
          <p:cNvPicPr>
            <a:picLocks noChangeAspect="1"/>
          </p:cNvPicPr>
          <p:nvPr/>
        </p:nvPicPr>
        <p:blipFill rotWithShape="1">
          <a:blip r:embed="rId2"/>
          <a:srcRect l="17310" t="26231" r="19120" b="11647"/>
          <a:stretch/>
        </p:blipFill>
        <p:spPr>
          <a:xfrm>
            <a:off x="1307286" y="1316181"/>
            <a:ext cx="9153754" cy="5029199"/>
          </a:xfrm>
          <a:prstGeom prst="rect">
            <a:avLst/>
          </a:prstGeom>
        </p:spPr>
      </p:pic>
    </p:spTree>
    <p:extLst>
      <p:ext uri="{BB962C8B-B14F-4D97-AF65-F5344CB8AC3E}">
        <p14:creationId xmlns:p14="http://schemas.microsoft.com/office/powerpoint/2010/main" val="34017411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a:t>Container adalah sebuah komponen yang bisa mengorganisasikan berbagai komponen lainnya.</a:t>
            </a:r>
          </a:p>
          <a:p>
            <a:r>
              <a:rPr lang="en-US" dirty="0"/>
              <a:t>Sebelum komponen bisa ditampilkan dalam sebuah user interface, terlebih dahulu harus ditambahkan ke dalam sebuah container. </a:t>
            </a:r>
          </a:p>
          <a:p>
            <a:r>
              <a:rPr lang="en-US" dirty="0"/>
              <a:t>Merupakan subclass dari java.Awt.Container. Dalam class tsb terdapat method untuk: </a:t>
            </a:r>
          </a:p>
          <a:p>
            <a:r>
              <a:rPr lang="en-US" dirty="0"/>
              <a:t>• menambahkan komponen ke container </a:t>
            </a:r>
          </a:p>
          <a:p>
            <a:r>
              <a:rPr lang="en-US" dirty="0"/>
              <a:t>• membuang komponen dari container </a:t>
            </a:r>
          </a:p>
          <a:p>
            <a:r>
              <a:rPr lang="en-US" dirty="0"/>
              <a:t>• menyusun komponen menggunakan layout manager </a:t>
            </a:r>
          </a:p>
          <a:p>
            <a:r>
              <a:rPr lang="en-US" dirty="0"/>
              <a:t>• set up tooltips (keterangan yang muncul beberapa saat ketika user melintas di atas sebuah komponen)</a:t>
            </a:r>
          </a:p>
        </p:txBody>
      </p:sp>
    </p:spTree>
    <p:extLst>
      <p:ext uri="{BB962C8B-B14F-4D97-AF65-F5344CB8AC3E}">
        <p14:creationId xmlns:p14="http://schemas.microsoft.com/office/powerpoint/2010/main" val="29850015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980348"/>
          </a:xfrm>
        </p:spPr>
        <p:txBody>
          <a:bodyPr>
            <a:normAutofit/>
          </a:bodyPr>
          <a:lstStyle/>
          <a:p>
            <a:r>
              <a:rPr lang="en-US" sz="3600" dirty="0"/>
              <a:t>TOP-LEVEL CONTAINERS</a:t>
            </a:r>
          </a:p>
        </p:txBody>
      </p:sp>
      <p:sp>
        <p:nvSpPr>
          <p:cNvPr id="3" name="Content Placeholder 2"/>
          <p:cNvSpPr>
            <a:spLocks noGrp="1"/>
          </p:cNvSpPr>
          <p:nvPr>
            <p:ph idx="1"/>
          </p:nvPr>
        </p:nvSpPr>
        <p:spPr/>
        <p:txBody>
          <a:bodyPr/>
          <a:lstStyle/>
          <a:p>
            <a:r>
              <a:rPr lang="en-US" dirty="0"/>
              <a:t>Terdapat 3 buah kontainer tingkatan paling atas yang dapat dipilih untuk pengembangan aplikasi GUI yaitu :</a:t>
            </a:r>
          </a:p>
          <a:p>
            <a:r>
              <a:rPr lang="en-US" dirty="0"/>
              <a:t>1. Applet</a:t>
            </a:r>
          </a:p>
          <a:p>
            <a:r>
              <a:rPr lang="en-US" dirty="0"/>
              <a:t>2. Frame: adalah sebuah window yang memiliki berbagai dekorasi seperti border, judul, dan tombol untuk minimize, maximize dan close window. Aplikasi GUI umumnya memiliki paling tidak sebuah frame.</a:t>
            </a:r>
          </a:p>
          <a:p>
            <a:r>
              <a:rPr lang="en-US" dirty="0"/>
              <a:t>3. Dialog: window yang lebih terbatas daripada frame. </a:t>
            </a:r>
          </a:p>
        </p:txBody>
      </p:sp>
    </p:spTree>
    <p:extLst>
      <p:ext uri="{BB962C8B-B14F-4D97-AF65-F5344CB8AC3E}">
        <p14:creationId xmlns:p14="http://schemas.microsoft.com/office/powerpoint/2010/main" val="4497614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747402" y="841730"/>
            <a:ext cx="9720072" cy="662218"/>
          </a:xfrm>
        </p:spPr>
        <p:txBody>
          <a:bodyPr>
            <a:normAutofit/>
          </a:bodyPr>
          <a:lstStyle/>
          <a:p>
            <a:r>
              <a:rPr lang="en-US" sz="2800" dirty="0"/>
              <a:t>Contoh program menampilkan frame</a:t>
            </a:r>
          </a:p>
        </p:txBody>
      </p:sp>
      <p:pic>
        <p:nvPicPr>
          <p:cNvPr id="5" name="Picture 4"/>
          <p:cNvPicPr>
            <a:picLocks noChangeAspect="1"/>
          </p:cNvPicPr>
          <p:nvPr/>
        </p:nvPicPr>
        <p:blipFill rotWithShape="1">
          <a:blip r:embed="rId2"/>
          <a:srcRect l="18868" t="10033" r="39797" b="31743"/>
          <a:stretch/>
        </p:blipFill>
        <p:spPr>
          <a:xfrm>
            <a:off x="747401" y="1503948"/>
            <a:ext cx="6182787" cy="4896435"/>
          </a:xfrm>
          <a:prstGeom prst="rect">
            <a:avLst/>
          </a:prstGeom>
        </p:spPr>
      </p:pic>
    </p:spTree>
    <p:extLst>
      <p:ext uri="{BB962C8B-B14F-4D97-AF65-F5344CB8AC3E}">
        <p14:creationId xmlns:p14="http://schemas.microsoft.com/office/powerpoint/2010/main" val="3883455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3339" y="480782"/>
            <a:ext cx="9720072" cy="662218"/>
          </a:xfrm>
        </p:spPr>
        <p:txBody>
          <a:bodyPr>
            <a:normAutofit/>
          </a:bodyPr>
          <a:lstStyle/>
          <a:p>
            <a:r>
              <a:rPr lang="en-US" sz="2800" dirty="0"/>
              <a:t>Contoh program event-handling</a:t>
            </a:r>
          </a:p>
        </p:txBody>
      </p:sp>
      <p:pic>
        <p:nvPicPr>
          <p:cNvPr id="7" name="Picture 6"/>
          <p:cNvPicPr>
            <a:picLocks noChangeAspect="1"/>
          </p:cNvPicPr>
          <p:nvPr/>
        </p:nvPicPr>
        <p:blipFill rotWithShape="1">
          <a:blip r:embed="rId2"/>
          <a:srcRect l="18590" t="9868" r="29718" b="30264"/>
          <a:stretch/>
        </p:blipFill>
        <p:spPr>
          <a:xfrm>
            <a:off x="723339" y="1256096"/>
            <a:ext cx="7420391" cy="4831883"/>
          </a:xfrm>
          <a:prstGeom prst="rect">
            <a:avLst/>
          </a:prstGeom>
        </p:spPr>
      </p:pic>
    </p:spTree>
    <p:extLst>
      <p:ext uri="{BB962C8B-B14F-4D97-AF65-F5344CB8AC3E}">
        <p14:creationId xmlns:p14="http://schemas.microsoft.com/office/powerpoint/2010/main" val="25029130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18775" t="9375" r="29533" b="30428"/>
          <a:stretch/>
        </p:blipFill>
        <p:spPr>
          <a:xfrm>
            <a:off x="806115" y="914399"/>
            <a:ext cx="8030355" cy="5257800"/>
          </a:xfrm>
          <a:prstGeom prst="rect">
            <a:avLst/>
          </a:prstGeom>
        </p:spPr>
      </p:pic>
    </p:spTree>
    <p:extLst>
      <p:ext uri="{BB962C8B-B14F-4D97-AF65-F5344CB8AC3E}">
        <p14:creationId xmlns:p14="http://schemas.microsoft.com/office/powerpoint/2010/main" val="33760928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Referensi</a:t>
            </a:r>
          </a:p>
        </p:txBody>
      </p:sp>
      <p:sp>
        <p:nvSpPr>
          <p:cNvPr id="3" name="Content Placeholder 2"/>
          <p:cNvSpPr>
            <a:spLocks noGrp="1"/>
          </p:cNvSpPr>
          <p:nvPr>
            <p:ph idx="1"/>
          </p:nvPr>
        </p:nvSpPr>
        <p:spPr/>
        <p:txBody>
          <a:bodyPr/>
          <a:lstStyle/>
          <a:p>
            <a:r>
              <a:rPr lang="en-US" dirty="0"/>
              <a:t>Budi Raharjo, Imam Heryanto, Arif Haryono, “Mudah Belajar JAVA”, Informatika, Bandung, April 2012.</a:t>
            </a:r>
          </a:p>
          <a:p>
            <a:r>
              <a:rPr lang="en-US" dirty="0"/>
              <a:t>Muh. Izzudin Mahali, M.Cs., “JAVA GUI”, PT. Elektronika FT UNY.</a:t>
            </a:r>
          </a:p>
          <a:p>
            <a:r>
              <a:rPr lang="en-US" dirty="0">
                <a:hlinkClick r:id="rId2"/>
              </a:rPr>
              <a:t>https://www3.ntu.edu.sg/home/ehchua/programming/java/j4a_gui.html#zz-3.3</a:t>
            </a:r>
            <a:endParaRPr lang="en-US" dirty="0"/>
          </a:p>
          <a:p>
            <a:r>
              <a:rPr lang="en-US" dirty="0">
                <a:hlinkClick r:id="rId3"/>
              </a:rPr>
              <a:t>https://www.termasmedia.com/pemrograman/java/267-tipe-event-listener-dan-kelas-pemicu-event-source-object-di-java.html</a:t>
            </a:r>
            <a:endParaRPr lang="en-US" dirty="0"/>
          </a:p>
          <a:p>
            <a:endParaRPr lang="en-US" dirty="0"/>
          </a:p>
          <a:p>
            <a:endParaRPr lang="en-US" dirty="0"/>
          </a:p>
          <a:p>
            <a:endParaRPr lang="en-US" dirty="0"/>
          </a:p>
        </p:txBody>
      </p:sp>
    </p:spTree>
    <p:extLst>
      <p:ext uri="{BB962C8B-B14F-4D97-AF65-F5344CB8AC3E}">
        <p14:creationId xmlns:p14="http://schemas.microsoft.com/office/powerpoint/2010/main" val="36521078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C1C93EF2-4785-427F-84A5-F1666490E9CE}"/>
    </a:ext>
  </a:extLst>
</a:theme>
</file>

<file path=docProps/app.xml><?xml version="1.0" encoding="utf-8"?>
<Properties xmlns="http://schemas.openxmlformats.org/officeDocument/2006/extended-properties" xmlns:vt="http://schemas.openxmlformats.org/officeDocument/2006/docPropsVTypes">
  <Template>Integral</Template>
  <TotalTime>2580</TotalTime>
  <Words>863</Words>
  <Application>Microsoft Office PowerPoint</Application>
  <PresentationFormat>Widescreen</PresentationFormat>
  <Paragraphs>64</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Tw Cen MT</vt:lpstr>
      <vt:lpstr>Tw Cen MT Condensed</vt:lpstr>
      <vt:lpstr>Wingdings</vt:lpstr>
      <vt:lpstr>Wingdings 3</vt:lpstr>
      <vt:lpstr>Integral</vt:lpstr>
      <vt:lpstr>GUI (Graphical User INTERFACE)</vt:lpstr>
      <vt:lpstr>Tujuan</vt:lpstr>
      <vt:lpstr>AWT dan SWING</vt:lpstr>
      <vt:lpstr>AWT dan SWING</vt:lpstr>
      <vt:lpstr>Event-handling</vt:lpstr>
      <vt:lpstr>Delegasi event model</vt:lpstr>
      <vt:lpstr>PowerPoint Presentation</vt:lpstr>
      <vt:lpstr>Class Event</vt:lpstr>
      <vt:lpstr>PowerPoint Presentation</vt:lpstr>
      <vt:lpstr>Komponen SWING </vt:lpstr>
      <vt:lpstr>PowerPoint Presentation</vt:lpstr>
      <vt:lpstr>PowerPoint Presentation</vt:lpstr>
      <vt:lpstr>TOP-LEVEL CONTAINERS</vt:lpstr>
      <vt:lpstr>Contoh program menampilkan frame</vt:lpstr>
      <vt:lpstr>Contoh program event-handling</vt:lpstr>
      <vt:lpstr>PowerPoint Presentation</vt:lpstr>
      <vt:lpstr>Referensi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GUI (Graphical User INTERFACE)</dc:title>
  <dc:creator>Abu Bakar Prakoso Bekti</dc:creator>
  <cp:lastModifiedBy>rahmawati hasanah</cp:lastModifiedBy>
  <cp:revision>23</cp:revision>
  <dcterms:created xsi:type="dcterms:W3CDTF">2021-01-04T23:34:06Z</dcterms:created>
  <dcterms:modified xsi:type="dcterms:W3CDTF">2024-04-03T13:56:19Z</dcterms:modified>
</cp:coreProperties>
</file>