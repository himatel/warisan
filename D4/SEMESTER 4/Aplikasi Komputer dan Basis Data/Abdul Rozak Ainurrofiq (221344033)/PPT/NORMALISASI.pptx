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2" r:id="rId12"/>
    <p:sldId id="267" r:id="rId13"/>
    <p:sldId id="268" r:id="rId14"/>
    <p:sldId id="269" r:id="rId15"/>
    <p:sldId id="270" r:id="rId16"/>
    <p:sldId id="271" r:id="rId17"/>
    <p:sldId id="273" r:id="rId18"/>
    <p:sldId id="274"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54" autoAdjust="0"/>
    <p:restoredTop sz="94660"/>
  </p:normalViewPr>
  <p:slideViewPr>
    <p:cSldViewPr snapToGrid="0">
      <p:cViewPr varScale="1">
        <p:scale>
          <a:sx n="79" d="100"/>
          <a:sy n="79" d="100"/>
        </p:scale>
        <p:origin x="2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12FAAD9-D241-471E-8561-F9F7CF9F032A}"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5798582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2FAAD9-D241-471E-8561-F9F7CF9F032A}"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1381631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2FAAD9-D241-471E-8561-F9F7CF9F032A}"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4109549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12FAAD9-D241-471E-8561-F9F7CF9F032A}" type="datetimeFigureOut">
              <a:rPr lang="en-US" smtClean="0"/>
              <a:t>5/8/2024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2470594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12FAAD9-D241-471E-8561-F9F7CF9F032A}" type="datetimeFigureOut">
              <a:rPr lang="en-US" smtClean="0"/>
              <a:t>5/8/2024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943561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12FAAD9-D241-471E-8561-F9F7CF9F032A}" type="datetimeFigureOut">
              <a:rPr lang="en-US" smtClean="0"/>
              <a:t>5/8/2024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192230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2FAAD9-D241-471E-8561-F9F7CF9F032A}" type="datetimeFigureOut">
              <a:rPr lang="en-US" smtClean="0"/>
              <a:t>5/8/2024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1568254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2FAAD9-D241-471E-8561-F9F7CF9F032A}" type="datetimeFigureOut">
              <a:rPr lang="en-US" smtClean="0"/>
              <a:t>5/8/2024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1547400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2FAAD9-D241-471E-8561-F9F7CF9F032A}" type="datetimeFigureOut">
              <a:rPr lang="en-US" smtClean="0"/>
              <a:t>5/8/2024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2864206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2FAAD9-D241-471E-8561-F9F7CF9F032A}"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4138272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2FAAD9-D241-471E-8561-F9F7CF9F032A}" type="datetimeFigureOut">
              <a:rPr lang="en-US" smtClean="0"/>
              <a:t>5/8/2024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DA848E-612A-430D-8E5A-64561A141A27}" type="slidenum">
              <a:rPr lang="en-US" smtClean="0"/>
              <a:t>‹#›</a:t>
            </a:fld>
            <a:endParaRPr lang="en-US"/>
          </a:p>
        </p:txBody>
      </p:sp>
    </p:spTree>
    <p:extLst>
      <p:ext uri="{BB962C8B-B14F-4D97-AF65-F5344CB8AC3E}">
        <p14:creationId xmlns:p14="http://schemas.microsoft.com/office/powerpoint/2010/main" val="155334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2FAAD9-D241-471E-8561-F9F7CF9F032A}" type="datetimeFigureOut">
              <a:rPr lang="en-US" smtClean="0"/>
              <a:t>5/8/2024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DA848E-612A-430D-8E5A-64561A141A27}" type="slidenum">
              <a:rPr lang="en-US" smtClean="0"/>
              <a:t>‹#›</a:t>
            </a:fld>
            <a:endParaRPr lang="en-US"/>
          </a:p>
        </p:txBody>
      </p:sp>
    </p:spTree>
    <p:extLst>
      <p:ext uri="{BB962C8B-B14F-4D97-AF65-F5344CB8AC3E}">
        <p14:creationId xmlns:p14="http://schemas.microsoft.com/office/powerpoint/2010/main" val="16281279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NORMALISASI</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555369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Normalisasi</a:t>
            </a:r>
          </a:p>
        </p:txBody>
      </p:sp>
      <p:sp>
        <p:nvSpPr>
          <p:cNvPr id="3" name="Content Placeholder 2"/>
          <p:cNvSpPr>
            <a:spLocks noGrp="1"/>
          </p:cNvSpPr>
          <p:nvPr>
            <p:ph idx="1"/>
          </p:nvPr>
        </p:nvSpPr>
        <p:spPr/>
        <p:txBody>
          <a:bodyPr>
            <a:normAutofit fontScale="85000" lnSpcReduction="10000"/>
          </a:bodyPr>
          <a:lstStyle/>
          <a:p>
            <a:r>
              <a:rPr lang="en-US" dirty="0"/>
              <a:t>Normalisasi merupakan sebuah teknik dalam logical desain sebuah basis data / database, teknik pengelompokkan atribut dari suatu relasi sehingga membentuk struktur relasi yang baik (tanpa redudansi). </a:t>
            </a:r>
          </a:p>
          <a:p>
            <a:r>
              <a:rPr lang="en-US" dirty="0"/>
              <a:t>Normalisasi Pertama (1st Normal Form) – 1NF</a:t>
            </a:r>
            <a:br>
              <a:rPr lang="en-US" dirty="0"/>
            </a:br>
            <a:r>
              <a:rPr lang="en-US" dirty="0"/>
              <a:t>Aturan : Mendefinisikan </a:t>
            </a:r>
            <a:r>
              <a:rPr lang="en-US" dirty="0" err="1"/>
              <a:t>atribut</a:t>
            </a:r>
            <a:r>
              <a:rPr lang="en-US" dirty="0"/>
              <a:t> </a:t>
            </a:r>
            <a:r>
              <a:rPr lang="en-US" i="1" dirty="0"/>
              <a:t>key</a:t>
            </a:r>
            <a:r>
              <a:rPr lang="en-US" dirty="0"/>
              <a:t>. </a:t>
            </a:r>
            <a:r>
              <a:rPr lang="en-US" dirty="0" err="1"/>
              <a:t>Tidak</a:t>
            </a:r>
            <a:r>
              <a:rPr lang="en-US" dirty="0"/>
              <a:t> adanya group </a:t>
            </a:r>
            <a:r>
              <a:rPr lang="en-US" dirty="0" err="1"/>
              <a:t>berulang</a:t>
            </a:r>
            <a:r>
              <a:rPr lang="en-US" dirty="0"/>
              <a:t>. </a:t>
            </a:r>
            <a:r>
              <a:rPr lang="en-US" dirty="0" err="1"/>
              <a:t>Semua</a:t>
            </a:r>
            <a:r>
              <a:rPr lang="en-US" dirty="0"/>
              <a:t> </a:t>
            </a:r>
            <a:r>
              <a:rPr lang="en-US" dirty="0" err="1"/>
              <a:t>atribut</a:t>
            </a:r>
            <a:r>
              <a:rPr lang="en-US" dirty="0"/>
              <a:t> </a:t>
            </a:r>
            <a:r>
              <a:rPr lang="en-US" i="1" dirty="0"/>
              <a:t>non-key</a:t>
            </a:r>
            <a:r>
              <a:rPr lang="en-US" dirty="0"/>
              <a:t> tergantung pada </a:t>
            </a:r>
            <a:r>
              <a:rPr lang="en-US" dirty="0" err="1"/>
              <a:t>atribut</a:t>
            </a:r>
            <a:r>
              <a:rPr lang="en-US" dirty="0"/>
              <a:t> </a:t>
            </a:r>
            <a:r>
              <a:rPr lang="en-US" i="1" dirty="0"/>
              <a:t>key.</a:t>
            </a:r>
            <a:r>
              <a:rPr lang="en-US" dirty="0"/>
              <a:t> </a:t>
            </a:r>
          </a:p>
          <a:p>
            <a:r>
              <a:rPr lang="en-US" dirty="0"/>
              <a:t>Normalisasi Kedua (2nd Normal Form) – 2NF</a:t>
            </a:r>
            <a:br>
              <a:rPr lang="en-US" dirty="0"/>
            </a:br>
            <a:r>
              <a:rPr lang="en-US" dirty="0"/>
              <a:t>Aturan : Sudah memenuhi dalam bentuk normal </a:t>
            </a:r>
            <a:r>
              <a:rPr lang="en-US" dirty="0" err="1"/>
              <a:t>kesatu</a:t>
            </a:r>
            <a:r>
              <a:rPr lang="en-US" dirty="0"/>
              <a:t>. </a:t>
            </a:r>
            <a:r>
              <a:rPr lang="en-US" dirty="0" err="1"/>
              <a:t>Sudah</a:t>
            </a:r>
            <a:r>
              <a:rPr lang="en-US" dirty="0"/>
              <a:t> tidak ada ketergantungan parsial, dimana seluruh field hanya tergantung pada sebagian field </a:t>
            </a:r>
            <a:r>
              <a:rPr lang="en-US" i="1" dirty="0"/>
              <a:t>key</a:t>
            </a:r>
            <a:r>
              <a:rPr lang="en-US" dirty="0"/>
              <a:t>. </a:t>
            </a:r>
          </a:p>
          <a:p>
            <a:r>
              <a:rPr lang="en-US" dirty="0"/>
              <a:t>Normalisasi Ketiga (3rd Normal Form) – 3NF</a:t>
            </a:r>
            <a:br>
              <a:rPr lang="en-US" dirty="0"/>
            </a:br>
            <a:r>
              <a:rPr lang="en-US" dirty="0"/>
              <a:t>Aturan : Sudah berada dalam bentuk normal </a:t>
            </a:r>
            <a:r>
              <a:rPr lang="en-US" dirty="0" err="1"/>
              <a:t>kedua</a:t>
            </a:r>
            <a:r>
              <a:rPr lang="en-US" dirty="0"/>
              <a:t>. </a:t>
            </a:r>
            <a:r>
              <a:rPr lang="en-US" dirty="0" err="1"/>
              <a:t>Tidak</a:t>
            </a:r>
            <a:r>
              <a:rPr lang="en-US" dirty="0"/>
              <a:t> ada ketergantungan transitif (dimana field </a:t>
            </a:r>
            <a:r>
              <a:rPr lang="en-US" i="1" dirty="0"/>
              <a:t>non-key</a:t>
            </a:r>
            <a:r>
              <a:rPr lang="en-US" dirty="0"/>
              <a:t> </a:t>
            </a:r>
            <a:r>
              <a:rPr lang="en-US" dirty="0" err="1"/>
              <a:t>tergantung</a:t>
            </a:r>
            <a:r>
              <a:rPr lang="en-US" dirty="0"/>
              <a:t> pada field </a:t>
            </a:r>
            <a:r>
              <a:rPr lang="en-US" i="1" dirty="0"/>
              <a:t>non-key</a:t>
            </a:r>
            <a:r>
              <a:rPr lang="en-US" dirty="0"/>
              <a:t> </a:t>
            </a:r>
            <a:r>
              <a:rPr lang="en-US" dirty="0" err="1"/>
              <a:t>lainnya</a:t>
            </a:r>
            <a:r>
              <a:rPr lang="en-US" dirty="0"/>
              <a:t>)</a:t>
            </a:r>
          </a:p>
        </p:txBody>
      </p:sp>
    </p:spTree>
    <p:extLst>
      <p:ext uri="{BB962C8B-B14F-4D97-AF65-F5344CB8AC3E}">
        <p14:creationId xmlns:p14="http://schemas.microsoft.com/office/powerpoint/2010/main" val="3708535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Catatan: Normal seharusnya berada dalam bentuk normal tertinggi dan bergerak dari bentuk normal satu dan seterusnya, untuk membatasi hanya satu jenis redudansi. Keseluruhannya cuma ada lima bentuk normal. Tiga bentuk normal pertama menekankan redudansi yang muncul dari Function Dependencies sedangkan bentuk keempat dan kelima menekankan redudansi yang muncul dari kasus Multi Valued Dependencies. </a:t>
            </a:r>
          </a:p>
        </p:txBody>
      </p:sp>
    </p:spTree>
    <p:extLst>
      <p:ext uri="{BB962C8B-B14F-4D97-AF65-F5344CB8AC3E}">
        <p14:creationId xmlns:p14="http://schemas.microsoft.com/office/powerpoint/2010/main" val="3987965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9758" y="0"/>
            <a:ext cx="10515600" cy="1325563"/>
          </a:xfrm>
        </p:spPr>
        <p:txBody>
          <a:bodyPr/>
          <a:lstStyle/>
          <a:p>
            <a:r>
              <a:rPr lang="en-US" dirty="0"/>
              <a:t>Contoh 1</a:t>
            </a:r>
          </a:p>
        </p:txBody>
      </p:sp>
      <p:pic>
        <p:nvPicPr>
          <p:cNvPr id="4" name="Picture 3"/>
          <p:cNvPicPr>
            <a:picLocks noChangeAspect="1"/>
          </p:cNvPicPr>
          <p:nvPr/>
        </p:nvPicPr>
        <p:blipFill rotWithShape="1">
          <a:blip r:embed="rId2"/>
          <a:srcRect l="28348" t="30002" r="27678" b="15768"/>
          <a:stretch/>
        </p:blipFill>
        <p:spPr>
          <a:xfrm>
            <a:off x="669758" y="1085166"/>
            <a:ext cx="7367337" cy="5107960"/>
          </a:xfrm>
          <a:prstGeom prst="rect">
            <a:avLst/>
          </a:prstGeom>
        </p:spPr>
      </p:pic>
    </p:spTree>
    <p:extLst>
      <p:ext uri="{BB962C8B-B14F-4D97-AF65-F5344CB8AC3E}">
        <p14:creationId xmlns:p14="http://schemas.microsoft.com/office/powerpoint/2010/main" val="4193558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Contoh 2</a:t>
            </a:r>
          </a:p>
        </p:txBody>
      </p:sp>
      <p:pic>
        <p:nvPicPr>
          <p:cNvPr id="4" name="Picture 3"/>
          <p:cNvPicPr>
            <a:picLocks noChangeAspect="1"/>
          </p:cNvPicPr>
          <p:nvPr/>
        </p:nvPicPr>
        <p:blipFill rotWithShape="1">
          <a:blip r:embed="rId2"/>
          <a:srcRect l="27644" t="24910" r="27377" b="38840"/>
          <a:stretch/>
        </p:blipFill>
        <p:spPr>
          <a:xfrm>
            <a:off x="838200" y="1690688"/>
            <a:ext cx="8953308" cy="4056969"/>
          </a:xfrm>
          <a:prstGeom prst="rect">
            <a:avLst/>
          </a:prstGeom>
        </p:spPr>
      </p:pic>
    </p:spTree>
    <p:extLst>
      <p:ext uri="{BB962C8B-B14F-4D97-AF65-F5344CB8AC3E}">
        <p14:creationId xmlns:p14="http://schemas.microsoft.com/office/powerpoint/2010/main" val="1155912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Langkah-langkah normalisasi</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a:p>
            <a:pPr algn="just"/>
            <a:r>
              <a:rPr lang="en-US" dirty="0"/>
              <a:t>Untuk mendapatkan hasil yang paling normal, maka proses normalisasi dimulai dari normal pertama. Field-field tabel di atas yang merupakan group berulang : Employee number, Employee name, Rate category, Hourly rate. </a:t>
            </a:r>
          </a:p>
        </p:txBody>
      </p:sp>
      <p:pic>
        <p:nvPicPr>
          <p:cNvPr id="4" name="Picture 3"/>
          <p:cNvPicPr>
            <a:picLocks noChangeAspect="1"/>
          </p:cNvPicPr>
          <p:nvPr/>
        </p:nvPicPr>
        <p:blipFill rotWithShape="1">
          <a:blip r:embed="rId2"/>
          <a:srcRect l="27544" t="39732" r="28080" b="36339"/>
          <a:stretch/>
        </p:blipFill>
        <p:spPr>
          <a:xfrm>
            <a:off x="838200" y="1325563"/>
            <a:ext cx="9781832" cy="2965533"/>
          </a:xfrm>
          <a:prstGeom prst="rect">
            <a:avLst/>
          </a:prstGeom>
        </p:spPr>
      </p:pic>
    </p:spTree>
    <p:extLst>
      <p:ext uri="{BB962C8B-B14F-4D97-AF65-F5344CB8AC3E}">
        <p14:creationId xmlns:p14="http://schemas.microsoft.com/office/powerpoint/2010/main" val="4075047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Normalisasi Pertama </a:t>
            </a:r>
          </a:p>
        </p:txBody>
      </p:sp>
      <p:sp>
        <p:nvSpPr>
          <p:cNvPr id="3" name="Content Placeholder 2"/>
          <p:cNvSpPr>
            <a:spLocks noGrp="1"/>
          </p:cNvSpPr>
          <p:nvPr>
            <p:ph idx="1"/>
          </p:nvPr>
        </p:nvSpPr>
        <p:spPr>
          <a:xfrm>
            <a:off x="838200" y="1600200"/>
            <a:ext cx="11353800" cy="4576763"/>
          </a:xfrm>
        </p:spPr>
        <p:txBody>
          <a:bodyPr>
            <a:normAutofit fontScale="70000" lnSpcReduction="20000"/>
          </a:bodyPr>
          <a:lstStyle/>
          <a:p>
            <a:pPr algn="just"/>
            <a:r>
              <a:rPr lang="en-US" dirty="0"/>
              <a:t>Solusinya hilangkan duplikasi dengan mencari ketergantungan parsial; menjadikan field-field menjadi tergantung pada satu atau beberapa field, bukan seluruhnya. Karena yang dapat dijadikan kunci adalah Project Number dan Employee Number, maka langkah kemudian dicari field-field mana yang tergantung pada Project Number dan mana yang tergantung pada Employee Number. </a:t>
            </a:r>
          </a:p>
          <a:p>
            <a:endParaRPr lang="en-US" dirty="0"/>
          </a:p>
          <a:p>
            <a:endParaRPr lang="en-US" dirty="0"/>
          </a:p>
          <a:p>
            <a:endParaRPr lang="en-US" dirty="0"/>
          </a:p>
          <a:p>
            <a:pPr marL="0" indent="0">
              <a:buNone/>
            </a:pPr>
            <a:endParaRPr lang="en-US" dirty="0"/>
          </a:p>
          <a:p>
            <a:endParaRPr lang="en-US" dirty="0"/>
          </a:p>
          <a:p>
            <a:endParaRPr lang="en-US" dirty="0"/>
          </a:p>
          <a:p>
            <a:r>
              <a:rPr lang="en-US" dirty="0"/>
              <a:t>Ket : nama field yang dicetak miring dan tebal menunjukkan primary key. </a:t>
            </a:r>
          </a:p>
          <a:p>
            <a:r>
              <a:rPr lang="en-US" dirty="0"/>
              <a:t>Ada beberapa keanehan dalam data pada tabel di atas. Adanya kesalahan penulisan data pada kolom project name record ketiga. Kemungkinan kesalahan penulisan data semakin bertambah seiring bertambahnya record. </a:t>
            </a:r>
          </a:p>
        </p:txBody>
      </p:sp>
      <p:pic>
        <p:nvPicPr>
          <p:cNvPr id="4" name="Picture 3"/>
          <p:cNvPicPr>
            <a:picLocks noChangeAspect="1"/>
          </p:cNvPicPr>
          <p:nvPr/>
        </p:nvPicPr>
        <p:blipFill rotWithShape="1">
          <a:blip r:embed="rId2"/>
          <a:srcRect l="28248" t="45625" r="29385" b="30982"/>
          <a:stretch/>
        </p:blipFill>
        <p:spPr>
          <a:xfrm>
            <a:off x="2752940" y="2487034"/>
            <a:ext cx="6909140" cy="2144780"/>
          </a:xfrm>
          <a:prstGeom prst="rect">
            <a:avLst/>
          </a:prstGeom>
        </p:spPr>
      </p:pic>
    </p:spTree>
    <p:extLst>
      <p:ext uri="{BB962C8B-B14F-4D97-AF65-F5344CB8AC3E}">
        <p14:creationId xmlns:p14="http://schemas.microsoft.com/office/powerpoint/2010/main" val="38280224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Normalisasi kedua</a:t>
            </a:r>
          </a:p>
        </p:txBody>
      </p:sp>
      <p:sp>
        <p:nvSpPr>
          <p:cNvPr id="3" name="Content Placeholder 2"/>
          <p:cNvSpPr>
            <a:spLocks noGrp="1"/>
          </p:cNvSpPr>
          <p:nvPr>
            <p:ph idx="1"/>
          </p:nvPr>
        </p:nvSpPr>
        <p:spPr>
          <a:xfrm>
            <a:off x="341812" y="1690688"/>
            <a:ext cx="5105400" cy="4631735"/>
          </a:xfrm>
        </p:spPr>
        <p:txBody>
          <a:bodyPr>
            <a:normAutofit fontScale="77500" lnSpcReduction="20000"/>
          </a:bodyPr>
          <a:lstStyle/>
          <a:p>
            <a:pPr algn="just"/>
            <a:r>
              <a:rPr lang="en-US" dirty="0"/>
              <a:t>Field-field yang tergantung pada satu field haruslah dipisah dengan tepat, misalnya Project Number menjelaskan Project Name dan Employee Number menjelaskan Employee Name, Rate Category dan Hourly Rate. </a:t>
            </a:r>
          </a:p>
          <a:p>
            <a:pPr algn="just"/>
            <a:r>
              <a:rPr lang="en-US" dirty="0"/>
              <a:t>Untuk membuat hubungan antara dua tabel, dibuat suatu tabel yang berisi key-key dari tabel yang lain. </a:t>
            </a:r>
          </a:p>
          <a:p>
            <a:pPr algn="just"/>
            <a:r>
              <a:rPr lang="en-US" dirty="0"/>
              <a:t>Pada tabel Project dapat dilihat bahwa Project Name hanya disimpan sekali. Secara jelas bahwa pada tabel employee project tabel mengisi data yang berulang-ulang. Tapi paling tidak lebih efisien dan mengurangi resiko kesalahan dalam penulisan data yang panjang. Database di atas masih belum sempurna. Masih ada anomali pada data. </a:t>
            </a:r>
          </a:p>
          <a:p>
            <a:endParaRPr lang="en-US" dirty="0"/>
          </a:p>
          <a:p>
            <a:endParaRPr lang="en-US" dirty="0"/>
          </a:p>
          <a:p>
            <a:endParaRPr lang="en-US" dirty="0"/>
          </a:p>
          <a:p>
            <a:endParaRPr lang="en-US" dirty="0"/>
          </a:p>
          <a:p>
            <a:endParaRPr lang="en-US" dirty="0"/>
          </a:p>
          <a:p>
            <a:endParaRPr lang="en-US" dirty="0"/>
          </a:p>
        </p:txBody>
      </p:sp>
      <p:pic>
        <p:nvPicPr>
          <p:cNvPr id="4" name="Picture 3"/>
          <p:cNvPicPr>
            <a:picLocks noChangeAspect="1"/>
          </p:cNvPicPr>
          <p:nvPr/>
        </p:nvPicPr>
        <p:blipFill rotWithShape="1">
          <a:blip r:embed="rId2"/>
          <a:srcRect l="27946" t="28303" r="35208" b="20804"/>
          <a:stretch/>
        </p:blipFill>
        <p:spPr>
          <a:xfrm>
            <a:off x="5812972" y="1560059"/>
            <a:ext cx="5725885" cy="4446533"/>
          </a:xfrm>
          <a:prstGeom prst="rect">
            <a:avLst/>
          </a:prstGeom>
        </p:spPr>
      </p:pic>
    </p:spTree>
    <p:extLst>
      <p:ext uri="{BB962C8B-B14F-4D97-AF65-F5344CB8AC3E}">
        <p14:creationId xmlns:p14="http://schemas.microsoft.com/office/powerpoint/2010/main" val="3250880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Normalisasi ketiga</a:t>
            </a:r>
          </a:p>
        </p:txBody>
      </p:sp>
      <p:sp>
        <p:nvSpPr>
          <p:cNvPr id="3" name="Content Placeholder 2"/>
          <p:cNvSpPr>
            <a:spLocks noGrp="1"/>
          </p:cNvSpPr>
          <p:nvPr>
            <p:ph idx="1"/>
          </p:nvPr>
        </p:nvSpPr>
        <p:spPr>
          <a:xfrm>
            <a:off x="838201" y="1825625"/>
            <a:ext cx="5131525" cy="4351338"/>
          </a:xfrm>
        </p:spPr>
        <p:txBody>
          <a:bodyPr>
            <a:normAutofit fontScale="85000" lnSpcReduction="10000"/>
          </a:bodyPr>
          <a:lstStyle/>
          <a:p>
            <a:pPr algn="just"/>
            <a:r>
              <a:rPr lang="en-US" dirty="0"/>
              <a:t>Pada tabel diatas masih terdapat masalah, bahwa Employee Number 17 mendapatkan hourly rate yang tidak sesuai dengan rate category nya. Solusinya adalah kita harus mencari hubungan transitif (transitive relation) dimana field non-key tergantung pada field non-key lainnya. </a:t>
            </a:r>
          </a:p>
          <a:p>
            <a:pPr algn="just"/>
            <a:r>
              <a:rPr lang="en-US" dirty="0"/>
              <a:t>Artinya kita harus memisahkan fielfd non-kunci Rate Category yang tadinya tergantung secara parsial kepada field kunci Employee Number, untuk menghilangkan anomali penulisan data pada field hourly rate. </a:t>
            </a:r>
          </a:p>
        </p:txBody>
      </p:sp>
      <p:pic>
        <p:nvPicPr>
          <p:cNvPr id="4" name="Picture 3"/>
          <p:cNvPicPr>
            <a:picLocks noChangeAspect="1"/>
          </p:cNvPicPr>
          <p:nvPr/>
        </p:nvPicPr>
        <p:blipFill rotWithShape="1">
          <a:blip r:embed="rId2"/>
          <a:srcRect l="26540" t="48303" r="53782" b="25983"/>
          <a:stretch/>
        </p:blipFill>
        <p:spPr>
          <a:xfrm>
            <a:off x="6396446" y="533808"/>
            <a:ext cx="2560320" cy="1881052"/>
          </a:xfrm>
          <a:prstGeom prst="rect">
            <a:avLst/>
          </a:prstGeom>
        </p:spPr>
      </p:pic>
      <p:pic>
        <p:nvPicPr>
          <p:cNvPr id="5" name="Picture 4"/>
          <p:cNvPicPr>
            <a:picLocks noChangeAspect="1"/>
          </p:cNvPicPr>
          <p:nvPr/>
        </p:nvPicPr>
        <p:blipFill rotWithShape="1">
          <a:blip r:embed="rId3"/>
          <a:srcRect l="27645" t="19375" r="40027" b="26339"/>
          <a:stretch/>
        </p:blipFill>
        <p:spPr>
          <a:xfrm>
            <a:off x="6553200" y="2572748"/>
            <a:ext cx="4206240" cy="3971109"/>
          </a:xfrm>
          <a:prstGeom prst="rect">
            <a:avLst/>
          </a:prstGeom>
        </p:spPr>
      </p:pic>
    </p:spTree>
    <p:extLst>
      <p:ext uri="{BB962C8B-B14F-4D97-AF65-F5344CB8AC3E}">
        <p14:creationId xmlns:p14="http://schemas.microsoft.com/office/powerpoint/2010/main" val="587894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a:t>Tabel-tabel yang memenuhi kriteria normalisasi ketiga, sudah siap diimplementasikan. Sebenarnya masih ada lagi bentuk normalisasi yang lain; Normalisasi Boyce-Codd dan normalisasi keempat, hanya saja sangat jarang dipakai. Pada kebanyakan kasus, normalisasi hanya sampai ketiga. </a:t>
            </a:r>
          </a:p>
        </p:txBody>
      </p:sp>
    </p:spTree>
    <p:extLst>
      <p:ext uri="{BB962C8B-B14F-4D97-AF65-F5344CB8AC3E}">
        <p14:creationId xmlns:p14="http://schemas.microsoft.com/office/powerpoint/2010/main" val="2811698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655EE-EEC7-9BEB-66FB-4133FA7F6BC5}"/>
              </a:ext>
            </a:extLst>
          </p:cNvPr>
          <p:cNvSpPr>
            <a:spLocks noGrp="1"/>
          </p:cNvSpPr>
          <p:nvPr>
            <p:ph type="title"/>
          </p:nvPr>
        </p:nvSpPr>
        <p:spPr/>
        <p:txBody>
          <a:bodyPr/>
          <a:lstStyle/>
          <a:p>
            <a:r>
              <a:rPr lang="en-US" dirty="0" err="1"/>
              <a:t>Soal</a:t>
            </a:r>
            <a:r>
              <a:rPr lang="en-US"/>
              <a:t> Latihan </a:t>
            </a:r>
            <a:endParaRPr lang="en-US" dirty="0"/>
          </a:p>
        </p:txBody>
      </p:sp>
      <p:sp>
        <p:nvSpPr>
          <p:cNvPr id="3" name="Content Placeholder 2">
            <a:extLst>
              <a:ext uri="{FF2B5EF4-FFF2-40B4-BE49-F238E27FC236}">
                <a16:creationId xmlns:a16="http://schemas.microsoft.com/office/drawing/2014/main" id="{78BC9EB6-0F4B-2D46-9825-BC849000AD90}"/>
              </a:ext>
            </a:extLst>
          </p:cNvPr>
          <p:cNvSpPr>
            <a:spLocks noGrp="1"/>
          </p:cNvSpPr>
          <p:nvPr>
            <p:ph idx="1"/>
          </p:nvPr>
        </p:nvSpPr>
        <p:spPr/>
        <p:txBody>
          <a:bodyPr/>
          <a:lstStyle/>
          <a:p>
            <a:r>
              <a:rPr lang="en-US" dirty="0" err="1"/>
              <a:t>Lakukan</a:t>
            </a:r>
            <a:r>
              <a:rPr lang="en-US" dirty="0"/>
              <a:t> </a:t>
            </a:r>
            <a:r>
              <a:rPr lang="en-US" dirty="0" err="1"/>
              <a:t>normalisasi</a:t>
            </a:r>
            <a:r>
              <a:rPr lang="en-US" dirty="0"/>
              <a:t> </a:t>
            </a:r>
            <a:r>
              <a:rPr lang="en-US" dirty="0" err="1"/>
              <a:t>pertama</a:t>
            </a:r>
            <a:r>
              <a:rPr lang="en-US" dirty="0"/>
              <a:t>, </a:t>
            </a:r>
            <a:r>
              <a:rPr lang="en-US" dirty="0" err="1"/>
              <a:t>normalisasi</a:t>
            </a:r>
            <a:r>
              <a:rPr lang="en-US" dirty="0"/>
              <a:t> </a:t>
            </a:r>
            <a:r>
              <a:rPr lang="en-US" dirty="0" err="1"/>
              <a:t>kedua</a:t>
            </a:r>
            <a:r>
              <a:rPr lang="en-US" dirty="0"/>
              <a:t> dan </a:t>
            </a:r>
            <a:r>
              <a:rPr lang="en-US" dirty="0" err="1"/>
              <a:t>normalisasi</a:t>
            </a:r>
            <a:r>
              <a:rPr lang="en-US" dirty="0"/>
              <a:t> </a:t>
            </a:r>
            <a:r>
              <a:rPr lang="en-US" dirty="0" err="1"/>
              <a:t>ketiga</a:t>
            </a:r>
            <a:r>
              <a:rPr lang="en-US" dirty="0"/>
              <a:t> </a:t>
            </a:r>
            <a:r>
              <a:rPr lang="en-US" dirty="0" err="1"/>
              <a:t>dari</a:t>
            </a:r>
            <a:r>
              <a:rPr lang="en-US" dirty="0"/>
              <a:t> </a:t>
            </a:r>
            <a:r>
              <a:rPr lang="en-US" dirty="0" err="1"/>
              <a:t>tabel</a:t>
            </a:r>
            <a:r>
              <a:rPr lang="en-US" dirty="0"/>
              <a:t> </a:t>
            </a:r>
            <a:r>
              <a:rPr lang="en-US" dirty="0" err="1"/>
              <a:t>berikut</a:t>
            </a:r>
            <a:r>
              <a:rPr lang="en-US" dirty="0"/>
              <a:t> </a:t>
            </a:r>
            <a:r>
              <a:rPr lang="en-US" dirty="0" err="1"/>
              <a:t>ini</a:t>
            </a:r>
            <a:r>
              <a:rPr lang="en-US" dirty="0"/>
              <a:t> : </a:t>
            </a:r>
          </a:p>
        </p:txBody>
      </p:sp>
      <p:pic>
        <p:nvPicPr>
          <p:cNvPr id="5" name="Picture 4">
            <a:extLst>
              <a:ext uri="{FF2B5EF4-FFF2-40B4-BE49-F238E27FC236}">
                <a16:creationId xmlns:a16="http://schemas.microsoft.com/office/drawing/2014/main" id="{614004BD-E48B-18DF-B8C3-A0C6916A51EA}"/>
              </a:ext>
            </a:extLst>
          </p:cNvPr>
          <p:cNvPicPr>
            <a:picLocks noChangeAspect="1"/>
          </p:cNvPicPr>
          <p:nvPr/>
        </p:nvPicPr>
        <p:blipFill rotWithShape="1">
          <a:blip r:embed="rId2"/>
          <a:srcRect l="36177" t="50000" r="11691" b="29281"/>
          <a:stretch/>
        </p:blipFill>
        <p:spPr>
          <a:xfrm>
            <a:off x="1057834" y="2926977"/>
            <a:ext cx="9644243" cy="2156012"/>
          </a:xfrm>
          <a:prstGeom prst="rect">
            <a:avLst/>
          </a:prstGeom>
        </p:spPr>
      </p:pic>
    </p:spTree>
    <p:extLst>
      <p:ext uri="{BB962C8B-B14F-4D97-AF65-F5344CB8AC3E}">
        <p14:creationId xmlns:p14="http://schemas.microsoft.com/office/powerpoint/2010/main" val="4137044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Entity Relationship Diagram (ERD)</a:t>
            </a:r>
          </a:p>
        </p:txBody>
      </p:sp>
      <p:sp>
        <p:nvSpPr>
          <p:cNvPr id="3" name="Content Placeholder 2"/>
          <p:cNvSpPr>
            <a:spLocks noGrp="1"/>
          </p:cNvSpPr>
          <p:nvPr>
            <p:ph idx="1"/>
          </p:nvPr>
        </p:nvSpPr>
        <p:spPr/>
        <p:txBody>
          <a:bodyPr>
            <a:normAutofit/>
          </a:bodyPr>
          <a:lstStyle/>
          <a:p>
            <a:r>
              <a:rPr lang="en-US" dirty="0"/>
              <a:t>ERD merupakan notasi grafis dalam pemodelan data konseptual yang mendeskripsikan hubungan antara penyimpanan. ERD digunakan untuk memodelkan struktur data dan hubungan antar data, karena hal ini relatif kompleks. Dengan ERD kita dapat menguji model dengan mengabaikan proses yang harus dilakukan. Dan dengan ERD kita mencoba menjawab pertanyaan seperti; data apa yang kita perlukan? bagaimana data yang satu berhubungan dengan yang lain? </a:t>
            </a:r>
          </a:p>
          <a:p>
            <a:r>
              <a:rPr lang="en-US" dirty="0"/>
              <a:t>ERD menggunakan sejumlah notasi dan simbol untuk menggambarkan struktur dan hubungan antar data, pada dasarnya ada 3 macam simbol yang digunakan yaitu : </a:t>
            </a:r>
          </a:p>
        </p:txBody>
      </p:sp>
    </p:spTree>
    <p:extLst>
      <p:ext uri="{BB962C8B-B14F-4D97-AF65-F5344CB8AC3E}">
        <p14:creationId xmlns:p14="http://schemas.microsoft.com/office/powerpoint/2010/main" val="3986556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92727" y="661843"/>
            <a:ext cx="10515600" cy="4351338"/>
          </a:xfrm>
        </p:spPr>
        <p:txBody>
          <a:bodyPr/>
          <a:lstStyle/>
          <a:p>
            <a:pPr marL="514350" indent="-514350">
              <a:buAutoNum type="arabicPeriod"/>
            </a:pPr>
            <a:r>
              <a:rPr lang="en-US" dirty="0"/>
              <a:t>Entiti : adalah suatu objek yang dapat diidentifikasi dalam lingkungan pemakai, sesuatu yang penting bagi pemakai dalam konteks sistem yang akan dibuat. Sebagai contoh pelanggan, pekerja dan lain-lain. Seandainya A adalah seorang pekerja maka A adalah isi dari pekerja, sedangkan jika B adalah seorang pelanggan maka B adalah isi dari pelanggan. Karena itu harus dibedakan antara entitii sebagai bentuk umum dari deskripsi tertentu dan isi entiti seperti A dan B dalam contoh di atas. Entiti digambarkan dalam bentuk persegi empat. </a:t>
            </a:r>
          </a:p>
          <a:p>
            <a:pPr marL="0" indent="0">
              <a:buNone/>
            </a:pPr>
            <a:endParaRPr lang="en-US" dirty="0"/>
          </a:p>
          <a:p>
            <a:endParaRPr lang="en-US" dirty="0"/>
          </a:p>
        </p:txBody>
      </p:sp>
      <p:pic>
        <p:nvPicPr>
          <p:cNvPr id="4" name="Picture 3"/>
          <p:cNvPicPr>
            <a:picLocks noChangeAspect="1"/>
          </p:cNvPicPr>
          <p:nvPr/>
        </p:nvPicPr>
        <p:blipFill rotWithShape="1">
          <a:blip r:embed="rId2"/>
          <a:srcRect l="43238" t="40295" r="43505" b="51890"/>
          <a:stretch/>
        </p:blipFill>
        <p:spPr>
          <a:xfrm>
            <a:off x="3893127" y="4509655"/>
            <a:ext cx="3754582" cy="1244374"/>
          </a:xfrm>
          <a:prstGeom prst="rect">
            <a:avLst/>
          </a:prstGeom>
        </p:spPr>
      </p:pic>
    </p:spTree>
    <p:extLst>
      <p:ext uri="{BB962C8B-B14F-4D97-AF65-F5344CB8AC3E}">
        <p14:creationId xmlns:p14="http://schemas.microsoft.com/office/powerpoint/2010/main" val="16846629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79120"/>
            <a:ext cx="10515600" cy="5597843"/>
          </a:xfrm>
        </p:spPr>
        <p:txBody>
          <a:bodyPr>
            <a:normAutofit/>
          </a:bodyPr>
          <a:lstStyle/>
          <a:p>
            <a:pPr marL="0" indent="0">
              <a:buNone/>
            </a:pPr>
            <a:r>
              <a:rPr lang="en-US" dirty="0"/>
              <a:t>2. Atribut : Entiti mempunyai elemen yang disebut atribut, dan berfungsi mendeskripsikan karakter entiti. Misalnya atribut nama pekerja dari entiti pekerja. Setiap ERD bisa terdapat lebih dari satu atribut. Entiti digambarkan dalam bentuk ellips. </a:t>
            </a:r>
          </a:p>
          <a:p>
            <a:pPr marL="0" indent="0">
              <a:buNone/>
            </a:pPr>
            <a:endParaRPr lang="en-US" dirty="0"/>
          </a:p>
          <a:p>
            <a:pPr marL="0" indent="0">
              <a:buNone/>
            </a:pPr>
            <a:endParaRPr lang="en-US" dirty="0"/>
          </a:p>
          <a:p>
            <a:pPr marL="0" indent="0">
              <a:buNone/>
            </a:pPr>
            <a:endParaRPr lang="en-US" dirty="0"/>
          </a:p>
          <a:p>
            <a:pPr marL="0" indent="0">
              <a:buNone/>
            </a:pPr>
            <a:r>
              <a:rPr lang="en-US" dirty="0"/>
              <a:t>3. Hubungan : Relationship; sebagaimana halnya entiti maka dalam hubunganpun harus dibedakan antara hubungan atau bentuk hubungan antar entiti dengan isi dari hubungan itu sendiri. Misalnya dalam kasus hubungan antara entiti siswa dan entiti mata_kuliah adalah mengikuti, sedangkan isi hubungannya dapat berupa nilai_ujian. Relationship digambarkan dalam bentuk intan / diamonds.</a:t>
            </a:r>
          </a:p>
        </p:txBody>
      </p:sp>
      <p:pic>
        <p:nvPicPr>
          <p:cNvPr id="4" name="Picture 3"/>
          <p:cNvPicPr>
            <a:picLocks noChangeAspect="1"/>
          </p:cNvPicPr>
          <p:nvPr/>
        </p:nvPicPr>
        <p:blipFill rotWithShape="1">
          <a:blip r:embed="rId2"/>
          <a:srcRect l="32899" t="43125" r="43675" b="42292"/>
          <a:stretch/>
        </p:blipFill>
        <p:spPr>
          <a:xfrm>
            <a:off x="2773680" y="2219801"/>
            <a:ext cx="4114800" cy="1440180"/>
          </a:xfrm>
          <a:prstGeom prst="rect">
            <a:avLst/>
          </a:prstGeom>
        </p:spPr>
      </p:pic>
    </p:spTree>
    <p:extLst>
      <p:ext uri="{BB962C8B-B14F-4D97-AF65-F5344CB8AC3E}">
        <p14:creationId xmlns:p14="http://schemas.microsoft.com/office/powerpoint/2010/main" val="3728519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1263" y="3253536"/>
            <a:ext cx="10515600" cy="3316197"/>
          </a:xfrm>
        </p:spPr>
        <p:txBody>
          <a:bodyPr/>
          <a:lstStyle/>
          <a:p>
            <a:r>
              <a:rPr lang="en-US" dirty="0"/>
              <a:t>Jenis-jenis hubungan : </a:t>
            </a:r>
            <a:br>
              <a:rPr lang="en-US" dirty="0"/>
            </a:br>
            <a:r>
              <a:rPr lang="en-US" dirty="0"/>
              <a:t>- satu ke satu, misalnya dalam suatu perusahaan mempunyai aturan satu supir hanya boleh menangani satu kendaraan karena alasan tertentu. </a:t>
            </a:r>
          </a:p>
        </p:txBody>
      </p:sp>
      <p:pic>
        <p:nvPicPr>
          <p:cNvPr id="4" name="Picture 3"/>
          <p:cNvPicPr>
            <a:picLocks noChangeAspect="1"/>
          </p:cNvPicPr>
          <p:nvPr/>
        </p:nvPicPr>
        <p:blipFill rotWithShape="1">
          <a:blip r:embed="rId2"/>
          <a:srcRect l="28147" t="38125" r="29586" b="37232"/>
          <a:stretch/>
        </p:blipFill>
        <p:spPr>
          <a:xfrm>
            <a:off x="2481941" y="697911"/>
            <a:ext cx="6757679" cy="2215106"/>
          </a:xfrm>
          <a:prstGeom prst="rect">
            <a:avLst/>
          </a:prstGeom>
        </p:spPr>
      </p:pic>
      <p:pic>
        <p:nvPicPr>
          <p:cNvPr id="5" name="Picture 4"/>
          <p:cNvPicPr>
            <a:picLocks noChangeAspect="1"/>
          </p:cNvPicPr>
          <p:nvPr/>
        </p:nvPicPr>
        <p:blipFill rotWithShape="1">
          <a:blip r:embed="rId3"/>
          <a:srcRect l="33167" t="58125" r="38923" b="30804"/>
          <a:stretch/>
        </p:blipFill>
        <p:spPr>
          <a:xfrm>
            <a:off x="3383279" y="4911635"/>
            <a:ext cx="4861491" cy="1084217"/>
          </a:xfrm>
          <a:prstGeom prst="rect">
            <a:avLst/>
          </a:prstGeom>
        </p:spPr>
      </p:pic>
    </p:spTree>
    <p:extLst>
      <p:ext uri="{BB962C8B-B14F-4D97-AF65-F5344CB8AC3E}">
        <p14:creationId xmlns:p14="http://schemas.microsoft.com/office/powerpoint/2010/main" val="3140392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1263" y="991371"/>
            <a:ext cx="10515600" cy="4351338"/>
          </a:xfrm>
        </p:spPr>
        <p:txBody>
          <a:bodyPr/>
          <a:lstStyle/>
          <a:p>
            <a:r>
              <a:rPr lang="en-US" dirty="0"/>
              <a:t>satu ke banyak / banyak ke satu, misalnya suatu sekolah selalu mempunyai asumsi bahwa satu kelas terdiri dari banyak siswa tetapi tidak sebaliknya, yaitu satu siswa tidak dapat belajar pada kelas yang berbeda. ERD dapat digambarkan lengkap dengan atribut-atributnya, bisa juga digambarkan tanpa atributnya. </a:t>
            </a:r>
          </a:p>
        </p:txBody>
      </p:sp>
      <p:pic>
        <p:nvPicPr>
          <p:cNvPr id="4" name="Picture 3"/>
          <p:cNvPicPr>
            <a:picLocks noChangeAspect="1"/>
          </p:cNvPicPr>
          <p:nvPr/>
        </p:nvPicPr>
        <p:blipFill rotWithShape="1">
          <a:blip r:embed="rId2"/>
          <a:srcRect l="32365" t="42231" r="38821" b="46162"/>
          <a:stretch/>
        </p:blipFill>
        <p:spPr>
          <a:xfrm>
            <a:off x="2978329" y="3596346"/>
            <a:ext cx="5461448" cy="1236912"/>
          </a:xfrm>
          <a:prstGeom prst="rect">
            <a:avLst/>
          </a:prstGeom>
        </p:spPr>
      </p:pic>
    </p:spTree>
    <p:extLst>
      <p:ext uri="{BB962C8B-B14F-4D97-AF65-F5344CB8AC3E}">
        <p14:creationId xmlns:p14="http://schemas.microsoft.com/office/powerpoint/2010/main" val="35413254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DFEAA-7FF0-AF7A-60AB-53CD5FA8459D}"/>
              </a:ext>
            </a:extLst>
          </p:cNvPr>
          <p:cNvSpPr>
            <a:spLocks noGrp="1"/>
          </p:cNvSpPr>
          <p:nvPr>
            <p:ph type="title"/>
          </p:nvPr>
        </p:nvSpPr>
        <p:spPr/>
        <p:txBody>
          <a:bodyPr/>
          <a:lstStyle/>
          <a:p>
            <a:r>
              <a:rPr lang="en-US" dirty="0" err="1"/>
              <a:t>Contoh</a:t>
            </a:r>
            <a:r>
              <a:rPr lang="en-US" dirty="0"/>
              <a:t> 1</a:t>
            </a:r>
          </a:p>
        </p:txBody>
      </p:sp>
      <p:pic>
        <p:nvPicPr>
          <p:cNvPr id="1026" name="Picture 2">
            <a:extLst>
              <a:ext uri="{FF2B5EF4-FFF2-40B4-BE49-F238E27FC236}">
                <a16:creationId xmlns:a16="http://schemas.microsoft.com/office/drawing/2014/main" id="{D89AADE9-8E17-8738-06F5-CDF4975BBB2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64892" y="365125"/>
            <a:ext cx="6771145" cy="58397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9476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57139-5A3D-91E8-07DB-80475B41EAB5}"/>
              </a:ext>
            </a:extLst>
          </p:cNvPr>
          <p:cNvSpPr>
            <a:spLocks noGrp="1"/>
          </p:cNvSpPr>
          <p:nvPr>
            <p:ph type="title"/>
          </p:nvPr>
        </p:nvSpPr>
        <p:spPr/>
        <p:txBody>
          <a:bodyPr/>
          <a:lstStyle/>
          <a:p>
            <a:r>
              <a:rPr lang="en-US" dirty="0" err="1"/>
              <a:t>Contoh</a:t>
            </a:r>
            <a:r>
              <a:rPr lang="en-US" dirty="0"/>
              <a:t> 2</a:t>
            </a:r>
          </a:p>
        </p:txBody>
      </p:sp>
      <p:pic>
        <p:nvPicPr>
          <p:cNvPr id="2050" name="Picture 2">
            <a:extLst>
              <a:ext uri="{FF2B5EF4-FFF2-40B4-BE49-F238E27FC236}">
                <a16:creationId xmlns:a16="http://schemas.microsoft.com/office/drawing/2014/main" id="{4B9D3F42-E3B4-B3F0-91DC-96CF3BD6D8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2754" y="1825625"/>
            <a:ext cx="73152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875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 :</a:t>
            </a:r>
          </a:p>
        </p:txBody>
      </p:sp>
      <p:sp>
        <p:nvSpPr>
          <p:cNvPr id="3" name="Content Placeholder 2"/>
          <p:cNvSpPr>
            <a:spLocks noGrp="1"/>
          </p:cNvSpPr>
          <p:nvPr>
            <p:ph idx="1"/>
          </p:nvPr>
        </p:nvSpPr>
        <p:spPr/>
        <p:txBody>
          <a:bodyPr/>
          <a:lstStyle/>
          <a:p>
            <a:r>
              <a:rPr lang="en-US" dirty="0"/>
              <a:t>Pengantar Perancangan Sistem, Erlangga Jogiyanto, Pengenalan Komputer, 1995 http://www.sqlcourse.com </a:t>
            </a:r>
          </a:p>
          <a:p>
            <a:r>
              <a:rPr lang="en-US" dirty="0"/>
              <a:t>Pengantar Database, Faried Irmansyah, Copyright © 2003 IlmuKomputer.Com</a:t>
            </a:r>
          </a:p>
        </p:txBody>
      </p:sp>
    </p:spTree>
    <p:extLst>
      <p:ext uri="{BB962C8B-B14F-4D97-AF65-F5344CB8AC3E}">
        <p14:creationId xmlns:p14="http://schemas.microsoft.com/office/powerpoint/2010/main" val="1963847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605</TotalTime>
  <Words>956</Words>
  <Application>Microsoft Office PowerPoint</Application>
  <PresentationFormat>Widescreen</PresentationFormat>
  <Paragraphs>56</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NORMALISASI</vt:lpstr>
      <vt:lpstr>Normalisasi</vt:lpstr>
      <vt:lpstr>PowerPoint Presentation</vt:lpstr>
      <vt:lpstr>Contoh 1</vt:lpstr>
      <vt:lpstr>Contoh 2</vt:lpstr>
      <vt:lpstr>Langkah-langkah normalisasi</vt:lpstr>
      <vt:lpstr>Normalisasi Pertama </vt:lpstr>
      <vt:lpstr>Normalisasi kedua</vt:lpstr>
      <vt:lpstr>Normalisasi ketiga</vt:lpstr>
      <vt:lpstr>PowerPoint Presentation</vt:lpstr>
      <vt:lpstr>Soal Latihan </vt:lpstr>
      <vt:lpstr>Entity Relationship Diagram (ERD)</vt:lpstr>
      <vt:lpstr>PowerPoint Presentation</vt:lpstr>
      <vt:lpstr>PowerPoint Presentation</vt:lpstr>
      <vt:lpstr>PowerPoint Presentation</vt:lpstr>
      <vt:lpstr>PowerPoint Presentation</vt:lpstr>
      <vt:lpstr>Contoh 1</vt:lpstr>
      <vt:lpstr>Contoh 2</vt:lpstr>
      <vt:lpstr>Ref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NORMALISASI</dc:title>
  <dc:creator>Abu Bakar Prakoso Bekti</dc:creator>
  <cp:lastModifiedBy>rahmawati hasanah</cp:lastModifiedBy>
  <cp:revision>13</cp:revision>
  <dcterms:created xsi:type="dcterms:W3CDTF">2020-12-14T17:51:55Z</dcterms:created>
  <dcterms:modified xsi:type="dcterms:W3CDTF">2024-05-08T02:29:07Z</dcterms:modified>
</cp:coreProperties>
</file>