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74" r:id="rId1"/>
  </p:sldMasterIdLst>
  <p:notesMasterIdLst>
    <p:notesMasterId r:id="rId20"/>
  </p:notesMasterIdLst>
  <p:sldIdLst>
    <p:sldId id="256" r:id="rId2"/>
    <p:sldId id="278" r:id="rId3"/>
    <p:sldId id="257" r:id="rId4"/>
    <p:sldId id="275" r:id="rId5"/>
    <p:sldId id="279" r:id="rId6"/>
    <p:sldId id="259" r:id="rId7"/>
    <p:sldId id="260" r:id="rId8"/>
    <p:sldId id="274" r:id="rId9"/>
    <p:sldId id="258" r:id="rId10"/>
    <p:sldId id="265" r:id="rId11"/>
    <p:sldId id="266" r:id="rId12"/>
    <p:sldId id="268" r:id="rId13"/>
    <p:sldId id="264" r:id="rId14"/>
    <p:sldId id="277" r:id="rId15"/>
    <p:sldId id="271" r:id="rId16"/>
    <p:sldId id="276" r:id="rId17"/>
    <p:sldId id="280" r:id="rId18"/>
    <p:sldId id="26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BFDD5"/>
    <a:srgbClr val="D6A2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38" autoAdjust="0"/>
    <p:restoredTop sz="95110" autoAdjust="0"/>
  </p:normalViewPr>
  <p:slideViewPr>
    <p:cSldViewPr snapToGrid="0">
      <p:cViewPr varScale="1">
        <p:scale>
          <a:sx n="57" d="100"/>
          <a:sy n="57" d="100"/>
        </p:scale>
        <p:origin x="40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21AF41-17E6-4B06-A3D7-E08DC1A2854D}" type="datetimeFigureOut">
              <a:rPr lang="en-US" smtClean="0"/>
              <a:t>12/8/2020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8E1E2E-EE18-4A76-A7E2-61DB0175F461}" type="slidenum">
              <a:rPr lang="en-US" smtClean="0"/>
              <a:t>‹#›</a:t>
            </a:fld>
            <a:endParaRPr lang="en-US"/>
          </a:p>
        </p:txBody>
      </p:sp>
    </p:spTree>
    <p:extLst>
      <p:ext uri="{BB962C8B-B14F-4D97-AF65-F5344CB8AC3E}">
        <p14:creationId xmlns:p14="http://schemas.microsoft.com/office/powerpoint/2010/main" val="18541122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8E1E2E-EE18-4A76-A7E2-61DB0175F461}" type="slidenum">
              <a:rPr lang="en-US" smtClean="0"/>
              <a:t>1</a:t>
            </a:fld>
            <a:endParaRPr lang="en-US"/>
          </a:p>
        </p:txBody>
      </p:sp>
    </p:spTree>
    <p:extLst>
      <p:ext uri="{BB962C8B-B14F-4D97-AF65-F5344CB8AC3E}">
        <p14:creationId xmlns:p14="http://schemas.microsoft.com/office/powerpoint/2010/main" val="41127991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err="1">
                <a:solidFill>
                  <a:schemeClr val="tx1"/>
                </a:solidFill>
                <a:effectLst/>
                <a:latin typeface="+mn-lt"/>
                <a:ea typeface="+mn-ea"/>
                <a:cs typeface="+mn-cs"/>
              </a:rPr>
              <a:t>Materi</a:t>
            </a:r>
            <a:r>
              <a:rPr lang="en-US" sz="1200" kern="1200" dirty="0">
                <a:solidFill>
                  <a:schemeClr val="tx1"/>
                </a:solidFill>
                <a:effectLst/>
                <a:latin typeface="+mn-lt"/>
                <a:ea typeface="+mn-ea"/>
                <a:cs typeface="+mn-cs"/>
              </a:rPr>
              <a:t> yang </a:t>
            </a:r>
            <a:r>
              <a:rPr lang="en-US" sz="1200" kern="1200" dirty="0" err="1">
                <a:solidFill>
                  <a:schemeClr val="tx1"/>
                </a:solidFill>
                <a:effectLst/>
                <a:latin typeface="+mn-lt"/>
                <a:ea typeface="+mn-ea"/>
                <a:cs typeface="+mn-cs"/>
              </a:rPr>
              <a:t>akan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dibahas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mengenai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konsep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perancangan</a:t>
            </a:r>
            <a:r>
              <a:rPr lang="en-US" sz="1200" kern="1200" dirty="0">
                <a:solidFill>
                  <a:schemeClr val="tx1"/>
                </a:solidFill>
                <a:effectLst/>
                <a:latin typeface="+mn-lt"/>
                <a:ea typeface="+mn-ea"/>
                <a:cs typeface="+mn-cs"/>
              </a:rPr>
              <a:t> database, </a:t>
            </a:r>
            <a:r>
              <a:rPr lang="en-US" sz="1200" kern="1200" dirty="0" err="1">
                <a:solidFill>
                  <a:schemeClr val="tx1"/>
                </a:solidFill>
                <a:effectLst/>
                <a:latin typeface="+mn-lt"/>
                <a:ea typeface="+mn-ea"/>
                <a:cs typeface="+mn-cs"/>
              </a:rPr>
              <a:t>serta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konsep</a:t>
            </a:r>
            <a:r>
              <a:rPr lang="en-US" sz="1200" kern="1200" dirty="0">
                <a:solidFill>
                  <a:schemeClr val="tx1"/>
                </a:solidFill>
                <a:effectLst/>
                <a:latin typeface="+mn-lt"/>
                <a:ea typeface="+mn-ea"/>
                <a:cs typeface="+mn-cs"/>
              </a:rPr>
              <a:t> relational database. Agar proses </a:t>
            </a:r>
            <a:r>
              <a:rPr lang="en-US" sz="1200" kern="1200" dirty="0" err="1">
                <a:solidFill>
                  <a:schemeClr val="tx1"/>
                </a:solidFill>
                <a:effectLst/>
                <a:latin typeface="+mn-lt"/>
                <a:ea typeface="+mn-ea"/>
                <a:cs typeface="+mn-cs"/>
              </a:rPr>
              <a:t>Belajar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Mengajar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kita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berjalan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baik</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mohon</a:t>
            </a:r>
            <a:r>
              <a:rPr lang="en-US" sz="1200" kern="1200" dirty="0">
                <a:solidFill>
                  <a:schemeClr val="tx1"/>
                </a:solidFill>
                <a:effectLst/>
                <a:latin typeface="+mn-lt"/>
                <a:ea typeface="+mn-ea"/>
                <a:cs typeface="+mn-cs"/>
              </a:rPr>
              <a:t> agar hp </a:t>
            </a:r>
            <a:r>
              <a:rPr lang="en-US" sz="1200" kern="1200" dirty="0" err="1">
                <a:solidFill>
                  <a:schemeClr val="tx1"/>
                </a:solidFill>
                <a:effectLst/>
                <a:latin typeface="+mn-lt"/>
                <a:ea typeface="+mn-ea"/>
                <a:cs typeface="+mn-cs"/>
              </a:rPr>
              <a:t>nya</a:t>
            </a:r>
            <a:r>
              <a:rPr lang="en-US" sz="1200" kern="1200" dirty="0">
                <a:solidFill>
                  <a:schemeClr val="tx1"/>
                </a:solidFill>
                <a:effectLst/>
                <a:latin typeface="+mn-lt"/>
                <a:ea typeface="+mn-ea"/>
                <a:cs typeface="+mn-cs"/>
              </a:rPr>
              <a:t> di-silent mode </a:t>
            </a:r>
            <a:r>
              <a:rPr lang="en-US" sz="1200" kern="1200" dirty="0" err="1">
                <a:solidFill>
                  <a:schemeClr val="tx1"/>
                </a:solidFill>
                <a:effectLst/>
                <a:latin typeface="+mn-lt"/>
                <a:ea typeface="+mn-ea"/>
                <a:cs typeface="+mn-cs"/>
              </a:rPr>
              <a:t>kan</a:t>
            </a:r>
            <a:endParaRPr lang="en-US" dirty="0"/>
          </a:p>
        </p:txBody>
      </p:sp>
      <p:sp>
        <p:nvSpPr>
          <p:cNvPr id="4" name="Slide Number Placeholder 3"/>
          <p:cNvSpPr>
            <a:spLocks noGrp="1"/>
          </p:cNvSpPr>
          <p:nvPr>
            <p:ph type="sldNum" sz="quarter" idx="5"/>
          </p:nvPr>
        </p:nvSpPr>
        <p:spPr/>
        <p:txBody>
          <a:bodyPr/>
          <a:lstStyle/>
          <a:p>
            <a:fld id="{3F8E1E2E-EE18-4A76-A7E2-61DB0175F461}" type="slidenum">
              <a:rPr lang="en-US" smtClean="0"/>
              <a:t>2</a:t>
            </a:fld>
            <a:endParaRPr lang="en-US"/>
          </a:p>
        </p:txBody>
      </p:sp>
    </p:spTree>
    <p:extLst>
      <p:ext uri="{BB962C8B-B14F-4D97-AF65-F5344CB8AC3E}">
        <p14:creationId xmlns:p14="http://schemas.microsoft.com/office/powerpoint/2010/main" val="18743439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Databases </a:t>
            </a:r>
            <a:r>
              <a:rPr lang="en-US" dirty="0" err="1"/>
              <a:t>merupakan</a:t>
            </a:r>
            <a:r>
              <a:rPr lang="en-US" dirty="0"/>
              <a:t> </a:t>
            </a:r>
            <a:r>
              <a:rPr lang="en-US" dirty="0" err="1"/>
              <a:t>fungsi</a:t>
            </a:r>
            <a:r>
              <a:rPr lang="en-US" dirty="0"/>
              <a:t> </a:t>
            </a:r>
            <a:r>
              <a:rPr lang="en-US" dirty="0" err="1"/>
              <a:t>utama</a:t>
            </a:r>
            <a:r>
              <a:rPr lang="en-US" dirty="0"/>
              <a:t> </a:t>
            </a:r>
            <a:r>
              <a:rPr lang="en-US" dirty="0" err="1"/>
              <a:t>untuk</a:t>
            </a:r>
            <a:r>
              <a:rPr lang="en-US" dirty="0"/>
              <a:t> </a:t>
            </a:r>
            <a:r>
              <a:rPr lang="en-US" dirty="0" err="1"/>
              <a:t>aplikasi</a:t>
            </a:r>
            <a:r>
              <a:rPr lang="en-US" dirty="0"/>
              <a:t> client-server, </a:t>
            </a:r>
            <a:r>
              <a:rPr lang="en-US" dirty="0" err="1"/>
              <a:t>aplikasi</a:t>
            </a:r>
            <a:r>
              <a:rPr lang="en-US" dirty="0"/>
              <a:t> </a:t>
            </a:r>
            <a:r>
              <a:rPr lang="en-US" dirty="0" err="1"/>
              <a:t>organisasi</a:t>
            </a:r>
            <a:r>
              <a:rPr lang="en-US" dirty="0"/>
              <a:t>, </a:t>
            </a:r>
            <a:r>
              <a:rPr lang="en-US" dirty="0" err="1"/>
              <a:t>aplikasi</a:t>
            </a:r>
            <a:r>
              <a:rPr lang="en-US" dirty="0"/>
              <a:t> e-commerce. </a:t>
            </a:r>
            <a:r>
              <a:rPr lang="en-US" dirty="0" err="1"/>
              <a:t>Tantangan</a:t>
            </a:r>
            <a:r>
              <a:rPr lang="en-US" dirty="0"/>
              <a:t>: </a:t>
            </a:r>
            <a:r>
              <a:rPr lang="en-US" dirty="0" err="1"/>
              <a:t>banyak</a:t>
            </a:r>
            <a:r>
              <a:rPr lang="en-US" dirty="0"/>
              <a:t> orang </a:t>
            </a:r>
            <a:r>
              <a:rPr lang="en-US" dirty="0" err="1"/>
              <a:t>tertipu</a:t>
            </a:r>
            <a:r>
              <a:rPr lang="en-US" dirty="0"/>
              <a:t> oleh </a:t>
            </a:r>
            <a:r>
              <a:rPr lang="en-US" dirty="0" err="1"/>
              <a:t>kemudahan</a:t>
            </a:r>
            <a:r>
              <a:rPr lang="en-US" dirty="0"/>
              <a:t> </a:t>
            </a:r>
            <a:r>
              <a:rPr lang="en-US" dirty="0" err="1"/>
              <a:t>dalam</a:t>
            </a:r>
            <a:r>
              <a:rPr lang="en-US" dirty="0"/>
              <a:t> </a:t>
            </a:r>
            <a:r>
              <a:rPr lang="en-US" dirty="0" err="1"/>
              <a:t>membuat</a:t>
            </a:r>
            <a:r>
              <a:rPr lang="en-US" dirty="0"/>
              <a:t> </a:t>
            </a:r>
            <a:r>
              <a:rPr lang="en-US" dirty="0" err="1"/>
              <a:t>sebuah</a:t>
            </a:r>
            <a:r>
              <a:rPr lang="en-US" dirty="0"/>
              <a:t> database, </a:t>
            </a:r>
            <a:r>
              <a:rPr lang="en-US" dirty="0" err="1"/>
              <a:t>hasil</a:t>
            </a:r>
            <a:r>
              <a:rPr lang="en-US" dirty="0"/>
              <a:t> ; database </a:t>
            </a:r>
            <a:r>
              <a:rPr lang="en-US" dirty="0" err="1"/>
              <a:t>sulit</a:t>
            </a:r>
            <a:r>
              <a:rPr lang="en-US" dirty="0"/>
              <a:t> </a:t>
            </a:r>
            <a:r>
              <a:rPr lang="en-US" dirty="0" err="1"/>
              <a:t>digunakan</a:t>
            </a:r>
            <a:r>
              <a:rPr lang="en-US" dirty="0"/>
              <a:t>, </a:t>
            </a:r>
            <a:r>
              <a:rPr lang="en-US" dirty="0" err="1"/>
              <a:t>tidak</a:t>
            </a:r>
            <a:r>
              <a:rPr lang="en-US" dirty="0"/>
              <a:t> </a:t>
            </a:r>
            <a:r>
              <a:rPr lang="en-US" dirty="0" err="1"/>
              <a:t>memeunuhi</a:t>
            </a:r>
            <a:r>
              <a:rPr lang="en-US" dirty="0"/>
              <a:t> </a:t>
            </a:r>
            <a:r>
              <a:rPr lang="en-US" dirty="0" err="1"/>
              <a:t>standar</a:t>
            </a:r>
            <a:r>
              <a:rPr lang="en-US" dirty="0"/>
              <a:t> system, dan </a:t>
            </a:r>
            <a:r>
              <a:rPr lang="en-US" dirty="0" err="1"/>
              <a:t>sulit</a:t>
            </a:r>
            <a:r>
              <a:rPr lang="en-US" dirty="0"/>
              <a:t> </a:t>
            </a:r>
            <a:r>
              <a:rPr lang="en-US" dirty="0" err="1"/>
              <a:t>didesain</a:t>
            </a:r>
            <a:r>
              <a:rPr lang="en-US" dirty="0"/>
              <a:t> </a:t>
            </a:r>
            <a:r>
              <a:rPr lang="en-US" dirty="0" err="1"/>
              <a:t>ulang</a:t>
            </a:r>
            <a:r>
              <a:rPr lang="en-US" dirty="0"/>
              <a:t>.</a:t>
            </a:r>
          </a:p>
        </p:txBody>
      </p:sp>
      <p:sp>
        <p:nvSpPr>
          <p:cNvPr id="4" name="Slide Number Placeholder 3"/>
          <p:cNvSpPr>
            <a:spLocks noGrp="1"/>
          </p:cNvSpPr>
          <p:nvPr>
            <p:ph type="sldNum" sz="quarter" idx="5"/>
          </p:nvPr>
        </p:nvSpPr>
        <p:spPr/>
        <p:txBody>
          <a:bodyPr/>
          <a:lstStyle/>
          <a:p>
            <a:fld id="{3F8E1E2E-EE18-4A76-A7E2-61DB0175F461}" type="slidenum">
              <a:rPr lang="en-US" smtClean="0"/>
              <a:t>3</a:t>
            </a:fld>
            <a:endParaRPr lang="en-US"/>
          </a:p>
        </p:txBody>
      </p:sp>
    </p:spTree>
    <p:extLst>
      <p:ext uri="{BB962C8B-B14F-4D97-AF65-F5344CB8AC3E}">
        <p14:creationId xmlns:p14="http://schemas.microsoft.com/office/powerpoint/2010/main" val="39505297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Structured Query Language (SQL), an internationally recognized standard language that is understood by all commercial DBMS products, in database processing and the fact that database applications typically send SQL statements to the DBMS for processing, </a:t>
            </a:r>
          </a:p>
        </p:txBody>
      </p:sp>
      <p:sp>
        <p:nvSpPr>
          <p:cNvPr id="4" name="Slide Number Placeholder 3"/>
          <p:cNvSpPr>
            <a:spLocks noGrp="1"/>
          </p:cNvSpPr>
          <p:nvPr>
            <p:ph type="sldNum" sz="quarter" idx="5"/>
          </p:nvPr>
        </p:nvSpPr>
        <p:spPr/>
        <p:txBody>
          <a:bodyPr/>
          <a:lstStyle/>
          <a:p>
            <a:fld id="{3F8E1E2E-EE18-4A76-A7E2-61DB0175F461}" type="slidenum">
              <a:rPr lang="en-US" smtClean="0"/>
              <a:t>4</a:t>
            </a:fld>
            <a:endParaRPr lang="en-US"/>
          </a:p>
        </p:txBody>
      </p:sp>
    </p:spTree>
    <p:extLst>
      <p:ext uri="{BB962C8B-B14F-4D97-AF65-F5344CB8AC3E}">
        <p14:creationId xmlns:p14="http://schemas.microsoft.com/office/powerpoint/2010/main" val="35635305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a:t>
            </a:r>
            <a:r>
              <a:rPr lang="en-US" dirty="0" err="1"/>
              <a:t>dalam</a:t>
            </a:r>
            <a:r>
              <a:rPr lang="en-US" dirty="0"/>
              <a:t> dunia </a:t>
            </a:r>
            <a:r>
              <a:rPr lang="en-US" dirty="0" err="1"/>
              <a:t>nyata</a:t>
            </a:r>
            <a:r>
              <a:rPr lang="en-US" dirty="0"/>
              <a:t>, </a:t>
            </a:r>
            <a:r>
              <a:rPr lang="en-US" dirty="0" err="1"/>
              <a:t>adalah</a:t>
            </a:r>
            <a:r>
              <a:rPr lang="en-US" dirty="0"/>
              <a:t> data </a:t>
            </a:r>
            <a:r>
              <a:rPr lang="en-US" dirty="0" err="1"/>
              <a:t>yg</a:t>
            </a:r>
            <a:r>
              <a:rPr lang="en-US" dirty="0"/>
              <a:t> </a:t>
            </a:r>
            <a:r>
              <a:rPr lang="en-US" dirty="0" err="1"/>
              <a:t>sering</a:t>
            </a:r>
            <a:r>
              <a:rPr lang="en-US" dirty="0"/>
              <a:t> </a:t>
            </a:r>
            <a:r>
              <a:rPr lang="en-US" dirty="0" err="1"/>
              <a:t>kita</a:t>
            </a:r>
            <a:r>
              <a:rPr lang="en-US" dirty="0"/>
              <a:t> </a:t>
            </a:r>
            <a:r>
              <a:rPr lang="en-US" dirty="0" err="1"/>
              <a:t>jumpai</a:t>
            </a:r>
            <a:r>
              <a:rPr lang="en-US" dirty="0"/>
              <a:t> missal </a:t>
            </a:r>
            <a:r>
              <a:rPr lang="en-US" dirty="0" err="1"/>
              <a:t>nama</a:t>
            </a:r>
            <a:r>
              <a:rPr lang="en-US" dirty="0"/>
              <a:t>, no </a:t>
            </a:r>
            <a:r>
              <a:rPr lang="en-US" dirty="0" err="1"/>
              <a:t>ktp</a:t>
            </a:r>
            <a:r>
              <a:rPr lang="en-US" dirty="0"/>
              <a:t>, </a:t>
            </a:r>
            <a:r>
              <a:rPr lang="en-US" dirty="0" err="1"/>
              <a:t>alamat</a:t>
            </a:r>
            <a:r>
              <a:rPr lang="en-US" dirty="0"/>
              <a:t>, </a:t>
            </a:r>
            <a:r>
              <a:rPr lang="en-US" dirty="0" err="1"/>
              <a:t>tanggal</a:t>
            </a:r>
            <a:r>
              <a:rPr lang="en-US" dirty="0"/>
              <a:t> </a:t>
            </a:r>
            <a:r>
              <a:rPr lang="en-US" dirty="0" err="1"/>
              <a:t>lahir</a:t>
            </a:r>
            <a:r>
              <a:rPr lang="en-US" dirty="0"/>
              <a:t>, </a:t>
            </a:r>
            <a:r>
              <a:rPr lang="en-US" dirty="0" err="1"/>
              <a:t>dsb</a:t>
            </a:r>
            <a:r>
              <a:rPr lang="en-US" dirty="0"/>
              <a:t>. Data-</a:t>
            </a:r>
            <a:r>
              <a:rPr lang="en-US" dirty="0" err="1"/>
              <a:t>datatsb</a:t>
            </a:r>
            <a:r>
              <a:rPr lang="en-US" dirty="0"/>
              <a:t> bias </a:t>
            </a:r>
            <a:r>
              <a:rPr lang="en-US" dirty="0" err="1"/>
              <a:t>disusun</a:t>
            </a:r>
            <a:r>
              <a:rPr lang="en-US" dirty="0"/>
              <a:t> </a:t>
            </a:r>
            <a:r>
              <a:rPr lang="en-US" dirty="0" err="1"/>
              <a:t>berdasarkan</a:t>
            </a:r>
            <a:r>
              <a:rPr lang="en-US" dirty="0"/>
              <a:t> </a:t>
            </a:r>
            <a:r>
              <a:rPr lang="en-US" dirty="0" err="1"/>
              <a:t>tumpukan</a:t>
            </a:r>
            <a:r>
              <a:rPr lang="en-US" dirty="0"/>
              <a:t> </a:t>
            </a:r>
            <a:r>
              <a:rPr lang="en-US" dirty="0" err="1"/>
              <a:t>kartu</a:t>
            </a:r>
            <a:r>
              <a:rPr lang="en-US" dirty="0"/>
              <a:t> </a:t>
            </a:r>
            <a:r>
              <a:rPr lang="en-US" dirty="0" err="1"/>
              <a:t>yg</a:t>
            </a:r>
            <a:r>
              <a:rPr lang="en-US" dirty="0"/>
              <a:t> </a:t>
            </a:r>
            <a:r>
              <a:rPr lang="en-US" dirty="0" err="1"/>
              <a:t>kemudian</a:t>
            </a:r>
            <a:r>
              <a:rPr lang="en-US" dirty="0"/>
              <a:t> </a:t>
            </a:r>
            <a:r>
              <a:rPr lang="en-US" dirty="0" err="1"/>
              <a:t>bisa</a:t>
            </a:r>
            <a:r>
              <a:rPr lang="en-US" dirty="0"/>
              <a:t> </a:t>
            </a:r>
            <a:r>
              <a:rPr lang="en-US" dirty="0" err="1"/>
              <a:t>diurutkan</a:t>
            </a:r>
            <a:r>
              <a:rPr lang="en-US" dirty="0"/>
              <a:t> </a:t>
            </a:r>
            <a:r>
              <a:rPr lang="en-US" dirty="0" err="1"/>
              <a:t>berdasarkan</a:t>
            </a:r>
            <a:r>
              <a:rPr lang="en-US" dirty="0"/>
              <a:t> </a:t>
            </a:r>
            <a:r>
              <a:rPr lang="en-US" dirty="0" err="1"/>
              <a:t>urutan</a:t>
            </a:r>
            <a:r>
              <a:rPr lang="en-US" dirty="0"/>
              <a:t> </a:t>
            </a:r>
            <a:r>
              <a:rPr lang="en-US" dirty="0" err="1"/>
              <a:t>tertentu</a:t>
            </a:r>
            <a:r>
              <a:rPr lang="en-US" dirty="0"/>
              <a:t>, </a:t>
            </a:r>
            <a:r>
              <a:rPr lang="en-US" dirty="0" err="1"/>
              <a:t>shg</a:t>
            </a:r>
            <a:r>
              <a:rPr lang="en-US" dirty="0"/>
              <a:t> </a:t>
            </a:r>
            <a:r>
              <a:rPr lang="en-US" dirty="0" err="1"/>
              <a:t>mudah</a:t>
            </a:r>
            <a:r>
              <a:rPr lang="en-US" dirty="0"/>
              <a:t>  </a:t>
            </a:r>
            <a:r>
              <a:rPr lang="en-US" dirty="0" err="1"/>
              <a:t>untuk</a:t>
            </a:r>
            <a:r>
              <a:rPr lang="en-US" dirty="0"/>
              <a:t> </a:t>
            </a:r>
            <a:r>
              <a:rPr lang="en-US" dirty="0" err="1"/>
              <a:t>mencari</a:t>
            </a:r>
            <a:r>
              <a:rPr lang="en-US" dirty="0"/>
              <a:t> </a:t>
            </a:r>
            <a:r>
              <a:rPr lang="en-US" dirty="0" err="1"/>
              <a:t>sebuah</a:t>
            </a:r>
            <a:r>
              <a:rPr lang="en-US" dirty="0"/>
              <a:t> data. </a:t>
            </a:r>
            <a:r>
              <a:rPr lang="en-US" dirty="0" err="1"/>
              <a:t>Bagaimana</a:t>
            </a:r>
            <a:r>
              <a:rPr lang="en-US" dirty="0"/>
              <a:t> </a:t>
            </a:r>
            <a:r>
              <a:rPr lang="en-US" dirty="0" err="1"/>
              <a:t>jika</a:t>
            </a:r>
            <a:r>
              <a:rPr lang="en-US" dirty="0"/>
              <a:t> data </a:t>
            </a:r>
            <a:r>
              <a:rPr lang="en-US" dirty="0" err="1"/>
              <a:t>disimpan</a:t>
            </a:r>
            <a:r>
              <a:rPr lang="en-US" dirty="0"/>
              <a:t> </a:t>
            </a:r>
            <a:r>
              <a:rPr lang="en-US" dirty="0" err="1"/>
              <a:t>ke</a:t>
            </a:r>
            <a:r>
              <a:rPr lang="en-US" dirty="0"/>
              <a:t> </a:t>
            </a:r>
            <a:r>
              <a:rPr lang="en-US" dirty="0" err="1"/>
              <a:t>dalam</a:t>
            </a:r>
            <a:r>
              <a:rPr lang="en-US" dirty="0"/>
              <a:t> computer? </a:t>
            </a:r>
            <a:r>
              <a:rPr lang="en-US" dirty="0" err="1"/>
              <a:t>Metode</a:t>
            </a:r>
            <a:r>
              <a:rPr lang="en-US" dirty="0"/>
              <a:t> </a:t>
            </a:r>
            <a:r>
              <a:rPr lang="en-US" dirty="0" err="1"/>
              <a:t>apa</a:t>
            </a:r>
            <a:r>
              <a:rPr lang="en-US" dirty="0"/>
              <a:t> </a:t>
            </a:r>
            <a:r>
              <a:rPr lang="en-US" dirty="0" err="1"/>
              <a:t>ygkita</a:t>
            </a:r>
            <a:r>
              <a:rPr lang="en-US" dirty="0"/>
              <a:t> </a:t>
            </a:r>
            <a:r>
              <a:rPr lang="en-US" dirty="0" err="1"/>
              <a:t>gunakan</a:t>
            </a:r>
            <a:r>
              <a:rPr lang="en-US" dirty="0"/>
              <a:t> </a:t>
            </a:r>
            <a:r>
              <a:rPr lang="en-US" dirty="0" err="1"/>
              <a:t>untuk</a:t>
            </a:r>
            <a:r>
              <a:rPr lang="en-US" dirty="0"/>
              <a:t> </a:t>
            </a:r>
            <a:r>
              <a:rPr lang="en-US" dirty="0" err="1"/>
              <a:t>bekerja</a:t>
            </a:r>
            <a:r>
              <a:rPr lang="en-US" dirty="0"/>
              <a:t> </a:t>
            </a:r>
            <a:r>
              <a:rPr lang="en-US" dirty="0" err="1"/>
              <a:t>untuk</a:t>
            </a:r>
            <a:r>
              <a:rPr lang="en-US" dirty="0"/>
              <a:t> </a:t>
            </a:r>
            <a:r>
              <a:rPr lang="en-US" dirty="0" err="1"/>
              <a:t>ratusan</a:t>
            </a:r>
            <a:r>
              <a:rPr lang="en-US" dirty="0"/>
              <a:t> data? </a:t>
            </a:r>
            <a:r>
              <a:rPr lang="en-US" dirty="0" err="1"/>
              <a:t>Untuk</a:t>
            </a:r>
            <a:r>
              <a:rPr lang="en-US" dirty="0"/>
              <a:t> </a:t>
            </a:r>
            <a:r>
              <a:rPr lang="en-US" dirty="0" err="1"/>
              <a:t>mencari</a:t>
            </a:r>
            <a:r>
              <a:rPr lang="en-US" dirty="0"/>
              <a:t> </a:t>
            </a:r>
            <a:r>
              <a:rPr lang="en-US" dirty="0" err="1"/>
              <a:t>aau</a:t>
            </a:r>
            <a:r>
              <a:rPr lang="en-US" dirty="0"/>
              <a:t> </a:t>
            </a:r>
            <a:r>
              <a:rPr lang="en-US" dirty="0" err="1"/>
              <a:t>menghapus</a:t>
            </a:r>
            <a:r>
              <a:rPr lang="en-US" dirty="0"/>
              <a:t> </a:t>
            </a:r>
            <a:r>
              <a:rPr lang="en-US" dirty="0" err="1"/>
              <a:t>suatu</a:t>
            </a:r>
            <a:r>
              <a:rPr lang="en-US" dirty="0"/>
              <a:t> data? </a:t>
            </a:r>
            <a:r>
              <a:rPr lang="en-US" dirty="0" err="1"/>
              <a:t>Perancangan</a:t>
            </a:r>
            <a:r>
              <a:rPr lang="en-US" dirty="0"/>
              <a:t> system yang </a:t>
            </a:r>
            <a:r>
              <a:rPr lang="en-US" dirty="0" err="1"/>
              <a:t>rumit</a:t>
            </a:r>
            <a:r>
              <a:rPr lang="en-US" dirty="0"/>
              <a:t> </a:t>
            </a:r>
            <a:r>
              <a:rPr lang="en-US" dirty="0" err="1"/>
              <a:t>membutuhkan</a:t>
            </a:r>
            <a:r>
              <a:rPr lang="en-US" dirty="0"/>
              <a:t> </a:t>
            </a:r>
            <a:r>
              <a:rPr lang="en-US" dirty="0" err="1"/>
              <a:t>aplikasi</a:t>
            </a:r>
            <a:r>
              <a:rPr lang="en-US" dirty="0"/>
              <a:t> Teknik </a:t>
            </a:r>
            <a:r>
              <a:rPr lang="en-US" dirty="0" err="1"/>
              <a:t>rekayasa</a:t>
            </a:r>
            <a:r>
              <a:rPr lang="en-US" dirty="0"/>
              <a:t> software. </a:t>
            </a:r>
            <a:r>
              <a:rPr lang="en-US" dirty="0" err="1"/>
              <a:t>Struktur</a:t>
            </a:r>
            <a:r>
              <a:rPr lang="en-US" dirty="0"/>
              <a:t> data </a:t>
            </a:r>
            <a:r>
              <a:rPr lang="en-US" dirty="0" err="1"/>
              <a:t>adlah</a:t>
            </a:r>
            <a:r>
              <a:rPr lang="en-US" dirty="0"/>
              <a:t> </a:t>
            </a:r>
            <a:r>
              <a:rPr lang="en-US" dirty="0" err="1"/>
              <a:t>alat</a:t>
            </a:r>
            <a:r>
              <a:rPr lang="en-US" dirty="0"/>
              <a:t> bantu programmer. Banyak data yang </a:t>
            </a:r>
            <a:r>
              <a:rPr lang="en-US" dirty="0" err="1"/>
              <a:t>tidak</a:t>
            </a:r>
            <a:r>
              <a:rPr lang="en-US" dirty="0"/>
              <a:t> </a:t>
            </a:r>
            <a:r>
              <a:rPr lang="en-US" dirty="0" err="1"/>
              <a:t>dimaksudkan</a:t>
            </a:r>
            <a:r>
              <a:rPr lang="en-US" dirty="0"/>
              <a:t> </a:t>
            </a:r>
            <a:r>
              <a:rPr lang="en-US" dirty="0" err="1"/>
              <a:t>untuk</a:t>
            </a:r>
            <a:r>
              <a:rPr lang="en-US" dirty="0"/>
              <a:t> </a:t>
            </a:r>
            <a:r>
              <a:rPr lang="en-US" dirty="0" err="1"/>
              <a:t>diakses</a:t>
            </a:r>
            <a:r>
              <a:rPr lang="en-US" dirty="0"/>
              <a:t> user </a:t>
            </a:r>
            <a:r>
              <a:rPr lang="en-US" dirty="0" err="1"/>
              <a:t>namun</a:t>
            </a:r>
            <a:r>
              <a:rPr lang="en-US" dirty="0"/>
              <a:t> </a:t>
            </a:r>
            <a:r>
              <a:rPr lang="en-US" dirty="0" err="1"/>
              <a:t>dipakai</a:t>
            </a:r>
            <a:r>
              <a:rPr lang="en-US" dirty="0"/>
              <a:t> oleh program </a:t>
            </a:r>
            <a:r>
              <a:rPr lang="en-US" dirty="0" err="1"/>
              <a:t>itu</a:t>
            </a:r>
            <a:r>
              <a:rPr lang="en-US" dirty="0"/>
              <a:t> </a:t>
            </a:r>
            <a:r>
              <a:rPr lang="en-US" dirty="0" err="1"/>
              <a:t>sendiri</a:t>
            </a:r>
            <a:r>
              <a:rPr lang="en-US" dirty="0"/>
              <a:t>. (</a:t>
            </a:r>
            <a:r>
              <a:rPr lang="en-US" dirty="0" err="1"/>
              <a:t>Siswanto</a:t>
            </a:r>
            <a:r>
              <a:rPr lang="en-US" dirty="0"/>
              <a:t>, </a:t>
            </a:r>
            <a:r>
              <a:rPr lang="en-US" dirty="0" err="1"/>
              <a:t>Algoritma&amp;Struktur</a:t>
            </a:r>
            <a:r>
              <a:rPr lang="en-US" dirty="0"/>
              <a:t> Data Linear </a:t>
            </a:r>
            <a:r>
              <a:rPr lang="en-US" dirty="0" err="1"/>
              <a:t>dengan</a:t>
            </a:r>
            <a:r>
              <a:rPr lang="en-US" dirty="0"/>
              <a:t> JAVA., </a:t>
            </a:r>
            <a:r>
              <a:rPr lang="en-US" dirty="0" err="1"/>
              <a:t>Graha</a:t>
            </a:r>
            <a:r>
              <a:rPr lang="en-US" dirty="0"/>
              <a:t> </a:t>
            </a:r>
            <a:r>
              <a:rPr lang="en-US" dirty="0" err="1"/>
              <a:t>ilmu</a:t>
            </a:r>
            <a:r>
              <a:rPr lang="en-US" dirty="0"/>
              <a:t>, 2010.   </a:t>
            </a:r>
          </a:p>
        </p:txBody>
      </p:sp>
      <p:sp>
        <p:nvSpPr>
          <p:cNvPr id="4" name="Slide Number Placeholder 3"/>
          <p:cNvSpPr>
            <a:spLocks noGrp="1"/>
          </p:cNvSpPr>
          <p:nvPr>
            <p:ph type="sldNum" sz="quarter" idx="5"/>
          </p:nvPr>
        </p:nvSpPr>
        <p:spPr/>
        <p:txBody>
          <a:bodyPr/>
          <a:lstStyle/>
          <a:p>
            <a:fld id="{3F8E1E2E-EE18-4A76-A7E2-61DB0175F461}" type="slidenum">
              <a:rPr lang="en-US" smtClean="0"/>
              <a:t>6</a:t>
            </a:fld>
            <a:endParaRPr lang="en-US"/>
          </a:p>
        </p:txBody>
      </p:sp>
    </p:spTree>
    <p:extLst>
      <p:ext uri="{BB962C8B-B14F-4D97-AF65-F5344CB8AC3E}">
        <p14:creationId xmlns:p14="http://schemas.microsoft.com/office/powerpoint/2010/main" val="27913503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data saling terhubung dan terintegrasi, maka satu tabel dengan tabel yang lainnya harus memiliki hubungan</a:t>
            </a:r>
            <a:r>
              <a:rPr lang="en-US" dirty="0"/>
              <a:t>.</a:t>
            </a:r>
            <a:r>
              <a:rPr lang="en-US" dirty="0" err="1"/>
              <a:t>hubungan</a:t>
            </a:r>
            <a:r>
              <a:rPr lang="en-US" dirty="0"/>
              <a:t> </a:t>
            </a:r>
            <a:r>
              <a:rPr lang="en-US" dirty="0" err="1"/>
              <a:t>ini</a:t>
            </a:r>
            <a:r>
              <a:rPr lang="en-US" dirty="0"/>
              <a:t> bias </a:t>
            </a:r>
            <a:r>
              <a:rPr lang="en-US" dirty="0" err="1"/>
              <a:t>tersmbung</a:t>
            </a:r>
            <a:r>
              <a:rPr lang="en-US" dirty="0"/>
              <a:t> </a:t>
            </a:r>
            <a:r>
              <a:rPr lang="en-US" dirty="0" err="1"/>
              <a:t>menggunakan</a:t>
            </a:r>
            <a:r>
              <a:rPr lang="en-US" dirty="0"/>
              <a:t> Primary key .</a:t>
            </a:r>
          </a:p>
        </p:txBody>
      </p:sp>
      <p:sp>
        <p:nvSpPr>
          <p:cNvPr id="4" name="Slide Number Placeholder 3"/>
          <p:cNvSpPr>
            <a:spLocks noGrp="1"/>
          </p:cNvSpPr>
          <p:nvPr>
            <p:ph type="sldNum" sz="quarter" idx="5"/>
          </p:nvPr>
        </p:nvSpPr>
        <p:spPr/>
        <p:txBody>
          <a:bodyPr/>
          <a:lstStyle/>
          <a:p>
            <a:fld id="{3F8E1E2E-EE18-4A76-A7E2-61DB0175F461}" type="slidenum">
              <a:rPr lang="en-US" smtClean="0"/>
              <a:t>7</a:t>
            </a:fld>
            <a:endParaRPr lang="en-US"/>
          </a:p>
        </p:txBody>
      </p:sp>
    </p:spTree>
    <p:extLst>
      <p:ext uri="{BB962C8B-B14F-4D97-AF65-F5344CB8AC3E}">
        <p14:creationId xmlns:p14="http://schemas.microsoft.com/office/powerpoint/2010/main" val="19693916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Di </a:t>
            </a:r>
            <a:r>
              <a:rPr lang="en-US" dirty="0" err="1"/>
              <a:t>dalam</a:t>
            </a:r>
            <a:r>
              <a:rPr lang="en-US" dirty="0"/>
              <a:t> meta data juga </a:t>
            </a:r>
            <a:r>
              <a:rPr lang="en-US" dirty="0" err="1"/>
              <a:t>termasuk</a:t>
            </a:r>
            <a:r>
              <a:rPr lang="en-US" dirty="0"/>
              <a:t> </a:t>
            </a:r>
            <a:r>
              <a:rPr lang="en-US" dirty="0" err="1"/>
              <a:t>karakter</a:t>
            </a:r>
            <a:r>
              <a:rPr lang="en-US" dirty="0"/>
              <a:t> </a:t>
            </a:r>
            <a:r>
              <a:rPr lang="en-US" dirty="0" err="1"/>
              <a:t>tiap</a:t>
            </a:r>
            <a:r>
              <a:rPr lang="en-US" dirty="0"/>
              <a:t> data, missal </a:t>
            </a:r>
            <a:r>
              <a:rPr lang="en-US" dirty="0" err="1"/>
              <a:t>id_kolom</a:t>
            </a:r>
            <a:r>
              <a:rPr lang="en-US" dirty="0"/>
              <a:t>, </a:t>
            </a:r>
            <a:r>
              <a:rPr lang="en-US" dirty="0" err="1"/>
              <a:t>nama_kolom</a:t>
            </a:r>
            <a:r>
              <a:rPr lang="en-US" dirty="0"/>
              <a:t>, </a:t>
            </a:r>
            <a:r>
              <a:rPr lang="en-US" dirty="0" err="1"/>
              <a:t>type_data</a:t>
            </a:r>
            <a:r>
              <a:rPr lang="en-US" dirty="0"/>
              <a:t>, length, </a:t>
            </a:r>
            <a:r>
              <a:rPr lang="en-US" dirty="0" err="1"/>
              <a:t>table_id</a:t>
            </a:r>
            <a:endParaRPr lang="en-US" dirty="0"/>
          </a:p>
        </p:txBody>
      </p:sp>
      <p:sp>
        <p:nvSpPr>
          <p:cNvPr id="4" name="Slide Number Placeholder 3"/>
          <p:cNvSpPr>
            <a:spLocks noGrp="1"/>
          </p:cNvSpPr>
          <p:nvPr>
            <p:ph type="sldNum" sz="quarter" idx="5"/>
          </p:nvPr>
        </p:nvSpPr>
        <p:spPr/>
        <p:txBody>
          <a:bodyPr/>
          <a:lstStyle/>
          <a:p>
            <a:fld id="{3F8E1E2E-EE18-4A76-A7E2-61DB0175F461}" type="slidenum">
              <a:rPr lang="en-US" smtClean="0"/>
              <a:t>8</a:t>
            </a:fld>
            <a:endParaRPr lang="en-US"/>
          </a:p>
        </p:txBody>
      </p:sp>
    </p:spTree>
    <p:extLst>
      <p:ext uri="{BB962C8B-B14F-4D97-AF65-F5344CB8AC3E}">
        <p14:creationId xmlns:p14="http://schemas.microsoft.com/office/powerpoint/2010/main" val="32047246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Forein</a:t>
            </a:r>
            <a:r>
              <a:rPr lang="en-US" dirty="0"/>
              <a:t> </a:t>
            </a:r>
            <a:r>
              <a:rPr lang="en-US" dirty="0" err="1"/>
              <a:t>kiy</a:t>
            </a:r>
            <a:endParaRPr lang="en-US" dirty="0"/>
          </a:p>
        </p:txBody>
      </p:sp>
      <p:sp>
        <p:nvSpPr>
          <p:cNvPr id="4" name="Slide Number Placeholder 3"/>
          <p:cNvSpPr>
            <a:spLocks noGrp="1"/>
          </p:cNvSpPr>
          <p:nvPr>
            <p:ph type="sldNum" sz="quarter" idx="5"/>
          </p:nvPr>
        </p:nvSpPr>
        <p:spPr/>
        <p:txBody>
          <a:bodyPr/>
          <a:lstStyle/>
          <a:p>
            <a:fld id="{3F8E1E2E-EE18-4A76-A7E2-61DB0175F461}" type="slidenum">
              <a:rPr lang="en-US" smtClean="0"/>
              <a:t>9</a:t>
            </a:fld>
            <a:endParaRPr lang="en-US"/>
          </a:p>
        </p:txBody>
      </p:sp>
    </p:spTree>
    <p:extLst>
      <p:ext uri="{BB962C8B-B14F-4D97-AF65-F5344CB8AC3E}">
        <p14:creationId xmlns:p14="http://schemas.microsoft.com/office/powerpoint/2010/main" val="4469291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Berikan</a:t>
            </a:r>
            <a:r>
              <a:rPr lang="en-US" dirty="0"/>
              <a:t> </a:t>
            </a:r>
            <a:r>
              <a:rPr lang="en-US" dirty="0" err="1"/>
              <a:t>contoh</a:t>
            </a:r>
            <a:r>
              <a:rPr lang="en-US" dirty="0"/>
              <a:t> lain, </a:t>
            </a:r>
            <a:r>
              <a:rPr lang="en-US" dirty="0" err="1"/>
              <a:t>pakai</a:t>
            </a:r>
            <a:r>
              <a:rPr lang="en-US" dirty="0"/>
              <a:t> </a:t>
            </a:r>
            <a:r>
              <a:rPr lang="en-US" dirty="0" err="1"/>
              <a:t>yg</a:t>
            </a:r>
            <a:r>
              <a:rPr lang="en-US" dirty="0"/>
              <a:t> </a:t>
            </a:r>
            <a:r>
              <a:rPr lang="en-US" dirty="0" err="1"/>
              <a:t>pembeli</a:t>
            </a:r>
            <a:r>
              <a:rPr lang="en-US" dirty="0"/>
              <a:t> </a:t>
            </a:r>
            <a:r>
              <a:rPr lang="en-US" dirty="0" err="1"/>
              <a:t>terhubung</a:t>
            </a:r>
            <a:r>
              <a:rPr lang="en-US" dirty="0"/>
              <a:t> </a:t>
            </a:r>
            <a:r>
              <a:rPr lang="en-US" dirty="0" err="1"/>
              <a:t>ke</a:t>
            </a:r>
            <a:endParaRPr lang="en-US" dirty="0"/>
          </a:p>
        </p:txBody>
      </p:sp>
      <p:sp>
        <p:nvSpPr>
          <p:cNvPr id="4" name="Slide Number Placeholder 3"/>
          <p:cNvSpPr>
            <a:spLocks noGrp="1"/>
          </p:cNvSpPr>
          <p:nvPr>
            <p:ph type="sldNum" sz="quarter" idx="5"/>
          </p:nvPr>
        </p:nvSpPr>
        <p:spPr/>
        <p:txBody>
          <a:bodyPr/>
          <a:lstStyle/>
          <a:p>
            <a:fld id="{3F8E1E2E-EE18-4A76-A7E2-61DB0175F461}" type="slidenum">
              <a:rPr lang="en-US" smtClean="0"/>
              <a:t>10</a:t>
            </a:fld>
            <a:endParaRPr lang="en-US"/>
          </a:p>
        </p:txBody>
      </p:sp>
    </p:spTree>
    <p:extLst>
      <p:ext uri="{BB962C8B-B14F-4D97-AF65-F5344CB8AC3E}">
        <p14:creationId xmlns:p14="http://schemas.microsoft.com/office/powerpoint/2010/main" val="18808724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satu</a:t>
            </a:r>
            <a:r>
              <a:rPr lang="en-US" dirty="0"/>
              <a:t> user </a:t>
            </a:r>
            <a:r>
              <a:rPr lang="en-US" dirty="0" err="1"/>
              <a:t>bisa</a:t>
            </a:r>
            <a:r>
              <a:rPr lang="en-US" dirty="0"/>
              <a:t> </a:t>
            </a:r>
            <a:r>
              <a:rPr lang="en-US" dirty="0" err="1"/>
              <a:t>membeli</a:t>
            </a:r>
            <a:r>
              <a:rPr lang="en-US" dirty="0"/>
              <a:t> </a:t>
            </a:r>
            <a:r>
              <a:rPr lang="en-US" dirty="0" err="1"/>
              <a:t>banyak</a:t>
            </a:r>
            <a:r>
              <a:rPr lang="en-US" dirty="0"/>
              <a:t> </a:t>
            </a:r>
            <a:r>
              <a:rPr lang="en-US" dirty="0" err="1"/>
              <a:t>buku</a:t>
            </a:r>
            <a:r>
              <a:rPr lang="en-US" dirty="0"/>
              <a:t> </a:t>
            </a:r>
            <a:r>
              <a:rPr lang="en-US" dirty="0" err="1"/>
              <a:t>dengna</a:t>
            </a:r>
            <a:r>
              <a:rPr lang="en-US" dirty="0"/>
              <a:t> </a:t>
            </a:r>
            <a:r>
              <a:rPr lang="en-US" dirty="0" err="1"/>
              <a:t>judul</a:t>
            </a:r>
            <a:r>
              <a:rPr lang="en-US" dirty="0"/>
              <a:t> </a:t>
            </a:r>
            <a:r>
              <a:rPr lang="en-US" dirty="0" err="1"/>
              <a:t>yg</a:t>
            </a:r>
            <a:r>
              <a:rPr lang="en-US" dirty="0"/>
              <a:t> </a:t>
            </a:r>
            <a:r>
              <a:rPr lang="en-US" dirty="0" err="1"/>
              <a:t>berbeda</a:t>
            </a:r>
            <a:r>
              <a:rPr lang="en-US" dirty="0"/>
              <a:t>. </a:t>
            </a:r>
          </a:p>
        </p:txBody>
      </p:sp>
      <p:sp>
        <p:nvSpPr>
          <p:cNvPr id="4" name="Slide Number Placeholder 3"/>
          <p:cNvSpPr>
            <a:spLocks noGrp="1"/>
          </p:cNvSpPr>
          <p:nvPr>
            <p:ph type="sldNum" sz="quarter" idx="5"/>
          </p:nvPr>
        </p:nvSpPr>
        <p:spPr/>
        <p:txBody>
          <a:bodyPr/>
          <a:lstStyle/>
          <a:p>
            <a:fld id="{3F8E1E2E-EE18-4A76-A7E2-61DB0175F461}" type="slidenum">
              <a:rPr lang="en-US" smtClean="0"/>
              <a:t>11</a:t>
            </a:fld>
            <a:endParaRPr lang="en-US"/>
          </a:p>
        </p:txBody>
      </p:sp>
    </p:spTree>
    <p:extLst>
      <p:ext uri="{BB962C8B-B14F-4D97-AF65-F5344CB8AC3E}">
        <p14:creationId xmlns:p14="http://schemas.microsoft.com/office/powerpoint/2010/main" val="4371253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8E1E2E-EE18-4A76-A7E2-61DB0175F461}" type="slidenum">
              <a:rPr lang="en-US" smtClean="0"/>
              <a:t>13</a:t>
            </a:fld>
            <a:endParaRPr lang="en-US"/>
          </a:p>
        </p:txBody>
      </p:sp>
    </p:spTree>
    <p:extLst>
      <p:ext uri="{BB962C8B-B14F-4D97-AF65-F5344CB8AC3E}">
        <p14:creationId xmlns:p14="http://schemas.microsoft.com/office/powerpoint/2010/main" val="30897585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B61BEF0D-F0BB-DE4B-95CE-6DB70DBA9567}" type="datetimeFigureOut">
              <a:rPr lang="en-US" smtClean="0"/>
              <a:pPr/>
              <a:t>12/8/2020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07762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smtClean="0"/>
              <a:t>12/8/2020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smtClean="0"/>
              <a:t>‹#›</a:t>
            </a:fld>
            <a:endParaRPr lang="en-US" dirty="0"/>
          </a:p>
        </p:txBody>
      </p:sp>
    </p:spTree>
    <p:extLst>
      <p:ext uri="{BB962C8B-B14F-4D97-AF65-F5344CB8AC3E}">
        <p14:creationId xmlns:p14="http://schemas.microsoft.com/office/powerpoint/2010/main" val="4247564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59889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smtClean="0"/>
              <a:t>12/8/2020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smtClean="0"/>
              <a:t>‹#›</a:t>
            </a:fld>
            <a:endParaRPr lang="en-US" dirty="0"/>
          </a:p>
        </p:txBody>
      </p:sp>
    </p:spTree>
    <p:extLst>
      <p:ext uri="{BB962C8B-B14F-4D97-AF65-F5344CB8AC3E}">
        <p14:creationId xmlns:p14="http://schemas.microsoft.com/office/powerpoint/2010/main" val="16504269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12/8/2020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977226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12/8/2020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104836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12/8/2020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377104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12/8/2020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878930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12/8/2020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65098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363723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97658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B61BEF0D-F0BB-DE4B-95CE-6DB70DBA9567}" type="datetimeFigureOut">
              <a:rPr lang="en-US" smtClean="0"/>
              <a:pPr/>
              <a:t>12/8/2020</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D57F1E4F-1CFF-5643-939E-217C01CDF565}" type="slidenum">
              <a:rPr lang="en-US" smtClean="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1568978"/>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slide" Target="slide3.xml"/><Relationship Id="rId7" Type="http://schemas.openxmlformats.org/officeDocument/2006/relationships/slide" Target="slide1.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slide" Target="slide14.xml"/><Relationship Id="rId5" Type="http://schemas.openxmlformats.org/officeDocument/2006/relationships/slide" Target="slide7.xml"/><Relationship Id="rId4" Type="http://schemas.openxmlformats.org/officeDocument/2006/relationships/slide" Target="slide8.xml"/><Relationship Id="rId9" Type="http://schemas.openxmlformats.org/officeDocument/2006/relationships/slide" Target="slide16.xml"/></Relationships>
</file>

<file path=ppt/slides/_rels/slide2.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slide" Target="slide3.xml"/><Relationship Id="rId7" Type="http://schemas.openxmlformats.org/officeDocument/2006/relationships/slide" Target="slide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4.xml"/><Relationship Id="rId5" Type="http://schemas.openxmlformats.org/officeDocument/2006/relationships/slide" Target="slide7.xml"/><Relationship Id="rId4" Type="http://schemas.openxmlformats.org/officeDocument/2006/relationships/slide" Target="slide8.xml"/><Relationship Id="rId9" Type="http://schemas.openxmlformats.org/officeDocument/2006/relationships/slide" Target="slide16.xml"/></Relationships>
</file>

<file path=ppt/slides/_rels/slide3.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slide" Target="slide3.xml"/><Relationship Id="rId7" Type="http://schemas.openxmlformats.org/officeDocument/2006/relationships/slide" Target="slide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slide" Target="slide14.xml"/><Relationship Id="rId5" Type="http://schemas.openxmlformats.org/officeDocument/2006/relationships/slide" Target="slide7.xml"/><Relationship Id="rId4" Type="http://schemas.openxmlformats.org/officeDocument/2006/relationships/slide" Target="slide8.xml"/><Relationship Id="rId9" Type="http://schemas.openxmlformats.org/officeDocument/2006/relationships/slide" Target="slide16.xml"/></Relationships>
</file>

<file path=ppt/slides/_rels/slide4.xml.rels><?xml version="1.0" encoding="UTF-8" standalone="yes"?>
<Relationships xmlns="http://schemas.openxmlformats.org/package/2006/relationships"><Relationship Id="rId8" Type="http://schemas.openxmlformats.org/officeDocument/2006/relationships/slide" Target="slide1.xml"/><Relationship Id="rId3" Type="http://schemas.openxmlformats.org/officeDocument/2006/relationships/image" Target="../media/image2.png"/><Relationship Id="rId7" Type="http://schemas.openxmlformats.org/officeDocument/2006/relationships/slide" Target="slide1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slide" Target="slide7.xml"/><Relationship Id="rId5" Type="http://schemas.openxmlformats.org/officeDocument/2006/relationships/slide" Target="slide8.xml"/><Relationship Id="rId10" Type="http://schemas.openxmlformats.org/officeDocument/2006/relationships/slide" Target="slide16.xml"/><Relationship Id="rId4" Type="http://schemas.openxmlformats.org/officeDocument/2006/relationships/slide" Target="slide3.xml"/><Relationship Id="rId9" Type="http://schemas.openxmlformats.org/officeDocument/2006/relationships/slide" Target="slide15.xml"/></Relationships>
</file>

<file path=ppt/slides/_rels/slide5.xml.rels><?xml version="1.0" encoding="UTF-8" standalone="yes"?>
<Relationships xmlns="http://schemas.openxmlformats.org/package/2006/relationships"><Relationship Id="rId8" Type="http://schemas.openxmlformats.org/officeDocument/2006/relationships/slide" Target="slide16.xml"/><Relationship Id="rId3" Type="http://schemas.openxmlformats.org/officeDocument/2006/relationships/slide" Target="slide8.xml"/><Relationship Id="rId7" Type="http://schemas.openxmlformats.org/officeDocument/2006/relationships/slide" Target="slide15.xml"/><Relationship Id="rId2" Type="http://schemas.openxmlformats.org/officeDocument/2006/relationships/slide" Target="slide3.xml"/><Relationship Id="rId1" Type="http://schemas.openxmlformats.org/officeDocument/2006/relationships/slideLayout" Target="../slideLayouts/slideLayout2.xml"/><Relationship Id="rId6" Type="http://schemas.openxmlformats.org/officeDocument/2006/relationships/slide" Target="slide1.xml"/><Relationship Id="rId5" Type="http://schemas.openxmlformats.org/officeDocument/2006/relationships/slide" Target="slide14.xml"/><Relationship Id="rId4" Type="http://schemas.openxmlformats.org/officeDocument/2006/relationships/slide" Target="slide7.xml"/></Relationships>
</file>

<file path=ppt/slides/_rels/slide6.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slide" Target="slide3.xml"/><Relationship Id="rId7" Type="http://schemas.openxmlformats.org/officeDocument/2006/relationships/slide" Target="slide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slide" Target="slide14.xml"/><Relationship Id="rId5" Type="http://schemas.openxmlformats.org/officeDocument/2006/relationships/slide" Target="slide7.xml"/><Relationship Id="rId4" Type="http://schemas.openxmlformats.org/officeDocument/2006/relationships/slide" Target="slide8.xml"/><Relationship Id="rId9" Type="http://schemas.openxmlformats.org/officeDocument/2006/relationships/slide" Target="slide16.xml"/></Relationships>
</file>

<file path=ppt/slides/_rels/slide7.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slide" Target="slide3.xml"/><Relationship Id="rId7" Type="http://schemas.openxmlformats.org/officeDocument/2006/relationships/slide" Target="slide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slide" Target="slide14.xml"/><Relationship Id="rId5" Type="http://schemas.openxmlformats.org/officeDocument/2006/relationships/slide" Target="slide7.xml"/><Relationship Id="rId4" Type="http://schemas.openxmlformats.org/officeDocument/2006/relationships/slide" Target="slide8.xml"/><Relationship Id="rId9" Type="http://schemas.openxmlformats.org/officeDocument/2006/relationships/slide" Target="slide16.xml"/></Relationships>
</file>

<file path=ppt/slides/_rels/slide8.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slide" Target="slide3.xml"/><Relationship Id="rId7" Type="http://schemas.openxmlformats.org/officeDocument/2006/relationships/slide" Target="slide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slide" Target="slide14.xml"/><Relationship Id="rId5" Type="http://schemas.openxmlformats.org/officeDocument/2006/relationships/slide" Target="slide7.xml"/><Relationship Id="rId4" Type="http://schemas.openxmlformats.org/officeDocument/2006/relationships/slide" Target="slide8.xml"/><Relationship Id="rId9" Type="http://schemas.openxmlformats.org/officeDocument/2006/relationships/slide" Target="slide16.xml"/></Relationships>
</file>

<file path=ppt/slides/_rels/slide9.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slide" Target="slide3.xml"/><Relationship Id="rId7" Type="http://schemas.openxmlformats.org/officeDocument/2006/relationships/slide" Target="slide1.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slide" Target="slide14.xml"/><Relationship Id="rId5" Type="http://schemas.openxmlformats.org/officeDocument/2006/relationships/slide" Target="slide7.xml"/><Relationship Id="rId4" Type="http://schemas.openxmlformats.org/officeDocument/2006/relationships/slide" Target="slide8.xml"/><Relationship Id="rId9" Type="http://schemas.openxmlformats.org/officeDocument/2006/relationships/slide" Target="slide16.xml"/></Relationships>
</file>

<file path=ppt/slides/_rels/slide10.xml.rels><?xml version="1.0" encoding="UTF-8" standalone="yes"?>
<Relationships xmlns="http://schemas.openxmlformats.org/package/2006/relationships"><Relationship Id="rId8" Type="http://schemas.openxmlformats.org/officeDocument/2006/relationships/slide" Target="slide1.xml"/><Relationship Id="rId3" Type="http://schemas.openxmlformats.org/officeDocument/2006/relationships/image" Target="../media/image3.jpeg"/><Relationship Id="rId7" Type="http://schemas.openxmlformats.org/officeDocument/2006/relationships/slide" Target="slide14.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slide" Target="slide7.xml"/><Relationship Id="rId5" Type="http://schemas.openxmlformats.org/officeDocument/2006/relationships/slide" Target="slide8.xml"/><Relationship Id="rId10" Type="http://schemas.openxmlformats.org/officeDocument/2006/relationships/slide" Target="slide16.xml"/><Relationship Id="rId4" Type="http://schemas.openxmlformats.org/officeDocument/2006/relationships/slide" Target="slide3.xml"/><Relationship Id="rId9" Type="http://schemas.openxmlformats.org/officeDocument/2006/relationships/slide" Target="slide15.xml"/></Relationships>
</file>

<file path=ppt/slides/_rels/slide11.xml.rels><?xml version="1.0" encoding="UTF-8" standalone="yes"?>
<Relationships xmlns="http://schemas.openxmlformats.org/package/2006/relationships"><Relationship Id="rId8" Type="http://schemas.openxmlformats.org/officeDocument/2006/relationships/slide" Target="slide1.xml"/><Relationship Id="rId3" Type="http://schemas.openxmlformats.org/officeDocument/2006/relationships/image" Target="../media/image4.jpeg"/><Relationship Id="rId7" Type="http://schemas.openxmlformats.org/officeDocument/2006/relationships/slide" Target="slide14.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slide" Target="slide7.xml"/><Relationship Id="rId5" Type="http://schemas.openxmlformats.org/officeDocument/2006/relationships/slide" Target="slide8.xml"/><Relationship Id="rId10" Type="http://schemas.openxmlformats.org/officeDocument/2006/relationships/slide" Target="slide16.xml"/><Relationship Id="rId4" Type="http://schemas.openxmlformats.org/officeDocument/2006/relationships/slide" Target="slide3.xml"/><Relationship Id="rId9" Type="http://schemas.openxmlformats.org/officeDocument/2006/relationships/slide" Target="slide15.xml"/></Relationships>
</file>

<file path=ppt/slides/_rels/slide12.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slide" Target="slide3.xml"/><Relationship Id="rId7" Type="http://schemas.openxmlformats.org/officeDocument/2006/relationships/slide" Target="slide1.xml"/><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slide" Target="slide14.xml"/><Relationship Id="rId5" Type="http://schemas.openxmlformats.org/officeDocument/2006/relationships/slide" Target="slide7.xml"/><Relationship Id="rId4" Type="http://schemas.openxmlformats.org/officeDocument/2006/relationships/slide" Target="slide8.xml"/><Relationship Id="rId9" Type="http://schemas.openxmlformats.org/officeDocument/2006/relationships/slide" Target="slide16.xml"/></Relationships>
</file>

<file path=ppt/slides/_rels/slide13.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slide" Target="slide3.xml"/><Relationship Id="rId7" Type="http://schemas.openxmlformats.org/officeDocument/2006/relationships/slide" Target="slide1.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slide" Target="slide14.xml"/><Relationship Id="rId5" Type="http://schemas.openxmlformats.org/officeDocument/2006/relationships/slide" Target="slide7.xml"/><Relationship Id="rId4" Type="http://schemas.openxmlformats.org/officeDocument/2006/relationships/slide" Target="slide8.xml"/><Relationship Id="rId9" Type="http://schemas.openxmlformats.org/officeDocument/2006/relationships/slide" Target="slide16.xml"/></Relationships>
</file>

<file path=ppt/slides/_rels/slide14.xml.rels><?xml version="1.0" encoding="UTF-8" standalone="yes"?>
<Relationships xmlns="http://schemas.openxmlformats.org/package/2006/relationships"><Relationship Id="rId8" Type="http://schemas.openxmlformats.org/officeDocument/2006/relationships/slide" Target="slide16.xml"/><Relationship Id="rId3" Type="http://schemas.openxmlformats.org/officeDocument/2006/relationships/slide" Target="slide8.xml"/><Relationship Id="rId7" Type="http://schemas.openxmlformats.org/officeDocument/2006/relationships/slide" Target="slide15.xml"/><Relationship Id="rId2" Type="http://schemas.openxmlformats.org/officeDocument/2006/relationships/slide" Target="slide3.xml"/><Relationship Id="rId1" Type="http://schemas.openxmlformats.org/officeDocument/2006/relationships/slideLayout" Target="../slideLayouts/slideLayout2.xml"/><Relationship Id="rId6" Type="http://schemas.openxmlformats.org/officeDocument/2006/relationships/slide" Target="slide1.xml"/><Relationship Id="rId5" Type="http://schemas.openxmlformats.org/officeDocument/2006/relationships/slide" Target="slide14.xml"/><Relationship Id="rId4" Type="http://schemas.openxmlformats.org/officeDocument/2006/relationships/slide" Target="slide7.xml"/></Relationships>
</file>

<file path=ppt/slides/_rels/slide15.xml.rels><?xml version="1.0" encoding="UTF-8" standalone="yes"?>
<Relationships xmlns="http://schemas.openxmlformats.org/package/2006/relationships"><Relationship Id="rId8" Type="http://schemas.openxmlformats.org/officeDocument/2006/relationships/slide" Target="slide16.xml"/><Relationship Id="rId3" Type="http://schemas.openxmlformats.org/officeDocument/2006/relationships/slide" Target="slide8.xml"/><Relationship Id="rId7" Type="http://schemas.openxmlformats.org/officeDocument/2006/relationships/slide" Target="slide15.xml"/><Relationship Id="rId2" Type="http://schemas.openxmlformats.org/officeDocument/2006/relationships/slide" Target="slide3.xml"/><Relationship Id="rId1" Type="http://schemas.openxmlformats.org/officeDocument/2006/relationships/slideLayout" Target="../slideLayouts/slideLayout2.xml"/><Relationship Id="rId6" Type="http://schemas.openxmlformats.org/officeDocument/2006/relationships/slide" Target="slide1.xml"/><Relationship Id="rId5" Type="http://schemas.openxmlformats.org/officeDocument/2006/relationships/slide" Target="slide14.xml"/><Relationship Id="rId4" Type="http://schemas.openxmlformats.org/officeDocument/2006/relationships/slide" Target="slide7.xml"/></Relationships>
</file>

<file path=ppt/slides/_rels/slide16.xml.rels><?xml version="1.0" encoding="UTF-8" standalone="yes"?>
<Relationships xmlns="http://schemas.openxmlformats.org/package/2006/relationships"><Relationship Id="rId8" Type="http://schemas.openxmlformats.org/officeDocument/2006/relationships/slide" Target="slide16.xml"/><Relationship Id="rId3" Type="http://schemas.openxmlformats.org/officeDocument/2006/relationships/slide" Target="slide8.xml"/><Relationship Id="rId7" Type="http://schemas.openxmlformats.org/officeDocument/2006/relationships/slide" Target="slide15.xml"/><Relationship Id="rId2" Type="http://schemas.openxmlformats.org/officeDocument/2006/relationships/slide" Target="slide3.xml"/><Relationship Id="rId1" Type="http://schemas.openxmlformats.org/officeDocument/2006/relationships/slideLayout" Target="../slideLayouts/slideLayout2.xml"/><Relationship Id="rId6" Type="http://schemas.openxmlformats.org/officeDocument/2006/relationships/slide" Target="slide1.xml"/><Relationship Id="rId5" Type="http://schemas.openxmlformats.org/officeDocument/2006/relationships/slide" Target="slide14.xml"/><Relationship Id="rId4" Type="http://schemas.openxmlformats.org/officeDocument/2006/relationships/slide" Target="slide7.xml"/></Relationships>
</file>

<file path=ppt/slides/_rels/slide17.xml.rels><?xml version="1.0" encoding="UTF-8" standalone="yes"?>
<Relationships xmlns="http://schemas.openxmlformats.org/package/2006/relationships"><Relationship Id="rId8" Type="http://schemas.openxmlformats.org/officeDocument/2006/relationships/slide" Target="slide16.xml"/><Relationship Id="rId3" Type="http://schemas.openxmlformats.org/officeDocument/2006/relationships/slide" Target="slide8.xml"/><Relationship Id="rId7" Type="http://schemas.openxmlformats.org/officeDocument/2006/relationships/slide" Target="slide15.xml"/><Relationship Id="rId2" Type="http://schemas.openxmlformats.org/officeDocument/2006/relationships/slide" Target="slide3.xml"/><Relationship Id="rId1" Type="http://schemas.openxmlformats.org/officeDocument/2006/relationships/slideLayout" Target="../slideLayouts/slideLayout2.xml"/><Relationship Id="rId6" Type="http://schemas.openxmlformats.org/officeDocument/2006/relationships/slide" Target="slide1.xml"/><Relationship Id="rId5" Type="http://schemas.openxmlformats.org/officeDocument/2006/relationships/slide" Target="slide14.xml"/><Relationship Id="rId4" Type="http://schemas.openxmlformats.org/officeDocument/2006/relationships/slide" Target="slide7.xml"/></Relationships>
</file>

<file path=ppt/slides/_rels/slide18.xml.rels><?xml version="1.0" encoding="UTF-8" standalone="yes"?>
<Relationships xmlns="http://schemas.openxmlformats.org/package/2006/relationships"><Relationship Id="rId8" Type="http://schemas.openxmlformats.org/officeDocument/2006/relationships/slide" Target="slide8.xml"/><Relationship Id="rId13" Type="http://schemas.openxmlformats.org/officeDocument/2006/relationships/slide" Target="slide16.xml"/><Relationship Id="rId3" Type="http://schemas.openxmlformats.org/officeDocument/2006/relationships/hyperlink" Target="http://www.proweb.co.id/articles/web_application/rdbms.html" TargetMode="External"/><Relationship Id="rId7" Type="http://schemas.openxmlformats.org/officeDocument/2006/relationships/slide" Target="slide3.xml"/><Relationship Id="rId12" Type="http://schemas.openxmlformats.org/officeDocument/2006/relationships/slide" Target="slide15.xml"/><Relationship Id="rId2" Type="http://schemas.openxmlformats.org/officeDocument/2006/relationships/hyperlink" Target="http://www.itfreelanceindo.com/readnews/150/Pengertian-Database,-DBMS,-dan-RDBMS.html" TargetMode="External"/><Relationship Id="rId1" Type="http://schemas.openxmlformats.org/officeDocument/2006/relationships/slideLayout" Target="../slideLayouts/slideLayout2.xml"/><Relationship Id="rId6" Type="http://schemas.openxmlformats.org/officeDocument/2006/relationships/hyperlink" Target="http://muhammad-anwari.blogspot.co.id/2015/06/relasi-antar-tabel.html" TargetMode="External"/><Relationship Id="rId11" Type="http://schemas.openxmlformats.org/officeDocument/2006/relationships/slide" Target="slide1.xml"/><Relationship Id="rId5" Type="http://schemas.openxmlformats.org/officeDocument/2006/relationships/hyperlink" Target="http://hellobeautifulthings.blogspot.co.id/2013/10/contoh-relasi-antar-tabel.html" TargetMode="External"/><Relationship Id="rId10" Type="http://schemas.openxmlformats.org/officeDocument/2006/relationships/slide" Target="slide14.xml"/><Relationship Id="rId4" Type="http://schemas.openxmlformats.org/officeDocument/2006/relationships/hyperlink" Target="https://bahasaweb.com/pengertian-database/" TargetMode="External"/><Relationship Id="rId9" Type="http://schemas.openxmlformats.org/officeDocument/2006/relationships/slide" Target="slide7.xml"/><Relationship Id="rId14" Type="http://schemas.openxmlformats.org/officeDocument/2006/relationships/hyperlink" Target="https://www.youtube.com/watch?v=a-o0d_e9mW8&amp;list=PL_c9BZzLwBRKn20DFbNeLAAbw4ZMTlZPH&amp;index=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9FEE9-B3E9-4099-ADCB-CB7BECC26817}"/>
              </a:ext>
            </a:extLst>
          </p:cNvPr>
          <p:cNvSpPr>
            <a:spLocks noGrp="1"/>
          </p:cNvSpPr>
          <p:nvPr>
            <p:ph type="ctrTitle"/>
          </p:nvPr>
        </p:nvSpPr>
        <p:spPr>
          <a:xfrm>
            <a:off x="823106" y="4862144"/>
            <a:ext cx="5817537" cy="1463040"/>
          </a:xfrm>
        </p:spPr>
        <p:txBody>
          <a:bodyPr/>
          <a:lstStyle/>
          <a:p>
            <a:r>
              <a:rPr lang="en-US" dirty="0"/>
              <a:t>PERANCANGAN DATABASE</a:t>
            </a:r>
          </a:p>
        </p:txBody>
      </p:sp>
      <p:sp>
        <p:nvSpPr>
          <p:cNvPr id="3" name="Subtitle 2">
            <a:extLst>
              <a:ext uri="{FF2B5EF4-FFF2-40B4-BE49-F238E27FC236}">
                <a16:creationId xmlns:a16="http://schemas.microsoft.com/office/drawing/2014/main" id="{05E3FCD9-FE10-4205-A529-9E820FC092A4}"/>
              </a:ext>
            </a:extLst>
          </p:cNvPr>
          <p:cNvSpPr>
            <a:spLocks noGrp="1"/>
          </p:cNvSpPr>
          <p:nvPr>
            <p:ph type="subTitle" idx="1"/>
          </p:nvPr>
        </p:nvSpPr>
        <p:spPr>
          <a:xfrm>
            <a:off x="7956631" y="4862144"/>
            <a:ext cx="4517591" cy="1320802"/>
          </a:xfrm>
        </p:spPr>
        <p:txBody>
          <a:bodyPr>
            <a:normAutofit/>
          </a:bodyPr>
          <a:lstStyle/>
          <a:p>
            <a:pPr algn="ctr"/>
            <a:r>
              <a:rPr lang="en-US" sz="2000" b="1" dirty="0"/>
              <a:t>Rahmawati Hasanah, S.ST., M.T</a:t>
            </a:r>
          </a:p>
        </p:txBody>
      </p:sp>
      <p:sp>
        <p:nvSpPr>
          <p:cNvPr id="4" name="Content Placeholder 2">
            <a:extLst>
              <a:ext uri="{FF2B5EF4-FFF2-40B4-BE49-F238E27FC236}">
                <a16:creationId xmlns:a16="http://schemas.microsoft.com/office/drawing/2014/main" id="{2F722749-9BDC-4D9C-AA16-45D6DE56BF9F}"/>
              </a:ext>
            </a:extLst>
          </p:cNvPr>
          <p:cNvSpPr txBox="1">
            <a:spLocks/>
          </p:cNvSpPr>
          <p:nvPr/>
        </p:nvSpPr>
        <p:spPr>
          <a:xfrm>
            <a:off x="1827269" y="83779"/>
            <a:ext cx="1408828" cy="604157"/>
          </a:xfrm>
          <a:prstGeom prst="rect">
            <a:avLst/>
          </a:prstGeom>
        </p:spPr>
        <p:txBody>
          <a:bodyPr vert="horz" lIns="91440" tIns="45720" rIns="91440" bIns="45720" rtlCol="0" anchor="ctr">
            <a:normAutofit/>
          </a:bodyPr>
          <a:lstStyle>
            <a:lvl1pPr marL="0" indent="0" algn="l" defTabSz="914400" rtl="0" eaLnBrk="1" latinLnBrk="0" hangingPunct="1">
              <a:lnSpc>
                <a:spcPct val="100000"/>
              </a:lnSpc>
              <a:spcBef>
                <a:spcPts val="0"/>
              </a:spcBef>
              <a:spcAft>
                <a:spcPts val="200"/>
              </a:spcAft>
              <a:buClr>
                <a:schemeClr val="accent1"/>
              </a:buClr>
              <a:buSzPct val="100000"/>
              <a:buFont typeface="Tw Cen MT" panose="020B0602020104020603" pitchFamily="34" charset="0"/>
              <a:buNone/>
              <a:defRPr sz="1800" kern="1200">
                <a:solidFill>
                  <a:schemeClr val="tx1">
                    <a:lumMod val="95000"/>
                    <a:lumOff val="5000"/>
                  </a:schemeClr>
                </a:solidFill>
                <a:latin typeface="+mn-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9pPr>
          </a:lstStyle>
          <a:p>
            <a:r>
              <a:rPr lang="en-US" u="sng" dirty="0">
                <a:hlinkClick r:id="rId3" action="ppaction://hlinksldjump"/>
              </a:rPr>
              <a:t>Database</a:t>
            </a:r>
          </a:p>
        </p:txBody>
      </p:sp>
      <p:sp>
        <p:nvSpPr>
          <p:cNvPr id="5" name="Content Placeholder 2">
            <a:hlinkClick r:id="rId4" action="ppaction://hlinksldjump"/>
            <a:extLst>
              <a:ext uri="{FF2B5EF4-FFF2-40B4-BE49-F238E27FC236}">
                <a16:creationId xmlns:a16="http://schemas.microsoft.com/office/drawing/2014/main" id="{6B8A6D67-A03E-4547-968E-61F14142EB00}"/>
              </a:ext>
            </a:extLst>
          </p:cNvPr>
          <p:cNvSpPr txBox="1">
            <a:spLocks/>
          </p:cNvSpPr>
          <p:nvPr/>
        </p:nvSpPr>
        <p:spPr>
          <a:xfrm>
            <a:off x="3104711" y="242167"/>
            <a:ext cx="2404871" cy="604157"/>
          </a:xfrm>
          <a:prstGeom prst="rect">
            <a:avLst/>
          </a:prstGeom>
        </p:spPr>
        <p:txBody>
          <a:bodyPr vert="horz" lIns="45720" tIns="45720" rIns="45720" bIns="45720" rtlCol="0">
            <a:normAutofit fontScale="925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err="1"/>
              <a:t>Struktur</a:t>
            </a:r>
            <a:r>
              <a:rPr lang="en-US" dirty="0"/>
              <a:t> Database</a:t>
            </a:r>
          </a:p>
        </p:txBody>
      </p:sp>
      <p:sp>
        <p:nvSpPr>
          <p:cNvPr id="6" name="Content Placeholder 2">
            <a:hlinkClick r:id="rId5" action="ppaction://hlinksldjump"/>
            <a:extLst>
              <a:ext uri="{FF2B5EF4-FFF2-40B4-BE49-F238E27FC236}">
                <a16:creationId xmlns:a16="http://schemas.microsoft.com/office/drawing/2014/main" id="{155ADA8F-64BD-4BC9-8461-CBFF797A58D7}"/>
              </a:ext>
            </a:extLst>
          </p:cNvPr>
          <p:cNvSpPr txBox="1">
            <a:spLocks/>
          </p:cNvSpPr>
          <p:nvPr/>
        </p:nvSpPr>
        <p:spPr>
          <a:xfrm>
            <a:off x="5509582" y="242167"/>
            <a:ext cx="1408828"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RDBMS</a:t>
            </a:r>
          </a:p>
        </p:txBody>
      </p:sp>
      <p:sp>
        <p:nvSpPr>
          <p:cNvPr id="7" name="Content Placeholder 2">
            <a:hlinkClick r:id="rId6" action="ppaction://hlinksldjump"/>
            <a:extLst>
              <a:ext uri="{FF2B5EF4-FFF2-40B4-BE49-F238E27FC236}">
                <a16:creationId xmlns:a16="http://schemas.microsoft.com/office/drawing/2014/main" id="{898E190F-6178-4C86-A68B-F9C9D8838D86}"/>
              </a:ext>
            </a:extLst>
          </p:cNvPr>
          <p:cNvSpPr txBox="1">
            <a:spLocks/>
          </p:cNvSpPr>
          <p:nvPr/>
        </p:nvSpPr>
        <p:spPr>
          <a:xfrm>
            <a:off x="6655638" y="242167"/>
            <a:ext cx="1408828" cy="604157"/>
          </a:xfrm>
          <a:prstGeom prst="rect">
            <a:avLst/>
          </a:prstGeom>
        </p:spPr>
        <p:txBody>
          <a:bodyPr vert="horz" lIns="45720" tIns="45720" rIns="45720" bIns="45720" rtlCol="0">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Kesimpulan</a:t>
            </a:r>
          </a:p>
        </p:txBody>
      </p:sp>
      <p:sp>
        <p:nvSpPr>
          <p:cNvPr id="8" name="Content Placeholder 2">
            <a:hlinkClick r:id="rId7" action="ppaction://hlinksldjump"/>
            <a:extLst>
              <a:ext uri="{FF2B5EF4-FFF2-40B4-BE49-F238E27FC236}">
                <a16:creationId xmlns:a16="http://schemas.microsoft.com/office/drawing/2014/main" id="{5B6DEB1B-5F93-4D28-A445-250FB61E769A}"/>
              </a:ext>
            </a:extLst>
          </p:cNvPr>
          <p:cNvSpPr txBox="1">
            <a:spLocks/>
          </p:cNvSpPr>
          <p:nvPr/>
        </p:nvSpPr>
        <p:spPr>
          <a:xfrm>
            <a:off x="572805" y="230737"/>
            <a:ext cx="1621100"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Home</a:t>
            </a:r>
          </a:p>
        </p:txBody>
      </p:sp>
      <p:sp>
        <p:nvSpPr>
          <p:cNvPr id="9" name="Content Placeholder 2">
            <a:hlinkClick r:id="rId8" action="ppaction://hlinksldjump"/>
            <a:extLst>
              <a:ext uri="{FF2B5EF4-FFF2-40B4-BE49-F238E27FC236}">
                <a16:creationId xmlns:a16="http://schemas.microsoft.com/office/drawing/2014/main" id="{49CBE1AB-31BB-44E9-AB2F-1FC9FD50A5E7}"/>
              </a:ext>
            </a:extLst>
          </p:cNvPr>
          <p:cNvSpPr txBox="1">
            <a:spLocks/>
          </p:cNvSpPr>
          <p:nvPr/>
        </p:nvSpPr>
        <p:spPr>
          <a:xfrm>
            <a:off x="8146107" y="230736"/>
            <a:ext cx="1621099" cy="604157"/>
          </a:xfrm>
          <a:prstGeom prst="rect">
            <a:avLst/>
          </a:prstGeom>
        </p:spPr>
        <p:txBody>
          <a:bodyPr vert="horz" lIns="45720" tIns="45720" rIns="45720" bIns="45720" rtlCol="0">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err="1"/>
              <a:t>Soal</a:t>
            </a:r>
            <a:r>
              <a:rPr lang="en-US" dirty="0"/>
              <a:t> </a:t>
            </a:r>
            <a:r>
              <a:rPr lang="en-US" dirty="0" err="1"/>
              <a:t>Latihan</a:t>
            </a:r>
            <a:endParaRPr lang="en-US" dirty="0"/>
          </a:p>
        </p:txBody>
      </p:sp>
      <p:sp>
        <p:nvSpPr>
          <p:cNvPr id="10" name="Content Placeholder 2">
            <a:hlinkClick r:id="rId9" action="ppaction://hlinksldjump"/>
            <a:extLst>
              <a:ext uri="{FF2B5EF4-FFF2-40B4-BE49-F238E27FC236}">
                <a16:creationId xmlns:a16="http://schemas.microsoft.com/office/drawing/2014/main" id="{1A025DDE-6F78-4C72-9A5A-258DE42A3EB7}"/>
              </a:ext>
            </a:extLst>
          </p:cNvPr>
          <p:cNvSpPr txBox="1">
            <a:spLocks/>
          </p:cNvSpPr>
          <p:nvPr/>
        </p:nvSpPr>
        <p:spPr>
          <a:xfrm>
            <a:off x="9811616" y="242166"/>
            <a:ext cx="2088753"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What’s Next?</a:t>
            </a:r>
          </a:p>
        </p:txBody>
      </p:sp>
    </p:spTree>
    <p:extLst>
      <p:ext uri="{BB962C8B-B14F-4D97-AF65-F5344CB8AC3E}">
        <p14:creationId xmlns:p14="http://schemas.microsoft.com/office/powerpoint/2010/main" val="323717453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A97C7-CF9C-49CD-9180-D9550DB92BC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A61CE5A-D7E3-4DD5-9328-76C281C412E1}"/>
              </a:ext>
            </a:extLst>
          </p:cNvPr>
          <p:cNvSpPr>
            <a:spLocks noGrp="1"/>
          </p:cNvSpPr>
          <p:nvPr>
            <p:ph idx="1"/>
          </p:nvPr>
        </p:nvSpPr>
        <p:spPr/>
        <p:txBody>
          <a:bodyPr>
            <a:normAutofit fontScale="92500"/>
          </a:bodyPr>
          <a:lstStyle/>
          <a:p>
            <a:r>
              <a:rPr lang="en-US" dirty="0" err="1"/>
              <a:t>Tujuan</a:t>
            </a:r>
            <a:r>
              <a:rPr lang="en-US" dirty="0"/>
              <a:t> :</a:t>
            </a:r>
          </a:p>
          <a:p>
            <a:r>
              <a:rPr lang="en-US" dirty="0" err="1"/>
              <a:t>Mahasiswa</a:t>
            </a:r>
            <a:r>
              <a:rPr lang="en-US" dirty="0"/>
              <a:t> </a:t>
            </a:r>
            <a:r>
              <a:rPr lang="en-US" dirty="0" err="1"/>
              <a:t>mampu</a:t>
            </a:r>
            <a:r>
              <a:rPr lang="en-US" dirty="0"/>
              <a:t> </a:t>
            </a:r>
            <a:r>
              <a:rPr lang="en-US" dirty="0" err="1"/>
              <a:t>memahami</a:t>
            </a:r>
            <a:r>
              <a:rPr lang="en-US" dirty="0"/>
              <a:t> </a:t>
            </a:r>
            <a:r>
              <a:rPr lang="en-US" dirty="0" err="1"/>
              <a:t>konsep</a:t>
            </a:r>
            <a:r>
              <a:rPr lang="en-US" dirty="0"/>
              <a:t> </a:t>
            </a:r>
            <a:r>
              <a:rPr lang="en-US" dirty="0" err="1"/>
              <a:t>perancangan</a:t>
            </a:r>
            <a:r>
              <a:rPr lang="en-US" dirty="0"/>
              <a:t> database, </a:t>
            </a:r>
            <a:r>
              <a:rPr lang="en-US" dirty="0" err="1"/>
              <a:t>serta</a:t>
            </a:r>
            <a:r>
              <a:rPr lang="en-US" dirty="0"/>
              <a:t> </a:t>
            </a:r>
            <a:r>
              <a:rPr lang="en-US" dirty="0" err="1"/>
              <a:t>menganalisa</a:t>
            </a:r>
            <a:r>
              <a:rPr lang="en-US" dirty="0"/>
              <a:t> </a:t>
            </a:r>
            <a:r>
              <a:rPr lang="en-US" dirty="0" err="1"/>
              <a:t>jenis-jenis</a:t>
            </a:r>
            <a:r>
              <a:rPr lang="en-US" dirty="0"/>
              <a:t> </a:t>
            </a:r>
            <a:r>
              <a:rPr lang="en-US" dirty="0" err="1"/>
              <a:t>relasi</a:t>
            </a:r>
            <a:r>
              <a:rPr lang="en-US" dirty="0"/>
              <a:t> </a:t>
            </a:r>
            <a:r>
              <a:rPr lang="en-US" dirty="0" err="1"/>
              <a:t>antar</a:t>
            </a:r>
            <a:r>
              <a:rPr lang="en-US" dirty="0"/>
              <a:t> </a:t>
            </a:r>
            <a:r>
              <a:rPr lang="en-US" dirty="0" err="1"/>
              <a:t>tabel</a:t>
            </a:r>
            <a:r>
              <a:rPr lang="en-US" dirty="0"/>
              <a:t> di </a:t>
            </a:r>
            <a:r>
              <a:rPr lang="en-US" dirty="0" err="1"/>
              <a:t>dalam</a:t>
            </a:r>
            <a:r>
              <a:rPr lang="en-US" dirty="0"/>
              <a:t> database.</a:t>
            </a:r>
          </a:p>
          <a:p>
            <a:endParaRPr lang="en-US" dirty="0"/>
          </a:p>
          <a:p>
            <a:r>
              <a:rPr lang="en-US" dirty="0" err="1"/>
              <a:t>Sumber</a:t>
            </a:r>
            <a:r>
              <a:rPr lang="en-US" dirty="0"/>
              <a:t> </a:t>
            </a:r>
            <a:r>
              <a:rPr lang="en-US" dirty="0" err="1"/>
              <a:t>Pustaka</a:t>
            </a:r>
            <a:r>
              <a:rPr lang="en-US" dirty="0"/>
              <a:t>: </a:t>
            </a:r>
          </a:p>
          <a:p>
            <a:pPr lvl="0"/>
            <a:r>
              <a:rPr lang="en-US" dirty="0"/>
              <a:t>1. Allen G. Taylor,. SQL for Dummies, 5</a:t>
            </a:r>
            <a:r>
              <a:rPr lang="en-US" baseline="30000" dirty="0"/>
              <a:t>th</a:t>
            </a:r>
            <a:r>
              <a:rPr lang="en-US" dirty="0"/>
              <a:t> Edition, Willey Publishing, 2003. </a:t>
            </a:r>
          </a:p>
          <a:p>
            <a:pPr lvl="0"/>
            <a:r>
              <a:rPr lang="en-US" dirty="0"/>
              <a:t>2. D.M Kroenke, David J. Auer,. Database Processing : Fundamental, Design, and Implementations,. 12</a:t>
            </a:r>
            <a:r>
              <a:rPr lang="en-US" baseline="30000" dirty="0"/>
              <a:t>th</a:t>
            </a:r>
            <a:r>
              <a:rPr lang="en-US" dirty="0"/>
              <a:t> Edition,. Pearson Education, Inc., 2000.</a:t>
            </a:r>
          </a:p>
          <a:p>
            <a:r>
              <a:rPr lang="en-US" dirty="0"/>
              <a:t>3. </a:t>
            </a:r>
            <a:r>
              <a:rPr lang="en-US" dirty="0" err="1"/>
              <a:t>Pengantar</a:t>
            </a:r>
            <a:r>
              <a:rPr lang="en-US" dirty="0"/>
              <a:t> Database, </a:t>
            </a:r>
            <a:r>
              <a:rPr lang="en-US" dirty="0" err="1"/>
              <a:t>Faried</a:t>
            </a:r>
            <a:r>
              <a:rPr lang="en-US" dirty="0"/>
              <a:t> </a:t>
            </a:r>
            <a:r>
              <a:rPr lang="en-US" dirty="0" err="1"/>
              <a:t>Irmansyah</a:t>
            </a:r>
            <a:r>
              <a:rPr lang="en-US" dirty="0"/>
              <a:t>, 2003.</a:t>
            </a:r>
          </a:p>
        </p:txBody>
      </p:sp>
      <p:sp>
        <p:nvSpPr>
          <p:cNvPr id="4" name="Content Placeholder 2">
            <a:extLst>
              <a:ext uri="{FF2B5EF4-FFF2-40B4-BE49-F238E27FC236}">
                <a16:creationId xmlns:a16="http://schemas.microsoft.com/office/drawing/2014/main" id="{1431B717-986E-4AD2-899C-CC6A78C79C5A}"/>
              </a:ext>
            </a:extLst>
          </p:cNvPr>
          <p:cNvSpPr txBox="1">
            <a:spLocks/>
          </p:cNvSpPr>
          <p:nvPr/>
        </p:nvSpPr>
        <p:spPr>
          <a:xfrm>
            <a:off x="1827269" y="83779"/>
            <a:ext cx="1408828" cy="604157"/>
          </a:xfrm>
          <a:prstGeom prst="rect">
            <a:avLst/>
          </a:prstGeom>
        </p:spPr>
        <p:txBody>
          <a:bodyPr vert="horz" lIns="91440" tIns="45720" rIns="91440" bIns="45720" rtlCol="0" anchor="ctr">
            <a:normAutofit/>
          </a:bodyPr>
          <a:lstStyle>
            <a:lvl1pPr marL="0" indent="0" algn="l" defTabSz="914400" rtl="0" eaLnBrk="1" latinLnBrk="0" hangingPunct="1">
              <a:lnSpc>
                <a:spcPct val="100000"/>
              </a:lnSpc>
              <a:spcBef>
                <a:spcPts val="0"/>
              </a:spcBef>
              <a:spcAft>
                <a:spcPts val="200"/>
              </a:spcAft>
              <a:buClr>
                <a:schemeClr val="accent1"/>
              </a:buClr>
              <a:buSzPct val="100000"/>
              <a:buFont typeface="Tw Cen MT" panose="020B0602020104020603" pitchFamily="34" charset="0"/>
              <a:buNone/>
              <a:defRPr sz="1800" kern="1200">
                <a:solidFill>
                  <a:schemeClr val="tx1">
                    <a:lumMod val="95000"/>
                    <a:lumOff val="5000"/>
                  </a:schemeClr>
                </a:solidFill>
                <a:latin typeface="+mn-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9pPr>
          </a:lstStyle>
          <a:p>
            <a:r>
              <a:rPr lang="en-US" u="sng" dirty="0">
                <a:hlinkClick r:id="rId3" action="ppaction://hlinksldjump"/>
              </a:rPr>
              <a:t>Database</a:t>
            </a:r>
          </a:p>
        </p:txBody>
      </p:sp>
      <p:sp>
        <p:nvSpPr>
          <p:cNvPr id="5" name="Content Placeholder 2">
            <a:hlinkClick r:id="rId4" action="ppaction://hlinksldjump"/>
            <a:extLst>
              <a:ext uri="{FF2B5EF4-FFF2-40B4-BE49-F238E27FC236}">
                <a16:creationId xmlns:a16="http://schemas.microsoft.com/office/drawing/2014/main" id="{979AF750-E825-4FA4-A03D-0705AD89F7A4}"/>
              </a:ext>
            </a:extLst>
          </p:cNvPr>
          <p:cNvSpPr txBox="1">
            <a:spLocks/>
          </p:cNvSpPr>
          <p:nvPr/>
        </p:nvSpPr>
        <p:spPr>
          <a:xfrm>
            <a:off x="3104711" y="242167"/>
            <a:ext cx="2404871" cy="604157"/>
          </a:xfrm>
          <a:prstGeom prst="rect">
            <a:avLst/>
          </a:prstGeom>
        </p:spPr>
        <p:txBody>
          <a:bodyPr vert="horz" lIns="45720" tIns="45720" rIns="45720" bIns="45720" rtlCol="0">
            <a:normAutofit fontScale="925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err="1"/>
              <a:t>Struktur</a:t>
            </a:r>
            <a:r>
              <a:rPr lang="en-US" dirty="0"/>
              <a:t> Database</a:t>
            </a:r>
          </a:p>
        </p:txBody>
      </p:sp>
      <p:sp>
        <p:nvSpPr>
          <p:cNvPr id="6" name="Content Placeholder 2">
            <a:hlinkClick r:id="rId5" action="ppaction://hlinksldjump"/>
            <a:extLst>
              <a:ext uri="{FF2B5EF4-FFF2-40B4-BE49-F238E27FC236}">
                <a16:creationId xmlns:a16="http://schemas.microsoft.com/office/drawing/2014/main" id="{536F6C6A-B852-43FE-8BBB-D7E86F3B2622}"/>
              </a:ext>
            </a:extLst>
          </p:cNvPr>
          <p:cNvSpPr txBox="1">
            <a:spLocks/>
          </p:cNvSpPr>
          <p:nvPr/>
        </p:nvSpPr>
        <p:spPr>
          <a:xfrm>
            <a:off x="5509582" y="242167"/>
            <a:ext cx="1408828"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RDBMS</a:t>
            </a:r>
          </a:p>
        </p:txBody>
      </p:sp>
      <p:sp>
        <p:nvSpPr>
          <p:cNvPr id="7" name="Content Placeholder 2">
            <a:hlinkClick r:id="rId6" action="ppaction://hlinksldjump"/>
            <a:extLst>
              <a:ext uri="{FF2B5EF4-FFF2-40B4-BE49-F238E27FC236}">
                <a16:creationId xmlns:a16="http://schemas.microsoft.com/office/drawing/2014/main" id="{8E0110EF-2433-4698-B186-10FF5785B923}"/>
              </a:ext>
            </a:extLst>
          </p:cNvPr>
          <p:cNvSpPr txBox="1">
            <a:spLocks/>
          </p:cNvSpPr>
          <p:nvPr/>
        </p:nvSpPr>
        <p:spPr>
          <a:xfrm>
            <a:off x="6655638" y="242167"/>
            <a:ext cx="1408828" cy="604157"/>
          </a:xfrm>
          <a:prstGeom prst="rect">
            <a:avLst/>
          </a:prstGeom>
        </p:spPr>
        <p:txBody>
          <a:bodyPr vert="horz" lIns="45720" tIns="45720" rIns="45720" bIns="45720" rtlCol="0">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Kesimpulan</a:t>
            </a:r>
          </a:p>
        </p:txBody>
      </p:sp>
      <p:sp>
        <p:nvSpPr>
          <p:cNvPr id="8" name="Content Placeholder 2">
            <a:hlinkClick r:id="rId7" action="ppaction://hlinksldjump"/>
            <a:extLst>
              <a:ext uri="{FF2B5EF4-FFF2-40B4-BE49-F238E27FC236}">
                <a16:creationId xmlns:a16="http://schemas.microsoft.com/office/drawing/2014/main" id="{78DF9637-401F-47EE-8373-B4BA373A0882}"/>
              </a:ext>
            </a:extLst>
          </p:cNvPr>
          <p:cNvSpPr txBox="1">
            <a:spLocks/>
          </p:cNvSpPr>
          <p:nvPr/>
        </p:nvSpPr>
        <p:spPr>
          <a:xfrm>
            <a:off x="572805" y="230737"/>
            <a:ext cx="1621100"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Home</a:t>
            </a:r>
          </a:p>
        </p:txBody>
      </p:sp>
      <p:sp>
        <p:nvSpPr>
          <p:cNvPr id="9" name="Content Placeholder 2">
            <a:hlinkClick r:id="rId8" action="ppaction://hlinksldjump"/>
            <a:extLst>
              <a:ext uri="{FF2B5EF4-FFF2-40B4-BE49-F238E27FC236}">
                <a16:creationId xmlns:a16="http://schemas.microsoft.com/office/drawing/2014/main" id="{312CC01C-EF0A-46EF-A334-778A7D4C1D3F}"/>
              </a:ext>
            </a:extLst>
          </p:cNvPr>
          <p:cNvSpPr txBox="1">
            <a:spLocks/>
          </p:cNvSpPr>
          <p:nvPr/>
        </p:nvSpPr>
        <p:spPr>
          <a:xfrm>
            <a:off x="8146107" y="230736"/>
            <a:ext cx="1621099" cy="604157"/>
          </a:xfrm>
          <a:prstGeom prst="rect">
            <a:avLst/>
          </a:prstGeom>
        </p:spPr>
        <p:txBody>
          <a:bodyPr vert="horz" lIns="45720" tIns="45720" rIns="45720" bIns="45720" rtlCol="0">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err="1"/>
              <a:t>Soal</a:t>
            </a:r>
            <a:r>
              <a:rPr lang="en-US" dirty="0"/>
              <a:t> </a:t>
            </a:r>
            <a:r>
              <a:rPr lang="en-US" dirty="0" err="1"/>
              <a:t>Latihan</a:t>
            </a:r>
            <a:endParaRPr lang="en-US" dirty="0"/>
          </a:p>
        </p:txBody>
      </p:sp>
      <p:sp>
        <p:nvSpPr>
          <p:cNvPr id="10" name="Content Placeholder 2">
            <a:hlinkClick r:id="rId9" action="ppaction://hlinksldjump"/>
            <a:extLst>
              <a:ext uri="{FF2B5EF4-FFF2-40B4-BE49-F238E27FC236}">
                <a16:creationId xmlns:a16="http://schemas.microsoft.com/office/drawing/2014/main" id="{8FFF06C8-E9CC-4C0C-894D-A294F795CF84}"/>
              </a:ext>
            </a:extLst>
          </p:cNvPr>
          <p:cNvSpPr txBox="1">
            <a:spLocks/>
          </p:cNvSpPr>
          <p:nvPr/>
        </p:nvSpPr>
        <p:spPr>
          <a:xfrm>
            <a:off x="9811616" y="242166"/>
            <a:ext cx="2088753"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What’s Next?</a:t>
            </a:r>
          </a:p>
        </p:txBody>
      </p:sp>
    </p:spTree>
    <p:extLst>
      <p:ext uri="{BB962C8B-B14F-4D97-AF65-F5344CB8AC3E}">
        <p14:creationId xmlns:p14="http://schemas.microsoft.com/office/powerpoint/2010/main" val="122565493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8D4A2-661C-4CF6-8951-C8F87134FC0C}"/>
              </a:ext>
            </a:extLst>
          </p:cNvPr>
          <p:cNvSpPr>
            <a:spLocks noGrp="1"/>
          </p:cNvSpPr>
          <p:nvPr>
            <p:ph type="title"/>
          </p:nvPr>
        </p:nvSpPr>
        <p:spPr>
          <a:xfrm>
            <a:off x="682205" y="1076184"/>
            <a:ext cx="9720072" cy="1074613"/>
          </a:xfrm>
        </p:spPr>
        <p:txBody>
          <a:bodyPr/>
          <a:lstStyle/>
          <a:p>
            <a:r>
              <a:rPr lang="en-US" dirty="0"/>
              <a:t>Database</a:t>
            </a:r>
          </a:p>
        </p:txBody>
      </p:sp>
      <p:sp>
        <p:nvSpPr>
          <p:cNvPr id="3" name="Content Placeholder 2">
            <a:extLst>
              <a:ext uri="{FF2B5EF4-FFF2-40B4-BE49-F238E27FC236}">
                <a16:creationId xmlns:a16="http://schemas.microsoft.com/office/drawing/2014/main" id="{E41FA152-5E59-4468-9AE9-034A395899F3}"/>
              </a:ext>
            </a:extLst>
          </p:cNvPr>
          <p:cNvSpPr>
            <a:spLocks noGrp="1"/>
          </p:cNvSpPr>
          <p:nvPr>
            <p:ph idx="1"/>
          </p:nvPr>
        </p:nvSpPr>
        <p:spPr>
          <a:xfrm>
            <a:off x="682204" y="2106386"/>
            <a:ext cx="9720073" cy="4282657"/>
          </a:xfrm>
        </p:spPr>
        <p:txBody>
          <a:bodyPr/>
          <a:lstStyle/>
          <a:p>
            <a:pPr algn="just"/>
            <a:r>
              <a:rPr lang="id-ID" dirty="0"/>
              <a:t>Database adalah sebuah tempat penyimpanan data dari kumpulan informasi di dalam komputer yang dihimpun secara sistematis</a:t>
            </a:r>
            <a:r>
              <a:rPr lang="en-US" dirty="0"/>
              <a:t>, </a:t>
            </a:r>
            <a:r>
              <a:rPr lang="en-US" dirty="0" err="1"/>
              <a:t>terstruktur</a:t>
            </a:r>
            <a:r>
              <a:rPr lang="en-US" dirty="0"/>
              <a:t> dan </a:t>
            </a:r>
            <a:r>
              <a:rPr lang="en-US" dirty="0" err="1"/>
              <a:t>terintegrasi</a:t>
            </a:r>
            <a:r>
              <a:rPr lang="id-ID" dirty="0"/>
              <a:t> </a:t>
            </a:r>
            <a:endParaRPr lang="en-US" dirty="0"/>
          </a:p>
          <a:p>
            <a:pPr algn="just"/>
            <a:r>
              <a:rPr lang="en-US" dirty="0"/>
              <a:t>Database</a:t>
            </a:r>
            <a:r>
              <a:rPr lang="id-ID" dirty="0"/>
              <a:t> diolah oleh program </a:t>
            </a:r>
            <a:r>
              <a:rPr lang="en-US" dirty="0"/>
              <a:t>k</a:t>
            </a:r>
            <a:r>
              <a:rPr lang="id-ID" dirty="0"/>
              <a:t>omputer</a:t>
            </a:r>
            <a:r>
              <a:rPr lang="en-US" dirty="0"/>
              <a:t> </a:t>
            </a:r>
            <a:r>
              <a:rPr lang="en-US" dirty="0" err="1"/>
              <a:t>untuk</a:t>
            </a:r>
            <a:r>
              <a:rPr lang="en-US" dirty="0"/>
              <a:t> </a:t>
            </a:r>
            <a:r>
              <a:rPr lang="en-US" dirty="0" err="1"/>
              <a:t>memudahkan</a:t>
            </a:r>
            <a:r>
              <a:rPr lang="en-US" dirty="0"/>
              <a:t> </a:t>
            </a:r>
            <a:r>
              <a:rPr lang="en-US" dirty="0" err="1"/>
              <a:t>manajemen</a:t>
            </a:r>
            <a:r>
              <a:rPr lang="en-US" dirty="0"/>
              <a:t> data </a:t>
            </a:r>
            <a:r>
              <a:rPr lang="en-US" dirty="0" err="1"/>
              <a:t>sehingga</a:t>
            </a:r>
            <a:r>
              <a:rPr lang="en-US" dirty="0"/>
              <a:t> </a:t>
            </a:r>
            <a:r>
              <a:rPr lang="en-US" dirty="0" err="1"/>
              <a:t>kita</a:t>
            </a:r>
            <a:r>
              <a:rPr lang="en-US" dirty="0"/>
              <a:t> </a:t>
            </a:r>
            <a:r>
              <a:rPr lang="en-US" dirty="0" err="1"/>
              <a:t>dapat</a:t>
            </a:r>
            <a:r>
              <a:rPr lang="en-US" dirty="0"/>
              <a:t> </a:t>
            </a:r>
            <a:r>
              <a:rPr lang="en-US" dirty="0" err="1"/>
              <a:t>menelusuri</a:t>
            </a:r>
            <a:r>
              <a:rPr lang="en-US" dirty="0"/>
              <a:t> </a:t>
            </a:r>
            <a:r>
              <a:rPr lang="en-US" dirty="0" err="1"/>
              <a:t>informasi</a:t>
            </a:r>
            <a:r>
              <a:rPr lang="en-US" dirty="0"/>
              <a:t> </a:t>
            </a:r>
            <a:r>
              <a:rPr lang="en-US" dirty="0" err="1"/>
              <a:t>dari</a:t>
            </a:r>
            <a:r>
              <a:rPr lang="en-US" dirty="0"/>
              <a:t> basis data </a:t>
            </a:r>
            <a:r>
              <a:rPr lang="en-US" dirty="0" err="1"/>
              <a:t>tersebut</a:t>
            </a:r>
            <a:r>
              <a:rPr lang="en-US" dirty="0"/>
              <a:t> </a:t>
            </a:r>
            <a:r>
              <a:rPr lang="id-ID" dirty="0"/>
              <a:t>untuk tujuan tertentu</a:t>
            </a:r>
            <a:r>
              <a:rPr lang="en-US" dirty="0"/>
              <a:t>, </a:t>
            </a:r>
            <a:r>
              <a:rPr lang="en-US" dirty="0" err="1"/>
              <a:t>misalnya</a:t>
            </a:r>
            <a:r>
              <a:rPr lang="en-US" dirty="0"/>
              <a:t> </a:t>
            </a:r>
            <a:r>
              <a:rPr lang="id-ID" dirty="0"/>
              <a:t>digunakan untuk mengambil sebuah keputusan penting bagi sebuah perusahaan</a:t>
            </a:r>
            <a:r>
              <a:rPr lang="en-US" dirty="0"/>
              <a:t>. </a:t>
            </a:r>
          </a:p>
          <a:p>
            <a:pPr algn="just"/>
            <a:endParaRPr lang="en-US" dirty="0"/>
          </a:p>
          <a:p>
            <a:pPr marL="0" indent="0" algn="just">
              <a:buNone/>
            </a:pPr>
            <a:endParaRPr lang="en-US" dirty="0"/>
          </a:p>
          <a:p>
            <a:pPr algn="just"/>
            <a:endParaRPr lang="en-US" dirty="0"/>
          </a:p>
        </p:txBody>
      </p:sp>
      <p:sp>
        <p:nvSpPr>
          <p:cNvPr id="9" name="Content Placeholder 2">
            <a:extLst>
              <a:ext uri="{FF2B5EF4-FFF2-40B4-BE49-F238E27FC236}">
                <a16:creationId xmlns:a16="http://schemas.microsoft.com/office/drawing/2014/main" id="{9B75DB00-0B6F-4058-A9E7-64094B8A941D}"/>
              </a:ext>
            </a:extLst>
          </p:cNvPr>
          <p:cNvSpPr txBox="1">
            <a:spLocks/>
          </p:cNvSpPr>
          <p:nvPr/>
        </p:nvSpPr>
        <p:spPr>
          <a:xfrm>
            <a:off x="1728541" y="234641"/>
            <a:ext cx="1408828" cy="604157"/>
          </a:xfrm>
          <a:prstGeom prst="rect">
            <a:avLst/>
          </a:prstGeom>
        </p:spPr>
        <p:txBody>
          <a:bodyPr vert="horz" lIns="45720" tIns="45720" rIns="45720" bIns="45720" rtlCol="0">
            <a:normAutofit fontScale="925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a:hlinkClick r:id="rId3" action="ppaction://hlinksldjump"/>
              </a:rPr>
              <a:t>Database</a:t>
            </a:r>
            <a:endParaRPr lang="en-US" dirty="0">
              <a:hlinkClick r:id="rId3" action="ppaction://hlinksldjump"/>
            </a:endParaRPr>
          </a:p>
        </p:txBody>
      </p:sp>
      <p:sp>
        <p:nvSpPr>
          <p:cNvPr id="10" name="Content Placeholder 2">
            <a:hlinkClick r:id="rId4" action="ppaction://hlinksldjump"/>
            <a:extLst>
              <a:ext uri="{FF2B5EF4-FFF2-40B4-BE49-F238E27FC236}">
                <a16:creationId xmlns:a16="http://schemas.microsoft.com/office/drawing/2014/main" id="{04C32846-6744-45D7-9053-F04F68D9C56C}"/>
              </a:ext>
            </a:extLst>
          </p:cNvPr>
          <p:cNvSpPr txBox="1">
            <a:spLocks/>
          </p:cNvSpPr>
          <p:nvPr/>
        </p:nvSpPr>
        <p:spPr>
          <a:xfrm>
            <a:off x="3137369" y="240356"/>
            <a:ext cx="2404871" cy="604157"/>
          </a:xfrm>
          <a:prstGeom prst="rect">
            <a:avLst/>
          </a:prstGeom>
        </p:spPr>
        <p:txBody>
          <a:bodyPr vert="horz" lIns="45720" tIns="45720" rIns="45720" bIns="45720" rtlCol="0">
            <a:normAutofit fontScale="925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err="1"/>
              <a:t>Struktur</a:t>
            </a:r>
            <a:r>
              <a:rPr lang="en-US" dirty="0"/>
              <a:t> Database</a:t>
            </a:r>
          </a:p>
        </p:txBody>
      </p:sp>
      <p:sp>
        <p:nvSpPr>
          <p:cNvPr id="11" name="Content Placeholder 2">
            <a:hlinkClick r:id="rId5" action="ppaction://hlinksldjump"/>
            <a:extLst>
              <a:ext uri="{FF2B5EF4-FFF2-40B4-BE49-F238E27FC236}">
                <a16:creationId xmlns:a16="http://schemas.microsoft.com/office/drawing/2014/main" id="{990DB20E-8511-4EED-A6DE-F89488AFE115}"/>
              </a:ext>
            </a:extLst>
          </p:cNvPr>
          <p:cNvSpPr txBox="1">
            <a:spLocks/>
          </p:cNvSpPr>
          <p:nvPr/>
        </p:nvSpPr>
        <p:spPr>
          <a:xfrm>
            <a:off x="5542240" y="240356"/>
            <a:ext cx="1408828"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RDBMS</a:t>
            </a:r>
          </a:p>
        </p:txBody>
      </p:sp>
      <p:sp>
        <p:nvSpPr>
          <p:cNvPr id="12" name="Content Placeholder 2">
            <a:hlinkClick r:id="rId6" action="ppaction://hlinksldjump"/>
            <a:extLst>
              <a:ext uri="{FF2B5EF4-FFF2-40B4-BE49-F238E27FC236}">
                <a16:creationId xmlns:a16="http://schemas.microsoft.com/office/drawing/2014/main" id="{1A0BB97B-A1B3-4A04-9595-641835073CDB}"/>
              </a:ext>
            </a:extLst>
          </p:cNvPr>
          <p:cNvSpPr txBox="1">
            <a:spLocks/>
          </p:cNvSpPr>
          <p:nvPr/>
        </p:nvSpPr>
        <p:spPr>
          <a:xfrm>
            <a:off x="6688296" y="240356"/>
            <a:ext cx="1408828" cy="604157"/>
          </a:xfrm>
          <a:prstGeom prst="rect">
            <a:avLst/>
          </a:prstGeom>
        </p:spPr>
        <p:txBody>
          <a:bodyPr vert="horz" lIns="45720" tIns="45720" rIns="45720" bIns="45720" rtlCol="0">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Kesimpulan</a:t>
            </a:r>
          </a:p>
        </p:txBody>
      </p:sp>
      <p:sp>
        <p:nvSpPr>
          <p:cNvPr id="13" name="Content Placeholder 2">
            <a:hlinkClick r:id="rId7" action="ppaction://hlinksldjump"/>
            <a:extLst>
              <a:ext uri="{FF2B5EF4-FFF2-40B4-BE49-F238E27FC236}">
                <a16:creationId xmlns:a16="http://schemas.microsoft.com/office/drawing/2014/main" id="{2F7A4DED-2ED1-4AC8-9882-D26EAAA33B57}"/>
              </a:ext>
            </a:extLst>
          </p:cNvPr>
          <p:cNvSpPr txBox="1">
            <a:spLocks/>
          </p:cNvSpPr>
          <p:nvPr/>
        </p:nvSpPr>
        <p:spPr>
          <a:xfrm>
            <a:off x="605463" y="228926"/>
            <a:ext cx="1621100"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Home</a:t>
            </a:r>
          </a:p>
        </p:txBody>
      </p:sp>
      <p:sp>
        <p:nvSpPr>
          <p:cNvPr id="14" name="Content Placeholder 2">
            <a:hlinkClick r:id="rId8" action="ppaction://hlinksldjump"/>
            <a:extLst>
              <a:ext uri="{FF2B5EF4-FFF2-40B4-BE49-F238E27FC236}">
                <a16:creationId xmlns:a16="http://schemas.microsoft.com/office/drawing/2014/main" id="{5FAC4E2E-E145-4B48-B26C-B2EA92B448C4}"/>
              </a:ext>
            </a:extLst>
          </p:cNvPr>
          <p:cNvSpPr txBox="1">
            <a:spLocks/>
          </p:cNvSpPr>
          <p:nvPr/>
        </p:nvSpPr>
        <p:spPr>
          <a:xfrm>
            <a:off x="8178765" y="228925"/>
            <a:ext cx="1621099" cy="604157"/>
          </a:xfrm>
          <a:prstGeom prst="rect">
            <a:avLst/>
          </a:prstGeom>
        </p:spPr>
        <p:txBody>
          <a:bodyPr vert="horz" lIns="45720" tIns="45720" rIns="45720" bIns="45720" rtlCol="0">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err="1"/>
              <a:t>Soal</a:t>
            </a:r>
            <a:r>
              <a:rPr lang="en-US" dirty="0"/>
              <a:t> </a:t>
            </a:r>
            <a:r>
              <a:rPr lang="en-US" dirty="0" err="1"/>
              <a:t>Latihan</a:t>
            </a:r>
            <a:endParaRPr lang="en-US" dirty="0"/>
          </a:p>
        </p:txBody>
      </p:sp>
      <p:sp>
        <p:nvSpPr>
          <p:cNvPr id="15" name="Content Placeholder 2">
            <a:hlinkClick r:id="rId9" action="ppaction://hlinksldjump"/>
            <a:extLst>
              <a:ext uri="{FF2B5EF4-FFF2-40B4-BE49-F238E27FC236}">
                <a16:creationId xmlns:a16="http://schemas.microsoft.com/office/drawing/2014/main" id="{A6A6D875-7B98-4A51-BDE0-C0034479E1B3}"/>
              </a:ext>
            </a:extLst>
          </p:cNvPr>
          <p:cNvSpPr txBox="1">
            <a:spLocks/>
          </p:cNvSpPr>
          <p:nvPr/>
        </p:nvSpPr>
        <p:spPr>
          <a:xfrm>
            <a:off x="9844274" y="240355"/>
            <a:ext cx="2088753"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What’s Next?</a:t>
            </a:r>
          </a:p>
        </p:txBody>
      </p:sp>
    </p:spTree>
    <p:extLst>
      <p:ext uri="{BB962C8B-B14F-4D97-AF65-F5344CB8AC3E}">
        <p14:creationId xmlns:p14="http://schemas.microsoft.com/office/powerpoint/2010/main" val="410692170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F6EBE-88D3-4C08-B154-C7A3EA754D55}"/>
              </a:ext>
            </a:extLst>
          </p:cNvPr>
          <p:cNvSpPr>
            <a:spLocks noGrp="1"/>
          </p:cNvSpPr>
          <p:nvPr>
            <p:ph type="title"/>
          </p:nvPr>
        </p:nvSpPr>
        <p:spPr>
          <a:xfrm>
            <a:off x="682204" y="833082"/>
            <a:ext cx="9720072" cy="1499616"/>
          </a:xfrm>
        </p:spPr>
        <p:txBody>
          <a:bodyPr/>
          <a:lstStyle/>
          <a:p>
            <a:r>
              <a:rPr lang="en-US" dirty="0" err="1"/>
              <a:t>Sistem</a:t>
            </a:r>
            <a:r>
              <a:rPr lang="en-US" dirty="0"/>
              <a:t> database</a:t>
            </a:r>
          </a:p>
        </p:txBody>
      </p:sp>
      <p:pic>
        <p:nvPicPr>
          <p:cNvPr id="4" name="Content Placeholder 3">
            <a:extLst>
              <a:ext uri="{FF2B5EF4-FFF2-40B4-BE49-F238E27FC236}">
                <a16:creationId xmlns:a16="http://schemas.microsoft.com/office/drawing/2014/main" id="{23101CB8-08C8-4EEB-AEE7-957194DCCE64}"/>
              </a:ext>
            </a:extLst>
          </p:cNvPr>
          <p:cNvPicPr>
            <a:picLocks noGrp="1" noChangeAspect="1"/>
          </p:cNvPicPr>
          <p:nvPr>
            <p:ph idx="1"/>
          </p:nvPr>
        </p:nvPicPr>
        <p:blipFill rotWithShape="1">
          <a:blip r:embed="rId3"/>
          <a:srcRect l="35999" t="53174" r="19957" b="15166"/>
          <a:stretch/>
        </p:blipFill>
        <p:spPr>
          <a:xfrm>
            <a:off x="1789724" y="2332698"/>
            <a:ext cx="7258611" cy="2933530"/>
          </a:xfrm>
          <a:prstGeom prst="rect">
            <a:avLst/>
          </a:prstGeom>
        </p:spPr>
      </p:pic>
      <p:sp>
        <p:nvSpPr>
          <p:cNvPr id="5" name="Content Placeholder 2">
            <a:extLst>
              <a:ext uri="{FF2B5EF4-FFF2-40B4-BE49-F238E27FC236}">
                <a16:creationId xmlns:a16="http://schemas.microsoft.com/office/drawing/2014/main" id="{36666F2F-2D09-48EB-93FD-488F263864C6}"/>
              </a:ext>
            </a:extLst>
          </p:cNvPr>
          <p:cNvSpPr txBox="1">
            <a:spLocks/>
          </p:cNvSpPr>
          <p:nvPr/>
        </p:nvSpPr>
        <p:spPr>
          <a:xfrm>
            <a:off x="1728541" y="234641"/>
            <a:ext cx="1408828" cy="604157"/>
          </a:xfrm>
          <a:prstGeom prst="rect">
            <a:avLst/>
          </a:prstGeom>
        </p:spPr>
        <p:txBody>
          <a:bodyPr vert="horz" lIns="45720" tIns="45720" rIns="45720" bIns="45720" rtlCol="0">
            <a:normAutofit fontScale="925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a:hlinkClick r:id="rId4" action="ppaction://hlinksldjump"/>
              </a:rPr>
              <a:t>Database</a:t>
            </a:r>
            <a:endParaRPr lang="en-US" dirty="0">
              <a:hlinkClick r:id="rId4" action="ppaction://hlinksldjump"/>
            </a:endParaRPr>
          </a:p>
        </p:txBody>
      </p:sp>
      <p:sp>
        <p:nvSpPr>
          <p:cNvPr id="6" name="Content Placeholder 2">
            <a:hlinkClick r:id="rId5" action="ppaction://hlinksldjump"/>
            <a:extLst>
              <a:ext uri="{FF2B5EF4-FFF2-40B4-BE49-F238E27FC236}">
                <a16:creationId xmlns:a16="http://schemas.microsoft.com/office/drawing/2014/main" id="{F783B3EA-B849-4AB3-977D-6738F2C43F0E}"/>
              </a:ext>
            </a:extLst>
          </p:cNvPr>
          <p:cNvSpPr txBox="1">
            <a:spLocks/>
          </p:cNvSpPr>
          <p:nvPr/>
        </p:nvSpPr>
        <p:spPr>
          <a:xfrm>
            <a:off x="3137369" y="240356"/>
            <a:ext cx="2404871" cy="604157"/>
          </a:xfrm>
          <a:prstGeom prst="rect">
            <a:avLst/>
          </a:prstGeom>
        </p:spPr>
        <p:txBody>
          <a:bodyPr vert="horz" lIns="45720" tIns="45720" rIns="45720" bIns="45720" rtlCol="0">
            <a:normAutofit fontScale="925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err="1"/>
              <a:t>Struktur</a:t>
            </a:r>
            <a:r>
              <a:rPr lang="en-US" dirty="0"/>
              <a:t> Database</a:t>
            </a:r>
          </a:p>
        </p:txBody>
      </p:sp>
      <p:sp>
        <p:nvSpPr>
          <p:cNvPr id="7" name="Content Placeholder 2">
            <a:hlinkClick r:id="rId6" action="ppaction://hlinksldjump"/>
            <a:extLst>
              <a:ext uri="{FF2B5EF4-FFF2-40B4-BE49-F238E27FC236}">
                <a16:creationId xmlns:a16="http://schemas.microsoft.com/office/drawing/2014/main" id="{50293DD6-93A6-4312-80D1-A7F146B5ABBF}"/>
              </a:ext>
            </a:extLst>
          </p:cNvPr>
          <p:cNvSpPr txBox="1">
            <a:spLocks/>
          </p:cNvSpPr>
          <p:nvPr/>
        </p:nvSpPr>
        <p:spPr>
          <a:xfrm>
            <a:off x="5542240" y="240356"/>
            <a:ext cx="1408828"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RDBMS</a:t>
            </a:r>
          </a:p>
        </p:txBody>
      </p:sp>
      <p:sp>
        <p:nvSpPr>
          <p:cNvPr id="8" name="Content Placeholder 2">
            <a:hlinkClick r:id="rId7" action="ppaction://hlinksldjump"/>
            <a:extLst>
              <a:ext uri="{FF2B5EF4-FFF2-40B4-BE49-F238E27FC236}">
                <a16:creationId xmlns:a16="http://schemas.microsoft.com/office/drawing/2014/main" id="{2D3086B5-C86D-401E-8CD3-C73E82349827}"/>
              </a:ext>
            </a:extLst>
          </p:cNvPr>
          <p:cNvSpPr txBox="1">
            <a:spLocks/>
          </p:cNvSpPr>
          <p:nvPr/>
        </p:nvSpPr>
        <p:spPr>
          <a:xfrm>
            <a:off x="6688296" y="240356"/>
            <a:ext cx="1408828" cy="604157"/>
          </a:xfrm>
          <a:prstGeom prst="rect">
            <a:avLst/>
          </a:prstGeom>
        </p:spPr>
        <p:txBody>
          <a:bodyPr vert="horz" lIns="45720" tIns="45720" rIns="45720" bIns="45720" rtlCol="0">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Kesimpulan</a:t>
            </a:r>
          </a:p>
        </p:txBody>
      </p:sp>
      <p:sp>
        <p:nvSpPr>
          <p:cNvPr id="9" name="Content Placeholder 2">
            <a:hlinkClick r:id="rId8" action="ppaction://hlinksldjump"/>
            <a:extLst>
              <a:ext uri="{FF2B5EF4-FFF2-40B4-BE49-F238E27FC236}">
                <a16:creationId xmlns:a16="http://schemas.microsoft.com/office/drawing/2014/main" id="{A8EEE58A-91CC-4798-99EF-BDCC63B9E5A4}"/>
              </a:ext>
            </a:extLst>
          </p:cNvPr>
          <p:cNvSpPr txBox="1">
            <a:spLocks/>
          </p:cNvSpPr>
          <p:nvPr/>
        </p:nvSpPr>
        <p:spPr>
          <a:xfrm>
            <a:off x="605463" y="228926"/>
            <a:ext cx="1621100"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Home</a:t>
            </a:r>
          </a:p>
        </p:txBody>
      </p:sp>
      <p:sp>
        <p:nvSpPr>
          <p:cNvPr id="10" name="Content Placeholder 2">
            <a:hlinkClick r:id="rId9" action="ppaction://hlinksldjump"/>
            <a:extLst>
              <a:ext uri="{FF2B5EF4-FFF2-40B4-BE49-F238E27FC236}">
                <a16:creationId xmlns:a16="http://schemas.microsoft.com/office/drawing/2014/main" id="{04EA1660-2E8A-4CBD-9DBF-C3548269586A}"/>
              </a:ext>
            </a:extLst>
          </p:cNvPr>
          <p:cNvSpPr txBox="1">
            <a:spLocks/>
          </p:cNvSpPr>
          <p:nvPr/>
        </p:nvSpPr>
        <p:spPr>
          <a:xfrm>
            <a:off x="8178765" y="228925"/>
            <a:ext cx="1621099" cy="604157"/>
          </a:xfrm>
          <a:prstGeom prst="rect">
            <a:avLst/>
          </a:prstGeom>
        </p:spPr>
        <p:txBody>
          <a:bodyPr vert="horz" lIns="45720" tIns="45720" rIns="45720" bIns="45720" rtlCol="0">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err="1"/>
              <a:t>Soal</a:t>
            </a:r>
            <a:r>
              <a:rPr lang="en-US" dirty="0"/>
              <a:t> </a:t>
            </a:r>
            <a:r>
              <a:rPr lang="en-US" dirty="0" err="1"/>
              <a:t>Latihan</a:t>
            </a:r>
            <a:endParaRPr lang="en-US" dirty="0"/>
          </a:p>
        </p:txBody>
      </p:sp>
      <p:sp>
        <p:nvSpPr>
          <p:cNvPr id="11" name="Content Placeholder 2">
            <a:hlinkClick r:id="rId10" action="ppaction://hlinksldjump"/>
            <a:extLst>
              <a:ext uri="{FF2B5EF4-FFF2-40B4-BE49-F238E27FC236}">
                <a16:creationId xmlns:a16="http://schemas.microsoft.com/office/drawing/2014/main" id="{4AD3772A-183E-4DA8-A54C-EAB30540EBEC}"/>
              </a:ext>
            </a:extLst>
          </p:cNvPr>
          <p:cNvSpPr txBox="1">
            <a:spLocks/>
          </p:cNvSpPr>
          <p:nvPr/>
        </p:nvSpPr>
        <p:spPr>
          <a:xfrm>
            <a:off x="9844274" y="240355"/>
            <a:ext cx="2088753"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What’s Next?</a:t>
            </a:r>
          </a:p>
        </p:txBody>
      </p:sp>
    </p:spTree>
    <p:extLst>
      <p:ext uri="{BB962C8B-B14F-4D97-AF65-F5344CB8AC3E}">
        <p14:creationId xmlns:p14="http://schemas.microsoft.com/office/powerpoint/2010/main" val="142364165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1E8A2-769F-4751-B64E-3B4FCFA03C5E}"/>
              </a:ext>
            </a:extLst>
          </p:cNvPr>
          <p:cNvSpPr>
            <a:spLocks noGrp="1"/>
          </p:cNvSpPr>
          <p:nvPr>
            <p:ph type="title"/>
          </p:nvPr>
        </p:nvSpPr>
        <p:spPr/>
        <p:txBody>
          <a:bodyPr/>
          <a:lstStyle/>
          <a:p>
            <a:r>
              <a:rPr lang="en-US" dirty="0"/>
              <a:t>SQL</a:t>
            </a:r>
          </a:p>
        </p:txBody>
      </p:sp>
      <p:sp>
        <p:nvSpPr>
          <p:cNvPr id="3" name="Content Placeholder 2">
            <a:extLst>
              <a:ext uri="{FF2B5EF4-FFF2-40B4-BE49-F238E27FC236}">
                <a16:creationId xmlns:a16="http://schemas.microsoft.com/office/drawing/2014/main" id="{D47E8739-02B3-47D3-BA9F-15E073546E84}"/>
              </a:ext>
            </a:extLst>
          </p:cNvPr>
          <p:cNvSpPr>
            <a:spLocks noGrp="1"/>
          </p:cNvSpPr>
          <p:nvPr>
            <p:ph idx="1"/>
          </p:nvPr>
        </p:nvSpPr>
        <p:spPr>
          <a:xfrm>
            <a:off x="1024128" y="1861457"/>
            <a:ext cx="10650801" cy="4658613"/>
          </a:xfrm>
        </p:spPr>
        <p:txBody>
          <a:bodyPr>
            <a:normAutofit fontScale="92500" lnSpcReduction="10000"/>
          </a:bodyPr>
          <a:lstStyle/>
          <a:p>
            <a:pPr algn="just"/>
            <a:r>
              <a:rPr lang="en-US" dirty="0"/>
              <a:t>SQL </a:t>
            </a:r>
            <a:r>
              <a:rPr lang="en-US" dirty="0" err="1"/>
              <a:t>adalah</a:t>
            </a:r>
            <a:r>
              <a:rPr lang="en-US" dirty="0"/>
              <a:t> </a:t>
            </a:r>
            <a:r>
              <a:rPr lang="en-US" dirty="0" err="1"/>
              <a:t>sekumpulan</a:t>
            </a:r>
            <a:r>
              <a:rPr lang="en-US" dirty="0"/>
              <a:t> </a:t>
            </a:r>
            <a:r>
              <a:rPr lang="en-US" dirty="0" err="1"/>
              <a:t>perintah</a:t>
            </a:r>
            <a:r>
              <a:rPr lang="en-US" dirty="0"/>
              <a:t> </a:t>
            </a:r>
            <a:r>
              <a:rPr lang="en-US" dirty="0" err="1"/>
              <a:t>khusus</a:t>
            </a:r>
            <a:r>
              <a:rPr lang="en-US" dirty="0"/>
              <a:t> yang </a:t>
            </a:r>
            <a:r>
              <a:rPr lang="en-US" dirty="0" err="1"/>
              <a:t>digunakan</a:t>
            </a:r>
            <a:r>
              <a:rPr lang="en-US" dirty="0"/>
              <a:t> </a:t>
            </a:r>
            <a:r>
              <a:rPr lang="en-US" dirty="0" err="1"/>
              <a:t>untuk</a:t>
            </a:r>
            <a:r>
              <a:rPr lang="en-US" dirty="0"/>
              <a:t> </a:t>
            </a:r>
            <a:r>
              <a:rPr lang="en-US" dirty="0" err="1"/>
              <a:t>mengakses</a:t>
            </a:r>
            <a:r>
              <a:rPr lang="en-US" dirty="0"/>
              <a:t> data </a:t>
            </a:r>
            <a:r>
              <a:rPr lang="en-US" dirty="0" err="1"/>
              <a:t>dalam</a:t>
            </a:r>
            <a:r>
              <a:rPr lang="en-US" dirty="0"/>
              <a:t> database </a:t>
            </a:r>
            <a:r>
              <a:rPr lang="en-US" dirty="0" err="1"/>
              <a:t>relasional</a:t>
            </a:r>
            <a:r>
              <a:rPr lang="en-US" dirty="0"/>
              <a:t>. </a:t>
            </a:r>
          </a:p>
          <a:p>
            <a:pPr algn="just"/>
            <a:r>
              <a:rPr lang="en-US" dirty="0"/>
              <a:t>SQL </a:t>
            </a:r>
            <a:r>
              <a:rPr lang="en-US" dirty="0" err="1"/>
              <a:t>merupakan</a:t>
            </a:r>
            <a:r>
              <a:rPr lang="en-US" dirty="0"/>
              <a:t> </a:t>
            </a:r>
            <a:r>
              <a:rPr lang="en-US" dirty="0" err="1"/>
              <a:t>sebuah</a:t>
            </a:r>
            <a:r>
              <a:rPr lang="en-US" dirty="0"/>
              <a:t> </a:t>
            </a:r>
            <a:r>
              <a:rPr lang="en-US" dirty="0" err="1"/>
              <a:t>bahasa</a:t>
            </a:r>
            <a:r>
              <a:rPr lang="en-US" dirty="0"/>
              <a:t> </a:t>
            </a:r>
            <a:r>
              <a:rPr lang="en-US" dirty="0" err="1"/>
              <a:t>komputer</a:t>
            </a:r>
            <a:r>
              <a:rPr lang="en-US" dirty="0"/>
              <a:t> yang </a:t>
            </a:r>
            <a:r>
              <a:rPr lang="en-US" dirty="0" err="1"/>
              <a:t>mengikuti</a:t>
            </a:r>
            <a:r>
              <a:rPr lang="en-US" dirty="0"/>
              <a:t> </a:t>
            </a:r>
            <a:r>
              <a:rPr lang="en-US" dirty="0" err="1"/>
              <a:t>standar</a:t>
            </a:r>
            <a:r>
              <a:rPr lang="en-US" dirty="0"/>
              <a:t> ANSI (American Nasional Standard Institute) yang </a:t>
            </a:r>
            <a:r>
              <a:rPr lang="en-US" dirty="0" err="1"/>
              <a:t>digunakan</a:t>
            </a:r>
            <a:r>
              <a:rPr lang="en-US" dirty="0"/>
              <a:t> </a:t>
            </a:r>
            <a:r>
              <a:rPr lang="en-US" dirty="0" err="1"/>
              <a:t>dalam</a:t>
            </a:r>
            <a:r>
              <a:rPr lang="en-US" dirty="0"/>
              <a:t> </a:t>
            </a:r>
            <a:r>
              <a:rPr lang="en-US" dirty="0" err="1"/>
              <a:t>manajemen</a:t>
            </a:r>
            <a:r>
              <a:rPr lang="en-US" dirty="0"/>
              <a:t> database </a:t>
            </a:r>
            <a:r>
              <a:rPr lang="en-US" dirty="0" err="1"/>
              <a:t>relasional</a:t>
            </a:r>
            <a:r>
              <a:rPr lang="en-US" dirty="0"/>
              <a:t>.</a:t>
            </a:r>
          </a:p>
          <a:p>
            <a:r>
              <a:rPr lang="en-US" dirty="0" err="1"/>
              <a:t>Terdapat</a:t>
            </a:r>
            <a:r>
              <a:rPr lang="en-US" dirty="0"/>
              <a:t> 3 (</a:t>
            </a:r>
            <a:r>
              <a:rPr lang="en-US" dirty="0" err="1"/>
              <a:t>tiga</a:t>
            </a:r>
            <a:r>
              <a:rPr lang="en-US" dirty="0"/>
              <a:t>) </a:t>
            </a:r>
            <a:r>
              <a:rPr lang="en-US" dirty="0" err="1"/>
              <a:t>jenis</a:t>
            </a:r>
            <a:r>
              <a:rPr lang="en-US" dirty="0"/>
              <a:t> </a:t>
            </a:r>
            <a:r>
              <a:rPr lang="en-US" dirty="0" err="1"/>
              <a:t>perintah</a:t>
            </a:r>
            <a:r>
              <a:rPr lang="en-US" dirty="0"/>
              <a:t> SQL, </a:t>
            </a:r>
            <a:r>
              <a:rPr lang="en-US" dirty="0" err="1"/>
              <a:t>yaitu</a:t>
            </a:r>
            <a:r>
              <a:rPr lang="en-US" dirty="0"/>
              <a:t> :</a:t>
            </a:r>
          </a:p>
          <a:p>
            <a:r>
              <a:rPr lang="en-US" b="1" dirty="0"/>
              <a:t>1. DDL </a:t>
            </a:r>
            <a:r>
              <a:rPr lang="en-US" b="1" dirty="0" err="1"/>
              <a:t>atau</a:t>
            </a:r>
            <a:r>
              <a:rPr lang="en-US" b="1" dirty="0"/>
              <a:t> Data Definition Language </a:t>
            </a:r>
            <a:br>
              <a:rPr lang="en-US" b="1" dirty="0"/>
            </a:br>
            <a:r>
              <a:rPr lang="en-US" b="1" dirty="0"/>
              <a:t>-&gt; </a:t>
            </a:r>
            <a:r>
              <a:rPr lang="en-US" dirty="0" err="1"/>
              <a:t>berhubungan</a:t>
            </a:r>
            <a:r>
              <a:rPr lang="en-US" dirty="0"/>
              <a:t> </a:t>
            </a:r>
            <a:r>
              <a:rPr lang="en-US" dirty="0" err="1"/>
              <a:t>dengan</a:t>
            </a:r>
            <a:r>
              <a:rPr lang="en-US" dirty="0"/>
              <a:t> </a:t>
            </a:r>
            <a:r>
              <a:rPr lang="en-US" dirty="0" err="1"/>
              <a:t>pendefinisian</a:t>
            </a:r>
            <a:r>
              <a:rPr lang="en-US" dirty="0"/>
              <a:t> </a:t>
            </a:r>
            <a:r>
              <a:rPr lang="en-US" dirty="0" err="1"/>
              <a:t>suatu</a:t>
            </a:r>
            <a:r>
              <a:rPr lang="en-US" dirty="0"/>
              <a:t> </a:t>
            </a:r>
            <a:r>
              <a:rPr lang="en-US" dirty="0" err="1"/>
              <a:t>struktur</a:t>
            </a:r>
            <a:r>
              <a:rPr lang="en-US" dirty="0"/>
              <a:t> database. </a:t>
            </a:r>
            <a:r>
              <a:rPr lang="en-US" dirty="0" err="1"/>
              <a:t>Perintah</a:t>
            </a:r>
            <a:r>
              <a:rPr lang="en-US" dirty="0"/>
              <a:t> SQL yang </a:t>
            </a:r>
            <a:r>
              <a:rPr lang="en-US" dirty="0" err="1"/>
              <a:t>termasuk</a:t>
            </a:r>
            <a:r>
              <a:rPr lang="en-US" dirty="0"/>
              <a:t> </a:t>
            </a:r>
            <a:r>
              <a:rPr lang="en-US" dirty="0" err="1"/>
              <a:t>dalam</a:t>
            </a:r>
            <a:r>
              <a:rPr lang="en-US" dirty="0"/>
              <a:t> DDL :  CREATE, ALTER, RENAME, DROP</a:t>
            </a:r>
            <a:br>
              <a:rPr lang="en-US" dirty="0"/>
            </a:br>
            <a:endParaRPr lang="en-US" b="1" dirty="0"/>
          </a:p>
          <a:p>
            <a:r>
              <a:rPr lang="en-US" b="1" dirty="0"/>
              <a:t>2. DML </a:t>
            </a:r>
            <a:r>
              <a:rPr lang="en-US" b="1" dirty="0" err="1"/>
              <a:t>atau</a:t>
            </a:r>
            <a:r>
              <a:rPr lang="en-US" b="1" dirty="0"/>
              <a:t> Data Manipulation Language</a:t>
            </a:r>
            <a:br>
              <a:rPr lang="en-US" b="1" dirty="0"/>
            </a:br>
            <a:r>
              <a:rPr lang="en-US" dirty="0"/>
              <a:t>-&gt;</a:t>
            </a:r>
            <a:r>
              <a:rPr lang="en-US" dirty="0" err="1"/>
              <a:t>berhubungan</a:t>
            </a:r>
            <a:r>
              <a:rPr lang="en-US" dirty="0"/>
              <a:t> </a:t>
            </a:r>
            <a:r>
              <a:rPr lang="en-US" dirty="0" err="1"/>
              <a:t>dengan</a:t>
            </a:r>
            <a:r>
              <a:rPr lang="en-US" dirty="0"/>
              <a:t> </a:t>
            </a:r>
            <a:r>
              <a:rPr lang="en-US" dirty="0" err="1"/>
              <a:t>manipulasi</a:t>
            </a:r>
            <a:r>
              <a:rPr lang="en-US" dirty="0"/>
              <a:t> </a:t>
            </a:r>
            <a:r>
              <a:rPr lang="en-US" dirty="0" err="1"/>
              <a:t>atau</a:t>
            </a:r>
            <a:r>
              <a:rPr lang="en-US" dirty="0"/>
              <a:t> </a:t>
            </a:r>
            <a:r>
              <a:rPr lang="en-US" dirty="0" err="1"/>
              <a:t>pengolahan</a:t>
            </a:r>
            <a:r>
              <a:rPr lang="en-US" dirty="0"/>
              <a:t> data/record </a:t>
            </a:r>
            <a:r>
              <a:rPr lang="en-US" dirty="0" err="1"/>
              <a:t>dalam</a:t>
            </a:r>
            <a:r>
              <a:rPr lang="en-US" dirty="0"/>
              <a:t> table. </a:t>
            </a:r>
            <a:r>
              <a:rPr lang="en-US" dirty="0" err="1"/>
              <a:t>Perintah</a:t>
            </a:r>
            <a:r>
              <a:rPr lang="en-US" dirty="0"/>
              <a:t> SQL yang </a:t>
            </a:r>
            <a:r>
              <a:rPr lang="en-US" dirty="0" err="1"/>
              <a:t>termasuk</a:t>
            </a:r>
            <a:r>
              <a:rPr lang="en-US" dirty="0"/>
              <a:t> </a:t>
            </a:r>
            <a:r>
              <a:rPr lang="en-US" dirty="0" err="1"/>
              <a:t>dalam</a:t>
            </a:r>
            <a:r>
              <a:rPr lang="en-US" dirty="0"/>
              <a:t> DML : SELECT, INSERT, UPDATE, DELETE</a:t>
            </a:r>
          </a:p>
          <a:p>
            <a:r>
              <a:rPr lang="en-US" b="1" dirty="0"/>
              <a:t>3. DCL </a:t>
            </a:r>
            <a:r>
              <a:rPr lang="en-US" b="1" dirty="0" err="1"/>
              <a:t>atau</a:t>
            </a:r>
            <a:r>
              <a:rPr lang="en-US" b="1" dirty="0"/>
              <a:t> Data Control Language </a:t>
            </a:r>
            <a:r>
              <a:rPr lang="en-US" dirty="0"/>
              <a:t/>
            </a:r>
            <a:br>
              <a:rPr lang="en-US" dirty="0"/>
            </a:br>
            <a:r>
              <a:rPr lang="en-US" dirty="0"/>
              <a:t>-&gt;</a:t>
            </a:r>
            <a:r>
              <a:rPr lang="en-US" dirty="0" err="1"/>
              <a:t>berhubungan</a:t>
            </a:r>
            <a:r>
              <a:rPr lang="en-US" dirty="0"/>
              <a:t> </a:t>
            </a:r>
            <a:r>
              <a:rPr lang="en-US" dirty="0" err="1"/>
              <a:t>dengan</a:t>
            </a:r>
            <a:r>
              <a:rPr lang="en-US" dirty="0"/>
              <a:t> </a:t>
            </a:r>
            <a:r>
              <a:rPr lang="en-US" dirty="0" err="1"/>
              <a:t>pengaturan</a:t>
            </a:r>
            <a:r>
              <a:rPr lang="en-US" dirty="0"/>
              <a:t> </a:t>
            </a:r>
            <a:r>
              <a:rPr lang="en-US" dirty="0" err="1"/>
              <a:t>hak</a:t>
            </a:r>
            <a:r>
              <a:rPr lang="en-US" dirty="0"/>
              <a:t> </a:t>
            </a:r>
            <a:r>
              <a:rPr lang="en-US" dirty="0" err="1"/>
              <a:t>akses</a:t>
            </a:r>
            <a:r>
              <a:rPr lang="en-US" dirty="0"/>
              <a:t> user, </a:t>
            </a:r>
            <a:r>
              <a:rPr lang="en-US" dirty="0" err="1"/>
              <a:t>baik</a:t>
            </a:r>
            <a:r>
              <a:rPr lang="en-US" dirty="0"/>
              <a:t> </a:t>
            </a:r>
            <a:r>
              <a:rPr lang="en-US" dirty="0" err="1"/>
              <a:t>terhadap</a:t>
            </a:r>
            <a:r>
              <a:rPr lang="en-US" dirty="0"/>
              <a:t> server, database, table </a:t>
            </a:r>
            <a:r>
              <a:rPr lang="en-US" dirty="0" err="1"/>
              <a:t>maupun</a:t>
            </a:r>
            <a:r>
              <a:rPr lang="en-US" dirty="0"/>
              <a:t> field. </a:t>
            </a:r>
            <a:r>
              <a:rPr lang="en-US" dirty="0" err="1"/>
              <a:t>Perintah</a:t>
            </a:r>
            <a:r>
              <a:rPr lang="en-US" dirty="0"/>
              <a:t> SQL yang </a:t>
            </a:r>
            <a:r>
              <a:rPr lang="en-US" dirty="0" err="1"/>
              <a:t>termasuk</a:t>
            </a:r>
            <a:r>
              <a:rPr lang="en-US" dirty="0"/>
              <a:t> </a:t>
            </a:r>
            <a:r>
              <a:rPr lang="en-US" dirty="0" err="1"/>
              <a:t>dalam</a:t>
            </a:r>
            <a:r>
              <a:rPr lang="en-US" dirty="0"/>
              <a:t> DCL  : GRANT, REVOKE</a:t>
            </a:r>
          </a:p>
        </p:txBody>
      </p:sp>
      <p:sp>
        <p:nvSpPr>
          <p:cNvPr id="4" name="Content Placeholder 2">
            <a:extLst>
              <a:ext uri="{FF2B5EF4-FFF2-40B4-BE49-F238E27FC236}">
                <a16:creationId xmlns:a16="http://schemas.microsoft.com/office/drawing/2014/main" id="{1BC904F3-904D-45F9-85E0-CE5499B32718}"/>
              </a:ext>
            </a:extLst>
          </p:cNvPr>
          <p:cNvSpPr txBox="1">
            <a:spLocks/>
          </p:cNvSpPr>
          <p:nvPr/>
        </p:nvSpPr>
        <p:spPr>
          <a:xfrm>
            <a:off x="1728541" y="234641"/>
            <a:ext cx="1408828" cy="604157"/>
          </a:xfrm>
          <a:prstGeom prst="rect">
            <a:avLst/>
          </a:prstGeom>
        </p:spPr>
        <p:txBody>
          <a:bodyPr vert="horz" lIns="45720" tIns="45720" rIns="45720" bIns="45720" rtlCol="0">
            <a:normAutofit fontScale="925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a:hlinkClick r:id="rId2" action="ppaction://hlinksldjump"/>
              </a:rPr>
              <a:t>Database</a:t>
            </a:r>
            <a:endParaRPr lang="en-US" dirty="0">
              <a:hlinkClick r:id="rId2" action="ppaction://hlinksldjump"/>
            </a:endParaRPr>
          </a:p>
        </p:txBody>
      </p:sp>
      <p:sp>
        <p:nvSpPr>
          <p:cNvPr id="5" name="Content Placeholder 2">
            <a:hlinkClick r:id="rId3" action="ppaction://hlinksldjump"/>
            <a:extLst>
              <a:ext uri="{FF2B5EF4-FFF2-40B4-BE49-F238E27FC236}">
                <a16:creationId xmlns:a16="http://schemas.microsoft.com/office/drawing/2014/main" id="{D44A92AB-A4CF-4C2F-A011-DE483C386757}"/>
              </a:ext>
            </a:extLst>
          </p:cNvPr>
          <p:cNvSpPr txBox="1">
            <a:spLocks/>
          </p:cNvSpPr>
          <p:nvPr/>
        </p:nvSpPr>
        <p:spPr>
          <a:xfrm>
            <a:off x="3137369" y="240356"/>
            <a:ext cx="2404871" cy="604157"/>
          </a:xfrm>
          <a:prstGeom prst="rect">
            <a:avLst/>
          </a:prstGeom>
        </p:spPr>
        <p:txBody>
          <a:bodyPr vert="horz" lIns="45720" tIns="45720" rIns="45720" bIns="45720" rtlCol="0">
            <a:normAutofit fontScale="925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err="1"/>
              <a:t>Struktur</a:t>
            </a:r>
            <a:r>
              <a:rPr lang="en-US" dirty="0"/>
              <a:t> Database</a:t>
            </a:r>
          </a:p>
        </p:txBody>
      </p:sp>
      <p:sp>
        <p:nvSpPr>
          <p:cNvPr id="6" name="Content Placeholder 2">
            <a:hlinkClick r:id="rId4" action="ppaction://hlinksldjump"/>
            <a:extLst>
              <a:ext uri="{FF2B5EF4-FFF2-40B4-BE49-F238E27FC236}">
                <a16:creationId xmlns:a16="http://schemas.microsoft.com/office/drawing/2014/main" id="{04D04D25-95FD-4D6C-8807-A08DED94CD5F}"/>
              </a:ext>
            </a:extLst>
          </p:cNvPr>
          <p:cNvSpPr txBox="1">
            <a:spLocks/>
          </p:cNvSpPr>
          <p:nvPr/>
        </p:nvSpPr>
        <p:spPr>
          <a:xfrm>
            <a:off x="5542240" y="240356"/>
            <a:ext cx="1408828"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RDBMS</a:t>
            </a:r>
          </a:p>
        </p:txBody>
      </p:sp>
      <p:sp>
        <p:nvSpPr>
          <p:cNvPr id="7" name="Content Placeholder 2">
            <a:hlinkClick r:id="rId5" action="ppaction://hlinksldjump"/>
            <a:extLst>
              <a:ext uri="{FF2B5EF4-FFF2-40B4-BE49-F238E27FC236}">
                <a16:creationId xmlns:a16="http://schemas.microsoft.com/office/drawing/2014/main" id="{738F7B61-8A1B-4878-B463-C5276B325629}"/>
              </a:ext>
            </a:extLst>
          </p:cNvPr>
          <p:cNvSpPr txBox="1">
            <a:spLocks/>
          </p:cNvSpPr>
          <p:nvPr/>
        </p:nvSpPr>
        <p:spPr>
          <a:xfrm>
            <a:off x="6688296" y="240356"/>
            <a:ext cx="1408828" cy="604157"/>
          </a:xfrm>
          <a:prstGeom prst="rect">
            <a:avLst/>
          </a:prstGeom>
        </p:spPr>
        <p:txBody>
          <a:bodyPr vert="horz" lIns="45720" tIns="45720" rIns="45720" bIns="45720" rtlCol="0">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Kesimpulan</a:t>
            </a:r>
          </a:p>
        </p:txBody>
      </p:sp>
      <p:sp>
        <p:nvSpPr>
          <p:cNvPr id="8" name="Content Placeholder 2">
            <a:hlinkClick r:id="rId6" action="ppaction://hlinksldjump"/>
            <a:extLst>
              <a:ext uri="{FF2B5EF4-FFF2-40B4-BE49-F238E27FC236}">
                <a16:creationId xmlns:a16="http://schemas.microsoft.com/office/drawing/2014/main" id="{F9336A18-2F30-45A5-A283-9F4E123345C4}"/>
              </a:ext>
            </a:extLst>
          </p:cNvPr>
          <p:cNvSpPr txBox="1">
            <a:spLocks/>
          </p:cNvSpPr>
          <p:nvPr/>
        </p:nvSpPr>
        <p:spPr>
          <a:xfrm>
            <a:off x="605463" y="228926"/>
            <a:ext cx="1621100"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Home</a:t>
            </a:r>
          </a:p>
        </p:txBody>
      </p:sp>
      <p:sp>
        <p:nvSpPr>
          <p:cNvPr id="9" name="Content Placeholder 2">
            <a:hlinkClick r:id="rId7" action="ppaction://hlinksldjump"/>
            <a:extLst>
              <a:ext uri="{FF2B5EF4-FFF2-40B4-BE49-F238E27FC236}">
                <a16:creationId xmlns:a16="http://schemas.microsoft.com/office/drawing/2014/main" id="{6D25679A-532D-493C-91A4-CFC1D98384D7}"/>
              </a:ext>
            </a:extLst>
          </p:cNvPr>
          <p:cNvSpPr txBox="1">
            <a:spLocks/>
          </p:cNvSpPr>
          <p:nvPr/>
        </p:nvSpPr>
        <p:spPr>
          <a:xfrm>
            <a:off x="8178765" y="228925"/>
            <a:ext cx="1621099" cy="604157"/>
          </a:xfrm>
          <a:prstGeom prst="rect">
            <a:avLst/>
          </a:prstGeom>
        </p:spPr>
        <p:txBody>
          <a:bodyPr vert="horz" lIns="45720" tIns="45720" rIns="45720" bIns="45720" rtlCol="0">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err="1"/>
              <a:t>Soal</a:t>
            </a:r>
            <a:r>
              <a:rPr lang="en-US" dirty="0"/>
              <a:t> </a:t>
            </a:r>
            <a:r>
              <a:rPr lang="en-US" dirty="0" err="1"/>
              <a:t>Latihan</a:t>
            </a:r>
            <a:endParaRPr lang="en-US" dirty="0"/>
          </a:p>
        </p:txBody>
      </p:sp>
      <p:sp>
        <p:nvSpPr>
          <p:cNvPr id="10" name="Content Placeholder 2">
            <a:hlinkClick r:id="rId8" action="ppaction://hlinksldjump"/>
            <a:extLst>
              <a:ext uri="{FF2B5EF4-FFF2-40B4-BE49-F238E27FC236}">
                <a16:creationId xmlns:a16="http://schemas.microsoft.com/office/drawing/2014/main" id="{36A8DD31-8E97-4A2D-8F10-A7C741BBDF17}"/>
              </a:ext>
            </a:extLst>
          </p:cNvPr>
          <p:cNvSpPr txBox="1">
            <a:spLocks/>
          </p:cNvSpPr>
          <p:nvPr/>
        </p:nvSpPr>
        <p:spPr>
          <a:xfrm>
            <a:off x="9844274" y="240355"/>
            <a:ext cx="2088753"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What’s Next?</a:t>
            </a:r>
          </a:p>
        </p:txBody>
      </p:sp>
    </p:spTree>
    <p:extLst>
      <p:ext uri="{BB962C8B-B14F-4D97-AF65-F5344CB8AC3E}">
        <p14:creationId xmlns:p14="http://schemas.microsoft.com/office/powerpoint/2010/main" val="355568379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A0A6A-FA48-4202-B5D5-06B34F625856}"/>
              </a:ext>
            </a:extLst>
          </p:cNvPr>
          <p:cNvSpPr>
            <a:spLocks noGrp="1"/>
          </p:cNvSpPr>
          <p:nvPr>
            <p:ph type="title"/>
          </p:nvPr>
        </p:nvSpPr>
        <p:spPr>
          <a:xfrm>
            <a:off x="682204" y="833082"/>
            <a:ext cx="9720072" cy="1499616"/>
          </a:xfrm>
        </p:spPr>
        <p:txBody>
          <a:bodyPr/>
          <a:lstStyle/>
          <a:p>
            <a:r>
              <a:rPr lang="id-ID" dirty="0"/>
              <a:t>DBMS</a:t>
            </a:r>
            <a:r>
              <a:rPr lang="en-US" dirty="0"/>
              <a:t> (</a:t>
            </a:r>
            <a:r>
              <a:rPr lang="id-ID" dirty="0"/>
              <a:t>Database Management System)</a:t>
            </a:r>
            <a:endParaRPr lang="en-US" dirty="0"/>
          </a:p>
        </p:txBody>
      </p:sp>
      <p:sp>
        <p:nvSpPr>
          <p:cNvPr id="3" name="Content Placeholder 2">
            <a:extLst>
              <a:ext uri="{FF2B5EF4-FFF2-40B4-BE49-F238E27FC236}">
                <a16:creationId xmlns:a16="http://schemas.microsoft.com/office/drawing/2014/main" id="{5D793731-023E-474B-AB06-26A0B5499031}"/>
              </a:ext>
            </a:extLst>
          </p:cNvPr>
          <p:cNvSpPr>
            <a:spLocks noGrp="1"/>
          </p:cNvSpPr>
          <p:nvPr>
            <p:ph idx="1"/>
          </p:nvPr>
        </p:nvSpPr>
        <p:spPr>
          <a:xfrm>
            <a:off x="813541" y="2332698"/>
            <a:ext cx="9879166" cy="3932768"/>
          </a:xfrm>
        </p:spPr>
        <p:txBody>
          <a:bodyPr>
            <a:normAutofit fontScale="92500" lnSpcReduction="10000"/>
          </a:bodyPr>
          <a:lstStyle/>
          <a:p>
            <a:pPr algn="just"/>
            <a:r>
              <a:rPr lang="id-ID" dirty="0"/>
              <a:t>DBMS adalah sebuah tools perangkat lunak yang digunakan </a:t>
            </a:r>
            <a:r>
              <a:rPr lang="en-US" dirty="0" err="1"/>
              <a:t>dalam</a:t>
            </a:r>
            <a:r>
              <a:rPr lang="en-US" dirty="0"/>
              <a:t> </a:t>
            </a:r>
            <a:r>
              <a:rPr lang="en-US" dirty="0" err="1"/>
              <a:t>manajemen</a:t>
            </a:r>
            <a:r>
              <a:rPr lang="en-US" dirty="0"/>
              <a:t> database, </a:t>
            </a:r>
            <a:r>
              <a:rPr lang="en-US" dirty="0" err="1"/>
              <a:t>sehingga</a:t>
            </a:r>
            <a:r>
              <a:rPr lang="en-US" dirty="0"/>
              <a:t> </a:t>
            </a:r>
            <a:r>
              <a:rPr lang="id-ID" dirty="0"/>
              <a:t>user </a:t>
            </a:r>
            <a:r>
              <a:rPr lang="en-US" dirty="0" err="1"/>
              <a:t>dapat</a:t>
            </a:r>
            <a:r>
              <a:rPr lang="id-ID" dirty="0"/>
              <a:t> membuat, </a:t>
            </a:r>
            <a:r>
              <a:rPr lang="en-US" dirty="0" err="1"/>
              <a:t>memelihara</a:t>
            </a:r>
            <a:r>
              <a:rPr lang="en-US" dirty="0"/>
              <a:t>, </a:t>
            </a:r>
            <a:r>
              <a:rPr lang="id-ID" dirty="0"/>
              <a:t>memanipulasi, mengontrol dan mengakses database</a:t>
            </a:r>
            <a:r>
              <a:rPr lang="en-US" dirty="0"/>
              <a:t> </a:t>
            </a:r>
            <a:r>
              <a:rPr lang="id-ID" dirty="0"/>
              <a:t>secara cepat dan efisien. </a:t>
            </a:r>
            <a:endParaRPr lang="en-US" dirty="0"/>
          </a:p>
          <a:p>
            <a:pPr algn="just"/>
            <a:r>
              <a:rPr lang="en-US" dirty="0"/>
              <a:t>B</a:t>
            </a:r>
            <a:r>
              <a:rPr lang="id-ID" dirty="0"/>
              <a:t>anyak DBMS yang populer digunakan di dunia saat ini mulai dari yang opensource, gratis, sampai yang license berbayar. Beberapa diantara DBMS yang terkenal antara lain.</a:t>
            </a:r>
            <a:endParaRPr lang="en-US" dirty="0"/>
          </a:p>
          <a:p>
            <a:pPr marL="457200" indent="-457200">
              <a:buFont typeface="+mj-lt"/>
              <a:buAutoNum type="arabicPeriod"/>
            </a:pPr>
            <a:r>
              <a:rPr lang="id-ID" dirty="0"/>
              <a:t>MySQL</a:t>
            </a:r>
            <a:r>
              <a:rPr lang="en-US" dirty="0"/>
              <a:t> (Relational DBMS)</a:t>
            </a:r>
          </a:p>
          <a:p>
            <a:pPr marL="457200" indent="-457200">
              <a:buFont typeface="+mj-lt"/>
              <a:buAutoNum type="arabicPeriod"/>
            </a:pPr>
            <a:r>
              <a:rPr lang="id-ID" dirty="0"/>
              <a:t>Microsoft SQL Server</a:t>
            </a:r>
            <a:endParaRPr lang="en-US" dirty="0"/>
          </a:p>
          <a:p>
            <a:pPr marL="457200" indent="-457200">
              <a:buFont typeface="+mj-lt"/>
              <a:buAutoNum type="arabicPeriod"/>
            </a:pPr>
            <a:r>
              <a:rPr lang="id-ID" dirty="0"/>
              <a:t>Oracle</a:t>
            </a:r>
            <a:endParaRPr lang="en-US" dirty="0"/>
          </a:p>
          <a:p>
            <a:pPr marL="457200" indent="-457200">
              <a:buFont typeface="+mj-lt"/>
              <a:buAutoNum type="arabicPeriod"/>
            </a:pPr>
            <a:r>
              <a:rPr lang="id-ID" dirty="0"/>
              <a:t>Teradata</a:t>
            </a:r>
            <a:endParaRPr lang="en-US" dirty="0"/>
          </a:p>
          <a:p>
            <a:pPr marL="457200" indent="-457200">
              <a:buFont typeface="+mj-lt"/>
              <a:buAutoNum type="arabicPeriod"/>
            </a:pPr>
            <a:r>
              <a:rPr lang="id-ID" dirty="0"/>
              <a:t>PostgreSQL</a:t>
            </a:r>
            <a:endParaRPr lang="en-US" dirty="0"/>
          </a:p>
          <a:p>
            <a:endParaRPr lang="en-US" dirty="0"/>
          </a:p>
        </p:txBody>
      </p:sp>
      <p:sp>
        <p:nvSpPr>
          <p:cNvPr id="4" name="Content Placeholder 2">
            <a:extLst>
              <a:ext uri="{FF2B5EF4-FFF2-40B4-BE49-F238E27FC236}">
                <a16:creationId xmlns:a16="http://schemas.microsoft.com/office/drawing/2014/main" id="{5BC3367E-0C8B-4BDC-A2AA-B935B264A8D5}"/>
              </a:ext>
            </a:extLst>
          </p:cNvPr>
          <p:cNvSpPr txBox="1">
            <a:spLocks/>
          </p:cNvSpPr>
          <p:nvPr/>
        </p:nvSpPr>
        <p:spPr>
          <a:xfrm>
            <a:off x="1728541" y="234641"/>
            <a:ext cx="1408828" cy="604157"/>
          </a:xfrm>
          <a:prstGeom prst="rect">
            <a:avLst/>
          </a:prstGeom>
        </p:spPr>
        <p:txBody>
          <a:bodyPr vert="horz" lIns="45720" tIns="45720" rIns="45720" bIns="45720" rtlCol="0">
            <a:normAutofit fontScale="925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a:hlinkClick r:id="rId3" action="ppaction://hlinksldjump"/>
              </a:rPr>
              <a:t>Database</a:t>
            </a:r>
            <a:endParaRPr lang="en-US" dirty="0">
              <a:hlinkClick r:id="rId3" action="ppaction://hlinksldjump"/>
            </a:endParaRPr>
          </a:p>
        </p:txBody>
      </p:sp>
      <p:sp>
        <p:nvSpPr>
          <p:cNvPr id="5" name="Content Placeholder 2">
            <a:hlinkClick r:id="rId4" action="ppaction://hlinksldjump"/>
            <a:extLst>
              <a:ext uri="{FF2B5EF4-FFF2-40B4-BE49-F238E27FC236}">
                <a16:creationId xmlns:a16="http://schemas.microsoft.com/office/drawing/2014/main" id="{CFE5BD9C-AD44-46F1-BCA2-4F6586B21FB9}"/>
              </a:ext>
            </a:extLst>
          </p:cNvPr>
          <p:cNvSpPr txBox="1">
            <a:spLocks/>
          </p:cNvSpPr>
          <p:nvPr/>
        </p:nvSpPr>
        <p:spPr>
          <a:xfrm>
            <a:off x="3137369" y="240356"/>
            <a:ext cx="2404871" cy="604157"/>
          </a:xfrm>
          <a:prstGeom prst="rect">
            <a:avLst/>
          </a:prstGeom>
        </p:spPr>
        <p:txBody>
          <a:bodyPr vert="horz" lIns="45720" tIns="45720" rIns="45720" bIns="45720" rtlCol="0">
            <a:normAutofit fontScale="925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err="1"/>
              <a:t>Struktur</a:t>
            </a:r>
            <a:r>
              <a:rPr lang="en-US" dirty="0"/>
              <a:t> Database</a:t>
            </a:r>
          </a:p>
        </p:txBody>
      </p:sp>
      <p:sp>
        <p:nvSpPr>
          <p:cNvPr id="6" name="Content Placeholder 2">
            <a:hlinkClick r:id="rId5" action="ppaction://hlinksldjump"/>
            <a:extLst>
              <a:ext uri="{FF2B5EF4-FFF2-40B4-BE49-F238E27FC236}">
                <a16:creationId xmlns:a16="http://schemas.microsoft.com/office/drawing/2014/main" id="{68FBB9F9-3B3B-4914-994C-22938F64506B}"/>
              </a:ext>
            </a:extLst>
          </p:cNvPr>
          <p:cNvSpPr txBox="1">
            <a:spLocks/>
          </p:cNvSpPr>
          <p:nvPr/>
        </p:nvSpPr>
        <p:spPr>
          <a:xfrm>
            <a:off x="5542240" y="240356"/>
            <a:ext cx="1408828"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RDBMS</a:t>
            </a:r>
          </a:p>
        </p:txBody>
      </p:sp>
      <p:sp>
        <p:nvSpPr>
          <p:cNvPr id="7" name="Content Placeholder 2">
            <a:hlinkClick r:id="rId6" action="ppaction://hlinksldjump"/>
            <a:extLst>
              <a:ext uri="{FF2B5EF4-FFF2-40B4-BE49-F238E27FC236}">
                <a16:creationId xmlns:a16="http://schemas.microsoft.com/office/drawing/2014/main" id="{7BA80D03-7A6B-45D3-B7B2-F2A8D187EE78}"/>
              </a:ext>
            </a:extLst>
          </p:cNvPr>
          <p:cNvSpPr txBox="1">
            <a:spLocks/>
          </p:cNvSpPr>
          <p:nvPr/>
        </p:nvSpPr>
        <p:spPr>
          <a:xfrm>
            <a:off x="6688296" y="240356"/>
            <a:ext cx="1408828" cy="604157"/>
          </a:xfrm>
          <a:prstGeom prst="rect">
            <a:avLst/>
          </a:prstGeom>
        </p:spPr>
        <p:txBody>
          <a:bodyPr vert="horz" lIns="45720" tIns="45720" rIns="45720" bIns="45720" rtlCol="0">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Kesimpulan</a:t>
            </a:r>
          </a:p>
        </p:txBody>
      </p:sp>
      <p:sp>
        <p:nvSpPr>
          <p:cNvPr id="8" name="Content Placeholder 2">
            <a:hlinkClick r:id="rId7" action="ppaction://hlinksldjump"/>
            <a:extLst>
              <a:ext uri="{FF2B5EF4-FFF2-40B4-BE49-F238E27FC236}">
                <a16:creationId xmlns:a16="http://schemas.microsoft.com/office/drawing/2014/main" id="{1510A6FA-7AC4-4806-9C00-8E3665857E04}"/>
              </a:ext>
            </a:extLst>
          </p:cNvPr>
          <p:cNvSpPr txBox="1">
            <a:spLocks/>
          </p:cNvSpPr>
          <p:nvPr/>
        </p:nvSpPr>
        <p:spPr>
          <a:xfrm>
            <a:off x="605463" y="228926"/>
            <a:ext cx="1621100"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Home</a:t>
            </a:r>
          </a:p>
        </p:txBody>
      </p:sp>
      <p:sp>
        <p:nvSpPr>
          <p:cNvPr id="9" name="Content Placeholder 2">
            <a:hlinkClick r:id="rId8" action="ppaction://hlinksldjump"/>
            <a:extLst>
              <a:ext uri="{FF2B5EF4-FFF2-40B4-BE49-F238E27FC236}">
                <a16:creationId xmlns:a16="http://schemas.microsoft.com/office/drawing/2014/main" id="{0D218E5C-6366-4DB2-A2B9-247DC7DBD224}"/>
              </a:ext>
            </a:extLst>
          </p:cNvPr>
          <p:cNvSpPr txBox="1">
            <a:spLocks/>
          </p:cNvSpPr>
          <p:nvPr/>
        </p:nvSpPr>
        <p:spPr>
          <a:xfrm>
            <a:off x="8178765" y="228925"/>
            <a:ext cx="1621099" cy="604157"/>
          </a:xfrm>
          <a:prstGeom prst="rect">
            <a:avLst/>
          </a:prstGeom>
        </p:spPr>
        <p:txBody>
          <a:bodyPr vert="horz" lIns="45720" tIns="45720" rIns="45720" bIns="45720" rtlCol="0">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err="1"/>
              <a:t>Soal</a:t>
            </a:r>
            <a:r>
              <a:rPr lang="en-US" dirty="0"/>
              <a:t> </a:t>
            </a:r>
            <a:r>
              <a:rPr lang="en-US" dirty="0" err="1"/>
              <a:t>Latihan</a:t>
            </a:r>
            <a:endParaRPr lang="en-US" dirty="0"/>
          </a:p>
        </p:txBody>
      </p:sp>
      <p:sp>
        <p:nvSpPr>
          <p:cNvPr id="10" name="Content Placeholder 2">
            <a:hlinkClick r:id="rId9" action="ppaction://hlinksldjump"/>
            <a:extLst>
              <a:ext uri="{FF2B5EF4-FFF2-40B4-BE49-F238E27FC236}">
                <a16:creationId xmlns:a16="http://schemas.microsoft.com/office/drawing/2014/main" id="{868CE0A6-B5FB-4231-A129-7CBE9D51E908}"/>
              </a:ext>
            </a:extLst>
          </p:cNvPr>
          <p:cNvSpPr txBox="1">
            <a:spLocks/>
          </p:cNvSpPr>
          <p:nvPr/>
        </p:nvSpPr>
        <p:spPr>
          <a:xfrm>
            <a:off x="9844274" y="240355"/>
            <a:ext cx="2088753"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What’s Next?</a:t>
            </a:r>
          </a:p>
        </p:txBody>
      </p:sp>
    </p:spTree>
    <p:extLst>
      <p:ext uri="{BB962C8B-B14F-4D97-AF65-F5344CB8AC3E}">
        <p14:creationId xmlns:p14="http://schemas.microsoft.com/office/powerpoint/2010/main" val="150949985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BE663-798F-49A0-8849-9A9792BA77CB}"/>
              </a:ext>
            </a:extLst>
          </p:cNvPr>
          <p:cNvSpPr>
            <a:spLocks noGrp="1"/>
          </p:cNvSpPr>
          <p:nvPr>
            <p:ph type="title"/>
          </p:nvPr>
        </p:nvSpPr>
        <p:spPr>
          <a:xfrm>
            <a:off x="743387" y="792052"/>
            <a:ext cx="9720072" cy="1499616"/>
          </a:xfrm>
        </p:spPr>
        <p:txBody>
          <a:bodyPr>
            <a:normAutofit/>
          </a:bodyPr>
          <a:lstStyle/>
          <a:p>
            <a:r>
              <a:rPr lang="id-ID" dirty="0"/>
              <a:t>RDBMS (Relation</a:t>
            </a:r>
            <a:r>
              <a:rPr lang="en-US" dirty="0"/>
              <a:t>al</a:t>
            </a:r>
            <a:r>
              <a:rPr lang="id-ID" dirty="0"/>
              <a:t> Database Management System)</a:t>
            </a:r>
            <a:endParaRPr lang="en-US" dirty="0"/>
          </a:p>
        </p:txBody>
      </p:sp>
      <p:sp>
        <p:nvSpPr>
          <p:cNvPr id="3" name="Content Placeholder 2">
            <a:extLst>
              <a:ext uri="{FF2B5EF4-FFF2-40B4-BE49-F238E27FC236}">
                <a16:creationId xmlns:a16="http://schemas.microsoft.com/office/drawing/2014/main" id="{4C77E1B8-0B61-477A-8FAD-5D03006AF82F}"/>
              </a:ext>
            </a:extLst>
          </p:cNvPr>
          <p:cNvSpPr>
            <a:spLocks noGrp="1"/>
          </p:cNvSpPr>
          <p:nvPr>
            <p:ph idx="1"/>
          </p:nvPr>
        </p:nvSpPr>
        <p:spPr>
          <a:xfrm>
            <a:off x="788777" y="2291668"/>
            <a:ext cx="10303098" cy="3509017"/>
          </a:xfrm>
        </p:spPr>
        <p:txBody>
          <a:bodyPr>
            <a:normAutofit lnSpcReduction="10000"/>
          </a:bodyPr>
          <a:lstStyle/>
          <a:p>
            <a:pPr algn="just"/>
            <a:r>
              <a:rPr lang="id-ID" dirty="0"/>
              <a:t>RDBMS (Relation</a:t>
            </a:r>
            <a:r>
              <a:rPr lang="en-US" dirty="0"/>
              <a:t>al</a:t>
            </a:r>
            <a:r>
              <a:rPr lang="id-ID" dirty="0"/>
              <a:t> Database Management System) adalah sebuah DBMS yang mendukung adanya </a:t>
            </a:r>
            <a:r>
              <a:rPr lang="id-ID" dirty="0" smtClean="0"/>
              <a:t>hubungan/relationship </a:t>
            </a:r>
            <a:r>
              <a:rPr lang="id-ID" dirty="0"/>
              <a:t>antara tabel. </a:t>
            </a:r>
            <a:endParaRPr lang="en-US" dirty="0"/>
          </a:p>
          <a:p>
            <a:pPr algn="just"/>
            <a:r>
              <a:rPr lang="id-ID" dirty="0"/>
              <a:t>RDBMS melayani sistem basis data yang entitas utamanya terdiri dari tabel-tabel yang mempunyai relasi dari satu tabel ke tabel yang lain.</a:t>
            </a:r>
            <a:endParaRPr lang="en-US" dirty="0"/>
          </a:p>
          <a:p>
            <a:pPr algn="just"/>
            <a:r>
              <a:rPr lang="en-US" dirty="0"/>
              <a:t>U</a:t>
            </a:r>
            <a:r>
              <a:rPr lang="id-ID" dirty="0"/>
              <a:t>ntuk membuat data saling terhubung dan terintegrasi, maka satu tabel dengan tabel yang lainnya harus memiliki hubungan antara satu dengan yang lainnya.</a:t>
            </a:r>
            <a:endParaRPr lang="en-US" dirty="0"/>
          </a:p>
          <a:p>
            <a:pPr algn="just"/>
            <a:r>
              <a:rPr lang="id-ID" dirty="0"/>
              <a:t>Setiap tabel mempunyai sebuah </a:t>
            </a:r>
            <a:r>
              <a:rPr lang="en-US" i="1" dirty="0"/>
              <a:t>P</a:t>
            </a:r>
            <a:r>
              <a:rPr lang="id-ID" i="1" dirty="0"/>
              <a:t>rimary </a:t>
            </a:r>
            <a:r>
              <a:rPr lang="en-US" i="1" dirty="0"/>
              <a:t>K</a:t>
            </a:r>
            <a:r>
              <a:rPr lang="id-ID" i="1" dirty="0"/>
              <a:t>ey</a:t>
            </a:r>
            <a:r>
              <a:rPr lang="en-US" i="1" dirty="0"/>
              <a:t> (PK)</a:t>
            </a:r>
            <a:r>
              <a:rPr lang="id-ID" dirty="0"/>
              <a:t>, lalu </a:t>
            </a:r>
            <a:r>
              <a:rPr lang="en-US" i="1" dirty="0"/>
              <a:t>P</a:t>
            </a:r>
            <a:r>
              <a:rPr lang="id-ID" i="1" dirty="0"/>
              <a:t>rimary </a:t>
            </a:r>
            <a:r>
              <a:rPr lang="en-US" i="1" dirty="0"/>
              <a:t>K</a:t>
            </a:r>
            <a:r>
              <a:rPr lang="id-ID" i="1" dirty="0"/>
              <a:t>ey </a:t>
            </a:r>
            <a:r>
              <a:rPr lang="id-ID" dirty="0"/>
              <a:t>ini dihubungkan dengan tabel kedua dan menjadi </a:t>
            </a:r>
            <a:r>
              <a:rPr lang="en-US" i="1" dirty="0"/>
              <a:t>Foreign Key (FK) </a:t>
            </a:r>
            <a:r>
              <a:rPr lang="id-ID" dirty="0"/>
              <a:t>di tabel kedua.</a:t>
            </a:r>
            <a:endParaRPr lang="en-US" dirty="0"/>
          </a:p>
          <a:p>
            <a:pPr algn="just"/>
            <a:endParaRPr lang="en-US" dirty="0"/>
          </a:p>
        </p:txBody>
      </p:sp>
      <p:sp>
        <p:nvSpPr>
          <p:cNvPr id="4" name="Content Placeholder 2">
            <a:extLst>
              <a:ext uri="{FF2B5EF4-FFF2-40B4-BE49-F238E27FC236}">
                <a16:creationId xmlns:a16="http://schemas.microsoft.com/office/drawing/2014/main" id="{14ADD230-F70C-4ABB-9CEB-1DAAA87ACE99}"/>
              </a:ext>
            </a:extLst>
          </p:cNvPr>
          <p:cNvSpPr txBox="1">
            <a:spLocks/>
          </p:cNvSpPr>
          <p:nvPr/>
        </p:nvSpPr>
        <p:spPr>
          <a:xfrm>
            <a:off x="1728541" y="234641"/>
            <a:ext cx="1408828" cy="604157"/>
          </a:xfrm>
          <a:prstGeom prst="rect">
            <a:avLst/>
          </a:prstGeom>
        </p:spPr>
        <p:txBody>
          <a:bodyPr vert="horz" lIns="45720" tIns="45720" rIns="45720" bIns="45720" rtlCol="0">
            <a:normAutofit fontScale="925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a:hlinkClick r:id="rId3" action="ppaction://hlinksldjump"/>
              </a:rPr>
              <a:t>Database</a:t>
            </a:r>
            <a:endParaRPr lang="en-US" dirty="0">
              <a:hlinkClick r:id="rId3" action="ppaction://hlinksldjump"/>
            </a:endParaRPr>
          </a:p>
        </p:txBody>
      </p:sp>
      <p:sp>
        <p:nvSpPr>
          <p:cNvPr id="5" name="Content Placeholder 2">
            <a:hlinkClick r:id="rId4" action="ppaction://hlinksldjump"/>
            <a:extLst>
              <a:ext uri="{FF2B5EF4-FFF2-40B4-BE49-F238E27FC236}">
                <a16:creationId xmlns:a16="http://schemas.microsoft.com/office/drawing/2014/main" id="{DCF27A08-1766-4CF8-AB94-53A757D27C29}"/>
              </a:ext>
            </a:extLst>
          </p:cNvPr>
          <p:cNvSpPr txBox="1">
            <a:spLocks/>
          </p:cNvSpPr>
          <p:nvPr/>
        </p:nvSpPr>
        <p:spPr>
          <a:xfrm>
            <a:off x="3137369" y="240356"/>
            <a:ext cx="2404871" cy="604157"/>
          </a:xfrm>
          <a:prstGeom prst="rect">
            <a:avLst/>
          </a:prstGeom>
        </p:spPr>
        <p:txBody>
          <a:bodyPr vert="horz" lIns="45720" tIns="45720" rIns="45720" bIns="45720" rtlCol="0">
            <a:normAutofit fontScale="925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err="1"/>
              <a:t>Struktur</a:t>
            </a:r>
            <a:r>
              <a:rPr lang="en-US" dirty="0"/>
              <a:t> Database</a:t>
            </a:r>
          </a:p>
        </p:txBody>
      </p:sp>
      <p:sp>
        <p:nvSpPr>
          <p:cNvPr id="6" name="Content Placeholder 2">
            <a:hlinkClick r:id="rId5" action="ppaction://hlinksldjump"/>
            <a:extLst>
              <a:ext uri="{FF2B5EF4-FFF2-40B4-BE49-F238E27FC236}">
                <a16:creationId xmlns:a16="http://schemas.microsoft.com/office/drawing/2014/main" id="{802ABD88-5B94-433C-B621-3783621BAF8A}"/>
              </a:ext>
            </a:extLst>
          </p:cNvPr>
          <p:cNvSpPr txBox="1">
            <a:spLocks/>
          </p:cNvSpPr>
          <p:nvPr/>
        </p:nvSpPr>
        <p:spPr>
          <a:xfrm>
            <a:off x="5542240" y="240356"/>
            <a:ext cx="1408828"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RDBMS</a:t>
            </a:r>
          </a:p>
        </p:txBody>
      </p:sp>
      <p:sp>
        <p:nvSpPr>
          <p:cNvPr id="7" name="Content Placeholder 2">
            <a:hlinkClick r:id="rId6" action="ppaction://hlinksldjump"/>
            <a:extLst>
              <a:ext uri="{FF2B5EF4-FFF2-40B4-BE49-F238E27FC236}">
                <a16:creationId xmlns:a16="http://schemas.microsoft.com/office/drawing/2014/main" id="{34245BBE-DCAB-425B-9FD7-953D9F80229A}"/>
              </a:ext>
            </a:extLst>
          </p:cNvPr>
          <p:cNvSpPr txBox="1">
            <a:spLocks/>
          </p:cNvSpPr>
          <p:nvPr/>
        </p:nvSpPr>
        <p:spPr>
          <a:xfrm>
            <a:off x="6688296" y="240356"/>
            <a:ext cx="1408828" cy="604157"/>
          </a:xfrm>
          <a:prstGeom prst="rect">
            <a:avLst/>
          </a:prstGeom>
        </p:spPr>
        <p:txBody>
          <a:bodyPr vert="horz" lIns="45720" tIns="45720" rIns="45720" bIns="45720" rtlCol="0">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Kesimpulan</a:t>
            </a:r>
          </a:p>
        </p:txBody>
      </p:sp>
      <p:sp>
        <p:nvSpPr>
          <p:cNvPr id="8" name="Content Placeholder 2">
            <a:hlinkClick r:id="rId7" action="ppaction://hlinksldjump"/>
            <a:extLst>
              <a:ext uri="{FF2B5EF4-FFF2-40B4-BE49-F238E27FC236}">
                <a16:creationId xmlns:a16="http://schemas.microsoft.com/office/drawing/2014/main" id="{4F21987B-FDDE-4C4F-90EE-EDC065B813CF}"/>
              </a:ext>
            </a:extLst>
          </p:cNvPr>
          <p:cNvSpPr txBox="1">
            <a:spLocks/>
          </p:cNvSpPr>
          <p:nvPr/>
        </p:nvSpPr>
        <p:spPr>
          <a:xfrm>
            <a:off x="605463" y="228926"/>
            <a:ext cx="1621100"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Home</a:t>
            </a:r>
          </a:p>
        </p:txBody>
      </p:sp>
      <p:sp>
        <p:nvSpPr>
          <p:cNvPr id="9" name="Content Placeholder 2">
            <a:hlinkClick r:id="rId8" action="ppaction://hlinksldjump"/>
            <a:extLst>
              <a:ext uri="{FF2B5EF4-FFF2-40B4-BE49-F238E27FC236}">
                <a16:creationId xmlns:a16="http://schemas.microsoft.com/office/drawing/2014/main" id="{EBEA93AD-0C3C-4B91-BA71-74FEE2507DE4}"/>
              </a:ext>
            </a:extLst>
          </p:cNvPr>
          <p:cNvSpPr txBox="1">
            <a:spLocks/>
          </p:cNvSpPr>
          <p:nvPr/>
        </p:nvSpPr>
        <p:spPr>
          <a:xfrm>
            <a:off x="8178765" y="228925"/>
            <a:ext cx="1621099" cy="604157"/>
          </a:xfrm>
          <a:prstGeom prst="rect">
            <a:avLst/>
          </a:prstGeom>
        </p:spPr>
        <p:txBody>
          <a:bodyPr vert="horz" lIns="45720" tIns="45720" rIns="45720" bIns="45720" rtlCol="0">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err="1"/>
              <a:t>Soal</a:t>
            </a:r>
            <a:r>
              <a:rPr lang="en-US" dirty="0"/>
              <a:t> </a:t>
            </a:r>
            <a:r>
              <a:rPr lang="en-US" dirty="0" err="1"/>
              <a:t>Latihan</a:t>
            </a:r>
            <a:endParaRPr lang="en-US" dirty="0"/>
          </a:p>
        </p:txBody>
      </p:sp>
      <p:sp>
        <p:nvSpPr>
          <p:cNvPr id="10" name="Content Placeholder 2">
            <a:hlinkClick r:id="rId9" action="ppaction://hlinksldjump"/>
            <a:extLst>
              <a:ext uri="{FF2B5EF4-FFF2-40B4-BE49-F238E27FC236}">
                <a16:creationId xmlns:a16="http://schemas.microsoft.com/office/drawing/2014/main" id="{3B885983-0913-4F46-8687-FD6DBBDDF9C6}"/>
              </a:ext>
            </a:extLst>
          </p:cNvPr>
          <p:cNvSpPr txBox="1">
            <a:spLocks/>
          </p:cNvSpPr>
          <p:nvPr/>
        </p:nvSpPr>
        <p:spPr>
          <a:xfrm>
            <a:off x="9844274" y="240355"/>
            <a:ext cx="2088753"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What’s Next?</a:t>
            </a:r>
          </a:p>
        </p:txBody>
      </p:sp>
    </p:spTree>
    <p:extLst>
      <p:ext uri="{BB962C8B-B14F-4D97-AF65-F5344CB8AC3E}">
        <p14:creationId xmlns:p14="http://schemas.microsoft.com/office/powerpoint/2010/main" val="120465145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CB533-7586-459B-82E8-8236D845AD4A}"/>
              </a:ext>
            </a:extLst>
          </p:cNvPr>
          <p:cNvSpPr>
            <a:spLocks noGrp="1"/>
          </p:cNvSpPr>
          <p:nvPr>
            <p:ph type="title"/>
          </p:nvPr>
        </p:nvSpPr>
        <p:spPr>
          <a:xfrm>
            <a:off x="852226" y="1007905"/>
            <a:ext cx="9720072" cy="557784"/>
          </a:xfrm>
        </p:spPr>
        <p:txBody>
          <a:bodyPr>
            <a:normAutofit/>
          </a:bodyPr>
          <a:lstStyle/>
          <a:p>
            <a:r>
              <a:rPr lang="en-US" sz="2800" b="1" dirty="0" err="1"/>
              <a:t>Struktur</a:t>
            </a:r>
            <a:r>
              <a:rPr lang="en-US" sz="2800" b="1" dirty="0"/>
              <a:t> Database</a:t>
            </a:r>
            <a:endParaRPr lang="en-US" sz="2800" dirty="0"/>
          </a:p>
        </p:txBody>
      </p:sp>
      <p:sp>
        <p:nvSpPr>
          <p:cNvPr id="3" name="Content Placeholder 2">
            <a:extLst>
              <a:ext uri="{FF2B5EF4-FFF2-40B4-BE49-F238E27FC236}">
                <a16:creationId xmlns:a16="http://schemas.microsoft.com/office/drawing/2014/main" id="{84112D2B-1B4D-4A1E-BFEE-DC6D0A62AEEA}"/>
              </a:ext>
            </a:extLst>
          </p:cNvPr>
          <p:cNvSpPr>
            <a:spLocks noGrp="1"/>
          </p:cNvSpPr>
          <p:nvPr>
            <p:ph idx="1"/>
          </p:nvPr>
        </p:nvSpPr>
        <p:spPr>
          <a:xfrm>
            <a:off x="605463" y="1740511"/>
            <a:ext cx="10824537" cy="4888563"/>
          </a:xfrm>
        </p:spPr>
        <p:txBody>
          <a:bodyPr>
            <a:normAutofit/>
          </a:bodyPr>
          <a:lstStyle/>
          <a:p>
            <a:r>
              <a:rPr lang="en-US" b="1" dirty="0"/>
              <a:t>A. Tabel</a:t>
            </a:r>
            <a:endParaRPr lang="en-US" dirty="0"/>
          </a:p>
          <a:p>
            <a:pPr marL="0" indent="0" algn="just">
              <a:buNone/>
            </a:pPr>
            <a:r>
              <a:rPr lang="en-US" dirty="0" err="1"/>
              <a:t>Sebuah</a:t>
            </a:r>
            <a:r>
              <a:rPr lang="en-US" dirty="0"/>
              <a:t> </a:t>
            </a:r>
            <a:r>
              <a:rPr lang="en-US" dirty="0" err="1"/>
              <a:t>tabel</a:t>
            </a:r>
            <a:r>
              <a:rPr lang="en-US" dirty="0"/>
              <a:t> </a:t>
            </a:r>
            <a:r>
              <a:rPr lang="en-US" dirty="0" err="1"/>
              <a:t>merupakan</a:t>
            </a:r>
            <a:r>
              <a:rPr lang="en-US" dirty="0"/>
              <a:t> </a:t>
            </a:r>
            <a:r>
              <a:rPr lang="en-US" dirty="0" err="1"/>
              <a:t>kumpulan</a:t>
            </a:r>
            <a:r>
              <a:rPr lang="en-US" dirty="0"/>
              <a:t> data (</a:t>
            </a:r>
            <a:r>
              <a:rPr lang="en-US" dirty="0" err="1"/>
              <a:t>nilai</a:t>
            </a:r>
            <a:r>
              <a:rPr lang="en-US" dirty="0"/>
              <a:t>) yang </a:t>
            </a:r>
            <a:r>
              <a:rPr lang="en-US" dirty="0" err="1"/>
              <a:t>diorganisasikan</a:t>
            </a:r>
            <a:r>
              <a:rPr lang="en-US" dirty="0"/>
              <a:t> </a:t>
            </a:r>
            <a:r>
              <a:rPr lang="en-US" dirty="0" err="1"/>
              <a:t>ke</a:t>
            </a:r>
            <a:r>
              <a:rPr lang="en-US" dirty="0"/>
              <a:t> </a:t>
            </a:r>
            <a:r>
              <a:rPr lang="en-US" dirty="0" err="1"/>
              <a:t>dalam</a:t>
            </a:r>
            <a:r>
              <a:rPr lang="en-US" dirty="0"/>
              <a:t> </a:t>
            </a:r>
            <a:r>
              <a:rPr lang="en-US" dirty="0" err="1"/>
              <a:t>baris</a:t>
            </a:r>
            <a:r>
              <a:rPr lang="en-US" dirty="0"/>
              <a:t> (record) dan </a:t>
            </a:r>
            <a:r>
              <a:rPr lang="en-US" dirty="0" err="1"/>
              <a:t>kolom</a:t>
            </a:r>
            <a:r>
              <a:rPr lang="en-US" dirty="0"/>
              <a:t> (field). </a:t>
            </a:r>
            <a:r>
              <a:rPr lang="en-US" dirty="0" err="1"/>
              <a:t>Masing-masing</a:t>
            </a:r>
            <a:r>
              <a:rPr lang="en-US" dirty="0"/>
              <a:t> </a:t>
            </a:r>
            <a:r>
              <a:rPr lang="en-US" dirty="0" err="1"/>
              <a:t>kolom</a:t>
            </a:r>
            <a:r>
              <a:rPr lang="en-US" dirty="0"/>
              <a:t> </a:t>
            </a:r>
            <a:r>
              <a:rPr lang="en-US" dirty="0" err="1"/>
              <a:t>memiliki</a:t>
            </a:r>
            <a:r>
              <a:rPr lang="en-US" dirty="0"/>
              <a:t> </a:t>
            </a:r>
            <a:r>
              <a:rPr lang="en-US" dirty="0" err="1"/>
              <a:t>nama</a:t>
            </a:r>
            <a:r>
              <a:rPr lang="en-US" dirty="0"/>
              <a:t> yang </a:t>
            </a:r>
            <a:r>
              <a:rPr lang="en-US" dirty="0" err="1"/>
              <a:t>spesifik</a:t>
            </a:r>
            <a:r>
              <a:rPr lang="en-US" dirty="0"/>
              <a:t> dan </a:t>
            </a:r>
            <a:r>
              <a:rPr lang="en-US" dirty="0" err="1"/>
              <a:t>unik</a:t>
            </a:r>
            <a:r>
              <a:rPr lang="en-US" dirty="0"/>
              <a:t>.</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b="1" dirty="0"/>
              <a:t>B. Record </a:t>
            </a:r>
            <a:r>
              <a:rPr lang="en-US" b="1" dirty="0" err="1"/>
              <a:t>atau</a:t>
            </a:r>
            <a:r>
              <a:rPr lang="en-US" b="1" dirty="0"/>
              <a:t> Data</a:t>
            </a:r>
            <a:endParaRPr lang="en-US" dirty="0"/>
          </a:p>
          <a:p>
            <a:pPr marL="0" indent="0" algn="just">
              <a:buNone/>
            </a:pPr>
            <a:r>
              <a:rPr lang="en-US" dirty="0"/>
              <a:t>Record </a:t>
            </a:r>
            <a:r>
              <a:rPr lang="en-US" dirty="0" err="1"/>
              <a:t>atau</a:t>
            </a:r>
            <a:r>
              <a:rPr lang="en-US" dirty="0"/>
              <a:t> Data </a:t>
            </a:r>
            <a:r>
              <a:rPr lang="en-US" dirty="0" err="1"/>
              <a:t>merupakan</a:t>
            </a:r>
            <a:r>
              <a:rPr lang="en-US" dirty="0"/>
              <a:t> </a:t>
            </a:r>
            <a:r>
              <a:rPr lang="en-US" dirty="0" err="1"/>
              <a:t>sebuah</a:t>
            </a:r>
            <a:r>
              <a:rPr lang="en-US" dirty="0"/>
              <a:t> </a:t>
            </a:r>
            <a:r>
              <a:rPr lang="en-US" dirty="0" err="1"/>
              <a:t>kumpulan</a:t>
            </a:r>
            <a:r>
              <a:rPr lang="en-US" dirty="0"/>
              <a:t> </a:t>
            </a:r>
            <a:r>
              <a:rPr lang="en-US" dirty="0" err="1"/>
              <a:t>nilai</a:t>
            </a:r>
            <a:r>
              <a:rPr lang="en-US" dirty="0"/>
              <a:t> yang </a:t>
            </a:r>
            <a:r>
              <a:rPr lang="en-US" dirty="0" err="1"/>
              <a:t>saling</a:t>
            </a:r>
            <a:r>
              <a:rPr lang="en-US" dirty="0"/>
              <a:t> </a:t>
            </a:r>
            <a:r>
              <a:rPr lang="en-US" dirty="0" err="1"/>
              <a:t>terkait</a:t>
            </a:r>
            <a:r>
              <a:rPr lang="en-US" dirty="0"/>
              <a:t>. Record </a:t>
            </a:r>
            <a:r>
              <a:rPr lang="en-US" dirty="0" err="1"/>
              <a:t>adalah</a:t>
            </a:r>
            <a:r>
              <a:rPr lang="en-US" dirty="0"/>
              <a:t> </a:t>
            </a:r>
            <a:r>
              <a:rPr lang="en-US" dirty="0" err="1"/>
              <a:t>isi</a:t>
            </a:r>
            <a:r>
              <a:rPr lang="en-US" dirty="0"/>
              <a:t> </a:t>
            </a:r>
            <a:r>
              <a:rPr lang="en-US" dirty="0" err="1"/>
              <a:t>tiap</a:t>
            </a:r>
            <a:r>
              <a:rPr lang="en-US" dirty="0"/>
              <a:t> </a:t>
            </a:r>
            <a:r>
              <a:rPr lang="en-US" dirty="0" err="1"/>
              <a:t>baris</a:t>
            </a:r>
            <a:r>
              <a:rPr lang="en-US" dirty="0"/>
              <a:t> </a:t>
            </a:r>
            <a:r>
              <a:rPr lang="en-US" dirty="0" err="1"/>
              <a:t>dalam</a:t>
            </a:r>
            <a:r>
              <a:rPr lang="en-US" dirty="0"/>
              <a:t> </a:t>
            </a:r>
            <a:r>
              <a:rPr lang="en-US" dirty="0" err="1"/>
              <a:t>sebuah</a:t>
            </a:r>
            <a:r>
              <a:rPr lang="en-US" dirty="0"/>
              <a:t> table. </a:t>
            </a:r>
            <a:r>
              <a:rPr lang="en-US" dirty="0" err="1"/>
              <a:t>Dalam</a:t>
            </a:r>
            <a:r>
              <a:rPr lang="en-US" dirty="0"/>
              <a:t> </a:t>
            </a:r>
            <a:r>
              <a:rPr lang="en-US" dirty="0" err="1"/>
              <a:t>contoh</a:t>
            </a:r>
            <a:r>
              <a:rPr lang="en-US" dirty="0"/>
              <a:t> table di </a:t>
            </a:r>
            <a:r>
              <a:rPr lang="en-US" dirty="0" err="1"/>
              <a:t>atas</a:t>
            </a:r>
            <a:r>
              <a:rPr lang="en-US" dirty="0"/>
              <a:t>, </a:t>
            </a:r>
            <a:r>
              <a:rPr lang="en-US" dirty="0" err="1"/>
              <a:t>terdapat</a:t>
            </a:r>
            <a:r>
              <a:rPr lang="en-US" dirty="0"/>
              <a:t> 3 record.</a:t>
            </a:r>
          </a:p>
          <a:p>
            <a:pPr algn="just"/>
            <a:endParaRPr lang="en-US" dirty="0"/>
          </a:p>
          <a:p>
            <a:pPr algn="just"/>
            <a:endParaRPr lang="en-US" dirty="0"/>
          </a:p>
          <a:p>
            <a:endParaRPr lang="en-US" dirty="0"/>
          </a:p>
        </p:txBody>
      </p:sp>
      <p:graphicFrame>
        <p:nvGraphicFramePr>
          <p:cNvPr id="4" name="Table 3">
            <a:extLst>
              <a:ext uri="{FF2B5EF4-FFF2-40B4-BE49-F238E27FC236}">
                <a16:creationId xmlns:a16="http://schemas.microsoft.com/office/drawing/2014/main" id="{5C90692E-018E-46F0-A72B-0D98FE8F6CB8}"/>
              </a:ext>
            </a:extLst>
          </p:cNvPr>
          <p:cNvGraphicFramePr>
            <a:graphicFrameLocks noGrp="1"/>
          </p:cNvGraphicFramePr>
          <p:nvPr>
            <p:extLst>
              <p:ext uri="{D42A27DB-BD31-4B8C-83A1-F6EECF244321}">
                <p14:modId xmlns:p14="http://schemas.microsoft.com/office/powerpoint/2010/main" val="1906050544"/>
              </p:ext>
            </p:extLst>
          </p:nvPr>
        </p:nvGraphicFramePr>
        <p:xfrm>
          <a:off x="2411723" y="3077836"/>
          <a:ext cx="6427580" cy="1828800"/>
        </p:xfrm>
        <a:graphic>
          <a:graphicData uri="http://schemas.openxmlformats.org/drawingml/2006/table">
            <a:tbl>
              <a:tblPr firstRow="1" bandRow="1">
                <a:tableStyleId>{616DA210-FB5B-4158-B5E0-FEB733F419BA}</a:tableStyleId>
              </a:tblPr>
              <a:tblGrid>
                <a:gridCol w="1718732">
                  <a:extLst>
                    <a:ext uri="{9D8B030D-6E8A-4147-A177-3AD203B41FA5}">
                      <a16:colId xmlns:a16="http://schemas.microsoft.com/office/drawing/2014/main" val="4116991291"/>
                    </a:ext>
                  </a:extLst>
                </a:gridCol>
                <a:gridCol w="1374098">
                  <a:extLst>
                    <a:ext uri="{9D8B030D-6E8A-4147-A177-3AD203B41FA5}">
                      <a16:colId xmlns:a16="http://schemas.microsoft.com/office/drawing/2014/main" val="1748790201"/>
                    </a:ext>
                  </a:extLst>
                </a:gridCol>
                <a:gridCol w="827127">
                  <a:extLst>
                    <a:ext uri="{9D8B030D-6E8A-4147-A177-3AD203B41FA5}">
                      <a16:colId xmlns:a16="http://schemas.microsoft.com/office/drawing/2014/main" val="797977195"/>
                    </a:ext>
                  </a:extLst>
                </a:gridCol>
                <a:gridCol w="1460584">
                  <a:extLst>
                    <a:ext uri="{9D8B030D-6E8A-4147-A177-3AD203B41FA5}">
                      <a16:colId xmlns:a16="http://schemas.microsoft.com/office/drawing/2014/main" val="679920559"/>
                    </a:ext>
                  </a:extLst>
                </a:gridCol>
                <a:gridCol w="1047039">
                  <a:extLst>
                    <a:ext uri="{9D8B030D-6E8A-4147-A177-3AD203B41FA5}">
                      <a16:colId xmlns:a16="http://schemas.microsoft.com/office/drawing/2014/main" val="4255495677"/>
                    </a:ext>
                  </a:extLst>
                </a:gridCol>
              </a:tblGrid>
              <a:tr h="349205">
                <a:tc>
                  <a:txBody>
                    <a:bodyPr/>
                    <a:lstStyle/>
                    <a:p>
                      <a:pPr algn="ctr"/>
                      <a:r>
                        <a:rPr lang="en-US" sz="1600" dirty="0"/>
                        <a:t>Nama </a:t>
                      </a:r>
                      <a:r>
                        <a:rPr lang="en-US" sz="1600" dirty="0" err="1"/>
                        <a:t>Komponen</a:t>
                      </a:r>
                      <a:endParaRPr lang="en-US" sz="1600" dirty="0">
                        <a:solidFill>
                          <a:schemeClr val="tx1">
                            <a:lumMod val="95000"/>
                            <a:lumOff val="5000"/>
                          </a:schemeClr>
                        </a:solidFill>
                      </a:endParaRPr>
                    </a:p>
                  </a:txBody>
                  <a:tcPr/>
                </a:tc>
                <a:tc>
                  <a:txBody>
                    <a:bodyPr/>
                    <a:lstStyle/>
                    <a:p>
                      <a:pPr algn="ctr"/>
                      <a:r>
                        <a:rPr lang="en-US" sz="1600" dirty="0" err="1"/>
                        <a:t>Part_Number</a:t>
                      </a:r>
                      <a:endParaRPr lang="en-US" sz="1600" dirty="0"/>
                    </a:p>
                  </a:txBody>
                  <a:tcPr/>
                </a:tc>
                <a:tc>
                  <a:txBody>
                    <a:bodyPr/>
                    <a:lstStyle/>
                    <a:p>
                      <a:pPr algn="ctr"/>
                      <a:r>
                        <a:rPr lang="en-US" sz="1600" dirty="0" err="1"/>
                        <a:t>Jumlah</a:t>
                      </a:r>
                      <a:r>
                        <a:rPr lang="en-US" sz="1600" dirty="0"/>
                        <a:t> </a:t>
                      </a:r>
                    </a:p>
                  </a:txBody>
                  <a:tcPr/>
                </a:tc>
                <a:tc>
                  <a:txBody>
                    <a:bodyPr/>
                    <a:lstStyle/>
                    <a:p>
                      <a:pPr algn="ctr"/>
                      <a:r>
                        <a:rPr lang="en-US" sz="1600" dirty="0" err="1"/>
                        <a:t>Harga_satuan</a:t>
                      </a:r>
                      <a:endParaRPr lang="en-US" sz="1600" dirty="0"/>
                    </a:p>
                  </a:txBody>
                  <a:tcPr/>
                </a:tc>
                <a:tc>
                  <a:txBody>
                    <a:bodyPr/>
                    <a:lstStyle/>
                    <a:p>
                      <a:pPr algn="ctr"/>
                      <a:r>
                        <a:rPr lang="en-US" sz="1600" dirty="0"/>
                        <a:t>Total</a:t>
                      </a:r>
                    </a:p>
                  </a:txBody>
                  <a:tcPr/>
                </a:tc>
                <a:extLst>
                  <a:ext uri="{0D108BD9-81ED-4DB2-BD59-A6C34878D82A}">
                    <a16:rowId xmlns:a16="http://schemas.microsoft.com/office/drawing/2014/main" val="3063619491"/>
                  </a:ext>
                </a:extLst>
              </a:tr>
              <a:tr h="289142">
                <a:tc>
                  <a:txBody>
                    <a:bodyPr/>
                    <a:lstStyle/>
                    <a:p>
                      <a:r>
                        <a:rPr lang="en-US" sz="1600" dirty="0"/>
                        <a:t>Resistor 330K</a:t>
                      </a:r>
                    </a:p>
                  </a:txBody>
                  <a:tcPr/>
                </a:tc>
                <a:tc>
                  <a:txBody>
                    <a:bodyPr/>
                    <a:lstStyle/>
                    <a:p>
                      <a:r>
                        <a:rPr lang="en-US" sz="1600" dirty="0"/>
                        <a:t>102010101</a:t>
                      </a:r>
                    </a:p>
                  </a:txBody>
                  <a:tcPr/>
                </a:tc>
                <a:tc>
                  <a:txBody>
                    <a:bodyPr/>
                    <a:lstStyle/>
                    <a:p>
                      <a:r>
                        <a:rPr lang="en-US" sz="1600" dirty="0"/>
                        <a:t>25</a:t>
                      </a:r>
                    </a:p>
                  </a:txBody>
                  <a:tcPr/>
                </a:tc>
                <a:tc>
                  <a:txBody>
                    <a:bodyPr/>
                    <a:lstStyle/>
                    <a:p>
                      <a:r>
                        <a:rPr lang="en-US" sz="1600" dirty="0"/>
                        <a:t>250</a:t>
                      </a:r>
                    </a:p>
                  </a:txBody>
                  <a:tcPr/>
                </a:tc>
                <a:tc>
                  <a:txBody>
                    <a:bodyPr/>
                    <a:lstStyle/>
                    <a:p>
                      <a:r>
                        <a:rPr lang="en-US" sz="1600" dirty="0"/>
                        <a:t>6250</a:t>
                      </a:r>
                    </a:p>
                  </a:txBody>
                  <a:tcPr/>
                </a:tc>
                <a:extLst>
                  <a:ext uri="{0D108BD9-81ED-4DB2-BD59-A6C34878D82A}">
                    <a16:rowId xmlns:a16="http://schemas.microsoft.com/office/drawing/2014/main" val="3258552276"/>
                  </a:ext>
                </a:extLst>
              </a:tr>
              <a:tr h="349205">
                <a:tc>
                  <a:txBody>
                    <a:bodyPr/>
                    <a:lstStyle/>
                    <a:p>
                      <a:r>
                        <a:rPr lang="en-US" sz="1600" dirty="0" err="1"/>
                        <a:t>Kapasitor</a:t>
                      </a:r>
                      <a:r>
                        <a:rPr lang="en-US" sz="1600" dirty="0"/>
                        <a:t> 220uF</a:t>
                      </a:r>
                    </a:p>
                  </a:txBody>
                  <a:tcPr/>
                </a:tc>
                <a:tc>
                  <a:txBody>
                    <a:bodyPr/>
                    <a:lstStyle/>
                    <a:p>
                      <a:r>
                        <a:rPr lang="en-US" sz="1600" dirty="0"/>
                        <a:t>102010102</a:t>
                      </a:r>
                    </a:p>
                  </a:txBody>
                  <a:tcPr/>
                </a:tc>
                <a:tc>
                  <a:txBody>
                    <a:bodyPr/>
                    <a:lstStyle/>
                    <a:p>
                      <a:r>
                        <a:rPr lang="en-US" sz="1600" dirty="0"/>
                        <a:t>50</a:t>
                      </a:r>
                    </a:p>
                  </a:txBody>
                  <a:tcPr/>
                </a:tc>
                <a:tc>
                  <a:txBody>
                    <a:bodyPr/>
                    <a:lstStyle/>
                    <a:p>
                      <a:r>
                        <a:rPr lang="en-US" sz="1600" dirty="0"/>
                        <a:t>300</a:t>
                      </a:r>
                    </a:p>
                  </a:txBody>
                  <a:tcPr/>
                </a:tc>
                <a:tc>
                  <a:txBody>
                    <a:bodyPr/>
                    <a:lstStyle/>
                    <a:p>
                      <a:r>
                        <a:rPr lang="en-US" sz="1600" dirty="0"/>
                        <a:t>15000</a:t>
                      </a:r>
                    </a:p>
                  </a:txBody>
                  <a:tcPr/>
                </a:tc>
                <a:extLst>
                  <a:ext uri="{0D108BD9-81ED-4DB2-BD59-A6C34878D82A}">
                    <a16:rowId xmlns:a16="http://schemas.microsoft.com/office/drawing/2014/main" val="1741092272"/>
                  </a:ext>
                </a:extLst>
              </a:tr>
              <a:tr h="289142">
                <a:tc>
                  <a:txBody>
                    <a:bodyPr/>
                    <a:lstStyle/>
                    <a:p>
                      <a:r>
                        <a:rPr lang="en-US" sz="1600" dirty="0"/>
                        <a:t>Transistor</a:t>
                      </a:r>
                    </a:p>
                  </a:txBody>
                  <a:tcPr/>
                </a:tc>
                <a:tc>
                  <a:txBody>
                    <a:bodyPr/>
                    <a:lstStyle/>
                    <a:p>
                      <a:r>
                        <a:rPr lang="en-US" sz="1600" dirty="0"/>
                        <a:t>102010103</a:t>
                      </a:r>
                    </a:p>
                  </a:txBody>
                  <a:tcPr/>
                </a:tc>
                <a:tc>
                  <a:txBody>
                    <a:bodyPr/>
                    <a:lstStyle/>
                    <a:p>
                      <a:r>
                        <a:rPr lang="en-US" sz="1600" dirty="0"/>
                        <a:t>75</a:t>
                      </a:r>
                    </a:p>
                  </a:txBody>
                  <a:tcPr/>
                </a:tc>
                <a:tc>
                  <a:txBody>
                    <a:bodyPr/>
                    <a:lstStyle/>
                    <a:p>
                      <a:r>
                        <a:rPr lang="en-US" sz="1600" dirty="0"/>
                        <a:t>1000</a:t>
                      </a:r>
                    </a:p>
                  </a:txBody>
                  <a:tcPr/>
                </a:tc>
                <a:tc>
                  <a:txBody>
                    <a:bodyPr/>
                    <a:lstStyle/>
                    <a:p>
                      <a:r>
                        <a:rPr lang="en-US" sz="1600" dirty="0"/>
                        <a:t>75000</a:t>
                      </a:r>
                    </a:p>
                  </a:txBody>
                  <a:tcPr/>
                </a:tc>
                <a:extLst>
                  <a:ext uri="{0D108BD9-81ED-4DB2-BD59-A6C34878D82A}">
                    <a16:rowId xmlns:a16="http://schemas.microsoft.com/office/drawing/2014/main" val="3151729457"/>
                  </a:ext>
                </a:extLst>
              </a:tr>
            </a:tbl>
          </a:graphicData>
        </a:graphic>
      </p:graphicFrame>
      <p:sp>
        <p:nvSpPr>
          <p:cNvPr id="5" name="Content Placeholder 2">
            <a:extLst>
              <a:ext uri="{FF2B5EF4-FFF2-40B4-BE49-F238E27FC236}">
                <a16:creationId xmlns:a16="http://schemas.microsoft.com/office/drawing/2014/main" id="{9560705D-3A30-45DA-AA38-F24D8250BAC6}"/>
              </a:ext>
            </a:extLst>
          </p:cNvPr>
          <p:cNvSpPr txBox="1">
            <a:spLocks/>
          </p:cNvSpPr>
          <p:nvPr/>
        </p:nvSpPr>
        <p:spPr>
          <a:xfrm>
            <a:off x="1728541" y="234641"/>
            <a:ext cx="1408828" cy="604157"/>
          </a:xfrm>
          <a:prstGeom prst="rect">
            <a:avLst/>
          </a:prstGeom>
        </p:spPr>
        <p:txBody>
          <a:bodyPr vert="horz" lIns="45720" tIns="45720" rIns="45720" bIns="45720" rtlCol="0">
            <a:normAutofit fontScale="925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a:hlinkClick r:id="rId3" action="ppaction://hlinksldjump"/>
              </a:rPr>
              <a:t>Database</a:t>
            </a:r>
            <a:endParaRPr lang="en-US" dirty="0">
              <a:hlinkClick r:id="rId3" action="ppaction://hlinksldjump"/>
            </a:endParaRPr>
          </a:p>
        </p:txBody>
      </p:sp>
      <p:sp>
        <p:nvSpPr>
          <p:cNvPr id="6" name="Content Placeholder 2">
            <a:hlinkClick r:id="rId4" action="ppaction://hlinksldjump"/>
            <a:extLst>
              <a:ext uri="{FF2B5EF4-FFF2-40B4-BE49-F238E27FC236}">
                <a16:creationId xmlns:a16="http://schemas.microsoft.com/office/drawing/2014/main" id="{1E26F5E2-88E1-4995-98EB-74A68DD8868B}"/>
              </a:ext>
            </a:extLst>
          </p:cNvPr>
          <p:cNvSpPr txBox="1">
            <a:spLocks/>
          </p:cNvSpPr>
          <p:nvPr/>
        </p:nvSpPr>
        <p:spPr>
          <a:xfrm>
            <a:off x="3137369" y="240356"/>
            <a:ext cx="2404871" cy="604157"/>
          </a:xfrm>
          <a:prstGeom prst="rect">
            <a:avLst/>
          </a:prstGeom>
        </p:spPr>
        <p:txBody>
          <a:bodyPr vert="horz" lIns="45720" tIns="45720" rIns="45720" bIns="45720" rtlCol="0">
            <a:normAutofit fontScale="925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err="1"/>
              <a:t>Struktur</a:t>
            </a:r>
            <a:r>
              <a:rPr lang="en-US" dirty="0"/>
              <a:t> Database</a:t>
            </a:r>
          </a:p>
        </p:txBody>
      </p:sp>
      <p:sp>
        <p:nvSpPr>
          <p:cNvPr id="7" name="Content Placeholder 2">
            <a:hlinkClick r:id="rId5" action="ppaction://hlinksldjump"/>
            <a:extLst>
              <a:ext uri="{FF2B5EF4-FFF2-40B4-BE49-F238E27FC236}">
                <a16:creationId xmlns:a16="http://schemas.microsoft.com/office/drawing/2014/main" id="{C46CF3BE-48A8-4C2A-BB7B-51A85E53257B}"/>
              </a:ext>
            </a:extLst>
          </p:cNvPr>
          <p:cNvSpPr txBox="1">
            <a:spLocks/>
          </p:cNvSpPr>
          <p:nvPr/>
        </p:nvSpPr>
        <p:spPr>
          <a:xfrm>
            <a:off x="5542240" y="240356"/>
            <a:ext cx="1408828"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RDBMS</a:t>
            </a:r>
          </a:p>
        </p:txBody>
      </p:sp>
      <p:sp>
        <p:nvSpPr>
          <p:cNvPr id="8" name="Content Placeholder 2">
            <a:hlinkClick r:id="rId6" action="ppaction://hlinksldjump"/>
            <a:extLst>
              <a:ext uri="{FF2B5EF4-FFF2-40B4-BE49-F238E27FC236}">
                <a16:creationId xmlns:a16="http://schemas.microsoft.com/office/drawing/2014/main" id="{3F0E96C6-2C94-411A-9C65-9FFDB34FCD8A}"/>
              </a:ext>
            </a:extLst>
          </p:cNvPr>
          <p:cNvSpPr txBox="1">
            <a:spLocks/>
          </p:cNvSpPr>
          <p:nvPr/>
        </p:nvSpPr>
        <p:spPr>
          <a:xfrm>
            <a:off x="6688296" y="240356"/>
            <a:ext cx="1408828" cy="604157"/>
          </a:xfrm>
          <a:prstGeom prst="rect">
            <a:avLst/>
          </a:prstGeom>
        </p:spPr>
        <p:txBody>
          <a:bodyPr vert="horz" lIns="45720" tIns="45720" rIns="45720" bIns="45720" rtlCol="0">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Kesimpulan</a:t>
            </a:r>
          </a:p>
        </p:txBody>
      </p:sp>
      <p:sp>
        <p:nvSpPr>
          <p:cNvPr id="9" name="Content Placeholder 2">
            <a:hlinkClick r:id="rId7" action="ppaction://hlinksldjump"/>
            <a:extLst>
              <a:ext uri="{FF2B5EF4-FFF2-40B4-BE49-F238E27FC236}">
                <a16:creationId xmlns:a16="http://schemas.microsoft.com/office/drawing/2014/main" id="{05416477-A663-476C-8721-90010C3BD23C}"/>
              </a:ext>
            </a:extLst>
          </p:cNvPr>
          <p:cNvSpPr txBox="1">
            <a:spLocks/>
          </p:cNvSpPr>
          <p:nvPr/>
        </p:nvSpPr>
        <p:spPr>
          <a:xfrm>
            <a:off x="605463" y="228926"/>
            <a:ext cx="1621100"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Home</a:t>
            </a:r>
          </a:p>
        </p:txBody>
      </p:sp>
      <p:sp>
        <p:nvSpPr>
          <p:cNvPr id="10" name="Content Placeholder 2">
            <a:hlinkClick r:id="rId8" action="ppaction://hlinksldjump"/>
            <a:extLst>
              <a:ext uri="{FF2B5EF4-FFF2-40B4-BE49-F238E27FC236}">
                <a16:creationId xmlns:a16="http://schemas.microsoft.com/office/drawing/2014/main" id="{1253DC45-7E4C-4C9D-A211-D40CAAAC87A8}"/>
              </a:ext>
            </a:extLst>
          </p:cNvPr>
          <p:cNvSpPr txBox="1">
            <a:spLocks/>
          </p:cNvSpPr>
          <p:nvPr/>
        </p:nvSpPr>
        <p:spPr>
          <a:xfrm>
            <a:off x="8178765" y="228925"/>
            <a:ext cx="1621099" cy="604157"/>
          </a:xfrm>
          <a:prstGeom prst="rect">
            <a:avLst/>
          </a:prstGeom>
        </p:spPr>
        <p:txBody>
          <a:bodyPr vert="horz" lIns="45720" tIns="45720" rIns="45720" bIns="45720" rtlCol="0">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err="1"/>
              <a:t>Soal</a:t>
            </a:r>
            <a:r>
              <a:rPr lang="en-US" dirty="0"/>
              <a:t> </a:t>
            </a:r>
            <a:r>
              <a:rPr lang="en-US" dirty="0" err="1"/>
              <a:t>Latihan</a:t>
            </a:r>
            <a:endParaRPr lang="en-US" dirty="0"/>
          </a:p>
        </p:txBody>
      </p:sp>
      <p:sp>
        <p:nvSpPr>
          <p:cNvPr id="11" name="Content Placeholder 2">
            <a:hlinkClick r:id="rId9" action="ppaction://hlinksldjump"/>
            <a:extLst>
              <a:ext uri="{FF2B5EF4-FFF2-40B4-BE49-F238E27FC236}">
                <a16:creationId xmlns:a16="http://schemas.microsoft.com/office/drawing/2014/main" id="{04A494B6-B7CF-4CF9-8B2F-B2A91FBEACCA}"/>
              </a:ext>
            </a:extLst>
          </p:cNvPr>
          <p:cNvSpPr txBox="1">
            <a:spLocks/>
          </p:cNvSpPr>
          <p:nvPr/>
        </p:nvSpPr>
        <p:spPr>
          <a:xfrm>
            <a:off x="9844274" y="240355"/>
            <a:ext cx="2088753"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What’s Next?</a:t>
            </a:r>
          </a:p>
        </p:txBody>
      </p:sp>
      <p:graphicFrame>
        <p:nvGraphicFramePr>
          <p:cNvPr id="12" name="Table 11">
            <a:extLst>
              <a:ext uri="{FF2B5EF4-FFF2-40B4-BE49-F238E27FC236}">
                <a16:creationId xmlns:a16="http://schemas.microsoft.com/office/drawing/2014/main" id="{2CE14F90-F100-416D-85D5-E3E3E3534F3A}"/>
              </a:ext>
            </a:extLst>
          </p:cNvPr>
          <p:cNvGraphicFramePr>
            <a:graphicFrameLocks noGrp="1"/>
          </p:cNvGraphicFramePr>
          <p:nvPr>
            <p:extLst>
              <p:ext uri="{D42A27DB-BD31-4B8C-83A1-F6EECF244321}">
                <p14:modId xmlns:p14="http://schemas.microsoft.com/office/powerpoint/2010/main" val="1401823939"/>
              </p:ext>
            </p:extLst>
          </p:nvPr>
        </p:nvGraphicFramePr>
        <p:xfrm>
          <a:off x="2319143" y="5980723"/>
          <a:ext cx="6612739" cy="335280"/>
        </p:xfrm>
        <a:graphic>
          <a:graphicData uri="http://schemas.openxmlformats.org/drawingml/2006/table">
            <a:tbl>
              <a:tblPr firstRow="1" bandRow="1">
                <a:tableStyleId>{616DA210-FB5B-4158-B5E0-FEB733F419BA}</a:tableStyleId>
              </a:tblPr>
              <a:tblGrid>
                <a:gridCol w="1768244">
                  <a:extLst>
                    <a:ext uri="{9D8B030D-6E8A-4147-A177-3AD203B41FA5}">
                      <a16:colId xmlns:a16="http://schemas.microsoft.com/office/drawing/2014/main" val="4116991291"/>
                    </a:ext>
                  </a:extLst>
                </a:gridCol>
                <a:gridCol w="1413681">
                  <a:extLst>
                    <a:ext uri="{9D8B030D-6E8A-4147-A177-3AD203B41FA5}">
                      <a16:colId xmlns:a16="http://schemas.microsoft.com/office/drawing/2014/main" val="1748790201"/>
                    </a:ext>
                  </a:extLst>
                </a:gridCol>
                <a:gridCol w="850954">
                  <a:extLst>
                    <a:ext uri="{9D8B030D-6E8A-4147-A177-3AD203B41FA5}">
                      <a16:colId xmlns:a16="http://schemas.microsoft.com/office/drawing/2014/main" val="797977195"/>
                    </a:ext>
                  </a:extLst>
                </a:gridCol>
                <a:gridCol w="1502659">
                  <a:extLst>
                    <a:ext uri="{9D8B030D-6E8A-4147-A177-3AD203B41FA5}">
                      <a16:colId xmlns:a16="http://schemas.microsoft.com/office/drawing/2014/main" val="679920559"/>
                    </a:ext>
                  </a:extLst>
                </a:gridCol>
                <a:gridCol w="1077201">
                  <a:extLst>
                    <a:ext uri="{9D8B030D-6E8A-4147-A177-3AD203B41FA5}">
                      <a16:colId xmlns:a16="http://schemas.microsoft.com/office/drawing/2014/main" val="4255495677"/>
                    </a:ext>
                  </a:extLst>
                </a:gridCol>
              </a:tblGrid>
              <a:tr h="241113">
                <a:tc>
                  <a:txBody>
                    <a:bodyPr/>
                    <a:lstStyle/>
                    <a:p>
                      <a:r>
                        <a:rPr lang="en-US" sz="1600" dirty="0"/>
                        <a:t>Resistor 330K</a:t>
                      </a:r>
                    </a:p>
                  </a:txBody>
                  <a:tcPr/>
                </a:tc>
                <a:tc>
                  <a:txBody>
                    <a:bodyPr/>
                    <a:lstStyle/>
                    <a:p>
                      <a:r>
                        <a:rPr lang="en-US" sz="1600" dirty="0"/>
                        <a:t>102010101</a:t>
                      </a:r>
                    </a:p>
                  </a:txBody>
                  <a:tcPr/>
                </a:tc>
                <a:tc>
                  <a:txBody>
                    <a:bodyPr/>
                    <a:lstStyle/>
                    <a:p>
                      <a:r>
                        <a:rPr lang="en-US" sz="1600" dirty="0"/>
                        <a:t>25</a:t>
                      </a:r>
                    </a:p>
                  </a:txBody>
                  <a:tcPr/>
                </a:tc>
                <a:tc>
                  <a:txBody>
                    <a:bodyPr/>
                    <a:lstStyle/>
                    <a:p>
                      <a:r>
                        <a:rPr lang="en-US" sz="1600" dirty="0"/>
                        <a:t>250</a:t>
                      </a:r>
                    </a:p>
                  </a:txBody>
                  <a:tcPr/>
                </a:tc>
                <a:tc>
                  <a:txBody>
                    <a:bodyPr/>
                    <a:lstStyle/>
                    <a:p>
                      <a:r>
                        <a:rPr lang="en-US" sz="1600" dirty="0"/>
                        <a:t>6250</a:t>
                      </a:r>
                    </a:p>
                  </a:txBody>
                  <a:tcPr/>
                </a:tc>
                <a:extLst>
                  <a:ext uri="{0D108BD9-81ED-4DB2-BD59-A6C34878D82A}">
                    <a16:rowId xmlns:a16="http://schemas.microsoft.com/office/drawing/2014/main" val="3258552276"/>
                  </a:ext>
                </a:extLst>
              </a:tr>
            </a:tbl>
          </a:graphicData>
        </a:graphic>
      </p:graphicFrame>
    </p:spTree>
    <p:extLst>
      <p:ext uri="{BB962C8B-B14F-4D97-AF65-F5344CB8AC3E}">
        <p14:creationId xmlns:p14="http://schemas.microsoft.com/office/powerpoint/2010/main" val="143050737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65EF3D-0342-4718-8EA3-ABC78F9AA9E2}"/>
              </a:ext>
            </a:extLst>
          </p:cNvPr>
          <p:cNvSpPr>
            <a:spLocks noGrp="1"/>
          </p:cNvSpPr>
          <p:nvPr>
            <p:ph idx="1"/>
          </p:nvPr>
        </p:nvSpPr>
        <p:spPr>
          <a:xfrm>
            <a:off x="1004552" y="1709458"/>
            <a:ext cx="10277341" cy="4856441"/>
          </a:xfrm>
        </p:spPr>
        <p:txBody>
          <a:bodyPr>
            <a:normAutofit lnSpcReduction="10000"/>
          </a:bodyPr>
          <a:lstStyle/>
          <a:p>
            <a:pPr marL="0" indent="0">
              <a:buNone/>
            </a:pPr>
            <a:r>
              <a:rPr lang="en-US" b="1" dirty="0"/>
              <a:t>C. Field</a:t>
            </a:r>
            <a:endParaRPr lang="en-US" dirty="0"/>
          </a:p>
          <a:p>
            <a:pPr marL="0" indent="0" algn="just">
              <a:buNone/>
            </a:pPr>
            <a:r>
              <a:rPr lang="en-US" dirty="0"/>
              <a:t>Field </a:t>
            </a:r>
            <a:r>
              <a:rPr lang="en-US" dirty="0" err="1"/>
              <a:t>merupakan</a:t>
            </a:r>
            <a:r>
              <a:rPr lang="en-US" dirty="0"/>
              <a:t> </a:t>
            </a:r>
            <a:r>
              <a:rPr lang="en-US" dirty="0" err="1"/>
              <a:t>kolom</a:t>
            </a:r>
            <a:r>
              <a:rPr lang="en-US" dirty="0"/>
              <a:t> </a:t>
            </a:r>
            <a:r>
              <a:rPr lang="en-US" dirty="0" err="1"/>
              <a:t>dari</a:t>
            </a:r>
            <a:r>
              <a:rPr lang="en-US" dirty="0"/>
              <a:t> </a:t>
            </a:r>
            <a:r>
              <a:rPr lang="en-US" dirty="0" err="1"/>
              <a:t>sebuah</a:t>
            </a:r>
            <a:r>
              <a:rPr lang="en-US" dirty="0"/>
              <a:t> table yang </a:t>
            </a:r>
            <a:r>
              <a:rPr lang="en-US" dirty="0" err="1"/>
              <a:t>menyimpan</a:t>
            </a:r>
            <a:r>
              <a:rPr lang="en-US" dirty="0"/>
              <a:t> </a:t>
            </a:r>
            <a:r>
              <a:rPr lang="en-US" dirty="0" err="1"/>
              <a:t>suatu</a:t>
            </a:r>
            <a:r>
              <a:rPr lang="en-US" dirty="0"/>
              <a:t> </a:t>
            </a:r>
            <a:r>
              <a:rPr lang="en-US" dirty="0" err="1"/>
              <a:t>jenis</a:t>
            </a:r>
            <a:r>
              <a:rPr lang="en-US" dirty="0"/>
              <a:t> data. Field </a:t>
            </a:r>
            <a:r>
              <a:rPr lang="en-US" dirty="0" err="1"/>
              <a:t>memiliki</a:t>
            </a:r>
            <a:r>
              <a:rPr lang="en-US" dirty="0"/>
              <a:t> </a:t>
            </a:r>
            <a:r>
              <a:rPr lang="en-US" dirty="0" err="1"/>
              <a:t>ukuran</a:t>
            </a:r>
            <a:r>
              <a:rPr lang="en-US" dirty="0"/>
              <a:t> type data </a:t>
            </a:r>
            <a:r>
              <a:rPr lang="en-US" dirty="0" err="1"/>
              <a:t>tertentu</a:t>
            </a:r>
            <a:r>
              <a:rPr lang="en-US" dirty="0"/>
              <a:t> yang </a:t>
            </a:r>
            <a:r>
              <a:rPr lang="en-US" dirty="0" err="1"/>
              <a:t>menentukan</a:t>
            </a:r>
            <a:r>
              <a:rPr lang="en-US" dirty="0"/>
              <a:t> </a:t>
            </a:r>
            <a:r>
              <a:rPr lang="en-US" dirty="0" err="1"/>
              <a:t>bagaimana</a:t>
            </a:r>
            <a:r>
              <a:rPr lang="en-US" dirty="0"/>
              <a:t> data </a:t>
            </a:r>
            <a:r>
              <a:rPr lang="en-US" dirty="0" err="1"/>
              <a:t>nantinya</a:t>
            </a:r>
            <a:r>
              <a:rPr lang="en-US" dirty="0"/>
              <a:t> </a:t>
            </a:r>
            <a:r>
              <a:rPr lang="en-US" dirty="0" err="1"/>
              <a:t>tersimpan</a:t>
            </a:r>
            <a:r>
              <a:rPr lang="en-US" dirty="0"/>
              <a:t>.</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b="1" dirty="0"/>
              <a:t>D. Key</a:t>
            </a:r>
            <a:endParaRPr lang="en-US" dirty="0"/>
          </a:p>
          <a:p>
            <a:pPr marL="0" indent="0" algn="just">
              <a:buNone/>
            </a:pPr>
            <a:r>
              <a:rPr lang="en-US" dirty="0"/>
              <a:t>Key </a:t>
            </a:r>
            <a:r>
              <a:rPr lang="en-US" dirty="0" err="1"/>
              <a:t>merupakan</a:t>
            </a:r>
            <a:r>
              <a:rPr lang="en-US" dirty="0"/>
              <a:t> </a:t>
            </a:r>
            <a:r>
              <a:rPr lang="en-US" dirty="0" err="1"/>
              <a:t>suatu</a:t>
            </a:r>
            <a:r>
              <a:rPr lang="en-US" dirty="0"/>
              <a:t> field yang </a:t>
            </a:r>
            <a:r>
              <a:rPr lang="en-US" dirty="0" err="1"/>
              <a:t>dapat</a:t>
            </a:r>
            <a:r>
              <a:rPr lang="en-US" dirty="0"/>
              <a:t> </a:t>
            </a:r>
            <a:r>
              <a:rPr lang="en-US" dirty="0" err="1"/>
              <a:t>dijadikan</a:t>
            </a:r>
            <a:r>
              <a:rPr lang="en-US" dirty="0"/>
              <a:t> </a:t>
            </a:r>
            <a:r>
              <a:rPr lang="en-US" dirty="0" err="1"/>
              <a:t>tanda</a:t>
            </a:r>
            <a:r>
              <a:rPr lang="en-US" dirty="0"/>
              <a:t>/</a:t>
            </a:r>
            <a:r>
              <a:rPr lang="en-US" dirty="0" err="1"/>
              <a:t>kunci</a:t>
            </a:r>
            <a:r>
              <a:rPr lang="en-US" dirty="0"/>
              <a:t> </a:t>
            </a:r>
            <a:r>
              <a:rPr lang="en-US" dirty="0" err="1"/>
              <a:t>dalam</a:t>
            </a:r>
            <a:r>
              <a:rPr lang="en-US" dirty="0"/>
              <a:t> </a:t>
            </a:r>
            <a:r>
              <a:rPr lang="en-US" dirty="0" err="1"/>
              <a:t>operasi</a:t>
            </a:r>
            <a:r>
              <a:rPr lang="en-US" dirty="0"/>
              <a:t> table, </a:t>
            </a:r>
            <a:r>
              <a:rPr lang="en-US" dirty="0" err="1"/>
              <a:t>untuk</a:t>
            </a:r>
            <a:r>
              <a:rPr lang="en-US" dirty="0"/>
              <a:t> </a:t>
            </a:r>
            <a:r>
              <a:rPr lang="en-US" dirty="0" err="1"/>
              <a:t>melakukan</a:t>
            </a:r>
            <a:r>
              <a:rPr lang="en-US" dirty="0"/>
              <a:t> </a:t>
            </a:r>
            <a:r>
              <a:rPr lang="en-US" dirty="0" err="1"/>
              <a:t>pencarian</a:t>
            </a:r>
            <a:r>
              <a:rPr lang="en-US" dirty="0"/>
              <a:t> record. </a:t>
            </a:r>
            <a:r>
              <a:rPr lang="en-US" dirty="0" err="1"/>
              <a:t>Dalam</a:t>
            </a:r>
            <a:r>
              <a:rPr lang="en-US" dirty="0"/>
              <a:t> </a:t>
            </a:r>
            <a:r>
              <a:rPr lang="en-US" dirty="0" err="1"/>
              <a:t>konsep</a:t>
            </a:r>
            <a:r>
              <a:rPr lang="en-US" dirty="0"/>
              <a:t> database, key </a:t>
            </a:r>
            <a:r>
              <a:rPr lang="en-US" dirty="0" err="1"/>
              <a:t>memiliki</a:t>
            </a:r>
            <a:r>
              <a:rPr lang="en-US" dirty="0"/>
              <a:t> </a:t>
            </a:r>
            <a:r>
              <a:rPr lang="en-US" dirty="0" err="1"/>
              <a:t>banyak</a:t>
            </a:r>
            <a:r>
              <a:rPr lang="en-US" dirty="0"/>
              <a:t> </a:t>
            </a:r>
            <a:r>
              <a:rPr lang="en-US" dirty="0" err="1"/>
              <a:t>jenis</a:t>
            </a:r>
            <a:r>
              <a:rPr lang="en-US" dirty="0"/>
              <a:t> </a:t>
            </a:r>
            <a:r>
              <a:rPr lang="en-US" dirty="0" err="1"/>
              <a:t>diantaranya</a:t>
            </a:r>
            <a:r>
              <a:rPr lang="en-US" dirty="0"/>
              <a:t> Primary Key, Foreign Key, Composite Key, </a:t>
            </a:r>
            <a:r>
              <a:rPr lang="en-US" dirty="0" err="1"/>
              <a:t>dll</a:t>
            </a:r>
            <a:r>
              <a:rPr lang="en-US" dirty="0"/>
              <a:t>. Primary key </a:t>
            </a:r>
            <a:r>
              <a:rPr lang="en-US" dirty="0" err="1"/>
              <a:t>merupakan</a:t>
            </a:r>
            <a:r>
              <a:rPr lang="en-US" dirty="0"/>
              <a:t> key yang </a:t>
            </a:r>
            <a:r>
              <a:rPr lang="en-US" dirty="0" err="1"/>
              <a:t>bersifat</a:t>
            </a:r>
            <a:r>
              <a:rPr lang="en-US" dirty="0"/>
              <a:t> </a:t>
            </a:r>
            <a:r>
              <a:rPr lang="en-US" dirty="0" err="1"/>
              <a:t>unik</a:t>
            </a:r>
            <a:r>
              <a:rPr lang="en-US" dirty="0"/>
              <a:t>. </a:t>
            </a:r>
          </a:p>
        </p:txBody>
      </p:sp>
      <p:graphicFrame>
        <p:nvGraphicFramePr>
          <p:cNvPr id="7" name="Table 6">
            <a:extLst>
              <a:ext uri="{FF2B5EF4-FFF2-40B4-BE49-F238E27FC236}">
                <a16:creationId xmlns:a16="http://schemas.microsoft.com/office/drawing/2014/main" id="{6C901228-8CD3-437D-A994-B74020C78503}"/>
              </a:ext>
            </a:extLst>
          </p:cNvPr>
          <p:cNvGraphicFramePr>
            <a:graphicFrameLocks noGrp="1"/>
          </p:cNvGraphicFramePr>
          <p:nvPr>
            <p:extLst>
              <p:ext uri="{D42A27DB-BD31-4B8C-83A1-F6EECF244321}">
                <p14:modId xmlns:p14="http://schemas.microsoft.com/office/powerpoint/2010/main" val="3197344868"/>
              </p:ext>
            </p:extLst>
          </p:nvPr>
        </p:nvGraphicFramePr>
        <p:xfrm>
          <a:off x="4824147" y="3081058"/>
          <a:ext cx="1864149" cy="1716913"/>
        </p:xfrm>
        <a:graphic>
          <a:graphicData uri="http://schemas.openxmlformats.org/drawingml/2006/table">
            <a:tbl>
              <a:tblPr firstRow="1" bandRow="1">
                <a:tableStyleId>{616DA210-FB5B-4158-B5E0-FEB733F419BA}</a:tableStyleId>
              </a:tblPr>
              <a:tblGrid>
                <a:gridCol w="1864149">
                  <a:extLst>
                    <a:ext uri="{9D8B030D-6E8A-4147-A177-3AD203B41FA5}">
                      <a16:colId xmlns:a16="http://schemas.microsoft.com/office/drawing/2014/main" val="4116991291"/>
                    </a:ext>
                  </a:extLst>
                </a:gridCol>
              </a:tblGrid>
              <a:tr h="467233">
                <a:tc>
                  <a:txBody>
                    <a:bodyPr/>
                    <a:lstStyle/>
                    <a:p>
                      <a:pPr algn="ctr"/>
                      <a:r>
                        <a:rPr lang="en-US" sz="1600" dirty="0"/>
                        <a:t>Nama </a:t>
                      </a:r>
                      <a:r>
                        <a:rPr lang="en-US" sz="1600" dirty="0" err="1"/>
                        <a:t>Komponen</a:t>
                      </a:r>
                      <a:endParaRPr lang="en-US" sz="1600" dirty="0">
                        <a:solidFill>
                          <a:schemeClr val="tx1">
                            <a:lumMod val="95000"/>
                            <a:lumOff val="5000"/>
                          </a:schemeClr>
                        </a:solidFill>
                      </a:endParaRPr>
                    </a:p>
                  </a:txBody>
                  <a:tcPr/>
                </a:tc>
                <a:extLst>
                  <a:ext uri="{0D108BD9-81ED-4DB2-BD59-A6C34878D82A}">
                    <a16:rowId xmlns:a16="http://schemas.microsoft.com/office/drawing/2014/main" val="3063619491"/>
                  </a:ext>
                </a:extLst>
              </a:tr>
              <a:tr h="266991">
                <a:tc>
                  <a:txBody>
                    <a:bodyPr/>
                    <a:lstStyle/>
                    <a:p>
                      <a:r>
                        <a:rPr lang="en-US" sz="1600" dirty="0"/>
                        <a:t>Resistor 330K</a:t>
                      </a:r>
                    </a:p>
                  </a:txBody>
                  <a:tcPr/>
                </a:tc>
                <a:extLst>
                  <a:ext uri="{0D108BD9-81ED-4DB2-BD59-A6C34878D82A}">
                    <a16:rowId xmlns:a16="http://schemas.microsoft.com/office/drawing/2014/main" val="3258552276"/>
                  </a:ext>
                </a:extLst>
              </a:tr>
              <a:tr h="467233">
                <a:tc>
                  <a:txBody>
                    <a:bodyPr/>
                    <a:lstStyle/>
                    <a:p>
                      <a:r>
                        <a:rPr lang="en-US" sz="1600" dirty="0" err="1"/>
                        <a:t>Kapasitor</a:t>
                      </a:r>
                      <a:r>
                        <a:rPr lang="en-US" sz="1600" dirty="0"/>
                        <a:t> 220uF</a:t>
                      </a:r>
                    </a:p>
                  </a:txBody>
                  <a:tcPr/>
                </a:tc>
                <a:extLst>
                  <a:ext uri="{0D108BD9-81ED-4DB2-BD59-A6C34878D82A}">
                    <a16:rowId xmlns:a16="http://schemas.microsoft.com/office/drawing/2014/main" val="1741092272"/>
                  </a:ext>
                </a:extLst>
              </a:tr>
              <a:tr h="266991">
                <a:tc>
                  <a:txBody>
                    <a:bodyPr/>
                    <a:lstStyle/>
                    <a:p>
                      <a:r>
                        <a:rPr lang="en-US" sz="1600" dirty="0"/>
                        <a:t>Transistor</a:t>
                      </a:r>
                    </a:p>
                  </a:txBody>
                  <a:tcPr/>
                </a:tc>
                <a:extLst>
                  <a:ext uri="{0D108BD9-81ED-4DB2-BD59-A6C34878D82A}">
                    <a16:rowId xmlns:a16="http://schemas.microsoft.com/office/drawing/2014/main" val="3151729457"/>
                  </a:ext>
                </a:extLst>
              </a:tr>
            </a:tbl>
          </a:graphicData>
        </a:graphic>
      </p:graphicFrame>
      <p:sp>
        <p:nvSpPr>
          <p:cNvPr id="9" name="Content Placeholder 2">
            <a:extLst>
              <a:ext uri="{FF2B5EF4-FFF2-40B4-BE49-F238E27FC236}">
                <a16:creationId xmlns:a16="http://schemas.microsoft.com/office/drawing/2014/main" id="{92CAB4ED-9A2C-43DA-A1A7-0174E13A1113}"/>
              </a:ext>
            </a:extLst>
          </p:cNvPr>
          <p:cNvSpPr txBox="1">
            <a:spLocks/>
          </p:cNvSpPr>
          <p:nvPr/>
        </p:nvSpPr>
        <p:spPr>
          <a:xfrm>
            <a:off x="1728541" y="234641"/>
            <a:ext cx="1408828" cy="604157"/>
          </a:xfrm>
          <a:prstGeom prst="rect">
            <a:avLst/>
          </a:prstGeom>
        </p:spPr>
        <p:txBody>
          <a:bodyPr vert="horz" lIns="45720" tIns="45720" rIns="45720" bIns="45720" rtlCol="0">
            <a:normAutofit fontScale="925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a:hlinkClick r:id="rId3" action="ppaction://hlinksldjump"/>
              </a:rPr>
              <a:t>Database</a:t>
            </a:r>
            <a:endParaRPr lang="en-US" dirty="0">
              <a:hlinkClick r:id="rId3" action="ppaction://hlinksldjump"/>
            </a:endParaRPr>
          </a:p>
        </p:txBody>
      </p:sp>
      <p:sp>
        <p:nvSpPr>
          <p:cNvPr id="10" name="Content Placeholder 2">
            <a:hlinkClick r:id="rId4" action="ppaction://hlinksldjump"/>
            <a:extLst>
              <a:ext uri="{FF2B5EF4-FFF2-40B4-BE49-F238E27FC236}">
                <a16:creationId xmlns:a16="http://schemas.microsoft.com/office/drawing/2014/main" id="{7ED9A9ED-EE20-4A6D-8E16-67FF74FD784C}"/>
              </a:ext>
            </a:extLst>
          </p:cNvPr>
          <p:cNvSpPr txBox="1">
            <a:spLocks/>
          </p:cNvSpPr>
          <p:nvPr/>
        </p:nvSpPr>
        <p:spPr>
          <a:xfrm>
            <a:off x="3137369" y="240356"/>
            <a:ext cx="2404871" cy="604157"/>
          </a:xfrm>
          <a:prstGeom prst="rect">
            <a:avLst/>
          </a:prstGeom>
        </p:spPr>
        <p:txBody>
          <a:bodyPr vert="horz" lIns="45720" tIns="45720" rIns="45720" bIns="45720" rtlCol="0">
            <a:normAutofit fontScale="925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err="1"/>
              <a:t>Struktur</a:t>
            </a:r>
            <a:r>
              <a:rPr lang="en-US" dirty="0"/>
              <a:t> Database</a:t>
            </a:r>
          </a:p>
        </p:txBody>
      </p:sp>
      <p:sp>
        <p:nvSpPr>
          <p:cNvPr id="11" name="Content Placeholder 2">
            <a:hlinkClick r:id="rId5" action="ppaction://hlinksldjump"/>
            <a:extLst>
              <a:ext uri="{FF2B5EF4-FFF2-40B4-BE49-F238E27FC236}">
                <a16:creationId xmlns:a16="http://schemas.microsoft.com/office/drawing/2014/main" id="{208EAAA6-1258-4CA3-A699-4628DAB993C0}"/>
              </a:ext>
            </a:extLst>
          </p:cNvPr>
          <p:cNvSpPr txBox="1">
            <a:spLocks/>
          </p:cNvSpPr>
          <p:nvPr/>
        </p:nvSpPr>
        <p:spPr>
          <a:xfrm>
            <a:off x="5542240" y="240356"/>
            <a:ext cx="1408828"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RDBMS</a:t>
            </a:r>
          </a:p>
        </p:txBody>
      </p:sp>
      <p:sp>
        <p:nvSpPr>
          <p:cNvPr id="12" name="Content Placeholder 2">
            <a:hlinkClick r:id="rId6" action="ppaction://hlinksldjump"/>
            <a:extLst>
              <a:ext uri="{FF2B5EF4-FFF2-40B4-BE49-F238E27FC236}">
                <a16:creationId xmlns:a16="http://schemas.microsoft.com/office/drawing/2014/main" id="{50DD947B-5A8F-4F96-AFDA-E26ED5AD241B}"/>
              </a:ext>
            </a:extLst>
          </p:cNvPr>
          <p:cNvSpPr txBox="1">
            <a:spLocks/>
          </p:cNvSpPr>
          <p:nvPr/>
        </p:nvSpPr>
        <p:spPr>
          <a:xfrm>
            <a:off x="6688296" y="240356"/>
            <a:ext cx="1408828" cy="604157"/>
          </a:xfrm>
          <a:prstGeom prst="rect">
            <a:avLst/>
          </a:prstGeom>
        </p:spPr>
        <p:txBody>
          <a:bodyPr vert="horz" lIns="45720" tIns="45720" rIns="45720" bIns="45720" rtlCol="0">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Kesimpulan</a:t>
            </a:r>
          </a:p>
        </p:txBody>
      </p:sp>
      <p:sp>
        <p:nvSpPr>
          <p:cNvPr id="13" name="Content Placeholder 2">
            <a:hlinkClick r:id="rId7" action="ppaction://hlinksldjump"/>
            <a:extLst>
              <a:ext uri="{FF2B5EF4-FFF2-40B4-BE49-F238E27FC236}">
                <a16:creationId xmlns:a16="http://schemas.microsoft.com/office/drawing/2014/main" id="{642790F9-031F-4418-80E4-5B90502C0961}"/>
              </a:ext>
            </a:extLst>
          </p:cNvPr>
          <p:cNvSpPr txBox="1">
            <a:spLocks/>
          </p:cNvSpPr>
          <p:nvPr/>
        </p:nvSpPr>
        <p:spPr>
          <a:xfrm>
            <a:off x="605463" y="228926"/>
            <a:ext cx="1621100"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Home</a:t>
            </a:r>
          </a:p>
        </p:txBody>
      </p:sp>
      <p:sp>
        <p:nvSpPr>
          <p:cNvPr id="14" name="Content Placeholder 2">
            <a:hlinkClick r:id="rId8" action="ppaction://hlinksldjump"/>
            <a:extLst>
              <a:ext uri="{FF2B5EF4-FFF2-40B4-BE49-F238E27FC236}">
                <a16:creationId xmlns:a16="http://schemas.microsoft.com/office/drawing/2014/main" id="{1F854C01-0DF3-4ACB-A8E8-F5418D8E0927}"/>
              </a:ext>
            </a:extLst>
          </p:cNvPr>
          <p:cNvSpPr txBox="1">
            <a:spLocks/>
          </p:cNvSpPr>
          <p:nvPr/>
        </p:nvSpPr>
        <p:spPr>
          <a:xfrm>
            <a:off x="8178765" y="228925"/>
            <a:ext cx="1621099" cy="604157"/>
          </a:xfrm>
          <a:prstGeom prst="rect">
            <a:avLst/>
          </a:prstGeom>
        </p:spPr>
        <p:txBody>
          <a:bodyPr vert="horz" lIns="45720" tIns="45720" rIns="45720" bIns="45720" rtlCol="0">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err="1"/>
              <a:t>Soal</a:t>
            </a:r>
            <a:r>
              <a:rPr lang="en-US" dirty="0"/>
              <a:t> </a:t>
            </a:r>
            <a:r>
              <a:rPr lang="en-US" dirty="0" err="1"/>
              <a:t>Latihan</a:t>
            </a:r>
            <a:endParaRPr lang="en-US" dirty="0"/>
          </a:p>
        </p:txBody>
      </p:sp>
      <p:sp>
        <p:nvSpPr>
          <p:cNvPr id="15" name="Content Placeholder 2">
            <a:hlinkClick r:id="rId9" action="ppaction://hlinksldjump"/>
            <a:extLst>
              <a:ext uri="{FF2B5EF4-FFF2-40B4-BE49-F238E27FC236}">
                <a16:creationId xmlns:a16="http://schemas.microsoft.com/office/drawing/2014/main" id="{08E37801-0EFD-4A93-AA19-CE341CB79F90}"/>
              </a:ext>
            </a:extLst>
          </p:cNvPr>
          <p:cNvSpPr txBox="1">
            <a:spLocks/>
          </p:cNvSpPr>
          <p:nvPr/>
        </p:nvSpPr>
        <p:spPr>
          <a:xfrm>
            <a:off x="9844274" y="240355"/>
            <a:ext cx="2088753"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What’s Next?</a:t>
            </a:r>
          </a:p>
        </p:txBody>
      </p:sp>
    </p:spTree>
    <p:extLst>
      <p:ext uri="{BB962C8B-B14F-4D97-AF65-F5344CB8AC3E}">
        <p14:creationId xmlns:p14="http://schemas.microsoft.com/office/powerpoint/2010/main" val="161916318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3EF95-A9E8-4CC9-8B01-16AA5A599174}"/>
              </a:ext>
            </a:extLst>
          </p:cNvPr>
          <p:cNvSpPr>
            <a:spLocks noGrp="1"/>
          </p:cNvSpPr>
          <p:nvPr>
            <p:ph type="title"/>
          </p:nvPr>
        </p:nvSpPr>
        <p:spPr>
          <a:xfrm>
            <a:off x="682204" y="833082"/>
            <a:ext cx="9720072" cy="1499616"/>
          </a:xfrm>
        </p:spPr>
        <p:txBody>
          <a:bodyPr>
            <a:normAutofit/>
          </a:bodyPr>
          <a:lstStyle/>
          <a:p>
            <a:r>
              <a:rPr lang="en-US" sz="4400" b="1" dirty="0" err="1"/>
              <a:t>relasi</a:t>
            </a:r>
            <a:r>
              <a:rPr lang="en-US" sz="4400" b="1" dirty="0"/>
              <a:t> </a:t>
            </a:r>
            <a:r>
              <a:rPr lang="en-US" sz="4400" b="1" dirty="0" err="1"/>
              <a:t>entitas</a:t>
            </a:r>
            <a:r>
              <a:rPr lang="en-US" sz="4400" b="1" dirty="0"/>
              <a:t> </a:t>
            </a:r>
            <a:br>
              <a:rPr lang="en-US" sz="4400" b="1" dirty="0"/>
            </a:br>
            <a:endParaRPr lang="en-US" sz="4400" dirty="0"/>
          </a:p>
        </p:txBody>
      </p:sp>
      <p:pic>
        <p:nvPicPr>
          <p:cNvPr id="4" name="Content Placeholder 5" descr="Capture_11.JPG">
            <a:extLst>
              <a:ext uri="{FF2B5EF4-FFF2-40B4-BE49-F238E27FC236}">
                <a16:creationId xmlns:a16="http://schemas.microsoft.com/office/drawing/2014/main" id="{B07CE4F0-2061-418C-8F92-5C88F71E62F8}"/>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l="-633" t="-7149" r="633" b="7149"/>
          <a:stretch/>
        </p:blipFill>
        <p:spPr>
          <a:xfrm>
            <a:off x="4779652" y="2648339"/>
            <a:ext cx="6277645" cy="3284331"/>
          </a:xfrm>
        </p:spPr>
      </p:pic>
      <p:sp>
        <p:nvSpPr>
          <p:cNvPr id="5" name="Content Placeholder 2">
            <a:extLst>
              <a:ext uri="{FF2B5EF4-FFF2-40B4-BE49-F238E27FC236}">
                <a16:creationId xmlns:a16="http://schemas.microsoft.com/office/drawing/2014/main" id="{87CDEFED-C4C0-47FF-BF48-4951F026DF44}"/>
              </a:ext>
            </a:extLst>
          </p:cNvPr>
          <p:cNvSpPr txBox="1">
            <a:spLocks/>
          </p:cNvSpPr>
          <p:nvPr/>
        </p:nvSpPr>
        <p:spPr>
          <a:xfrm>
            <a:off x="1728541" y="234641"/>
            <a:ext cx="1408828" cy="604157"/>
          </a:xfrm>
          <a:prstGeom prst="rect">
            <a:avLst/>
          </a:prstGeom>
        </p:spPr>
        <p:txBody>
          <a:bodyPr vert="horz" lIns="45720" tIns="45720" rIns="45720" bIns="45720" rtlCol="0">
            <a:normAutofit fontScale="925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a:hlinkClick r:id="rId4" action="ppaction://hlinksldjump"/>
              </a:rPr>
              <a:t>Database</a:t>
            </a:r>
            <a:endParaRPr lang="en-US" dirty="0">
              <a:hlinkClick r:id="rId4" action="ppaction://hlinksldjump"/>
            </a:endParaRPr>
          </a:p>
        </p:txBody>
      </p:sp>
      <p:sp>
        <p:nvSpPr>
          <p:cNvPr id="6" name="Content Placeholder 2">
            <a:hlinkClick r:id="rId5" action="ppaction://hlinksldjump"/>
            <a:extLst>
              <a:ext uri="{FF2B5EF4-FFF2-40B4-BE49-F238E27FC236}">
                <a16:creationId xmlns:a16="http://schemas.microsoft.com/office/drawing/2014/main" id="{819FD81E-FB5E-4761-8A12-306FC4A6B3E6}"/>
              </a:ext>
            </a:extLst>
          </p:cNvPr>
          <p:cNvSpPr txBox="1">
            <a:spLocks/>
          </p:cNvSpPr>
          <p:nvPr/>
        </p:nvSpPr>
        <p:spPr>
          <a:xfrm>
            <a:off x="3137369" y="240356"/>
            <a:ext cx="2404871" cy="604157"/>
          </a:xfrm>
          <a:prstGeom prst="rect">
            <a:avLst/>
          </a:prstGeom>
        </p:spPr>
        <p:txBody>
          <a:bodyPr vert="horz" lIns="45720" tIns="45720" rIns="45720" bIns="45720" rtlCol="0">
            <a:normAutofit fontScale="925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err="1"/>
              <a:t>Struktur</a:t>
            </a:r>
            <a:r>
              <a:rPr lang="en-US" dirty="0"/>
              <a:t> Database</a:t>
            </a:r>
          </a:p>
        </p:txBody>
      </p:sp>
      <p:sp>
        <p:nvSpPr>
          <p:cNvPr id="7" name="Content Placeholder 2">
            <a:hlinkClick r:id="rId6" action="ppaction://hlinksldjump"/>
            <a:extLst>
              <a:ext uri="{FF2B5EF4-FFF2-40B4-BE49-F238E27FC236}">
                <a16:creationId xmlns:a16="http://schemas.microsoft.com/office/drawing/2014/main" id="{24145E42-8917-4E2F-A774-5BC94196441A}"/>
              </a:ext>
            </a:extLst>
          </p:cNvPr>
          <p:cNvSpPr txBox="1">
            <a:spLocks/>
          </p:cNvSpPr>
          <p:nvPr/>
        </p:nvSpPr>
        <p:spPr>
          <a:xfrm>
            <a:off x="5542240" y="240356"/>
            <a:ext cx="1408828"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RDBMS</a:t>
            </a:r>
          </a:p>
        </p:txBody>
      </p:sp>
      <p:sp>
        <p:nvSpPr>
          <p:cNvPr id="8" name="Content Placeholder 2">
            <a:hlinkClick r:id="rId7" action="ppaction://hlinksldjump"/>
            <a:extLst>
              <a:ext uri="{FF2B5EF4-FFF2-40B4-BE49-F238E27FC236}">
                <a16:creationId xmlns:a16="http://schemas.microsoft.com/office/drawing/2014/main" id="{E4E8BFF9-6697-4285-9FA2-7BA58E08D83B}"/>
              </a:ext>
            </a:extLst>
          </p:cNvPr>
          <p:cNvSpPr txBox="1">
            <a:spLocks/>
          </p:cNvSpPr>
          <p:nvPr/>
        </p:nvSpPr>
        <p:spPr>
          <a:xfrm>
            <a:off x="6688296" y="240356"/>
            <a:ext cx="1408828" cy="604157"/>
          </a:xfrm>
          <a:prstGeom prst="rect">
            <a:avLst/>
          </a:prstGeom>
        </p:spPr>
        <p:txBody>
          <a:bodyPr vert="horz" lIns="45720" tIns="45720" rIns="45720" bIns="45720" rtlCol="0">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Kesimpulan</a:t>
            </a:r>
          </a:p>
        </p:txBody>
      </p:sp>
      <p:sp>
        <p:nvSpPr>
          <p:cNvPr id="9" name="Content Placeholder 2">
            <a:hlinkClick r:id="rId8" action="ppaction://hlinksldjump"/>
            <a:extLst>
              <a:ext uri="{FF2B5EF4-FFF2-40B4-BE49-F238E27FC236}">
                <a16:creationId xmlns:a16="http://schemas.microsoft.com/office/drawing/2014/main" id="{0325A3D3-A7BB-44D9-A57A-065CB147FB8F}"/>
              </a:ext>
            </a:extLst>
          </p:cNvPr>
          <p:cNvSpPr txBox="1">
            <a:spLocks/>
          </p:cNvSpPr>
          <p:nvPr/>
        </p:nvSpPr>
        <p:spPr>
          <a:xfrm>
            <a:off x="605463" y="228926"/>
            <a:ext cx="1621100"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Home</a:t>
            </a:r>
          </a:p>
        </p:txBody>
      </p:sp>
      <p:sp>
        <p:nvSpPr>
          <p:cNvPr id="10" name="Content Placeholder 2">
            <a:hlinkClick r:id="rId9" action="ppaction://hlinksldjump"/>
            <a:extLst>
              <a:ext uri="{FF2B5EF4-FFF2-40B4-BE49-F238E27FC236}">
                <a16:creationId xmlns:a16="http://schemas.microsoft.com/office/drawing/2014/main" id="{5036AA96-BBBC-44C3-87E3-0AF46FFDB01E}"/>
              </a:ext>
            </a:extLst>
          </p:cNvPr>
          <p:cNvSpPr txBox="1">
            <a:spLocks/>
          </p:cNvSpPr>
          <p:nvPr/>
        </p:nvSpPr>
        <p:spPr>
          <a:xfrm>
            <a:off x="8178765" y="228925"/>
            <a:ext cx="1621099" cy="604157"/>
          </a:xfrm>
          <a:prstGeom prst="rect">
            <a:avLst/>
          </a:prstGeom>
        </p:spPr>
        <p:txBody>
          <a:bodyPr vert="horz" lIns="45720" tIns="45720" rIns="45720" bIns="45720" rtlCol="0">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err="1"/>
              <a:t>Soal</a:t>
            </a:r>
            <a:r>
              <a:rPr lang="en-US" dirty="0"/>
              <a:t> </a:t>
            </a:r>
            <a:r>
              <a:rPr lang="en-US" dirty="0" err="1"/>
              <a:t>Latihan</a:t>
            </a:r>
            <a:endParaRPr lang="en-US" dirty="0"/>
          </a:p>
        </p:txBody>
      </p:sp>
      <p:sp>
        <p:nvSpPr>
          <p:cNvPr id="11" name="Content Placeholder 2">
            <a:hlinkClick r:id="rId10" action="ppaction://hlinksldjump"/>
            <a:extLst>
              <a:ext uri="{FF2B5EF4-FFF2-40B4-BE49-F238E27FC236}">
                <a16:creationId xmlns:a16="http://schemas.microsoft.com/office/drawing/2014/main" id="{18582056-A059-4863-B51A-CE54D0B67B20}"/>
              </a:ext>
            </a:extLst>
          </p:cNvPr>
          <p:cNvSpPr txBox="1">
            <a:spLocks/>
          </p:cNvSpPr>
          <p:nvPr/>
        </p:nvSpPr>
        <p:spPr>
          <a:xfrm>
            <a:off x="9844274" y="240355"/>
            <a:ext cx="2088753"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What’s Next?</a:t>
            </a:r>
          </a:p>
        </p:txBody>
      </p:sp>
      <p:sp>
        <p:nvSpPr>
          <p:cNvPr id="3" name="Rectangle 2">
            <a:extLst>
              <a:ext uri="{FF2B5EF4-FFF2-40B4-BE49-F238E27FC236}">
                <a16:creationId xmlns:a16="http://schemas.microsoft.com/office/drawing/2014/main" id="{05AD0C05-9C58-4752-B987-A7BF3029ECB7}"/>
              </a:ext>
            </a:extLst>
          </p:cNvPr>
          <p:cNvSpPr/>
          <p:nvPr/>
        </p:nvSpPr>
        <p:spPr>
          <a:xfrm>
            <a:off x="721706" y="1963367"/>
            <a:ext cx="3736920" cy="400110"/>
          </a:xfrm>
          <a:prstGeom prst="rect">
            <a:avLst/>
          </a:prstGeom>
        </p:spPr>
        <p:txBody>
          <a:bodyPr wrap="none">
            <a:spAutoFit/>
          </a:bodyPr>
          <a:lstStyle/>
          <a:p>
            <a:r>
              <a:rPr lang="en-US" sz="2000" b="1" dirty="0" err="1"/>
              <a:t>Terdapat</a:t>
            </a:r>
            <a:r>
              <a:rPr lang="en-US" sz="2000" b="1" dirty="0"/>
              <a:t> 3 </a:t>
            </a:r>
            <a:r>
              <a:rPr lang="en-US" sz="2000" b="1" dirty="0" err="1"/>
              <a:t>macam</a:t>
            </a:r>
            <a:r>
              <a:rPr lang="en-US" sz="2000" b="1" dirty="0"/>
              <a:t> </a:t>
            </a:r>
            <a:r>
              <a:rPr lang="en-US" sz="2000" b="1" dirty="0" err="1"/>
              <a:t>relasi</a:t>
            </a:r>
            <a:r>
              <a:rPr lang="en-US" sz="2000" b="1" dirty="0"/>
              <a:t> </a:t>
            </a:r>
            <a:r>
              <a:rPr lang="en-US" sz="2000" b="1" dirty="0" err="1"/>
              <a:t>entitas</a:t>
            </a:r>
            <a:r>
              <a:rPr lang="en-US" sz="2000" b="1" dirty="0"/>
              <a:t>: </a:t>
            </a:r>
          </a:p>
        </p:txBody>
      </p:sp>
      <p:sp>
        <p:nvSpPr>
          <p:cNvPr id="12" name="Rectangle 11">
            <a:extLst>
              <a:ext uri="{FF2B5EF4-FFF2-40B4-BE49-F238E27FC236}">
                <a16:creationId xmlns:a16="http://schemas.microsoft.com/office/drawing/2014/main" id="{ECC30EFF-4581-4693-A2B4-3504B88C04BF}"/>
              </a:ext>
            </a:extLst>
          </p:cNvPr>
          <p:cNvSpPr/>
          <p:nvPr/>
        </p:nvSpPr>
        <p:spPr>
          <a:xfrm>
            <a:off x="721706" y="2463673"/>
            <a:ext cx="3062762" cy="400110"/>
          </a:xfrm>
          <a:prstGeom prst="rect">
            <a:avLst/>
          </a:prstGeom>
        </p:spPr>
        <p:txBody>
          <a:bodyPr wrap="none">
            <a:spAutoFit/>
          </a:bodyPr>
          <a:lstStyle/>
          <a:p>
            <a:r>
              <a:rPr lang="en-US" sz="2000" b="1" dirty="0"/>
              <a:t>1. One-to-one Relationship</a:t>
            </a:r>
          </a:p>
        </p:txBody>
      </p:sp>
      <p:sp>
        <p:nvSpPr>
          <p:cNvPr id="13" name="Rectangle 12">
            <a:extLst>
              <a:ext uri="{FF2B5EF4-FFF2-40B4-BE49-F238E27FC236}">
                <a16:creationId xmlns:a16="http://schemas.microsoft.com/office/drawing/2014/main" id="{92352A7D-2DA1-41B5-AF66-34D8AAC7E836}"/>
              </a:ext>
            </a:extLst>
          </p:cNvPr>
          <p:cNvSpPr/>
          <p:nvPr/>
        </p:nvSpPr>
        <p:spPr>
          <a:xfrm>
            <a:off x="764245" y="2963979"/>
            <a:ext cx="3048000" cy="1200329"/>
          </a:xfrm>
          <a:prstGeom prst="rect">
            <a:avLst/>
          </a:prstGeom>
        </p:spPr>
        <p:txBody>
          <a:bodyPr wrap="square">
            <a:spAutoFit/>
          </a:bodyPr>
          <a:lstStyle/>
          <a:p>
            <a:r>
              <a:rPr lang="id-ID" dirty="0"/>
              <a:t>One To One  :  Terjadi bila tiap anggota entity A hanya boleh berpasangan dengan satu anggota</a:t>
            </a:r>
            <a:r>
              <a:rPr lang="en-US" dirty="0"/>
              <a:t> entity B. </a:t>
            </a:r>
          </a:p>
        </p:txBody>
      </p:sp>
    </p:spTree>
    <p:extLst>
      <p:ext uri="{BB962C8B-B14F-4D97-AF65-F5344CB8AC3E}">
        <p14:creationId xmlns:p14="http://schemas.microsoft.com/office/powerpoint/2010/main" val="397206450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apture_9.JPG">
            <a:extLst>
              <a:ext uri="{FF2B5EF4-FFF2-40B4-BE49-F238E27FC236}">
                <a16:creationId xmlns:a16="http://schemas.microsoft.com/office/drawing/2014/main" id="{D36A9738-DF07-4274-81C1-E92655E10E35}"/>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b="7058"/>
          <a:stretch/>
        </p:blipFill>
        <p:spPr>
          <a:xfrm>
            <a:off x="3045450" y="1976733"/>
            <a:ext cx="6098549" cy="4350775"/>
          </a:xfrm>
        </p:spPr>
      </p:pic>
      <p:sp>
        <p:nvSpPr>
          <p:cNvPr id="5" name="Content Placeholder 2">
            <a:extLst>
              <a:ext uri="{FF2B5EF4-FFF2-40B4-BE49-F238E27FC236}">
                <a16:creationId xmlns:a16="http://schemas.microsoft.com/office/drawing/2014/main" id="{4E095D32-12FD-4ABE-86C5-130FC33D87AE}"/>
              </a:ext>
            </a:extLst>
          </p:cNvPr>
          <p:cNvSpPr txBox="1">
            <a:spLocks/>
          </p:cNvSpPr>
          <p:nvPr/>
        </p:nvSpPr>
        <p:spPr>
          <a:xfrm>
            <a:off x="1728541" y="234641"/>
            <a:ext cx="1408828" cy="604157"/>
          </a:xfrm>
          <a:prstGeom prst="rect">
            <a:avLst/>
          </a:prstGeom>
        </p:spPr>
        <p:txBody>
          <a:bodyPr vert="horz" lIns="45720" tIns="45720" rIns="45720" bIns="45720" rtlCol="0">
            <a:normAutofit fontScale="925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a:hlinkClick r:id="rId4" action="ppaction://hlinksldjump"/>
              </a:rPr>
              <a:t>Database</a:t>
            </a:r>
            <a:endParaRPr lang="en-US" dirty="0">
              <a:hlinkClick r:id="rId4" action="ppaction://hlinksldjump"/>
            </a:endParaRPr>
          </a:p>
        </p:txBody>
      </p:sp>
      <p:sp>
        <p:nvSpPr>
          <p:cNvPr id="6" name="Content Placeholder 2">
            <a:hlinkClick r:id="rId5" action="ppaction://hlinksldjump"/>
            <a:extLst>
              <a:ext uri="{FF2B5EF4-FFF2-40B4-BE49-F238E27FC236}">
                <a16:creationId xmlns:a16="http://schemas.microsoft.com/office/drawing/2014/main" id="{9E9450CC-BCF8-4ABC-AE37-32BB53A88AF9}"/>
              </a:ext>
            </a:extLst>
          </p:cNvPr>
          <p:cNvSpPr txBox="1">
            <a:spLocks/>
          </p:cNvSpPr>
          <p:nvPr/>
        </p:nvSpPr>
        <p:spPr>
          <a:xfrm>
            <a:off x="3137369" y="240356"/>
            <a:ext cx="2404871" cy="604157"/>
          </a:xfrm>
          <a:prstGeom prst="rect">
            <a:avLst/>
          </a:prstGeom>
        </p:spPr>
        <p:txBody>
          <a:bodyPr vert="horz" lIns="45720" tIns="45720" rIns="45720" bIns="45720" rtlCol="0">
            <a:normAutofit fontScale="925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err="1"/>
              <a:t>Struktur</a:t>
            </a:r>
            <a:r>
              <a:rPr lang="en-US" dirty="0"/>
              <a:t> Database</a:t>
            </a:r>
          </a:p>
        </p:txBody>
      </p:sp>
      <p:sp>
        <p:nvSpPr>
          <p:cNvPr id="7" name="Content Placeholder 2">
            <a:hlinkClick r:id="rId6" action="ppaction://hlinksldjump"/>
            <a:extLst>
              <a:ext uri="{FF2B5EF4-FFF2-40B4-BE49-F238E27FC236}">
                <a16:creationId xmlns:a16="http://schemas.microsoft.com/office/drawing/2014/main" id="{91123099-C5E5-4F28-BC2D-497DA0291EA8}"/>
              </a:ext>
            </a:extLst>
          </p:cNvPr>
          <p:cNvSpPr txBox="1">
            <a:spLocks/>
          </p:cNvSpPr>
          <p:nvPr/>
        </p:nvSpPr>
        <p:spPr>
          <a:xfrm>
            <a:off x="5542240" y="240356"/>
            <a:ext cx="1408828"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RDBMS</a:t>
            </a:r>
          </a:p>
        </p:txBody>
      </p:sp>
      <p:sp>
        <p:nvSpPr>
          <p:cNvPr id="8" name="Content Placeholder 2">
            <a:hlinkClick r:id="rId7" action="ppaction://hlinksldjump"/>
            <a:extLst>
              <a:ext uri="{FF2B5EF4-FFF2-40B4-BE49-F238E27FC236}">
                <a16:creationId xmlns:a16="http://schemas.microsoft.com/office/drawing/2014/main" id="{902D83F8-32D6-4C1C-ADB9-0E120BDAE75F}"/>
              </a:ext>
            </a:extLst>
          </p:cNvPr>
          <p:cNvSpPr txBox="1">
            <a:spLocks/>
          </p:cNvSpPr>
          <p:nvPr/>
        </p:nvSpPr>
        <p:spPr>
          <a:xfrm>
            <a:off x="6688296" y="240356"/>
            <a:ext cx="1408828" cy="604157"/>
          </a:xfrm>
          <a:prstGeom prst="rect">
            <a:avLst/>
          </a:prstGeom>
        </p:spPr>
        <p:txBody>
          <a:bodyPr vert="horz" lIns="45720" tIns="45720" rIns="45720" bIns="45720" rtlCol="0">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Kesimpulan</a:t>
            </a:r>
          </a:p>
        </p:txBody>
      </p:sp>
      <p:sp>
        <p:nvSpPr>
          <p:cNvPr id="9" name="Content Placeholder 2">
            <a:hlinkClick r:id="rId8" action="ppaction://hlinksldjump"/>
            <a:extLst>
              <a:ext uri="{FF2B5EF4-FFF2-40B4-BE49-F238E27FC236}">
                <a16:creationId xmlns:a16="http://schemas.microsoft.com/office/drawing/2014/main" id="{627F17CA-1F67-451D-9A01-ED1C430ED202}"/>
              </a:ext>
            </a:extLst>
          </p:cNvPr>
          <p:cNvSpPr txBox="1">
            <a:spLocks/>
          </p:cNvSpPr>
          <p:nvPr/>
        </p:nvSpPr>
        <p:spPr>
          <a:xfrm>
            <a:off x="605463" y="228926"/>
            <a:ext cx="1621100"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Home</a:t>
            </a:r>
          </a:p>
        </p:txBody>
      </p:sp>
      <p:sp>
        <p:nvSpPr>
          <p:cNvPr id="10" name="Content Placeholder 2">
            <a:hlinkClick r:id="rId9" action="ppaction://hlinksldjump"/>
            <a:extLst>
              <a:ext uri="{FF2B5EF4-FFF2-40B4-BE49-F238E27FC236}">
                <a16:creationId xmlns:a16="http://schemas.microsoft.com/office/drawing/2014/main" id="{008EB97F-DF1D-499B-87A0-6C76701F85A6}"/>
              </a:ext>
            </a:extLst>
          </p:cNvPr>
          <p:cNvSpPr txBox="1">
            <a:spLocks/>
          </p:cNvSpPr>
          <p:nvPr/>
        </p:nvSpPr>
        <p:spPr>
          <a:xfrm>
            <a:off x="8178765" y="228925"/>
            <a:ext cx="1621099" cy="604157"/>
          </a:xfrm>
          <a:prstGeom prst="rect">
            <a:avLst/>
          </a:prstGeom>
        </p:spPr>
        <p:txBody>
          <a:bodyPr vert="horz" lIns="45720" tIns="45720" rIns="45720" bIns="45720" rtlCol="0">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err="1"/>
              <a:t>Soal</a:t>
            </a:r>
            <a:r>
              <a:rPr lang="en-US" dirty="0"/>
              <a:t> </a:t>
            </a:r>
            <a:r>
              <a:rPr lang="en-US" dirty="0" err="1"/>
              <a:t>Latihan</a:t>
            </a:r>
            <a:endParaRPr lang="en-US" dirty="0"/>
          </a:p>
        </p:txBody>
      </p:sp>
      <p:sp>
        <p:nvSpPr>
          <p:cNvPr id="11" name="Content Placeholder 2">
            <a:hlinkClick r:id="rId10" action="ppaction://hlinksldjump"/>
            <a:extLst>
              <a:ext uri="{FF2B5EF4-FFF2-40B4-BE49-F238E27FC236}">
                <a16:creationId xmlns:a16="http://schemas.microsoft.com/office/drawing/2014/main" id="{C622F969-A623-4766-AFC8-DD16EA3CF70D}"/>
              </a:ext>
            </a:extLst>
          </p:cNvPr>
          <p:cNvSpPr txBox="1">
            <a:spLocks/>
          </p:cNvSpPr>
          <p:nvPr/>
        </p:nvSpPr>
        <p:spPr>
          <a:xfrm>
            <a:off x="9844274" y="240355"/>
            <a:ext cx="2088753"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What’s Next?</a:t>
            </a:r>
          </a:p>
        </p:txBody>
      </p:sp>
      <p:sp>
        <p:nvSpPr>
          <p:cNvPr id="12" name="Rectangle 11">
            <a:extLst>
              <a:ext uri="{FF2B5EF4-FFF2-40B4-BE49-F238E27FC236}">
                <a16:creationId xmlns:a16="http://schemas.microsoft.com/office/drawing/2014/main" id="{764768B4-8E4C-4071-972D-C91466A7A664}"/>
              </a:ext>
            </a:extLst>
          </p:cNvPr>
          <p:cNvSpPr/>
          <p:nvPr/>
        </p:nvSpPr>
        <p:spPr>
          <a:xfrm>
            <a:off x="682204" y="1721126"/>
            <a:ext cx="4274109" cy="1538883"/>
          </a:xfrm>
          <a:prstGeom prst="rect">
            <a:avLst/>
          </a:prstGeom>
        </p:spPr>
        <p:txBody>
          <a:bodyPr wrap="square">
            <a:spAutoFit/>
          </a:bodyPr>
          <a:lstStyle/>
          <a:p>
            <a:r>
              <a:rPr lang="en-US" b="1" dirty="0"/>
              <a:t>2. </a:t>
            </a:r>
            <a:r>
              <a:rPr lang="id-ID" sz="2000" b="1" dirty="0"/>
              <a:t>One To Many </a:t>
            </a:r>
            <a:r>
              <a:rPr lang="en-US" sz="2000" b="1" dirty="0"/>
              <a:t>Relationship</a:t>
            </a:r>
            <a:r>
              <a:rPr lang="id-ID" sz="2000" b="1" dirty="0"/>
              <a:t>: </a:t>
            </a:r>
            <a:r>
              <a:rPr lang="en-US" sz="2000" dirty="0"/>
              <a:t/>
            </a:r>
            <a:br>
              <a:rPr lang="en-US" sz="2000" dirty="0"/>
            </a:br>
            <a:endParaRPr lang="en-US" sz="2000" dirty="0"/>
          </a:p>
          <a:p>
            <a:pPr algn="just"/>
            <a:r>
              <a:rPr lang="id-ID" dirty="0"/>
              <a:t>Terjadi bila tiap anggota entity A boleh berpasangan dengan lebih dari satu anggota B</a:t>
            </a:r>
            <a:r>
              <a:rPr lang="en-US" dirty="0"/>
              <a:t>. </a:t>
            </a:r>
          </a:p>
        </p:txBody>
      </p:sp>
      <p:sp>
        <p:nvSpPr>
          <p:cNvPr id="15" name="Rectangle 14">
            <a:extLst>
              <a:ext uri="{FF2B5EF4-FFF2-40B4-BE49-F238E27FC236}">
                <a16:creationId xmlns:a16="http://schemas.microsoft.com/office/drawing/2014/main" id="{1D269105-114C-436A-AB3D-9DC21A3AEAD0}"/>
              </a:ext>
            </a:extLst>
          </p:cNvPr>
          <p:cNvSpPr/>
          <p:nvPr/>
        </p:nvSpPr>
        <p:spPr>
          <a:xfrm>
            <a:off x="9460331" y="5397631"/>
            <a:ext cx="1908313" cy="830997"/>
          </a:xfrm>
          <a:prstGeom prst="rect">
            <a:avLst/>
          </a:prstGeom>
        </p:spPr>
        <p:txBody>
          <a:bodyPr wrap="square">
            <a:spAutoFit/>
          </a:bodyPr>
          <a:lstStyle/>
          <a:p>
            <a:r>
              <a:rPr lang="en-US" sz="1600" i="1" dirty="0" err="1">
                <a:solidFill>
                  <a:srgbClr val="444444"/>
                </a:solidFill>
                <a:latin typeface="Arial" panose="020B0604020202020204" pitchFamily="34" charset="0"/>
              </a:rPr>
              <a:t>Keterangan</a:t>
            </a:r>
            <a:r>
              <a:rPr lang="en-US" sz="1600" dirty="0">
                <a:solidFill>
                  <a:srgbClr val="444444"/>
                </a:solidFill>
                <a:latin typeface="Arial" panose="020B0604020202020204" pitchFamily="34" charset="0"/>
              </a:rPr>
              <a:t> :</a:t>
            </a:r>
            <a:r>
              <a:rPr lang="en-US" sz="1600" dirty="0"/>
              <a:t/>
            </a:r>
            <a:br>
              <a:rPr lang="en-US" sz="1600" dirty="0"/>
            </a:br>
            <a:r>
              <a:rPr lang="en-US" sz="1600" dirty="0">
                <a:solidFill>
                  <a:srgbClr val="444444"/>
                </a:solidFill>
                <a:latin typeface="Arial" panose="020B0604020202020204" pitchFamily="34" charset="0"/>
              </a:rPr>
              <a:t>*   : primary key</a:t>
            </a:r>
            <a:r>
              <a:rPr lang="en-US" sz="1600" dirty="0"/>
              <a:t/>
            </a:r>
            <a:br>
              <a:rPr lang="en-US" sz="1600" dirty="0"/>
            </a:br>
            <a:r>
              <a:rPr lang="en-US" sz="1600" dirty="0">
                <a:solidFill>
                  <a:srgbClr val="444444"/>
                </a:solidFill>
                <a:latin typeface="Arial" panose="020B0604020202020204" pitchFamily="34" charset="0"/>
              </a:rPr>
              <a:t>** : foreign key</a:t>
            </a:r>
            <a:endParaRPr lang="en-US" sz="1600" dirty="0"/>
          </a:p>
        </p:txBody>
      </p:sp>
      <p:sp>
        <p:nvSpPr>
          <p:cNvPr id="16" name="Rectangle 15">
            <a:extLst>
              <a:ext uri="{FF2B5EF4-FFF2-40B4-BE49-F238E27FC236}">
                <a16:creationId xmlns:a16="http://schemas.microsoft.com/office/drawing/2014/main" id="{CB60C529-A730-49A3-9EC0-5012B9626C02}"/>
              </a:ext>
            </a:extLst>
          </p:cNvPr>
          <p:cNvSpPr/>
          <p:nvPr/>
        </p:nvSpPr>
        <p:spPr>
          <a:xfrm>
            <a:off x="7450188" y="2484859"/>
            <a:ext cx="338554" cy="369332"/>
          </a:xfrm>
          <a:prstGeom prst="rect">
            <a:avLst/>
          </a:prstGeom>
        </p:spPr>
        <p:txBody>
          <a:bodyPr wrap="none">
            <a:spAutoFit/>
          </a:bodyPr>
          <a:lstStyle/>
          <a:p>
            <a:r>
              <a:rPr lang="en-US" dirty="0">
                <a:solidFill>
                  <a:srgbClr val="444444"/>
                </a:solidFill>
                <a:latin typeface="Arial" panose="020B0604020202020204" pitchFamily="34" charset="0"/>
              </a:rPr>
              <a:t>* </a:t>
            </a:r>
            <a:endParaRPr lang="en-US" dirty="0"/>
          </a:p>
        </p:txBody>
      </p:sp>
      <p:sp>
        <p:nvSpPr>
          <p:cNvPr id="17" name="Rectangle 16">
            <a:extLst>
              <a:ext uri="{FF2B5EF4-FFF2-40B4-BE49-F238E27FC236}">
                <a16:creationId xmlns:a16="http://schemas.microsoft.com/office/drawing/2014/main" id="{731CD0F3-C480-4828-8D48-5C9ABD803A3F}"/>
              </a:ext>
            </a:extLst>
          </p:cNvPr>
          <p:cNvSpPr/>
          <p:nvPr/>
        </p:nvSpPr>
        <p:spPr>
          <a:xfrm>
            <a:off x="6506793" y="4517965"/>
            <a:ext cx="428322" cy="369332"/>
          </a:xfrm>
          <a:prstGeom prst="rect">
            <a:avLst/>
          </a:prstGeom>
        </p:spPr>
        <p:txBody>
          <a:bodyPr wrap="none">
            <a:spAutoFit/>
          </a:bodyPr>
          <a:lstStyle/>
          <a:p>
            <a:r>
              <a:rPr lang="en-US" dirty="0">
                <a:solidFill>
                  <a:srgbClr val="444444"/>
                </a:solidFill>
                <a:latin typeface="Arial" panose="020B0604020202020204" pitchFamily="34" charset="0"/>
              </a:rPr>
              <a:t>** </a:t>
            </a:r>
            <a:endParaRPr lang="en-US" dirty="0"/>
          </a:p>
        </p:txBody>
      </p:sp>
    </p:spTree>
    <p:extLst>
      <p:ext uri="{BB962C8B-B14F-4D97-AF65-F5344CB8AC3E}">
        <p14:creationId xmlns:p14="http://schemas.microsoft.com/office/powerpoint/2010/main" val="206081248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5" descr="Capture_14.JPG">
            <a:extLst>
              <a:ext uri="{FF2B5EF4-FFF2-40B4-BE49-F238E27FC236}">
                <a16:creationId xmlns:a16="http://schemas.microsoft.com/office/drawing/2014/main" id="{3B76E440-98E4-4F61-B23C-A0A9FD1AA457}"/>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b="3937"/>
          <a:stretch/>
        </p:blipFill>
        <p:spPr bwMode="auto">
          <a:xfrm>
            <a:off x="5118651" y="2160251"/>
            <a:ext cx="5584729" cy="4403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ontent Placeholder 2">
            <a:extLst>
              <a:ext uri="{FF2B5EF4-FFF2-40B4-BE49-F238E27FC236}">
                <a16:creationId xmlns:a16="http://schemas.microsoft.com/office/drawing/2014/main" id="{B511F38D-C793-4B04-9516-218002F85F10}"/>
              </a:ext>
            </a:extLst>
          </p:cNvPr>
          <p:cNvSpPr txBox="1">
            <a:spLocks/>
          </p:cNvSpPr>
          <p:nvPr/>
        </p:nvSpPr>
        <p:spPr>
          <a:xfrm>
            <a:off x="1728541" y="234641"/>
            <a:ext cx="1408828" cy="604157"/>
          </a:xfrm>
          <a:prstGeom prst="rect">
            <a:avLst/>
          </a:prstGeom>
        </p:spPr>
        <p:txBody>
          <a:bodyPr vert="horz" lIns="45720" tIns="45720" rIns="45720" bIns="45720" rtlCol="0">
            <a:normAutofit fontScale="925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a:hlinkClick r:id="rId3" action="ppaction://hlinksldjump"/>
              </a:rPr>
              <a:t>Database</a:t>
            </a:r>
            <a:endParaRPr lang="en-US" dirty="0">
              <a:hlinkClick r:id="rId3" action="ppaction://hlinksldjump"/>
            </a:endParaRPr>
          </a:p>
        </p:txBody>
      </p:sp>
      <p:sp>
        <p:nvSpPr>
          <p:cNvPr id="6" name="Content Placeholder 2">
            <a:hlinkClick r:id="rId4" action="ppaction://hlinksldjump"/>
            <a:extLst>
              <a:ext uri="{FF2B5EF4-FFF2-40B4-BE49-F238E27FC236}">
                <a16:creationId xmlns:a16="http://schemas.microsoft.com/office/drawing/2014/main" id="{AEF10C06-992D-454E-9462-9245B00302A7}"/>
              </a:ext>
            </a:extLst>
          </p:cNvPr>
          <p:cNvSpPr txBox="1">
            <a:spLocks/>
          </p:cNvSpPr>
          <p:nvPr/>
        </p:nvSpPr>
        <p:spPr>
          <a:xfrm>
            <a:off x="3137369" y="240356"/>
            <a:ext cx="2404871" cy="604157"/>
          </a:xfrm>
          <a:prstGeom prst="rect">
            <a:avLst/>
          </a:prstGeom>
        </p:spPr>
        <p:txBody>
          <a:bodyPr vert="horz" lIns="45720" tIns="45720" rIns="45720" bIns="45720" rtlCol="0">
            <a:normAutofit fontScale="925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err="1"/>
              <a:t>Struktur</a:t>
            </a:r>
            <a:r>
              <a:rPr lang="en-US" dirty="0"/>
              <a:t> Database</a:t>
            </a:r>
          </a:p>
        </p:txBody>
      </p:sp>
      <p:sp>
        <p:nvSpPr>
          <p:cNvPr id="7" name="Content Placeholder 2">
            <a:hlinkClick r:id="rId5" action="ppaction://hlinksldjump"/>
            <a:extLst>
              <a:ext uri="{FF2B5EF4-FFF2-40B4-BE49-F238E27FC236}">
                <a16:creationId xmlns:a16="http://schemas.microsoft.com/office/drawing/2014/main" id="{43CA2C70-D676-4356-83B2-64AFAE987292}"/>
              </a:ext>
            </a:extLst>
          </p:cNvPr>
          <p:cNvSpPr txBox="1">
            <a:spLocks/>
          </p:cNvSpPr>
          <p:nvPr/>
        </p:nvSpPr>
        <p:spPr>
          <a:xfrm>
            <a:off x="5542240" y="240356"/>
            <a:ext cx="1408828"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RDBMS</a:t>
            </a:r>
          </a:p>
        </p:txBody>
      </p:sp>
      <p:sp>
        <p:nvSpPr>
          <p:cNvPr id="8" name="Content Placeholder 2">
            <a:hlinkClick r:id="rId6" action="ppaction://hlinksldjump"/>
            <a:extLst>
              <a:ext uri="{FF2B5EF4-FFF2-40B4-BE49-F238E27FC236}">
                <a16:creationId xmlns:a16="http://schemas.microsoft.com/office/drawing/2014/main" id="{FEBB8B62-C452-41D9-A67A-7F5DE887250B}"/>
              </a:ext>
            </a:extLst>
          </p:cNvPr>
          <p:cNvSpPr txBox="1">
            <a:spLocks/>
          </p:cNvSpPr>
          <p:nvPr/>
        </p:nvSpPr>
        <p:spPr>
          <a:xfrm>
            <a:off x="6688296" y="240356"/>
            <a:ext cx="1408828" cy="604157"/>
          </a:xfrm>
          <a:prstGeom prst="rect">
            <a:avLst/>
          </a:prstGeom>
        </p:spPr>
        <p:txBody>
          <a:bodyPr vert="horz" lIns="45720" tIns="45720" rIns="45720" bIns="45720" rtlCol="0">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Kesimpulan</a:t>
            </a:r>
          </a:p>
        </p:txBody>
      </p:sp>
      <p:sp>
        <p:nvSpPr>
          <p:cNvPr id="9" name="Content Placeholder 2">
            <a:hlinkClick r:id="rId7" action="ppaction://hlinksldjump"/>
            <a:extLst>
              <a:ext uri="{FF2B5EF4-FFF2-40B4-BE49-F238E27FC236}">
                <a16:creationId xmlns:a16="http://schemas.microsoft.com/office/drawing/2014/main" id="{5492462D-B667-47C2-9D72-B44A9CD74E8D}"/>
              </a:ext>
            </a:extLst>
          </p:cNvPr>
          <p:cNvSpPr txBox="1">
            <a:spLocks/>
          </p:cNvSpPr>
          <p:nvPr/>
        </p:nvSpPr>
        <p:spPr>
          <a:xfrm>
            <a:off x="605463" y="228926"/>
            <a:ext cx="1621100"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Home</a:t>
            </a:r>
          </a:p>
        </p:txBody>
      </p:sp>
      <p:sp>
        <p:nvSpPr>
          <p:cNvPr id="10" name="Content Placeholder 2">
            <a:hlinkClick r:id="rId8" action="ppaction://hlinksldjump"/>
            <a:extLst>
              <a:ext uri="{FF2B5EF4-FFF2-40B4-BE49-F238E27FC236}">
                <a16:creationId xmlns:a16="http://schemas.microsoft.com/office/drawing/2014/main" id="{573050C1-D42A-4B4A-9387-EF087E705980}"/>
              </a:ext>
            </a:extLst>
          </p:cNvPr>
          <p:cNvSpPr txBox="1">
            <a:spLocks/>
          </p:cNvSpPr>
          <p:nvPr/>
        </p:nvSpPr>
        <p:spPr>
          <a:xfrm>
            <a:off x="8178765" y="228925"/>
            <a:ext cx="1621099" cy="604157"/>
          </a:xfrm>
          <a:prstGeom prst="rect">
            <a:avLst/>
          </a:prstGeom>
        </p:spPr>
        <p:txBody>
          <a:bodyPr vert="horz" lIns="45720" tIns="45720" rIns="45720" bIns="45720" rtlCol="0">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err="1"/>
              <a:t>Soal</a:t>
            </a:r>
            <a:r>
              <a:rPr lang="en-US" dirty="0"/>
              <a:t> </a:t>
            </a:r>
            <a:r>
              <a:rPr lang="en-US" dirty="0" err="1"/>
              <a:t>Latihan</a:t>
            </a:r>
            <a:endParaRPr lang="en-US" dirty="0"/>
          </a:p>
        </p:txBody>
      </p:sp>
      <p:sp>
        <p:nvSpPr>
          <p:cNvPr id="11" name="Content Placeholder 2">
            <a:hlinkClick r:id="rId9" action="ppaction://hlinksldjump"/>
            <a:extLst>
              <a:ext uri="{FF2B5EF4-FFF2-40B4-BE49-F238E27FC236}">
                <a16:creationId xmlns:a16="http://schemas.microsoft.com/office/drawing/2014/main" id="{3941F3DA-1391-4BF3-85C6-8CB315C8F69A}"/>
              </a:ext>
            </a:extLst>
          </p:cNvPr>
          <p:cNvSpPr txBox="1">
            <a:spLocks/>
          </p:cNvSpPr>
          <p:nvPr/>
        </p:nvSpPr>
        <p:spPr>
          <a:xfrm>
            <a:off x="9844274" y="240355"/>
            <a:ext cx="2088753"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What’s Next?</a:t>
            </a:r>
          </a:p>
        </p:txBody>
      </p:sp>
      <p:sp>
        <p:nvSpPr>
          <p:cNvPr id="3" name="Rectangle 2">
            <a:extLst>
              <a:ext uri="{FF2B5EF4-FFF2-40B4-BE49-F238E27FC236}">
                <a16:creationId xmlns:a16="http://schemas.microsoft.com/office/drawing/2014/main" id="{1F797C97-E676-43B7-9E80-D9B6D427EA9A}"/>
              </a:ext>
            </a:extLst>
          </p:cNvPr>
          <p:cNvSpPr/>
          <p:nvPr/>
        </p:nvSpPr>
        <p:spPr>
          <a:xfrm>
            <a:off x="809648" y="2690336"/>
            <a:ext cx="3855117" cy="1477328"/>
          </a:xfrm>
          <a:prstGeom prst="rect">
            <a:avLst/>
          </a:prstGeom>
        </p:spPr>
        <p:txBody>
          <a:bodyPr wrap="square">
            <a:spAutoFit/>
          </a:bodyPr>
          <a:lstStyle/>
          <a:p>
            <a:pPr algn="just"/>
            <a:r>
              <a:rPr lang="en-US" dirty="0"/>
              <a:t/>
            </a:r>
            <a:br>
              <a:rPr lang="en-US" dirty="0"/>
            </a:br>
            <a:r>
              <a:rPr lang="id-ID" dirty="0"/>
              <a:t> Terjadi bila tiap anggota A boleh berpasangan dengan lebih dari satu anggota B dan berlaku untuk sebaliknya</a:t>
            </a:r>
            <a:r>
              <a:rPr lang="en-US" dirty="0"/>
              <a:t>. </a:t>
            </a:r>
          </a:p>
        </p:txBody>
      </p:sp>
      <p:sp>
        <p:nvSpPr>
          <p:cNvPr id="13" name="Title 12">
            <a:extLst>
              <a:ext uri="{FF2B5EF4-FFF2-40B4-BE49-F238E27FC236}">
                <a16:creationId xmlns:a16="http://schemas.microsoft.com/office/drawing/2014/main" id="{333B7B18-7200-414D-B191-131C96791239}"/>
              </a:ext>
            </a:extLst>
          </p:cNvPr>
          <p:cNvSpPr>
            <a:spLocks noGrp="1"/>
          </p:cNvSpPr>
          <p:nvPr>
            <p:ph type="title"/>
          </p:nvPr>
        </p:nvSpPr>
        <p:spPr/>
        <p:txBody>
          <a:bodyPr/>
          <a:lstStyle/>
          <a:p>
            <a:endParaRPr lang="en-US"/>
          </a:p>
        </p:txBody>
      </p:sp>
      <p:sp>
        <p:nvSpPr>
          <p:cNvPr id="14" name="Rectangle 13">
            <a:extLst>
              <a:ext uri="{FF2B5EF4-FFF2-40B4-BE49-F238E27FC236}">
                <a16:creationId xmlns:a16="http://schemas.microsoft.com/office/drawing/2014/main" id="{5B39E154-6561-4A43-9BD1-43AF0F06899B}"/>
              </a:ext>
            </a:extLst>
          </p:cNvPr>
          <p:cNvSpPr/>
          <p:nvPr/>
        </p:nvSpPr>
        <p:spPr>
          <a:xfrm>
            <a:off x="809603" y="2329274"/>
            <a:ext cx="3877985" cy="400110"/>
          </a:xfrm>
          <a:prstGeom prst="rect">
            <a:avLst/>
          </a:prstGeom>
        </p:spPr>
        <p:txBody>
          <a:bodyPr wrap="none">
            <a:spAutoFit/>
          </a:bodyPr>
          <a:lstStyle/>
          <a:p>
            <a:r>
              <a:rPr lang="en-US" sz="2000" b="1" dirty="0"/>
              <a:t>3</a:t>
            </a:r>
            <a:r>
              <a:rPr lang="en-US" b="1" dirty="0"/>
              <a:t>. </a:t>
            </a:r>
            <a:r>
              <a:rPr lang="id-ID" sz="2000" b="1" dirty="0"/>
              <a:t>Many To Many </a:t>
            </a:r>
            <a:r>
              <a:rPr lang="en-US" sz="2000" b="1" dirty="0"/>
              <a:t>Relationship</a:t>
            </a:r>
            <a:r>
              <a:rPr lang="id-ID" sz="2000" b="1" dirty="0"/>
              <a:t>:</a:t>
            </a:r>
            <a:r>
              <a:rPr lang="en-US" dirty="0"/>
              <a:t>	</a:t>
            </a:r>
          </a:p>
        </p:txBody>
      </p:sp>
      <p:sp>
        <p:nvSpPr>
          <p:cNvPr id="15" name="Rectangle 14">
            <a:extLst>
              <a:ext uri="{FF2B5EF4-FFF2-40B4-BE49-F238E27FC236}">
                <a16:creationId xmlns:a16="http://schemas.microsoft.com/office/drawing/2014/main" id="{91AE199F-0AD4-4399-BBB0-1D18F9D6A5EB}"/>
              </a:ext>
            </a:extLst>
          </p:cNvPr>
          <p:cNvSpPr/>
          <p:nvPr/>
        </p:nvSpPr>
        <p:spPr>
          <a:xfrm>
            <a:off x="9790043" y="5657230"/>
            <a:ext cx="1908313" cy="830997"/>
          </a:xfrm>
          <a:prstGeom prst="rect">
            <a:avLst/>
          </a:prstGeom>
        </p:spPr>
        <p:txBody>
          <a:bodyPr wrap="square">
            <a:spAutoFit/>
          </a:bodyPr>
          <a:lstStyle/>
          <a:p>
            <a:r>
              <a:rPr lang="en-US" sz="1600" i="1" dirty="0" err="1">
                <a:solidFill>
                  <a:srgbClr val="444444"/>
                </a:solidFill>
                <a:latin typeface="Arial" panose="020B0604020202020204" pitchFamily="34" charset="0"/>
              </a:rPr>
              <a:t>Keterangan</a:t>
            </a:r>
            <a:r>
              <a:rPr lang="en-US" sz="1600" dirty="0">
                <a:solidFill>
                  <a:srgbClr val="444444"/>
                </a:solidFill>
                <a:latin typeface="Arial" panose="020B0604020202020204" pitchFamily="34" charset="0"/>
              </a:rPr>
              <a:t> :</a:t>
            </a:r>
            <a:r>
              <a:rPr lang="en-US" sz="1600" dirty="0"/>
              <a:t/>
            </a:r>
            <a:br>
              <a:rPr lang="en-US" sz="1600" dirty="0"/>
            </a:br>
            <a:r>
              <a:rPr lang="en-US" sz="1600" dirty="0">
                <a:solidFill>
                  <a:srgbClr val="444444"/>
                </a:solidFill>
                <a:latin typeface="Arial" panose="020B0604020202020204" pitchFamily="34" charset="0"/>
              </a:rPr>
              <a:t>*   : primary key</a:t>
            </a:r>
            <a:r>
              <a:rPr lang="en-US" sz="1600" dirty="0"/>
              <a:t/>
            </a:r>
            <a:br>
              <a:rPr lang="en-US" sz="1600" dirty="0"/>
            </a:br>
            <a:r>
              <a:rPr lang="en-US" sz="1600" dirty="0">
                <a:solidFill>
                  <a:srgbClr val="444444"/>
                </a:solidFill>
                <a:latin typeface="Arial" panose="020B0604020202020204" pitchFamily="34" charset="0"/>
              </a:rPr>
              <a:t>** : foreign key</a:t>
            </a:r>
            <a:endParaRPr lang="en-US" sz="1600" dirty="0"/>
          </a:p>
        </p:txBody>
      </p:sp>
      <p:sp>
        <p:nvSpPr>
          <p:cNvPr id="16" name="Rectangle 15">
            <a:extLst>
              <a:ext uri="{FF2B5EF4-FFF2-40B4-BE49-F238E27FC236}">
                <a16:creationId xmlns:a16="http://schemas.microsoft.com/office/drawing/2014/main" id="{A6DA941F-A36F-4E12-BBB1-89A3DC0CB451}"/>
              </a:ext>
            </a:extLst>
          </p:cNvPr>
          <p:cNvSpPr/>
          <p:nvPr/>
        </p:nvSpPr>
        <p:spPr>
          <a:xfrm>
            <a:off x="9081896" y="3331026"/>
            <a:ext cx="402674" cy="369332"/>
          </a:xfrm>
          <a:prstGeom prst="rect">
            <a:avLst/>
          </a:prstGeom>
        </p:spPr>
        <p:txBody>
          <a:bodyPr wrap="none">
            <a:spAutoFit/>
          </a:bodyPr>
          <a:lstStyle/>
          <a:p>
            <a:r>
              <a:rPr lang="en-US" dirty="0">
                <a:solidFill>
                  <a:srgbClr val="444444"/>
                </a:solidFill>
                <a:latin typeface="Arial" panose="020B0604020202020204" pitchFamily="34" charset="0"/>
              </a:rPr>
              <a:t>*  </a:t>
            </a:r>
            <a:endParaRPr lang="en-US" dirty="0"/>
          </a:p>
        </p:txBody>
      </p:sp>
      <p:sp>
        <p:nvSpPr>
          <p:cNvPr id="17" name="Rectangle 16">
            <a:extLst>
              <a:ext uri="{FF2B5EF4-FFF2-40B4-BE49-F238E27FC236}">
                <a16:creationId xmlns:a16="http://schemas.microsoft.com/office/drawing/2014/main" id="{ACB2C2FD-9030-4A0A-977D-102123018406}"/>
              </a:ext>
            </a:extLst>
          </p:cNvPr>
          <p:cNvSpPr/>
          <p:nvPr/>
        </p:nvSpPr>
        <p:spPr>
          <a:xfrm>
            <a:off x="5938593" y="2196763"/>
            <a:ext cx="402674" cy="369332"/>
          </a:xfrm>
          <a:prstGeom prst="rect">
            <a:avLst/>
          </a:prstGeom>
        </p:spPr>
        <p:txBody>
          <a:bodyPr wrap="none">
            <a:spAutoFit/>
          </a:bodyPr>
          <a:lstStyle/>
          <a:p>
            <a:r>
              <a:rPr lang="en-US" dirty="0">
                <a:solidFill>
                  <a:srgbClr val="444444"/>
                </a:solidFill>
                <a:latin typeface="Arial" panose="020B0604020202020204" pitchFamily="34" charset="0"/>
              </a:rPr>
              <a:t>*  </a:t>
            </a:r>
            <a:endParaRPr lang="en-US" dirty="0"/>
          </a:p>
        </p:txBody>
      </p:sp>
      <p:sp>
        <p:nvSpPr>
          <p:cNvPr id="18" name="Rectangle 17">
            <a:extLst>
              <a:ext uri="{FF2B5EF4-FFF2-40B4-BE49-F238E27FC236}">
                <a16:creationId xmlns:a16="http://schemas.microsoft.com/office/drawing/2014/main" id="{E6061144-E675-4843-A2DA-89E99AA8B730}"/>
              </a:ext>
            </a:extLst>
          </p:cNvPr>
          <p:cNvSpPr/>
          <p:nvPr/>
        </p:nvSpPr>
        <p:spPr>
          <a:xfrm>
            <a:off x="7745244" y="5056806"/>
            <a:ext cx="364202" cy="369332"/>
          </a:xfrm>
          <a:prstGeom prst="rect">
            <a:avLst/>
          </a:prstGeom>
        </p:spPr>
        <p:txBody>
          <a:bodyPr wrap="none">
            <a:spAutoFit/>
          </a:bodyPr>
          <a:lstStyle/>
          <a:p>
            <a:r>
              <a:rPr lang="en-US" dirty="0">
                <a:solidFill>
                  <a:srgbClr val="444444"/>
                </a:solidFill>
                <a:latin typeface="Arial" panose="020B0604020202020204" pitchFamily="34" charset="0"/>
              </a:rPr>
              <a:t>**</a:t>
            </a:r>
            <a:endParaRPr lang="en-US" dirty="0"/>
          </a:p>
        </p:txBody>
      </p:sp>
      <p:sp>
        <p:nvSpPr>
          <p:cNvPr id="19" name="Rectangle 18">
            <a:extLst>
              <a:ext uri="{FF2B5EF4-FFF2-40B4-BE49-F238E27FC236}">
                <a16:creationId xmlns:a16="http://schemas.microsoft.com/office/drawing/2014/main" id="{66CCE017-04B7-4894-8664-E32434F577C9}"/>
              </a:ext>
            </a:extLst>
          </p:cNvPr>
          <p:cNvSpPr/>
          <p:nvPr/>
        </p:nvSpPr>
        <p:spPr>
          <a:xfrm>
            <a:off x="6357596" y="5056806"/>
            <a:ext cx="364202" cy="369332"/>
          </a:xfrm>
          <a:prstGeom prst="rect">
            <a:avLst/>
          </a:prstGeom>
        </p:spPr>
        <p:txBody>
          <a:bodyPr wrap="none">
            <a:spAutoFit/>
          </a:bodyPr>
          <a:lstStyle/>
          <a:p>
            <a:r>
              <a:rPr lang="en-US" dirty="0">
                <a:solidFill>
                  <a:srgbClr val="444444"/>
                </a:solidFill>
                <a:latin typeface="Arial" panose="020B0604020202020204" pitchFamily="34" charset="0"/>
              </a:rPr>
              <a:t>**</a:t>
            </a:r>
            <a:endParaRPr lang="en-US" dirty="0"/>
          </a:p>
        </p:txBody>
      </p:sp>
    </p:spTree>
    <p:extLst>
      <p:ext uri="{BB962C8B-B14F-4D97-AF65-F5344CB8AC3E}">
        <p14:creationId xmlns:p14="http://schemas.microsoft.com/office/powerpoint/2010/main" val="107352052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D8A0D51-19B1-4516-B04E-4ACF6FE24847}"/>
              </a:ext>
            </a:extLst>
          </p:cNvPr>
          <p:cNvSpPr>
            <a:spLocks noGrp="1"/>
          </p:cNvSpPr>
          <p:nvPr>
            <p:ph type="title"/>
          </p:nvPr>
        </p:nvSpPr>
        <p:spPr>
          <a:xfrm>
            <a:off x="749342" y="1231859"/>
            <a:ext cx="8055735" cy="606866"/>
          </a:xfrm>
        </p:spPr>
        <p:txBody>
          <a:bodyPr>
            <a:normAutofit fontScale="90000"/>
          </a:bodyPr>
          <a:lstStyle/>
          <a:p>
            <a:r>
              <a:rPr lang="en-US" sz="3600" dirty="0" err="1"/>
              <a:t>Contoh</a:t>
            </a:r>
            <a:r>
              <a:rPr lang="en-US" sz="3600" dirty="0"/>
              <a:t> </a:t>
            </a:r>
            <a:r>
              <a:rPr lang="en-US" sz="3600" dirty="0" err="1"/>
              <a:t>relasi</a:t>
            </a:r>
            <a:r>
              <a:rPr lang="en-US" sz="3600" dirty="0"/>
              <a:t> </a:t>
            </a:r>
            <a:r>
              <a:rPr lang="en-US" sz="3600" dirty="0" err="1"/>
              <a:t>pada</a:t>
            </a:r>
            <a:r>
              <a:rPr lang="en-US" sz="3600" dirty="0"/>
              <a:t> </a:t>
            </a:r>
            <a:r>
              <a:rPr lang="en-US" sz="3600" dirty="0" err="1"/>
              <a:t>Sistem</a:t>
            </a:r>
            <a:r>
              <a:rPr lang="en-US" sz="3600" dirty="0"/>
              <a:t> </a:t>
            </a:r>
            <a:r>
              <a:rPr lang="en-US" sz="3600" dirty="0" err="1"/>
              <a:t>Penjualan</a:t>
            </a:r>
            <a:r>
              <a:rPr lang="en-US" sz="3600" dirty="0"/>
              <a:t> </a:t>
            </a:r>
            <a:r>
              <a:rPr lang="en-US" sz="3600" dirty="0" err="1"/>
              <a:t>Barang</a:t>
            </a:r>
            <a:endParaRPr lang="en-US" sz="3600" dirty="0"/>
          </a:p>
        </p:txBody>
      </p:sp>
      <p:graphicFrame>
        <p:nvGraphicFramePr>
          <p:cNvPr id="8" name="Table 7">
            <a:extLst>
              <a:ext uri="{FF2B5EF4-FFF2-40B4-BE49-F238E27FC236}">
                <a16:creationId xmlns:a16="http://schemas.microsoft.com/office/drawing/2014/main" id="{DEBF9C0D-AC4D-40C8-B3ED-730A7479B3AD}"/>
              </a:ext>
            </a:extLst>
          </p:cNvPr>
          <p:cNvGraphicFramePr>
            <a:graphicFrameLocks noGrp="1"/>
          </p:cNvGraphicFramePr>
          <p:nvPr>
            <p:extLst>
              <p:ext uri="{D42A27DB-BD31-4B8C-83A1-F6EECF244321}">
                <p14:modId xmlns:p14="http://schemas.microsoft.com/office/powerpoint/2010/main" val="3432074387"/>
              </p:ext>
            </p:extLst>
          </p:nvPr>
        </p:nvGraphicFramePr>
        <p:xfrm>
          <a:off x="981141" y="2360115"/>
          <a:ext cx="1895141" cy="1559560"/>
        </p:xfrm>
        <a:graphic>
          <a:graphicData uri="http://schemas.openxmlformats.org/drawingml/2006/table">
            <a:tbl>
              <a:tblPr firstRow="1" bandRow="1">
                <a:tableStyleId>{5C22544A-7EE6-4342-B048-85BDC9FD1C3A}</a:tableStyleId>
              </a:tblPr>
              <a:tblGrid>
                <a:gridCol w="1895141">
                  <a:extLst>
                    <a:ext uri="{9D8B030D-6E8A-4147-A177-3AD203B41FA5}">
                      <a16:colId xmlns:a16="http://schemas.microsoft.com/office/drawing/2014/main" val="2200576596"/>
                    </a:ext>
                  </a:extLst>
                </a:gridCol>
              </a:tblGrid>
              <a:tr h="370840">
                <a:tc>
                  <a:txBody>
                    <a:bodyPr/>
                    <a:lstStyle/>
                    <a:p>
                      <a:pPr algn="ctr"/>
                      <a:r>
                        <a:rPr lang="en-US" dirty="0" err="1"/>
                        <a:t>Pelanggan</a:t>
                      </a:r>
                      <a:endParaRPr lang="en-US" dirty="0"/>
                    </a:p>
                  </a:txBody>
                  <a:tcPr/>
                </a:tc>
                <a:extLst>
                  <a:ext uri="{0D108BD9-81ED-4DB2-BD59-A6C34878D82A}">
                    <a16:rowId xmlns:a16="http://schemas.microsoft.com/office/drawing/2014/main" val="1274783955"/>
                  </a:ext>
                </a:extLst>
              </a:tr>
              <a:tr h="370840">
                <a:tc>
                  <a:txBody>
                    <a:bodyPr/>
                    <a:lstStyle/>
                    <a:p>
                      <a:r>
                        <a:rPr lang="en-US" dirty="0" err="1"/>
                        <a:t>ID_Pelanggan</a:t>
                      </a:r>
                      <a:r>
                        <a:rPr lang="en-US" dirty="0"/>
                        <a:t>*</a:t>
                      </a:r>
                    </a:p>
                    <a:p>
                      <a:r>
                        <a:rPr lang="en-US" dirty="0"/>
                        <a:t>Nama</a:t>
                      </a:r>
                    </a:p>
                    <a:p>
                      <a:r>
                        <a:rPr lang="en-US" dirty="0" err="1"/>
                        <a:t>Alamat</a:t>
                      </a:r>
                      <a:endParaRPr lang="en-US" dirty="0"/>
                    </a:p>
                    <a:p>
                      <a:r>
                        <a:rPr lang="en-US" dirty="0" err="1"/>
                        <a:t>No.Telp</a:t>
                      </a:r>
                      <a:endParaRPr lang="en-US" dirty="0"/>
                    </a:p>
                  </a:txBody>
                  <a:tcPr/>
                </a:tc>
                <a:extLst>
                  <a:ext uri="{0D108BD9-81ED-4DB2-BD59-A6C34878D82A}">
                    <a16:rowId xmlns:a16="http://schemas.microsoft.com/office/drawing/2014/main" val="2402602002"/>
                  </a:ext>
                </a:extLst>
              </a:tr>
            </a:tbl>
          </a:graphicData>
        </a:graphic>
      </p:graphicFrame>
      <p:graphicFrame>
        <p:nvGraphicFramePr>
          <p:cNvPr id="9" name="Table 8">
            <a:extLst>
              <a:ext uri="{FF2B5EF4-FFF2-40B4-BE49-F238E27FC236}">
                <a16:creationId xmlns:a16="http://schemas.microsoft.com/office/drawing/2014/main" id="{6CD6A226-D729-4028-A8F1-5370022F638E}"/>
              </a:ext>
            </a:extLst>
          </p:cNvPr>
          <p:cNvGraphicFramePr>
            <a:graphicFrameLocks noGrp="1"/>
          </p:cNvGraphicFramePr>
          <p:nvPr>
            <p:extLst>
              <p:ext uri="{D42A27DB-BD31-4B8C-83A1-F6EECF244321}">
                <p14:modId xmlns:p14="http://schemas.microsoft.com/office/powerpoint/2010/main" val="2862313045"/>
              </p:ext>
            </p:extLst>
          </p:nvPr>
        </p:nvGraphicFramePr>
        <p:xfrm>
          <a:off x="4168462" y="2360115"/>
          <a:ext cx="1925387" cy="1559560"/>
        </p:xfrm>
        <a:graphic>
          <a:graphicData uri="http://schemas.openxmlformats.org/drawingml/2006/table">
            <a:tbl>
              <a:tblPr firstRow="1" bandRow="1">
                <a:tableStyleId>{5C22544A-7EE6-4342-B048-85BDC9FD1C3A}</a:tableStyleId>
              </a:tblPr>
              <a:tblGrid>
                <a:gridCol w="1925387">
                  <a:extLst>
                    <a:ext uri="{9D8B030D-6E8A-4147-A177-3AD203B41FA5}">
                      <a16:colId xmlns:a16="http://schemas.microsoft.com/office/drawing/2014/main" val="2200576596"/>
                    </a:ext>
                  </a:extLst>
                </a:gridCol>
              </a:tblGrid>
              <a:tr h="370840">
                <a:tc>
                  <a:txBody>
                    <a:bodyPr/>
                    <a:lstStyle/>
                    <a:p>
                      <a:pPr algn="ctr"/>
                      <a:r>
                        <a:rPr lang="en-US" dirty="0" err="1"/>
                        <a:t>Penjualan</a:t>
                      </a:r>
                      <a:endParaRPr lang="en-US" dirty="0"/>
                    </a:p>
                  </a:txBody>
                  <a:tcPr/>
                </a:tc>
                <a:extLst>
                  <a:ext uri="{0D108BD9-81ED-4DB2-BD59-A6C34878D82A}">
                    <a16:rowId xmlns:a16="http://schemas.microsoft.com/office/drawing/2014/main" val="1274783955"/>
                  </a:ext>
                </a:extLst>
              </a:tr>
              <a:tr h="370840">
                <a:tc>
                  <a:txBody>
                    <a:bodyPr/>
                    <a:lstStyle/>
                    <a:p>
                      <a:r>
                        <a:rPr lang="en-US" dirty="0" err="1"/>
                        <a:t>ID_Penjualan</a:t>
                      </a:r>
                      <a:r>
                        <a:rPr lang="en-US" dirty="0"/>
                        <a:t> *</a:t>
                      </a:r>
                    </a:p>
                    <a:p>
                      <a:r>
                        <a:rPr lang="en-US" dirty="0" err="1"/>
                        <a:t>ID_Pelanggan</a:t>
                      </a:r>
                      <a:r>
                        <a:rPr lang="en-US" dirty="0"/>
                        <a:t>**</a:t>
                      </a:r>
                    </a:p>
                    <a:p>
                      <a:r>
                        <a:rPr lang="en-US" dirty="0" err="1"/>
                        <a:t>Produk</a:t>
                      </a:r>
                      <a:endParaRPr lang="en-US" dirty="0"/>
                    </a:p>
                    <a:p>
                      <a:r>
                        <a:rPr lang="en-US" dirty="0" err="1"/>
                        <a:t>Tanggal</a:t>
                      </a:r>
                      <a:endParaRPr lang="en-US" dirty="0"/>
                    </a:p>
                  </a:txBody>
                  <a:tcPr/>
                </a:tc>
                <a:extLst>
                  <a:ext uri="{0D108BD9-81ED-4DB2-BD59-A6C34878D82A}">
                    <a16:rowId xmlns:a16="http://schemas.microsoft.com/office/drawing/2014/main" val="2402602002"/>
                  </a:ext>
                </a:extLst>
              </a:tr>
            </a:tbl>
          </a:graphicData>
        </a:graphic>
      </p:graphicFrame>
      <p:graphicFrame>
        <p:nvGraphicFramePr>
          <p:cNvPr id="10" name="Table 9">
            <a:extLst>
              <a:ext uri="{FF2B5EF4-FFF2-40B4-BE49-F238E27FC236}">
                <a16:creationId xmlns:a16="http://schemas.microsoft.com/office/drawing/2014/main" id="{C15AC8D9-2BC1-40C3-8D7B-C9CE8160452E}"/>
              </a:ext>
            </a:extLst>
          </p:cNvPr>
          <p:cNvGraphicFramePr>
            <a:graphicFrameLocks noGrp="1"/>
          </p:cNvGraphicFramePr>
          <p:nvPr>
            <p:extLst>
              <p:ext uri="{D42A27DB-BD31-4B8C-83A1-F6EECF244321}">
                <p14:modId xmlns:p14="http://schemas.microsoft.com/office/powerpoint/2010/main" val="1511567144"/>
              </p:ext>
            </p:extLst>
          </p:nvPr>
        </p:nvGraphicFramePr>
        <p:xfrm>
          <a:off x="4168461" y="4689697"/>
          <a:ext cx="1680693" cy="1285240"/>
        </p:xfrm>
        <a:graphic>
          <a:graphicData uri="http://schemas.openxmlformats.org/drawingml/2006/table">
            <a:tbl>
              <a:tblPr firstRow="1" bandRow="1">
                <a:tableStyleId>{5C22544A-7EE6-4342-B048-85BDC9FD1C3A}</a:tableStyleId>
              </a:tblPr>
              <a:tblGrid>
                <a:gridCol w="1680693">
                  <a:extLst>
                    <a:ext uri="{9D8B030D-6E8A-4147-A177-3AD203B41FA5}">
                      <a16:colId xmlns:a16="http://schemas.microsoft.com/office/drawing/2014/main" val="2200576596"/>
                    </a:ext>
                  </a:extLst>
                </a:gridCol>
              </a:tblGrid>
              <a:tr h="370840">
                <a:tc>
                  <a:txBody>
                    <a:bodyPr/>
                    <a:lstStyle/>
                    <a:p>
                      <a:pPr algn="ctr"/>
                      <a:r>
                        <a:rPr lang="en-US" dirty="0" err="1"/>
                        <a:t>Produk</a:t>
                      </a:r>
                      <a:endParaRPr lang="en-US" dirty="0"/>
                    </a:p>
                  </a:txBody>
                  <a:tcPr/>
                </a:tc>
                <a:extLst>
                  <a:ext uri="{0D108BD9-81ED-4DB2-BD59-A6C34878D82A}">
                    <a16:rowId xmlns:a16="http://schemas.microsoft.com/office/drawing/2014/main" val="1274783955"/>
                  </a:ext>
                </a:extLst>
              </a:tr>
              <a:tr h="370840">
                <a:tc>
                  <a:txBody>
                    <a:bodyPr/>
                    <a:lstStyle/>
                    <a:p>
                      <a:r>
                        <a:rPr lang="en-US" dirty="0" err="1"/>
                        <a:t>ID_Produk</a:t>
                      </a:r>
                      <a:r>
                        <a:rPr lang="en-US" dirty="0"/>
                        <a:t>*</a:t>
                      </a:r>
                    </a:p>
                    <a:p>
                      <a:r>
                        <a:rPr lang="en-US" dirty="0"/>
                        <a:t>Nama </a:t>
                      </a:r>
                      <a:r>
                        <a:rPr lang="en-US" dirty="0" err="1"/>
                        <a:t>Produk</a:t>
                      </a:r>
                      <a:endParaRPr lang="en-US" dirty="0"/>
                    </a:p>
                    <a:p>
                      <a:r>
                        <a:rPr lang="en-US" dirty="0" err="1"/>
                        <a:t>Harga</a:t>
                      </a:r>
                      <a:r>
                        <a:rPr lang="en-US" dirty="0"/>
                        <a:t> </a:t>
                      </a:r>
                      <a:r>
                        <a:rPr lang="en-US" dirty="0" err="1"/>
                        <a:t>Satuan</a:t>
                      </a:r>
                      <a:endParaRPr lang="en-US" dirty="0"/>
                    </a:p>
                  </a:txBody>
                  <a:tcPr/>
                </a:tc>
                <a:extLst>
                  <a:ext uri="{0D108BD9-81ED-4DB2-BD59-A6C34878D82A}">
                    <a16:rowId xmlns:a16="http://schemas.microsoft.com/office/drawing/2014/main" val="2402602002"/>
                  </a:ext>
                </a:extLst>
              </a:tr>
            </a:tbl>
          </a:graphicData>
        </a:graphic>
      </p:graphicFrame>
      <p:graphicFrame>
        <p:nvGraphicFramePr>
          <p:cNvPr id="11" name="Table 10">
            <a:extLst>
              <a:ext uri="{FF2B5EF4-FFF2-40B4-BE49-F238E27FC236}">
                <a16:creationId xmlns:a16="http://schemas.microsoft.com/office/drawing/2014/main" id="{0EA8AF40-FFBB-4E55-BD3B-4C179DA025EC}"/>
              </a:ext>
            </a:extLst>
          </p:cNvPr>
          <p:cNvGraphicFramePr>
            <a:graphicFrameLocks noGrp="1"/>
          </p:cNvGraphicFramePr>
          <p:nvPr>
            <p:extLst>
              <p:ext uri="{D42A27DB-BD31-4B8C-83A1-F6EECF244321}">
                <p14:modId xmlns:p14="http://schemas.microsoft.com/office/powerpoint/2010/main" val="1326437298"/>
              </p:ext>
            </p:extLst>
          </p:nvPr>
        </p:nvGraphicFramePr>
        <p:xfrm>
          <a:off x="7671515" y="2360115"/>
          <a:ext cx="2236632" cy="2170038"/>
        </p:xfrm>
        <a:graphic>
          <a:graphicData uri="http://schemas.openxmlformats.org/drawingml/2006/table">
            <a:tbl>
              <a:tblPr firstRow="1" bandRow="1">
                <a:tableStyleId>{5C22544A-7EE6-4342-B048-85BDC9FD1C3A}</a:tableStyleId>
              </a:tblPr>
              <a:tblGrid>
                <a:gridCol w="2236632">
                  <a:extLst>
                    <a:ext uri="{9D8B030D-6E8A-4147-A177-3AD203B41FA5}">
                      <a16:colId xmlns:a16="http://schemas.microsoft.com/office/drawing/2014/main" val="2200576596"/>
                    </a:ext>
                  </a:extLst>
                </a:gridCol>
              </a:tblGrid>
              <a:tr h="432678">
                <a:tc>
                  <a:txBody>
                    <a:bodyPr/>
                    <a:lstStyle/>
                    <a:p>
                      <a:pPr algn="ctr"/>
                      <a:r>
                        <a:rPr lang="en-US" dirty="0"/>
                        <a:t>Detail </a:t>
                      </a:r>
                      <a:r>
                        <a:rPr lang="en-US" dirty="0" err="1"/>
                        <a:t>Penjualan</a:t>
                      </a:r>
                      <a:endParaRPr lang="en-US" dirty="0"/>
                    </a:p>
                  </a:txBody>
                  <a:tcPr/>
                </a:tc>
                <a:extLst>
                  <a:ext uri="{0D108BD9-81ED-4DB2-BD59-A6C34878D82A}">
                    <a16:rowId xmlns:a16="http://schemas.microsoft.com/office/drawing/2014/main" val="1274783955"/>
                  </a:ext>
                </a:extLst>
              </a:tr>
              <a:tr h="1386941">
                <a:tc>
                  <a:txBody>
                    <a:bodyPr/>
                    <a:lstStyle/>
                    <a:p>
                      <a:r>
                        <a:rPr lang="en-US" dirty="0" err="1"/>
                        <a:t>ID_Detail</a:t>
                      </a:r>
                      <a:r>
                        <a:rPr lang="en-US" dirty="0"/>
                        <a:t> </a:t>
                      </a:r>
                      <a:r>
                        <a:rPr lang="en-US" dirty="0" err="1"/>
                        <a:t>Penjualan</a:t>
                      </a:r>
                      <a:r>
                        <a:rPr lang="en-US" dirty="0"/>
                        <a:t>*</a:t>
                      </a:r>
                    </a:p>
                    <a:p>
                      <a:r>
                        <a:rPr lang="en-US" dirty="0" err="1"/>
                        <a:t>ID_Penjualan</a:t>
                      </a:r>
                      <a:r>
                        <a:rPr lang="en-US" dirty="0"/>
                        <a:t> **</a:t>
                      </a:r>
                    </a:p>
                    <a:p>
                      <a:r>
                        <a:rPr lang="en-US" dirty="0" err="1"/>
                        <a:t>ID_Produk</a:t>
                      </a:r>
                      <a:r>
                        <a:rPr lang="en-US" dirty="0" smtClean="0"/>
                        <a:t>*</a:t>
                      </a:r>
                      <a:r>
                        <a:rPr lang="id-ID" dirty="0" smtClean="0"/>
                        <a:t>*</a:t>
                      </a:r>
                      <a:endParaRPr lang="en-US" dirty="0"/>
                    </a:p>
                    <a:p>
                      <a:r>
                        <a:rPr lang="en-US" dirty="0" err="1"/>
                        <a:t>Kuantitas</a:t>
                      </a:r>
                      <a:endParaRPr lang="en-US" dirty="0"/>
                    </a:p>
                    <a:p>
                      <a:r>
                        <a:rPr lang="en-US" dirty="0"/>
                        <a:t>Total </a:t>
                      </a:r>
                      <a:r>
                        <a:rPr lang="en-US" dirty="0" err="1"/>
                        <a:t>Harga</a:t>
                      </a:r>
                      <a:endParaRPr lang="en-US" dirty="0"/>
                    </a:p>
                  </a:txBody>
                  <a:tcPr/>
                </a:tc>
                <a:extLst>
                  <a:ext uri="{0D108BD9-81ED-4DB2-BD59-A6C34878D82A}">
                    <a16:rowId xmlns:a16="http://schemas.microsoft.com/office/drawing/2014/main" val="2402602002"/>
                  </a:ext>
                </a:extLst>
              </a:tr>
            </a:tbl>
          </a:graphicData>
        </a:graphic>
      </p:graphicFrame>
      <p:cxnSp>
        <p:nvCxnSpPr>
          <p:cNvPr id="12" name="Connector: Elbow 11">
            <a:extLst>
              <a:ext uri="{FF2B5EF4-FFF2-40B4-BE49-F238E27FC236}">
                <a16:creationId xmlns:a16="http://schemas.microsoft.com/office/drawing/2014/main" id="{961CE37A-10EA-4FF6-B5B5-F05958071D12}"/>
              </a:ext>
            </a:extLst>
          </p:cNvPr>
          <p:cNvCxnSpPr>
            <a:cxnSpLocks/>
          </p:cNvCxnSpPr>
          <p:nvPr/>
        </p:nvCxnSpPr>
        <p:spPr>
          <a:xfrm rot="16200000" flipH="1">
            <a:off x="6702158" y="2192925"/>
            <a:ext cx="358036" cy="1601273"/>
          </a:xfrm>
          <a:prstGeom prst="bentConnector2">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 name="Rectangle 12">
            <a:extLst>
              <a:ext uri="{FF2B5EF4-FFF2-40B4-BE49-F238E27FC236}">
                <a16:creationId xmlns:a16="http://schemas.microsoft.com/office/drawing/2014/main" id="{F2AB30F9-D035-4C05-BC74-36844F941AC6}"/>
              </a:ext>
            </a:extLst>
          </p:cNvPr>
          <p:cNvSpPr/>
          <p:nvPr/>
        </p:nvSpPr>
        <p:spPr>
          <a:xfrm>
            <a:off x="749342" y="5403437"/>
            <a:ext cx="3264794" cy="1323439"/>
          </a:xfrm>
          <a:prstGeom prst="rect">
            <a:avLst/>
          </a:prstGeom>
        </p:spPr>
        <p:txBody>
          <a:bodyPr wrap="square">
            <a:spAutoFit/>
          </a:bodyPr>
          <a:lstStyle/>
          <a:p>
            <a:r>
              <a:rPr lang="en-US" sz="1600" i="1" dirty="0" err="1">
                <a:solidFill>
                  <a:srgbClr val="444444"/>
                </a:solidFill>
                <a:latin typeface="Arial" panose="020B0604020202020204" pitchFamily="34" charset="0"/>
              </a:rPr>
              <a:t>Keterangan</a:t>
            </a:r>
            <a:r>
              <a:rPr lang="en-US" sz="1600" dirty="0">
                <a:solidFill>
                  <a:srgbClr val="444444"/>
                </a:solidFill>
                <a:latin typeface="Arial" panose="020B0604020202020204" pitchFamily="34" charset="0"/>
              </a:rPr>
              <a:t> :</a:t>
            </a:r>
            <a:r>
              <a:rPr lang="en-US" sz="1600" dirty="0"/>
              <a:t/>
            </a:r>
            <a:br>
              <a:rPr lang="en-US" sz="1600" dirty="0"/>
            </a:br>
            <a:r>
              <a:rPr lang="en-US" sz="1600" dirty="0">
                <a:solidFill>
                  <a:srgbClr val="444444"/>
                </a:solidFill>
                <a:latin typeface="Arial" panose="020B0604020202020204" pitchFamily="34" charset="0"/>
              </a:rPr>
              <a:t>*   : primary key</a:t>
            </a:r>
            <a:r>
              <a:rPr lang="en-US" sz="1600" dirty="0"/>
              <a:t/>
            </a:r>
            <a:br>
              <a:rPr lang="en-US" sz="1600" dirty="0"/>
            </a:br>
            <a:r>
              <a:rPr lang="en-US" sz="1600" dirty="0">
                <a:solidFill>
                  <a:srgbClr val="444444"/>
                </a:solidFill>
                <a:latin typeface="Arial" panose="020B0604020202020204" pitchFamily="34" charset="0"/>
              </a:rPr>
              <a:t>** : foreign key</a:t>
            </a:r>
            <a:r>
              <a:rPr lang="en-US" sz="1600" dirty="0"/>
              <a:t/>
            </a:r>
            <a:br>
              <a:rPr lang="en-US" sz="1600" dirty="0"/>
            </a:br>
            <a:r>
              <a:rPr lang="en-US" sz="1600" dirty="0">
                <a:solidFill>
                  <a:srgbClr val="444444"/>
                </a:solidFill>
                <a:latin typeface="Arial" panose="020B0604020202020204" pitchFamily="34" charset="0"/>
              </a:rPr>
              <a:t>1   : One</a:t>
            </a:r>
            <a:r>
              <a:rPr lang="en-US" sz="1600" dirty="0"/>
              <a:t/>
            </a:r>
            <a:br>
              <a:rPr lang="en-US" sz="1600" dirty="0"/>
            </a:br>
            <a:r>
              <a:rPr lang="en-US" sz="1600" dirty="0">
                <a:solidFill>
                  <a:srgbClr val="444444"/>
                </a:solidFill>
                <a:latin typeface="Arial" panose="020B0604020202020204" pitchFamily="34" charset="0"/>
              </a:rPr>
              <a:t>N  : Many</a:t>
            </a:r>
            <a:endParaRPr lang="en-US" sz="1600" dirty="0"/>
          </a:p>
        </p:txBody>
      </p:sp>
      <p:sp>
        <p:nvSpPr>
          <p:cNvPr id="14" name="TextBox 13">
            <a:extLst>
              <a:ext uri="{FF2B5EF4-FFF2-40B4-BE49-F238E27FC236}">
                <a16:creationId xmlns:a16="http://schemas.microsoft.com/office/drawing/2014/main" id="{B01BC33C-7D26-4594-9FA0-9AAE2E8667D6}"/>
              </a:ext>
            </a:extLst>
          </p:cNvPr>
          <p:cNvSpPr txBox="1"/>
          <p:nvPr/>
        </p:nvSpPr>
        <p:spPr>
          <a:xfrm>
            <a:off x="6054140" y="2613599"/>
            <a:ext cx="309093" cy="369332"/>
          </a:xfrm>
          <a:prstGeom prst="rect">
            <a:avLst/>
          </a:prstGeom>
          <a:noFill/>
        </p:spPr>
        <p:txBody>
          <a:bodyPr wrap="square" rtlCol="0">
            <a:spAutoFit/>
          </a:bodyPr>
          <a:lstStyle/>
          <a:p>
            <a:r>
              <a:rPr lang="en-US" dirty="0"/>
              <a:t>1</a:t>
            </a:r>
          </a:p>
        </p:txBody>
      </p:sp>
      <p:sp>
        <p:nvSpPr>
          <p:cNvPr id="15" name="Rectangle 14">
            <a:extLst>
              <a:ext uri="{FF2B5EF4-FFF2-40B4-BE49-F238E27FC236}">
                <a16:creationId xmlns:a16="http://schemas.microsoft.com/office/drawing/2014/main" id="{46C8BD65-9328-49BF-B782-970FA0A3973D}"/>
              </a:ext>
            </a:extLst>
          </p:cNvPr>
          <p:cNvSpPr/>
          <p:nvPr/>
        </p:nvSpPr>
        <p:spPr>
          <a:xfrm>
            <a:off x="7331549" y="2952954"/>
            <a:ext cx="336952" cy="369332"/>
          </a:xfrm>
          <a:prstGeom prst="rect">
            <a:avLst/>
          </a:prstGeom>
        </p:spPr>
        <p:txBody>
          <a:bodyPr wrap="none">
            <a:spAutoFit/>
          </a:bodyPr>
          <a:lstStyle/>
          <a:p>
            <a:r>
              <a:rPr lang="en-US" dirty="0"/>
              <a:t>N</a:t>
            </a:r>
          </a:p>
        </p:txBody>
      </p:sp>
      <p:cxnSp>
        <p:nvCxnSpPr>
          <p:cNvPr id="16" name="Connector: Elbow 15">
            <a:extLst>
              <a:ext uri="{FF2B5EF4-FFF2-40B4-BE49-F238E27FC236}">
                <a16:creationId xmlns:a16="http://schemas.microsoft.com/office/drawing/2014/main" id="{4B73AAAF-619E-4338-B7E9-24601634060D}"/>
              </a:ext>
            </a:extLst>
          </p:cNvPr>
          <p:cNvCxnSpPr>
            <a:cxnSpLocks/>
          </p:cNvCxnSpPr>
          <p:nvPr/>
        </p:nvCxnSpPr>
        <p:spPr>
          <a:xfrm flipV="1">
            <a:off x="5846140" y="3586362"/>
            <a:ext cx="1822361" cy="1680417"/>
          </a:xfrm>
          <a:prstGeom prst="bentConnector3">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7" name="TextBox 16">
            <a:extLst>
              <a:ext uri="{FF2B5EF4-FFF2-40B4-BE49-F238E27FC236}">
                <a16:creationId xmlns:a16="http://schemas.microsoft.com/office/drawing/2014/main" id="{AB034D54-EECE-4D02-B6E4-A67ED2CAB408}"/>
              </a:ext>
            </a:extLst>
          </p:cNvPr>
          <p:cNvSpPr txBox="1"/>
          <p:nvPr/>
        </p:nvSpPr>
        <p:spPr>
          <a:xfrm>
            <a:off x="5808372" y="5266777"/>
            <a:ext cx="309093" cy="369332"/>
          </a:xfrm>
          <a:prstGeom prst="rect">
            <a:avLst/>
          </a:prstGeom>
          <a:noFill/>
        </p:spPr>
        <p:txBody>
          <a:bodyPr wrap="square" rtlCol="0">
            <a:spAutoFit/>
          </a:bodyPr>
          <a:lstStyle/>
          <a:p>
            <a:r>
              <a:rPr lang="en-US" dirty="0"/>
              <a:t>1</a:t>
            </a:r>
          </a:p>
        </p:txBody>
      </p:sp>
      <p:sp>
        <p:nvSpPr>
          <p:cNvPr id="18" name="Rectangle 17">
            <a:extLst>
              <a:ext uri="{FF2B5EF4-FFF2-40B4-BE49-F238E27FC236}">
                <a16:creationId xmlns:a16="http://schemas.microsoft.com/office/drawing/2014/main" id="{E311D403-9772-4FB1-901B-4E7634D1ECAB}"/>
              </a:ext>
            </a:extLst>
          </p:cNvPr>
          <p:cNvSpPr/>
          <p:nvPr/>
        </p:nvSpPr>
        <p:spPr>
          <a:xfrm>
            <a:off x="7380917" y="3581875"/>
            <a:ext cx="338554" cy="369332"/>
          </a:xfrm>
          <a:prstGeom prst="rect">
            <a:avLst/>
          </a:prstGeom>
        </p:spPr>
        <p:txBody>
          <a:bodyPr wrap="none">
            <a:spAutoFit/>
          </a:bodyPr>
          <a:lstStyle/>
          <a:p>
            <a:r>
              <a:rPr lang="id-ID" dirty="0" smtClean="0"/>
              <a:t>N</a:t>
            </a:r>
            <a:endParaRPr lang="en-US" dirty="0"/>
          </a:p>
        </p:txBody>
      </p:sp>
      <p:cxnSp>
        <p:nvCxnSpPr>
          <p:cNvPr id="19" name="Connector: Elbow 18">
            <a:extLst>
              <a:ext uri="{FF2B5EF4-FFF2-40B4-BE49-F238E27FC236}">
                <a16:creationId xmlns:a16="http://schemas.microsoft.com/office/drawing/2014/main" id="{A567A86D-8711-44B9-B033-1358BAE46AE4}"/>
              </a:ext>
            </a:extLst>
          </p:cNvPr>
          <p:cNvCxnSpPr>
            <a:cxnSpLocks/>
            <a:endCxn id="9" idx="1"/>
          </p:cNvCxnSpPr>
          <p:nvPr/>
        </p:nvCxnSpPr>
        <p:spPr>
          <a:xfrm>
            <a:off x="2874775" y="2902579"/>
            <a:ext cx="1293687" cy="237316"/>
          </a:xfrm>
          <a:prstGeom prst="bentConnector3">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0" name="TextBox 19">
            <a:extLst>
              <a:ext uri="{FF2B5EF4-FFF2-40B4-BE49-F238E27FC236}">
                <a16:creationId xmlns:a16="http://schemas.microsoft.com/office/drawing/2014/main" id="{936DFDCC-F16E-429A-B1C8-4910B450DABB}"/>
              </a:ext>
            </a:extLst>
          </p:cNvPr>
          <p:cNvSpPr txBox="1"/>
          <p:nvPr/>
        </p:nvSpPr>
        <p:spPr>
          <a:xfrm>
            <a:off x="2783979" y="2604216"/>
            <a:ext cx="309093" cy="369332"/>
          </a:xfrm>
          <a:prstGeom prst="rect">
            <a:avLst/>
          </a:prstGeom>
          <a:noFill/>
        </p:spPr>
        <p:txBody>
          <a:bodyPr wrap="square" rtlCol="0">
            <a:spAutoFit/>
          </a:bodyPr>
          <a:lstStyle/>
          <a:p>
            <a:r>
              <a:rPr lang="en-US" dirty="0"/>
              <a:t>1</a:t>
            </a:r>
          </a:p>
        </p:txBody>
      </p:sp>
      <p:sp>
        <p:nvSpPr>
          <p:cNvPr id="21" name="Rectangle 20">
            <a:extLst>
              <a:ext uri="{FF2B5EF4-FFF2-40B4-BE49-F238E27FC236}">
                <a16:creationId xmlns:a16="http://schemas.microsoft.com/office/drawing/2014/main" id="{2F34A095-35CE-44DF-9A30-C448B614F98C}"/>
              </a:ext>
            </a:extLst>
          </p:cNvPr>
          <p:cNvSpPr/>
          <p:nvPr/>
        </p:nvSpPr>
        <p:spPr>
          <a:xfrm>
            <a:off x="3914350" y="2819867"/>
            <a:ext cx="336952" cy="369332"/>
          </a:xfrm>
          <a:prstGeom prst="rect">
            <a:avLst/>
          </a:prstGeom>
        </p:spPr>
        <p:txBody>
          <a:bodyPr wrap="none">
            <a:spAutoFit/>
          </a:bodyPr>
          <a:lstStyle/>
          <a:p>
            <a:r>
              <a:rPr lang="en-US" dirty="0"/>
              <a:t>N</a:t>
            </a:r>
          </a:p>
        </p:txBody>
      </p:sp>
      <p:graphicFrame>
        <p:nvGraphicFramePr>
          <p:cNvPr id="22" name="Table 21">
            <a:extLst>
              <a:ext uri="{FF2B5EF4-FFF2-40B4-BE49-F238E27FC236}">
                <a16:creationId xmlns:a16="http://schemas.microsoft.com/office/drawing/2014/main" id="{8C8F5F9A-88D5-426E-87EB-A76530966F7B}"/>
              </a:ext>
            </a:extLst>
          </p:cNvPr>
          <p:cNvGraphicFramePr>
            <a:graphicFrameLocks noGrp="1"/>
          </p:cNvGraphicFramePr>
          <p:nvPr>
            <p:extLst>
              <p:ext uri="{D42A27DB-BD31-4B8C-83A1-F6EECF244321}">
                <p14:modId xmlns:p14="http://schemas.microsoft.com/office/powerpoint/2010/main" val="279141122"/>
              </p:ext>
            </p:extLst>
          </p:nvPr>
        </p:nvGraphicFramePr>
        <p:xfrm>
          <a:off x="7668501" y="4760671"/>
          <a:ext cx="2445708" cy="1359834"/>
        </p:xfrm>
        <a:graphic>
          <a:graphicData uri="http://schemas.openxmlformats.org/drawingml/2006/table">
            <a:tbl>
              <a:tblPr firstRow="1" bandRow="1">
                <a:tableStyleId>{5C22544A-7EE6-4342-B048-85BDC9FD1C3A}</a:tableStyleId>
              </a:tblPr>
              <a:tblGrid>
                <a:gridCol w="2445708">
                  <a:extLst>
                    <a:ext uri="{9D8B030D-6E8A-4147-A177-3AD203B41FA5}">
                      <a16:colId xmlns:a16="http://schemas.microsoft.com/office/drawing/2014/main" val="2200576596"/>
                    </a:ext>
                  </a:extLst>
                </a:gridCol>
              </a:tblGrid>
              <a:tr h="445434">
                <a:tc>
                  <a:txBody>
                    <a:bodyPr/>
                    <a:lstStyle/>
                    <a:p>
                      <a:pPr algn="ctr"/>
                      <a:r>
                        <a:rPr lang="en-US" dirty="0" err="1"/>
                        <a:t>Kuitansi</a:t>
                      </a:r>
                      <a:endParaRPr lang="en-US" dirty="0"/>
                    </a:p>
                  </a:txBody>
                  <a:tcPr/>
                </a:tc>
                <a:extLst>
                  <a:ext uri="{0D108BD9-81ED-4DB2-BD59-A6C34878D82A}">
                    <a16:rowId xmlns:a16="http://schemas.microsoft.com/office/drawing/2014/main" val="1274783955"/>
                  </a:ext>
                </a:extLst>
              </a:tr>
              <a:tr h="768832">
                <a:tc>
                  <a:txBody>
                    <a:bodyPr/>
                    <a:lstStyle/>
                    <a:p>
                      <a:r>
                        <a:rPr lang="en-US" dirty="0" err="1"/>
                        <a:t>ID_Kuitansi</a:t>
                      </a:r>
                      <a:endParaRPr lang="en-US" dirty="0"/>
                    </a:p>
                    <a:p>
                      <a:r>
                        <a:rPr lang="en-US" dirty="0" err="1"/>
                        <a:t>ID_Detail</a:t>
                      </a:r>
                      <a:r>
                        <a:rPr lang="en-US" dirty="0"/>
                        <a:t> </a:t>
                      </a:r>
                      <a:r>
                        <a:rPr lang="en-US" dirty="0" err="1"/>
                        <a:t>Penjualan</a:t>
                      </a:r>
                      <a:r>
                        <a:rPr lang="en-US" dirty="0" smtClean="0"/>
                        <a:t>*</a:t>
                      </a:r>
                      <a:endParaRPr lang="en-US" dirty="0"/>
                    </a:p>
                    <a:p>
                      <a:r>
                        <a:rPr lang="en-US" dirty="0" err="1"/>
                        <a:t>Tanggal</a:t>
                      </a:r>
                      <a:r>
                        <a:rPr lang="en-US" dirty="0"/>
                        <a:t> </a:t>
                      </a:r>
                      <a:r>
                        <a:rPr lang="en-US" dirty="0" err="1"/>
                        <a:t>kuitansi</a:t>
                      </a:r>
                      <a:endParaRPr lang="en-US" dirty="0"/>
                    </a:p>
                  </a:txBody>
                  <a:tcPr/>
                </a:tc>
                <a:extLst>
                  <a:ext uri="{0D108BD9-81ED-4DB2-BD59-A6C34878D82A}">
                    <a16:rowId xmlns:a16="http://schemas.microsoft.com/office/drawing/2014/main" val="2402602002"/>
                  </a:ext>
                </a:extLst>
              </a:tr>
            </a:tbl>
          </a:graphicData>
        </a:graphic>
      </p:graphicFrame>
      <p:cxnSp>
        <p:nvCxnSpPr>
          <p:cNvPr id="23" name="Connector: Elbow 22">
            <a:extLst>
              <a:ext uri="{FF2B5EF4-FFF2-40B4-BE49-F238E27FC236}">
                <a16:creationId xmlns:a16="http://schemas.microsoft.com/office/drawing/2014/main" id="{82867E57-DF71-4BEC-A5D3-BE1ED668DA42}"/>
              </a:ext>
            </a:extLst>
          </p:cNvPr>
          <p:cNvCxnSpPr>
            <a:cxnSpLocks/>
          </p:cNvCxnSpPr>
          <p:nvPr/>
        </p:nvCxnSpPr>
        <p:spPr>
          <a:xfrm rot="16200000" flipH="1">
            <a:off x="8742174" y="4210222"/>
            <a:ext cx="2538010" cy="206060"/>
          </a:xfrm>
          <a:prstGeom prst="bentConnector4">
            <a:avLst>
              <a:gd name="adj1" fmla="val -946"/>
              <a:gd name="adj2" fmla="val 317190"/>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4" name="TextBox 23">
            <a:extLst>
              <a:ext uri="{FF2B5EF4-FFF2-40B4-BE49-F238E27FC236}">
                <a16:creationId xmlns:a16="http://schemas.microsoft.com/office/drawing/2014/main" id="{46A96869-7E8B-4314-838C-007AAA69F061}"/>
              </a:ext>
            </a:extLst>
          </p:cNvPr>
          <p:cNvSpPr txBox="1"/>
          <p:nvPr/>
        </p:nvSpPr>
        <p:spPr>
          <a:xfrm>
            <a:off x="9828728" y="2733006"/>
            <a:ext cx="309093" cy="369332"/>
          </a:xfrm>
          <a:prstGeom prst="rect">
            <a:avLst/>
          </a:prstGeom>
          <a:noFill/>
        </p:spPr>
        <p:txBody>
          <a:bodyPr wrap="square" rtlCol="0">
            <a:spAutoFit/>
          </a:bodyPr>
          <a:lstStyle/>
          <a:p>
            <a:r>
              <a:rPr lang="en-US" dirty="0"/>
              <a:t>1</a:t>
            </a:r>
          </a:p>
        </p:txBody>
      </p:sp>
      <p:sp>
        <p:nvSpPr>
          <p:cNvPr id="25" name="TextBox 24">
            <a:extLst>
              <a:ext uri="{FF2B5EF4-FFF2-40B4-BE49-F238E27FC236}">
                <a16:creationId xmlns:a16="http://schemas.microsoft.com/office/drawing/2014/main" id="{4A94AA69-61F8-487C-A2BC-E6B009E08989}"/>
              </a:ext>
            </a:extLst>
          </p:cNvPr>
          <p:cNvSpPr txBox="1"/>
          <p:nvPr/>
        </p:nvSpPr>
        <p:spPr>
          <a:xfrm>
            <a:off x="10021914" y="5553479"/>
            <a:ext cx="309093" cy="369332"/>
          </a:xfrm>
          <a:prstGeom prst="rect">
            <a:avLst/>
          </a:prstGeom>
          <a:noFill/>
        </p:spPr>
        <p:txBody>
          <a:bodyPr wrap="square" rtlCol="0">
            <a:spAutoFit/>
          </a:bodyPr>
          <a:lstStyle/>
          <a:p>
            <a:r>
              <a:rPr lang="en-US" dirty="0"/>
              <a:t>1</a:t>
            </a:r>
          </a:p>
        </p:txBody>
      </p:sp>
      <p:sp>
        <p:nvSpPr>
          <p:cNvPr id="26" name="Content Placeholder 2">
            <a:extLst>
              <a:ext uri="{FF2B5EF4-FFF2-40B4-BE49-F238E27FC236}">
                <a16:creationId xmlns:a16="http://schemas.microsoft.com/office/drawing/2014/main" id="{5BCCB9EF-5FD7-4A15-86C8-D9CBCF0F2995}"/>
              </a:ext>
            </a:extLst>
          </p:cNvPr>
          <p:cNvSpPr>
            <a:spLocks noGrp="1"/>
          </p:cNvSpPr>
          <p:nvPr>
            <p:ph idx="1"/>
          </p:nvPr>
        </p:nvSpPr>
        <p:spPr>
          <a:xfrm>
            <a:off x="1728541" y="234641"/>
            <a:ext cx="1408828" cy="604157"/>
          </a:xfrm>
        </p:spPr>
        <p:txBody>
          <a:bodyPr>
            <a:normAutofit fontScale="92500"/>
          </a:bodyPr>
          <a:lstStyle/>
          <a:p>
            <a:r>
              <a:rPr lang="en-US" dirty="0">
                <a:hlinkClick r:id="rId3" action="ppaction://hlinksldjump"/>
              </a:rPr>
              <a:t>Database</a:t>
            </a:r>
          </a:p>
        </p:txBody>
      </p:sp>
      <p:sp>
        <p:nvSpPr>
          <p:cNvPr id="27" name="Content Placeholder 2">
            <a:hlinkClick r:id="rId4" action="ppaction://hlinksldjump"/>
            <a:extLst>
              <a:ext uri="{FF2B5EF4-FFF2-40B4-BE49-F238E27FC236}">
                <a16:creationId xmlns:a16="http://schemas.microsoft.com/office/drawing/2014/main" id="{3D09C423-4B30-48F6-8FF0-6984F1FDEBF1}"/>
              </a:ext>
            </a:extLst>
          </p:cNvPr>
          <p:cNvSpPr txBox="1">
            <a:spLocks/>
          </p:cNvSpPr>
          <p:nvPr/>
        </p:nvSpPr>
        <p:spPr>
          <a:xfrm>
            <a:off x="3137369" y="240356"/>
            <a:ext cx="2404871" cy="604157"/>
          </a:xfrm>
          <a:prstGeom prst="rect">
            <a:avLst/>
          </a:prstGeom>
        </p:spPr>
        <p:txBody>
          <a:bodyPr vert="horz" lIns="45720" tIns="45720" rIns="45720" bIns="45720" rtlCol="0">
            <a:normAutofit fontScale="925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err="1"/>
              <a:t>Struktur</a:t>
            </a:r>
            <a:r>
              <a:rPr lang="en-US" dirty="0"/>
              <a:t> Database</a:t>
            </a:r>
          </a:p>
        </p:txBody>
      </p:sp>
      <p:sp>
        <p:nvSpPr>
          <p:cNvPr id="28" name="Content Placeholder 2">
            <a:hlinkClick r:id="rId5" action="ppaction://hlinksldjump"/>
            <a:extLst>
              <a:ext uri="{FF2B5EF4-FFF2-40B4-BE49-F238E27FC236}">
                <a16:creationId xmlns:a16="http://schemas.microsoft.com/office/drawing/2014/main" id="{2E10664C-3041-4E0C-A5DD-19BF773FF795}"/>
              </a:ext>
            </a:extLst>
          </p:cNvPr>
          <p:cNvSpPr txBox="1">
            <a:spLocks/>
          </p:cNvSpPr>
          <p:nvPr/>
        </p:nvSpPr>
        <p:spPr>
          <a:xfrm>
            <a:off x="5542240" y="240356"/>
            <a:ext cx="1408828"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RDBMS</a:t>
            </a:r>
          </a:p>
        </p:txBody>
      </p:sp>
      <p:sp>
        <p:nvSpPr>
          <p:cNvPr id="29" name="Content Placeholder 2">
            <a:hlinkClick r:id="rId6" action="ppaction://hlinksldjump"/>
            <a:extLst>
              <a:ext uri="{FF2B5EF4-FFF2-40B4-BE49-F238E27FC236}">
                <a16:creationId xmlns:a16="http://schemas.microsoft.com/office/drawing/2014/main" id="{32D07A23-9C15-4E54-A87B-CBC00B16E595}"/>
              </a:ext>
            </a:extLst>
          </p:cNvPr>
          <p:cNvSpPr txBox="1">
            <a:spLocks/>
          </p:cNvSpPr>
          <p:nvPr/>
        </p:nvSpPr>
        <p:spPr>
          <a:xfrm>
            <a:off x="6688296" y="240356"/>
            <a:ext cx="1408828" cy="604157"/>
          </a:xfrm>
          <a:prstGeom prst="rect">
            <a:avLst/>
          </a:prstGeom>
        </p:spPr>
        <p:txBody>
          <a:bodyPr vert="horz" lIns="45720" tIns="45720" rIns="45720" bIns="45720" rtlCol="0">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Kesimpulan</a:t>
            </a:r>
          </a:p>
        </p:txBody>
      </p:sp>
      <p:sp>
        <p:nvSpPr>
          <p:cNvPr id="30" name="Content Placeholder 2">
            <a:hlinkClick r:id="rId7" action="ppaction://hlinksldjump"/>
            <a:extLst>
              <a:ext uri="{FF2B5EF4-FFF2-40B4-BE49-F238E27FC236}">
                <a16:creationId xmlns:a16="http://schemas.microsoft.com/office/drawing/2014/main" id="{B35CF63E-ADE2-474D-83CD-1247424EF11B}"/>
              </a:ext>
            </a:extLst>
          </p:cNvPr>
          <p:cNvSpPr txBox="1">
            <a:spLocks/>
          </p:cNvSpPr>
          <p:nvPr/>
        </p:nvSpPr>
        <p:spPr>
          <a:xfrm>
            <a:off x="605463" y="228926"/>
            <a:ext cx="1621100"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Home</a:t>
            </a:r>
          </a:p>
        </p:txBody>
      </p:sp>
      <p:sp>
        <p:nvSpPr>
          <p:cNvPr id="31" name="Content Placeholder 2">
            <a:hlinkClick r:id="rId8" action="ppaction://hlinksldjump"/>
            <a:extLst>
              <a:ext uri="{FF2B5EF4-FFF2-40B4-BE49-F238E27FC236}">
                <a16:creationId xmlns:a16="http://schemas.microsoft.com/office/drawing/2014/main" id="{88EFF586-0351-4CA6-B3AA-CDC432CD9178}"/>
              </a:ext>
            </a:extLst>
          </p:cNvPr>
          <p:cNvSpPr txBox="1">
            <a:spLocks/>
          </p:cNvSpPr>
          <p:nvPr/>
        </p:nvSpPr>
        <p:spPr>
          <a:xfrm>
            <a:off x="8178765" y="228925"/>
            <a:ext cx="1621099" cy="604157"/>
          </a:xfrm>
          <a:prstGeom prst="rect">
            <a:avLst/>
          </a:prstGeom>
        </p:spPr>
        <p:txBody>
          <a:bodyPr vert="horz" lIns="45720" tIns="45720" rIns="45720" bIns="45720" rtlCol="0">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err="1"/>
              <a:t>Soal</a:t>
            </a:r>
            <a:r>
              <a:rPr lang="en-US" dirty="0"/>
              <a:t> </a:t>
            </a:r>
            <a:r>
              <a:rPr lang="en-US" dirty="0" err="1"/>
              <a:t>Latihan</a:t>
            </a:r>
            <a:endParaRPr lang="en-US" dirty="0"/>
          </a:p>
        </p:txBody>
      </p:sp>
      <p:sp>
        <p:nvSpPr>
          <p:cNvPr id="32" name="Content Placeholder 2">
            <a:hlinkClick r:id="rId9" action="ppaction://hlinksldjump"/>
            <a:extLst>
              <a:ext uri="{FF2B5EF4-FFF2-40B4-BE49-F238E27FC236}">
                <a16:creationId xmlns:a16="http://schemas.microsoft.com/office/drawing/2014/main" id="{D4DAFFD8-7711-4809-91D9-8874DF39CD11}"/>
              </a:ext>
            </a:extLst>
          </p:cNvPr>
          <p:cNvSpPr txBox="1">
            <a:spLocks/>
          </p:cNvSpPr>
          <p:nvPr/>
        </p:nvSpPr>
        <p:spPr>
          <a:xfrm>
            <a:off x="9844274" y="240355"/>
            <a:ext cx="2088753"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What’s Next?</a:t>
            </a:r>
          </a:p>
        </p:txBody>
      </p:sp>
    </p:spTree>
    <p:extLst>
      <p:ext uri="{BB962C8B-B14F-4D97-AF65-F5344CB8AC3E}">
        <p14:creationId xmlns:p14="http://schemas.microsoft.com/office/powerpoint/2010/main" val="270685100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1A491-24F3-4841-B519-2A490BB56B8F}"/>
              </a:ext>
            </a:extLst>
          </p:cNvPr>
          <p:cNvSpPr>
            <a:spLocks noGrp="1"/>
          </p:cNvSpPr>
          <p:nvPr>
            <p:ph type="title"/>
          </p:nvPr>
        </p:nvSpPr>
        <p:spPr>
          <a:xfrm>
            <a:off x="682204" y="844512"/>
            <a:ext cx="9720072" cy="1499616"/>
          </a:xfrm>
        </p:spPr>
        <p:txBody>
          <a:bodyPr/>
          <a:lstStyle/>
          <a:p>
            <a:r>
              <a:rPr lang="en-US" dirty="0" err="1"/>
              <a:t>perancangan</a:t>
            </a:r>
            <a:r>
              <a:rPr lang="en-US" dirty="0"/>
              <a:t> database</a:t>
            </a:r>
          </a:p>
        </p:txBody>
      </p:sp>
      <p:graphicFrame>
        <p:nvGraphicFramePr>
          <p:cNvPr id="4" name="Content Placeholder 3">
            <a:extLst>
              <a:ext uri="{FF2B5EF4-FFF2-40B4-BE49-F238E27FC236}">
                <a16:creationId xmlns:a16="http://schemas.microsoft.com/office/drawing/2014/main" id="{AE31996F-04AC-444D-A1D6-C1835329502F}"/>
              </a:ext>
            </a:extLst>
          </p:cNvPr>
          <p:cNvGraphicFramePr>
            <a:graphicFrameLocks noGrp="1"/>
          </p:cNvGraphicFramePr>
          <p:nvPr>
            <p:ph idx="1"/>
            <p:extLst>
              <p:ext uri="{D42A27DB-BD31-4B8C-83A1-F6EECF244321}">
                <p14:modId xmlns:p14="http://schemas.microsoft.com/office/powerpoint/2010/main" val="939666668"/>
              </p:ext>
            </p:extLst>
          </p:nvPr>
        </p:nvGraphicFramePr>
        <p:xfrm>
          <a:off x="817956" y="2679590"/>
          <a:ext cx="5980410" cy="2712720"/>
        </p:xfrm>
        <a:graphic>
          <a:graphicData uri="http://schemas.openxmlformats.org/drawingml/2006/table">
            <a:tbl>
              <a:tblPr firstRow="1" bandRow="1">
                <a:tableStyleId>{21E4AEA4-8DFA-4A89-87EB-49C32662AFE0}</a:tableStyleId>
              </a:tblPr>
              <a:tblGrid>
                <a:gridCol w="2114094">
                  <a:extLst>
                    <a:ext uri="{9D8B030D-6E8A-4147-A177-3AD203B41FA5}">
                      <a16:colId xmlns:a16="http://schemas.microsoft.com/office/drawing/2014/main" val="1529366263"/>
                    </a:ext>
                  </a:extLst>
                </a:gridCol>
                <a:gridCol w="3866316">
                  <a:extLst>
                    <a:ext uri="{9D8B030D-6E8A-4147-A177-3AD203B41FA5}">
                      <a16:colId xmlns:a16="http://schemas.microsoft.com/office/drawing/2014/main" val="351812679"/>
                    </a:ext>
                  </a:extLst>
                </a:gridCol>
              </a:tblGrid>
              <a:tr h="0">
                <a:tc>
                  <a:txBody>
                    <a:bodyPr/>
                    <a:lstStyle/>
                    <a:p>
                      <a:r>
                        <a:rPr lang="en-US" sz="2000" dirty="0" err="1"/>
                        <a:t>Fase</a:t>
                      </a:r>
                      <a:endParaRPr lang="en-US" sz="2000" dirty="0">
                        <a:solidFill>
                          <a:schemeClr val="tx1">
                            <a:lumMod val="95000"/>
                            <a:lumOff val="5000"/>
                          </a:schemeClr>
                        </a:solidFill>
                      </a:endParaRPr>
                    </a:p>
                  </a:txBody>
                  <a:tcPr/>
                </a:tc>
                <a:tc>
                  <a:txBody>
                    <a:bodyPr/>
                    <a:lstStyle/>
                    <a:p>
                      <a:pPr algn="ctr"/>
                      <a:r>
                        <a:rPr lang="en-US" sz="2000" dirty="0"/>
                        <a:t>Database</a:t>
                      </a:r>
                      <a:endParaRPr lang="en-US" sz="2000" dirty="0">
                        <a:solidFill>
                          <a:schemeClr val="tx1">
                            <a:lumMod val="95000"/>
                            <a:lumOff val="5000"/>
                          </a:schemeClr>
                        </a:solidFill>
                      </a:endParaRPr>
                    </a:p>
                  </a:txBody>
                  <a:tcPr/>
                </a:tc>
                <a:extLst>
                  <a:ext uri="{0D108BD9-81ED-4DB2-BD59-A6C34878D82A}">
                    <a16:rowId xmlns:a16="http://schemas.microsoft.com/office/drawing/2014/main" val="1548714884"/>
                  </a:ext>
                </a:extLst>
              </a:tr>
              <a:tr h="370840">
                <a:tc>
                  <a:txBody>
                    <a:bodyPr/>
                    <a:lstStyle/>
                    <a:p>
                      <a:r>
                        <a:rPr lang="en-US" sz="2000" dirty="0"/>
                        <a:t>Requirements</a:t>
                      </a:r>
                      <a:endParaRPr lang="en-US" sz="2000" dirty="0">
                        <a:solidFill>
                          <a:schemeClr val="tx1">
                            <a:lumMod val="95000"/>
                            <a:lumOff val="5000"/>
                          </a:schemeClr>
                        </a:solidFill>
                      </a:endParaRPr>
                    </a:p>
                  </a:txBody>
                  <a:tcPr/>
                </a:tc>
                <a:tc>
                  <a:txBody>
                    <a:bodyPr/>
                    <a:lstStyle/>
                    <a:p>
                      <a:r>
                        <a:rPr lang="en-US" sz="2000" dirty="0" err="1"/>
                        <a:t>Menetapkan</a:t>
                      </a:r>
                      <a:r>
                        <a:rPr lang="en-US" sz="2000" dirty="0"/>
                        <a:t> item data</a:t>
                      </a:r>
                    </a:p>
                    <a:p>
                      <a:r>
                        <a:rPr lang="en-US" sz="2000" dirty="0" err="1"/>
                        <a:t>Mendefinisikan</a:t>
                      </a:r>
                      <a:r>
                        <a:rPr lang="en-US" sz="2000" dirty="0"/>
                        <a:t> Batasan dan </a:t>
                      </a:r>
                      <a:r>
                        <a:rPr lang="en-US" sz="2000" dirty="0" err="1"/>
                        <a:t>aturan</a:t>
                      </a:r>
                      <a:endParaRPr lang="en-US" sz="2000" dirty="0">
                        <a:solidFill>
                          <a:schemeClr val="tx1">
                            <a:lumMod val="95000"/>
                            <a:lumOff val="5000"/>
                          </a:schemeClr>
                        </a:solidFill>
                      </a:endParaRPr>
                    </a:p>
                  </a:txBody>
                  <a:tcPr/>
                </a:tc>
                <a:extLst>
                  <a:ext uri="{0D108BD9-81ED-4DB2-BD59-A6C34878D82A}">
                    <a16:rowId xmlns:a16="http://schemas.microsoft.com/office/drawing/2014/main" val="1271516656"/>
                  </a:ext>
                </a:extLst>
              </a:tr>
              <a:tr h="370840">
                <a:tc>
                  <a:txBody>
                    <a:bodyPr/>
                    <a:lstStyle/>
                    <a:p>
                      <a:r>
                        <a:rPr lang="en-US" sz="2000" dirty="0" err="1"/>
                        <a:t>Desain</a:t>
                      </a:r>
                      <a:endParaRPr lang="en-US" sz="2000" dirty="0">
                        <a:solidFill>
                          <a:schemeClr val="tx1">
                            <a:lumMod val="95000"/>
                            <a:lumOff val="5000"/>
                          </a:schemeClr>
                        </a:solidFill>
                      </a:endParaRPr>
                    </a:p>
                  </a:txBody>
                  <a:tcPr/>
                </a:tc>
                <a:tc>
                  <a:txBody>
                    <a:bodyPr/>
                    <a:lstStyle/>
                    <a:p>
                      <a:r>
                        <a:rPr lang="en-US" sz="2000" dirty="0"/>
                        <a:t>Tabel</a:t>
                      </a:r>
                    </a:p>
                    <a:p>
                      <a:r>
                        <a:rPr lang="en-US" sz="2000" dirty="0" err="1"/>
                        <a:t>Relasi</a:t>
                      </a:r>
                      <a:endParaRPr lang="en-US" sz="2000" dirty="0"/>
                    </a:p>
                    <a:p>
                      <a:r>
                        <a:rPr lang="en-US" sz="2000" dirty="0" err="1"/>
                        <a:t>Indeks</a:t>
                      </a:r>
                      <a:endParaRPr lang="en-US" sz="2000" dirty="0"/>
                    </a:p>
                    <a:p>
                      <a:r>
                        <a:rPr lang="en-US" sz="2000" dirty="0"/>
                        <a:t>Batasan</a:t>
                      </a:r>
                    </a:p>
                  </a:txBody>
                  <a:tcPr/>
                </a:tc>
                <a:extLst>
                  <a:ext uri="{0D108BD9-81ED-4DB2-BD59-A6C34878D82A}">
                    <a16:rowId xmlns:a16="http://schemas.microsoft.com/office/drawing/2014/main" val="2699914369"/>
                  </a:ext>
                </a:extLst>
              </a:tr>
            </a:tbl>
          </a:graphicData>
        </a:graphic>
      </p:graphicFrame>
      <p:sp>
        <p:nvSpPr>
          <p:cNvPr id="5" name="Content Placeholder 2">
            <a:extLst>
              <a:ext uri="{FF2B5EF4-FFF2-40B4-BE49-F238E27FC236}">
                <a16:creationId xmlns:a16="http://schemas.microsoft.com/office/drawing/2014/main" id="{315B1D6C-2803-479C-BED4-CFC194A6A52F}"/>
              </a:ext>
            </a:extLst>
          </p:cNvPr>
          <p:cNvSpPr txBox="1">
            <a:spLocks/>
          </p:cNvSpPr>
          <p:nvPr/>
        </p:nvSpPr>
        <p:spPr>
          <a:xfrm>
            <a:off x="1728541" y="234641"/>
            <a:ext cx="1408828" cy="604157"/>
          </a:xfrm>
          <a:prstGeom prst="rect">
            <a:avLst/>
          </a:prstGeom>
        </p:spPr>
        <p:txBody>
          <a:bodyPr vert="horz" lIns="45720" tIns="45720" rIns="45720" bIns="45720" rtlCol="0">
            <a:normAutofit fontScale="925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a:hlinkClick r:id="rId2" action="ppaction://hlinksldjump"/>
              </a:rPr>
              <a:t>Database</a:t>
            </a:r>
            <a:endParaRPr lang="en-US" dirty="0">
              <a:hlinkClick r:id="rId2" action="ppaction://hlinksldjump"/>
            </a:endParaRPr>
          </a:p>
        </p:txBody>
      </p:sp>
      <p:sp>
        <p:nvSpPr>
          <p:cNvPr id="6" name="Content Placeholder 2">
            <a:hlinkClick r:id="rId3" action="ppaction://hlinksldjump"/>
            <a:extLst>
              <a:ext uri="{FF2B5EF4-FFF2-40B4-BE49-F238E27FC236}">
                <a16:creationId xmlns:a16="http://schemas.microsoft.com/office/drawing/2014/main" id="{B12897A1-5522-4698-9ACD-D15C20C97E5F}"/>
              </a:ext>
            </a:extLst>
          </p:cNvPr>
          <p:cNvSpPr txBox="1">
            <a:spLocks/>
          </p:cNvSpPr>
          <p:nvPr/>
        </p:nvSpPr>
        <p:spPr>
          <a:xfrm>
            <a:off x="3137369" y="240356"/>
            <a:ext cx="2404871" cy="604157"/>
          </a:xfrm>
          <a:prstGeom prst="rect">
            <a:avLst/>
          </a:prstGeom>
        </p:spPr>
        <p:txBody>
          <a:bodyPr vert="horz" lIns="45720" tIns="45720" rIns="45720" bIns="45720" rtlCol="0">
            <a:normAutofit fontScale="925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err="1"/>
              <a:t>Struktur</a:t>
            </a:r>
            <a:r>
              <a:rPr lang="en-US" dirty="0"/>
              <a:t> Database</a:t>
            </a:r>
          </a:p>
        </p:txBody>
      </p:sp>
      <p:sp>
        <p:nvSpPr>
          <p:cNvPr id="7" name="Content Placeholder 2">
            <a:hlinkClick r:id="rId4" action="ppaction://hlinksldjump"/>
            <a:extLst>
              <a:ext uri="{FF2B5EF4-FFF2-40B4-BE49-F238E27FC236}">
                <a16:creationId xmlns:a16="http://schemas.microsoft.com/office/drawing/2014/main" id="{D9951954-3A79-48F0-BD33-CF4DD0061473}"/>
              </a:ext>
            </a:extLst>
          </p:cNvPr>
          <p:cNvSpPr txBox="1">
            <a:spLocks/>
          </p:cNvSpPr>
          <p:nvPr/>
        </p:nvSpPr>
        <p:spPr>
          <a:xfrm>
            <a:off x="5542240" y="240356"/>
            <a:ext cx="1408828"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RDBMS</a:t>
            </a:r>
          </a:p>
        </p:txBody>
      </p:sp>
      <p:sp>
        <p:nvSpPr>
          <p:cNvPr id="8" name="Content Placeholder 2">
            <a:hlinkClick r:id="rId5" action="ppaction://hlinksldjump"/>
            <a:extLst>
              <a:ext uri="{FF2B5EF4-FFF2-40B4-BE49-F238E27FC236}">
                <a16:creationId xmlns:a16="http://schemas.microsoft.com/office/drawing/2014/main" id="{B7B27903-03DE-4417-9A4C-0D8816B20C9A}"/>
              </a:ext>
            </a:extLst>
          </p:cNvPr>
          <p:cNvSpPr txBox="1">
            <a:spLocks/>
          </p:cNvSpPr>
          <p:nvPr/>
        </p:nvSpPr>
        <p:spPr>
          <a:xfrm>
            <a:off x="6688296" y="240356"/>
            <a:ext cx="1408828" cy="604157"/>
          </a:xfrm>
          <a:prstGeom prst="rect">
            <a:avLst/>
          </a:prstGeom>
        </p:spPr>
        <p:txBody>
          <a:bodyPr vert="horz" lIns="45720" tIns="45720" rIns="45720" bIns="45720" rtlCol="0">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Kesimpulan</a:t>
            </a:r>
          </a:p>
        </p:txBody>
      </p:sp>
      <p:sp>
        <p:nvSpPr>
          <p:cNvPr id="9" name="Content Placeholder 2">
            <a:hlinkClick r:id="rId6" action="ppaction://hlinksldjump"/>
            <a:extLst>
              <a:ext uri="{FF2B5EF4-FFF2-40B4-BE49-F238E27FC236}">
                <a16:creationId xmlns:a16="http://schemas.microsoft.com/office/drawing/2014/main" id="{735DDC3F-21C9-413F-BEFE-F78703CCB828}"/>
              </a:ext>
            </a:extLst>
          </p:cNvPr>
          <p:cNvSpPr txBox="1">
            <a:spLocks/>
          </p:cNvSpPr>
          <p:nvPr/>
        </p:nvSpPr>
        <p:spPr>
          <a:xfrm>
            <a:off x="605463" y="228926"/>
            <a:ext cx="1621100"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Home</a:t>
            </a:r>
          </a:p>
        </p:txBody>
      </p:sp>
      <p:sp>
        <p:nvSpPr>
          <p:cNvPr id="10" name="Content Placeholder 2">
            <a:hlinkClick r:id="rId7" action="ppaction://hlinksldjump"/>
            <a:extLst>
              <a:ext uri="{FF2B5EF4-FFF2-40B4-BE49-F238E27FC236}">
                <a16:creationId xmlns:a16="http://schemas.microsoft.com/office/drawing/2014/main" id="{44BF4F6E-1608-48B3-9C49-BB6F8DD80E68}"/>
              </a:ext>
            </a:extLst>
          </p:cNvPr>
          <p:cNvSpPr txBox="1">
            <a:spLocks/>
          </p:cNvSpPr>
          <p:nvPr/>
        </p:nvSpPr>
        <p:spPr>
          <a:xfrm>
            <a:off x="8178765" y="228925"/>
            <a:ext cx="1621099" cy="604157"/>
          </a:xfrm>
          <a:prstGeom prst="rect">
            <a:avLst/>
          </a:prstGeom>
        </p:spPr>
        <p:txBody>
          <a:bodyPr vert="horz" lIns="45720" tIns="45720" rIns="45720" bIns="45720" rtlCol="0">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err="1"/>
              <a:t>Soal</a:t>
            </a:r>
            <a:r>
              <a:rPr lang="en-US" dirty="0"/>
              <a:t> </a:t>
            </a:r>
            <a:r>
              <a:rPr lang="en-US" dirty="0" err="1"/>
              <a:t>Latihan</a:t>
            </a:r>
            <a:endParaRPr lang="en-US" dirty="0"/>
          </a:p>
        </p:txBody>
      </p:sp>
      <p:sp>
        <p:nvSpPr>
          <p:cNvPr id="11" name="Content Placeholder 2">
            <a:hlinkClick r:id="rId8" action="ppaction://hlinksldjump"/>
            <a:extLst>
              <a:ext uri="{FF2B5EF4-FFF2-40B4-BE49-F238E27FC236}">
                <a16:creationId xmlns:a16="http://schemas.microsoft.com/office/drawing/2014/main" id="{D0AE5B9C-F609-4D00-9A61-0EB3DE5F80C7}"/>
              </a:ext>
            </a:extLst>
          </p:cNvPr>
          <p:cNvSpPr txBox="1">
            <a:spLocks/>
          </p:cNvSpPr>
          <p:nvPr/>
        </p:nvSpPr>
        <p:spPr>
          <a:xfrm>
            <a:off x="9844274" y="240355"/>
            <a:ext cx="2088753"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What’s Next?</a:t>
            </a:r>
          </a:p>
        </p:txBody>
      </p:sp>
      <p:graphicFrame>
        <p:nvGraphicFramePr>
          <p:cNvPr id="12" name="Content Placeholder 3">
            <a:extLst>
              <a:ext uri="{FF2B5EF4-FFF2-40B4-BE49-F238E27FC236}">
                <a16:creationId xmlns:a16="http://schemas.microsoft.com/office/drawing/2014/main" id="{6ADD87DD-7B34-4D66-BE08-8A7DFF6351FC}"/>
              </a:ext>
            </a:extLst>
          </p:cNvPr>
          <p:cNvGraphicFramePr>
            <a:graphicFrameLocks/>
          </p:cNvGraphicFramePr>
          <p:nvPr>
            <p:extLst>
              <p:ext uri="{D42A27DB-BD31-4B8C-83A1-F6EECF244321}">
                <p14:modId xmlns:p14="http://schemas.microsoft.com/office/powerpoint/2010/main" val="3068677467"/>
              </p:ext>
            </p:extLst>
          </p:nvPr>
        </p:nvGraphicFramePr>
        <p:xfrm>
          <a:off x="7711485" y="3883550"/>
          <a:ext cx="4176758" cy="1920240"/>
        </p:xfrm>
        <a:graphic>
          <a:graphicData uri="http://schemas.openxmlformats.org/drawingml/2006/table">
            <a:tbl>
              <a:tblPr firstRow="1" bandRow="1">
                <a:tableStyleId>{0660B408-B3CF-4A94-85FC-2B1E0A45F4A2}</a:tableStyleId>
              </a:tblPr>
              <a:tblGrid>
                <a:gridCol w="924063">
                  <a:extLst>
                    <a:ext uri="{9D8B030D-6E8A-4147-A177-3AD203B41FA5}">
                      <a16:colId xmlns:a16="http://schemas.microsoft.com/office/drawing/2014/main" val="1529366263"/>
                    </a:ext>
                  </a:extLst>
                </a:gridCol>
                <a:gridCol w="3252695">
                  <a:extLst>
                    <a:ext uri="{9D8B030D-6E8A-4147-A177-3AD203B41FA5}">
                      <a16:colId xmlns:a16="http://schemas.microsoft.com/office/drawing/2014/main" val="351812679"/>
                    </a:ext>
                  </a:extLst>
                </a:gridCol>
              </a:tblGrid>
              <a:tr h="0">
                <a:tc>
                  <a:txBody>
                    <a:bodyPr/>
                    <a:lstStyle/>
                    <a:p>
                      <a:r>
                        <a:rPr lang="en-US" sz="2000" dirty="0" err="1">
                          <a:solidFill>
                            <a:schemeClr val="tx1">
                              <a:lumMod val="95000"/>
                              <a:lumOff val="5000"/>
                            </a:schemeClr>
                          </a:solidFill>
                        </a:rPr>
                        <a:t>Relasi</a:t>
                      </a:r>
                      <a:r>
                        <a:rPr lang="en-US" sz="2000" dirty="0">
                          <a:solidFill>
                            <a:schemeClr val="tx1">
                              <a:lumMod val="95000"/>
                              <a:lumOff val="5000"/>
                            </a:schemeClr>
                          </a:solidFill>
                        </a:rPr>
                        <a:t> </a:t>
                      </a:r>
                      <a:r>
                        <a:rPr lang="en-US" sz="2000" dirty="0" err="1">
                          <a:solidFill>
                            <a:schemeClr val="tx1">
                              <a:lumMod val="95000"/>
                              <a:lumOff val="5000"/>
                            </a:schemeClr>
                          </a:solidFill>
                        </a:rPr>
                        <a:t>Entitas</a:t>
                      </a:r>
                      <a:endParaRPr lang="en-US" sz="2000" dirty="0">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l"/>
                      <a:r>
                        <a:rPr lang="en-US" sz="2000" b="0" dirty="0">
                          <a:solidFill>
                            <a:schemeClr val="tx1">
                              <a:lumMod val="95000"/>
                              <a:lumOff val="5000"/>
                            </a:schemeClr>
                          </a:solidFill>
                        </a:rPr>
                        <a:t>1. One-to-One Relationship</a:t>
                      </a:r>
                    </a:p>
                    <a:p>
                      <a:pPr algn="l"/>
                      <a:r>
                        <a:rPr lang="en-US" sz="2000" b="0" dirty="0">
                          <a:solidFill>
                            <a:schemeClr val="tx1">
                              <a:lumMod val="95000"/>
                              <a:lumOff val="5000"/>
                            </a:schemeClr>
                          </a:solidFill>
                        </a:rPr>
                        <a:t>2. One-to-many Relationship</a:t>
                      </a:r>
                    </a:p>
                    <a:p>
                      <a:pPr algn="l"/>
                      <a:r>
                        <a:rPr lang="en-US" sz="2000" b="0" dirty="0">
                          <a:solidFill>
                            <a:schemeClr val="tx1">
                              <a:lumMod val="95000"/>
                              <a:lumOff val="5000"/>
                            </a:schemeClr>
                          </a:solidFill>
                        </a:rPr>
                        <a:t>3. Many-to-Many Relationship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BFDD5"/>
                    </a:solidFill>
                  </a:tcPr>
                </a:tc>
                <a:extLst>
                  <a:ext uri="{0D108BD9-81ED-4DB2-BD59-A6C34878D82A}">
                    <a16:rowId xmlns:a16="http://schemas.microsoft.com/office/drawing/2014/main" val="1548714884"/>
                  </a:ext>
                </a:extLst>
              </a:tr>
            </a:tbl>
          </a:graphicData>
        </a:graphic>
      </p:graphicFrame>
      <p:cxnSp>
        <p:nvCxnSpPr>
          <p:cNvPr id="13" name="Straight Arrow Connector 12">
            <a:extLst>
              <a:ext uri="{FF2B5EF4-FFF2-40B4-BE49-F238E27FC236}">
                <a16:creationId xmlns:a16="http://schemas.microsoft.com/office/drawing/2014/main" id="{23011507-5AB7-40BD-B90B-3463893F58B3}"/>
              </a:ext>
            </a:extLst>
          </p:cNvPr>
          <p:cNvCxnSpPr/>
          <p:nvPr/>
        </p:nvCxnSpPr>
        <p:spPr>
          <a:xfrm>
            <a:off x="6798366" y="4282580"/>
            <a:ext cx="91311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523333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C5C96-C036-42F3-BBC4-FB282EE36A96}"/>
              </a:ext>
            </a:extLst>
          </p:cNvPr>
          <p:cNvSpPr>
            <a:spLocks noGrp="1"/>
          </p:cNvSpPr>
          <p:nvPr>
            <p:ph type="title"/>
          </p:nvPr>
        </p:nvSpPr>
        <p:spPr>
          <a:xfrm>
            <a:off x="682204" y="844512"/>
            <a:ext cx="9720072" cy="1499616"/>
          </a:xfrm>
        </p:spPr>
        <p:txBody>
          <a:bodyPr/>
          <a:lstStyle/>
          <a:p>
            <a:r>
              <a:rPr lang="en-US" dirty="0" err="1"/>
              <a:t>Latihan</a:t>
            </a:r>
            <a:r>
              <a:rPr lang="en-US" dirty="0"/>
              <a:t> </a:t>
            </a:r>
          </a:p>
        </p:txBody>
      </p:sp>
      <p:sp>
        <p:nvSpPr>
          <p:cNvPr id="3" name="Content Placeholder 2">
            <a:extLst>
              <a:ext uri="{FF2B5EF4-FFF2-40B4-BE49-F238E27FC236}">
                <a16:creationId xmlns:a16="http://schemas.microsoft.com/office/drawing/2014/main" id="{81A21DBC-BBCF-40A4-92A6-FE67AEE6FEBF}"/>
              </a:ext>
            </a:extLst>
          </p:cNvPr>
          <p:cNvSpPr>
            <a:spLocks noGrp="1"/>
          </p:cNvSpPr>
          <p:nvPr>
            <p:ph idx="1"/>
          </p:nvPr>
        </p:nvSpPr>
        <p:spPr>
          <a:xfrm>
            <a:off x="1024128" y="2344128"/>
            <a:ext cx="9720073" cy="3965232"/>
          </a:xfrm>
        </p:spPr>
        <p:txBody>
          <a:bodyPr>
            <a:normAutofit/>
          </a:bodyPr>
          <a:lstStyle/>
          <a:p>
            <a:r>
              <a:rPr lang="en-US" sz="2500" dirty="0"/>
              <a:t>1. </a:t>
            </a:r>
            <a:r>
              <a:rPr lang="en-US" sz="2500" dirty="0" err="1"/>
              <a:t>Buatlah</a:t>
            </a:r>
            <a:r>
              <a:rPr lang="en-US" sz="2500" dirty="0"/>
              <a:t> </a:t>
            </a:r>
            <a:r>
              <a:rPr lang="en-US" sz="2500" dirty="0" err="1"/>
              <a:t>skema</a:t>
            </a:r>
            <a:r>
              <a:rPr lang="en-US" sz="2500" dirty="0"/>
              <a:t> </a:t>
            </a:r>
            <a:r>
              <a:rPr lang="en-US" sz="2500" dirty="0" err="1"/>
              <a:t>relasi</a:t>
            </a:r>
            <a:r>
              <a:rPr lang="en-US" sz="2500" dirty="0"/>
              <a:t> pada </a:t>
            </a:r>
            <a:r>
              <a:rPr lang="en-US" sz="2500" dirty="0" err="1"/>
              <a:t>sistem</a:t>
            </a:r>
            <a:r>
              <a:rPr lang="en-US" sz="2500" dirty="0"/>
              <a:t> </a:t>
            </a:r>
            <a:r>
              <a:rPr lang="en-US" sz="2500" dirty="0" err="1"/>
              <a:t>penyewaan</a:t>
            </a:r>
            <a:r>
              <a:rPr lang="en-US" sz="2500" dirty="0"/>
              <a:t> (</a:t>
            </a:r>
            <a:r>
              <a:rPr lang="en-US" sz="2500" i="1" dirty="0"/>
              <a:t>rental</a:t>
            </a:r>
            <a:r>
              <a:rPr lang="en-US" sz="2500" dirty="0"/>
              <a:t>) </a:t>
            </a:r>
            <a:r>
              <a:rPr lang="en-US" sz="2500" dirty="0" err="1"/>
              <a:t>mobil</a:t>
            </a:r>
            <a:r>
              <a:rPr lang="en-US" sz="2500" dirty="0"/>
              <a:t>. </a:t>
            </a:r>
            <a:r>
              <a:rPr lang="en-US" sz="2500" dirty="0" err="1"/>
              <a:t>Gunakan</a:t>
            </a:r>
            <a:r>
              <a:rPr lang="en-US" sz="2500" dirty="0"/>
              <a:t> minimal 3 </a:t>
            </a:r>
            <a:r>
              <a:rPr lang="en-US" sz="2500" dirty="0" err="1"/>
              <a:t>tabel</a:t>
            </a:r>
            <a:r>
              <a:rPr lang="en-US" sz="2500" dirty="0"/>
              <a:t>. </a:t>
            </a:r>
          </a:p>
          <a:p>
            <a:r>
              <a:rPr lang="en-US" sz="2500" dirty="0"/>
              <a:t>2. </a:t>
            </a:r>
            <a:r>
              <a:rPr lang="en-US" sz="2500" dirty="0" err="1"/>
              <a:t>Jelaskan</a:t>
            </a:r>
            <a:r>
              <a:rPr lang="en-US" sz="2500" dirty="0"/>
              <a:t> </a:t>
            </a:r>
            <a:r>
              <a:rPr lang="en-US" sz="2500" dirty="0" err="1"/>
              <a:t>relasi</a:t>
            </a:r>
            <a:r>
              <a:rPr lang="en-US" sz="2500" dirty="0"/>
              <a:t> </a:t>
            </a:r>
            <a:r>
              <a:rPr lang="en-US" sz="2500" dirty="0" err="1"/>
              <a:t>antar</a:t>
            </a:r>
            <a:r>
              <a:rPr lang="en-US" sz="2500" dirty="0"/>
              <a:t> </a:t>
            </a:r>
            <a:r>
              <a:rPr lang="en-US" sz="2500" dirty="0" err="1"/>
              <a:t>tabel</a:t>
            </a:r>
            <a:r>
              <a:rPr lang="en-US" sz="2500" dirty="0"/>
              <a:t> yang </a:t>
            </a:r>
            <a:r>
              <a:rPr lang="en-US" sz="2500" dirty="0" err="1"/>
              <a:t>telah</a:t>
            </a:r>
            <a:r>
              <a:rPr lang="en-US" sz="2500" dirty="0"/>
              <a:t> </a:t>
            </a:r>
            <a:r>
              <a:rPr lang="en-US" sz="2500" dirty="0" err="1"/>
              <a:t>anda</a:t>
            </a:r>
            <a:r>
              <a:rPr lang="en-US" sz="2500" dirty="0"/>
              <a:t> </a:t>
            </a:r>
            <a:r>
              <a:rPr lang="en-US" sz="2500" dirty="0" err="1"/>
              <a:t>buat</a:t>
            </a:r>
            <a:r>
              <a:rPr lang="en-US" sz="2500" dirty="0"/>
              <a:t> pada no.1 (</a:t>
            </a:r>
            <a:r>
              <a:rPr lang="en-US" sz="2500" dirty="0" err="1"/>
              <a:t>apakah</a:t>
            </a:r>
            <a:r>
              <a:rPr lang="en-US" sz="2500" dirty="0"/>
              <a:t> </a:t>
            </a:r>
            <a:r>
              <a:rPr lang="en-US" sz="2500" i="1" dirty="0"/>
              <a:t>one-to-one/one-to-many/many-to-many relationship )</a:t>
            </a:r>
          </a:p>
        </p:txBody>
      </p:sp>
      <p:sp>
        <p:nvSpPr>
          <p:cNvPr id="4" name="Content Placeholder 2">
            <a:extLst>
              <a:ext uri="{FF2B5EF4-FFF2-40B4-BE49-F238E27FC236}">
                <a16:creationId xmlns:a16="http://schemas.microsoft.com/office/drawing/2014/main" id="{55835E29-21AC-4D3A-B9E6-348568C11693}"/>
              </a:ext>
            </a:extLst>
          </p:cNvPr>
          <p:cNvSpPr txBox="1">
            <a:spLocks/>
          </p:cNvSpPr>
          <p:nvPr/>
        </p:nvSpPr>
        <p:spPr>
          <a:xfrm>
            <a:off x="1728541" y="234641"/>
            <a:ext cx="1408828" cy="604157"/>
          </a:xfrm>
          <a:prstGeom prst="rect">
            <a:avLst/>
          </a:prstGeom>
        </p:spPr>
        <p:txBody>
          <a:bodyPr vert="horz" lIns="45720" tIns="45720" rIns="45720" bIns="45720" rtlCol="0">
            <a:normAutofit fontScale="925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a:hlinkClick r:id="rId2" action="ppaction://hlinksldjump"/>
              </a:rPr>
              <a:t>Database</a:t>
            </a:r>
            <a:endParaRPr lang="en-US" dirty="0">
              <a:hlinkClick r:id="rId2" action="ppaction://hlinksldjump"/>
            </a:endParaRPr>
          </a:p>
        </p:txBody>
      </p:sp>
      <p:sp>
        <p:nvSpPr>
          <p:cNvPr id="5" name="Content Placeholder 2">
            <a:hlinkClick r:id="rId3" action="ppaction://hlinksldjump"/>
            <a:extLst>
              <a:ext uri="{FF2B5EF4-FFF2-40B4-BE49-F238E27FC236}">
                <a16:creationId xmlns:a16="http://schemas.microsoft.com/office/drawing/2014/main" id="{0A19B382-5D9C-48FF-A161-E063A72F662C}"/>
              </a:ext>
            </a:extLst>
          </p:cNvPr>
          <p:cNvSpPr txBox="1">
            <a:spLocks/>
          </p:cNvSpPr>
          <p:nvPr/>
        </p:nvSpPr>
        <p:spPr>
          <a:xfrm>
            <a:off x="3137369" y="240356"/>
            <a:ext cx="2404871" cy="604157"/>
          </a:xfrm>
          <a:prstGeom prst="rect">
            <a:avLst/>
          </a:prstGeom>
        </p:spPr>
        <p:txBody>
          <a:bodyPr vert="horz" lIns="45720" tIns="45720" rIns="45720" bIns="45720" rtlCol="0">
            <a:normAutofit fontScale="925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err="1"/>
              <a:t>Struktur</a:t>
            </a:r>
            <a:r>
              <a:rPr lang="en-US" dirty="0"/>
              <a:t> Database</a:t>
            </a:r>
          </a:p>
        </p:txBody>
      </p:sp>
      <p:sp>
        <p:nvSpPr>
          <p:cNvPr id="6" name="Content Placeholder 2">
            <a:hlinkClick r:id="rId4" action="ppaction://hlinksldjump"/>
            <a:extLst>
              <a:ext uri="{FF2B5EF4-FFF2-40B4-BE49-F238E27FC236}">
                <a16:creationId xmlns:a16="http://schemas.microsoft.com/office/drawing/2014/main" id="{6CD9A780-5EF4-4207-9942-0C5E4FE6429D}"/>
              </a:ext>
            </a:extLst>
          </p:cNvPr>
          <p:cNvSpPr txBox="1">
            <a:spLocks/>
          </p:cNvSpPr>
          <p:nvPr/>
        </p:nvSpPr>
        <p:spPr>
          <a:xfrm>
            <a:off x="5542240" y="240356"/>
            <a:ext cx="1408828"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RDBMS</a:t>
            </a:r>
          </a:p>
        </p:txBody>
      </p:sp>
      <p:sp>
        <p:nvSpPr>
          <p:cNvPr id="7" name="Content Placeholder 2">
            <a:hlinkClick r:id="rId5" action="ppaction://hlinksldjump"/>
            <a:extLst>
              <a:ext uri="{FF2B5EF4-FFF2-40B4-BE49-F238E27FC236}">
                <a16:creationId xmlns:a16="http://schemas.microsoft.com/office/drawing/2014/main" id="{4C761B84-6F33-4F43-BADF-7710841CB644}"/>
              </a:ext>
            </a:extLst>
          </p:cNvPr>
          <p:cNvSpPr txBox="1">
            <a:spLocks/>
          </p:cNvSpPr>
          <p:nvPr/>
        </p:nvSpPr>
        <p:spPr>
          <a:xfrm>
            <a:off x="6688296" y="240356"/>
            <a:ext cx="1408828" cy="604157"/>
          </a:xfrm>
          <a:prstGeom prst="rect">
            <a:avLst/>
          </a:prstGeom>
        </p:spPr>
        <p:txBody>
          <a:bodyPr vert="horz" lIns="45720" tIns="45720" rIns="45720" bIns="45720" rtlCol="0">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Kesimpulan</a:t>
            </a:r>
          </a:p>
        </p:txBody>
      </p:sp>
      <p:sp>
        <p:nvSpPr>
          <p:cNvPr id="8" name="Content Placeholder 2">
            <a:hlinkClick r:id="rId6" action="ppaction://hlinksldjump"/>
            <a:extLst>
              <a:ext uri="{FF2B5EF4-FFF2-40B4-BE49-F238E27FC236}">
                <a16:creationId xmlns:a16="http://schemas.microsoft.com/office/drawing/2014/main" id="{0918DDF7-9E5F-45D1-9120-013473A8ED0F}"/>
              </a:ext>
            </a:extLst>
          </p:cNvPr>
          <p:cNvSpPr txBox="1">
            <a:spLocks/>
          </p:cNvSpPr>
          <p:nvPr/>
        </p:nvSpPr>
        <p:spPr>
          <a:xfrm>
            <a:off x="605463" y="228926"/>
            <a:ext cx="1621100"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Home</a:t>
            </a:r>
          </a:p>
        </p:txBody>
      </p:sp>
      <p:sp>
        <p:nvSpPr>
          <p:cNvPr id="9" name="Content Placeholder 2">
            <a:hlinkClick r:id="rId7" action="ppaction://hlinksldjump"/>
            <a:extLst>
              <a:ext uri="{FF2B5EF4-FFF2-40B4-BE49-F238E27FC236}">
                <a16:creationId xmlns:a16="http://schemas.microsoft.com/office/drawing/2014/main" id="{F0CA9045-7D76-403D-8320-16983D74492B}"/>
              </a:ext>
            </a:extLst>
          </p:cNvPr>
          <p:cNvSpPr txBox="1">
            <a:spLocks/>
          </p:cNvSpPr>
          <p:nvPr/>
        </p:nvSpPr>
        <p:spPr>
          <a:xfrm>
            <a:off x="8178765" y="228925"/>
            <a:ext cx="1621099" cy="604157"/>
          </a:xfrm>
          <a:prstGeom prst="rect">
            <a:avLst/>
          </a:prstGeom>
        </p:spPr>
        <p:txBody>
          <a:bodyPr vert="horz" lIns="45720" tIns="45720" rIns="45720" bIns="45720" rtlCol="0">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err="1"/>
              <a:t>Soal</a:t>
            </a:r>
            <a:r>
              <a:rPr lang="en-US" dirty="0"/>
              <a:t> </a:t>
            </a:r>
            <a:r>
              <a:rPr lang="en-US" dirty="0" err="1"/>
              <a:t>Latihan</a:t>
            </a:r>
            <a:endParaRPr lang="en-US" dirty="0"/>
          </a:p>
        </p:txBody>
      </p:sp>
      <p:sp>
        <p:nvSpPr>
          <p:cNvPr id="10" name="Content Placeholder 2">
            <a:hlinkClick r:id="rId8" action="ppaction://hlinksldjump"/>
            <a:extLst>
              <a:ext uri="{FF2B5EF4-FFF2-40B4-BE49-F238E27FC236}">
                <a16:creationId xmlns:a16="http://schemas.microsoft.com/office/drawing/2014/main" id="{EA793A1E-226D-474E-ACE5-B94B4360B251}"/>
              </a:ext>
            </a:extLst>
          </p:cNvPr>
          <p:cNvSpPr txBox="1">
            <a:spLocks/>
          </p:cNvSpPr>
          <p:nvPr/>
        </p:nvSpPr>
        <p:spPr>
          <a:xfrm>
            <a:off x="9844274" y="240355"/>
            <a:ext cx="2088753"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What’s Next?</a:t>
            </a:r>
          </a:p>
        </p:txBody>
      </p:sp>
    </p:spTree>
    <p:extLst>
      <p:ext uri="{BB962C8B-B14F-4D97-AF65-F5344CB8AC3E}">
        <p14:creationId xmlns:p14="http://schemas.microsoft.com/office/powerpoint/2010/main" val="421094015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9FFDE-AB6B-48D5-AB11-722CD58DAD9A}"/>
              </a:ext>
            </a:extLst>
          </p:cNvPr>
          <p:cNvSpPr>
            <a:spLocks noGrp="1"/>
          </p:cNvSpPr>
          <p:nvPr>
            <p:ph type="title"/>
          </p:nvPr>
        </p:nvSpPr>
        <p:spPr>
          <a:xfrm>
            <a:off x="743387" y="833082"/>
            <a:ext cx="9720072" cy="1499616"/>
          </a:xfrm>
        </p:spPr>
        <p:txBody>
          <a:bodyPr>
            <a:normAutofit/>
          </a:bodyPr>
          <a:lstStyle/>
          <a:p>
            <a:r>
              <a:rPr lang="en-US" sz="4400" dirty="0" err="1"/>
              <a:t>pengembangan</a:t>
            </a:r>
            <a:r>
              <a:rPr lang="en-US" sz="4400" dirty="0"/>
              <a:t> database</a:t>
            </a:r>
          </a:p>
        </p:txBody>
      </p:sp>
      <p:graphicFrame>
        <p:nvGraphicFramePr>
          <p:cNvPr id="4" name="Content Placeholder 3">
            <a:extLst>
              <a:ext uri="{FF2B5EF4-FFF2-40B4-BE49-F238E27FC236}">
                <a16:creationId xmlns:a16="http://schemas.microsoft.com/office/drawing/2014/main" id="{B988A86C-36B5-44A0-9042-3EA1CA1B4FA8}"/>
              </a:ext>
            </a:extLst>
          </p:cNvPr>
          <p:cNvGraphicFramePr>
            <a:graphicFrameLocks noGrp="1"/>
          </p:cNvGraphicFramePr>
          <p:nvPr>
            <p:ph idx="1"/>
            <p:extLst>
              <p:ext uri="{D42A27DB-BD31-4B8C-83A1-F6EECF244321}">
                <p14:modId xmlns:p14="http://schemas.microsoft.com/office/powerpoint/2010/main" val="2575560814"/>
              </p:ext>
            </p:extLst>
          </p:nvPr>
        </p:nvGraphicFramePr>
        <p:xfrm>
          <a:off x="1235869" y="1919513"/>
          <a:ext cx="9720261" cy="4754880"/>
        </p:xfrm>
        <a:graphic>
          <a:graphicData uri="http://schemas.openxmlformats.org/drawingml/2006/table">
            <a:tbl>
              <a:tblPr firstRow="1" bandRow="1">
                <a:tableStyleId>{D113A9D2-9D6B-4929-AA2D-F23B5EE8CBE7}</a:tableStyleId>
              </a:tblPr>
              <a:tblGrid>
                <a:gridCol w="2290762">
                  <a:extLst>
                    <a:ext uri="{9D8B030D-6E8A-4147-A177-3AD203B41FA5}">
                      <a16:colId xmlns:a16="http://schemas.microsoft.com/office/drawing/2014/main" val="1529366263"/>
                    </a:ext>
                  </a:extLst>
                </a:gridCol>
                <a:gridCol w="4189412">
                  <a:extLst>
                    <a:ext uri="{9D8B030D-6E8A-4147-A177-3AD203B41FA5}">
                      <a16:colId xmlns:a16="http://schemas.microsoft.com/office/drawing/2014/main" val="351812679"/>
                    </a:ext>
                  </a:extLst>
                </a:gridCol>
                <a:gridCol w="3240087">
                  <a:extLst>
                    <a:ext uri="{9D8B030D-6E8A-4147-A177-3AD203B41FA5}">
                      <a16:colId xmlns:a16="http://schemas.microsoft.com/office/drawing/2014/main" val="3664767214"/>
                    </a:ext>
                  </a:extLst>
                </a:gridCol>
              </a:tblGrid>
              <a:tr h="346506">
                <a:tc>
                  <a:txBody>
                    <a:bodyPr/>
                    <a:lstStyle/>
                    <a:p>
                      <a:pPr algn="ctr"/>
                      <a:r>
                        <a:rPr lang="en-US" dirty="0" err="1">
                          <a:solidFill>
                            <a:schemeClr val="tx1">
                              <a:lumMod val="95000"/>
                              <a:lumOff val="5000"/>
                            </a:schemeClr>
                          </a:solidFill>
                        </a:rPr>
                        <a:t>Fase</a:t>
                      </a:r>
                      <a:endParaRPr lang="en-US" dirty="0">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6A2A2"/>
                    </a:solidFill>
                  </a:tcPr>
                </a:tc>
                <a:tc>
                  <a:txBody>
                    <a:bodyPr/>
                    <a:lstStyle/>
                    <a:p>
                      <a:pPr algn="ctr"/>
                      <a:r>
                        <a:rPr lang="en-US" dirty="0">
                          <a:solidFill>
                            <a:schemeClr val="tx1">
                              <a:lumMod val="95000"/>
                              <a:lumOff val="5000"/>
                            </a:schemeClr>
                          </a:solidFill>
                        </a:rPr>
                        <a:t>Database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dirty="0" err="1">
                          <a:solidFill>
                            <a:schemeClr val="tx1">
                              <a:lumMod val="95000"/>
                              <a:lumOff val="5000"/>
                            </a:schemeClr>
                          </a:solidFill>
                        </a:rPr>
                        <a:t>Aplikasi</a:t>
                      </a:r>
                      <a:endParaRPr lang="en-US" dirty="0">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548714884"/>
                  </a:ext>
                </a:extLst>
              </a:tr>
              <a:tr h="866266">
                <a:tc>
                  <a:txBody>
                    <a:bodyPr/>
                    <a:lstStyle/>
                    <a:p>
                      <a:r>
                        <a:rPr lang="en-US" dirty="0">
                          <a:solidFill>
                            <a:schemeClr val="tx1">
                              <a:lumMod val="95000"/>
                              <a:lumOff val="5000"/>
                            </a:schemeClr>
                          </a:solidFill>
                        </a:rPr>
                        <a:t>Requirements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6A2A2"/>
                    </a:solidFill>
                  </a:tcPr>
                </a:tc>
                <a:tc>
                  <a:txBody>
                    <a:bodyPr/>
                    <a:lstStyle/>
                    <a:p>
                      <a:r>
                        <a:rPr lang="en-US" dirty="0" err="1">
                          <a:solidFill>
                            <a:schemeClr val="tx1">
                              <a:lumMod val="95000"/>
                              <a:lumOff val="5000"/>
                            </a:schemeClr>
                          </a:solidFill>
                        </a:rPr>
                        <a:t>Membangun</a:t>
                      </a:r>
                      <a:r>
                        <a:rPr lang="en-US" dirty="0">
                          <a:solidFill>
                            <a:schemeClr val="tx1">
                              <a:lumMod val="95000"/>
                              <a:lumOff val="5000"/>
                            </a:schemeClr>
                          </a:solidFill>
                        </a:rPr>
                        <a:t> model data</a:t>
                      </a:r>
                    </a:p>
                    <a:p>
                      <a:r>
                        <a:rPr lang="en-US" dirty="0" err="1">
                          <a:solidFill>
                            <a:schemeClr val="tx1">
                              <a:lumMod val="95000"/>
                              <a:lumOff val="5000"/>
                            </a:schemeClr>
                          </a:solidFill>
                        </a:rPr>
                        <a:t>Menetapkan</a:t>
                      </a:r>
                      <a:r>
                        <a:rPr lang="en-US" dirty="0">
                          <a:solidFill>
                            <a:schemeClr val="tx1">
                              <a:lumMod val="95000"/>
                              <a:lumOff val="5000"/>
                            </a:schemeClr>
                          </a:solidFill>
                        </a:rPr>
                        <a:t> item data</a:t>
                      </a:r>
                    </a:p>
                    <a:p>
                      <a:r>
                        <a:rPr lang="en-US" dirty="0" err="1">
                          <a:solidFill>
                            <a:schemeClr val="tx1">
                              <a:lumMod val="95000"/>
                              <a:lumOff val="5000"/>
                            </a:schemeClr>
                          </a:solidFill>
                        </a:rPr>
                        <a:t>Mendefinisikan</a:t>
                      </a:r>
                      <a:r>
                        <a:rPr lang="en-US" dirty="0">
                          <a:solidFill>
                            <a:schemeClr val="tx1">
                              <a:lumMod val="95000"/>
                              <a:lumOff val="5000"/>
                            </a:schemeClr>
                          </a:solidFill>
                        </a:rPr>
                        <a:t> Batasan dan </a:t>
                      </a:r>
                      <a:r>
                        <a:rPr lang="en-US" dirty="0" err="1">
                          <a:solidFill>
                            <a:schemeClr val="tx1">
                              <a:lumMod val="95000"/>
                              <a:lumOff val="5000"/>
                            </a:schemeClr>
                          </a:solidFill>
                        </a:rPr>
                        <a:t>aturan</a:t>
                      </a:r>
                      <a:endParaRPr lang="en-US" dirty="0">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err="1">
                          <a:solidFill>
                            <a:schemeClr val="tx1">
                              <a:lumMod val="95000"/>
                              <a:lumOff val="5000"/>
                            </a:schemeClr>
                          </a:solidFill>
                        </a:rPr>
                        <a:t>Menentukan</a:t>
                      </a:r>
                      <a:r>
                        <a:rPr lang="en-US" dirty="0">
                          <a:solidFill>
                            <a:schemeClr val="tx1">
                              <a:lumMod val="95000"/>
                              <a:lumOff val="5000"/>
                            </a:schemeClr>
                          </a:solidFill>
                        </a:rPr>
                        <a:t> requirements </a:t>
                      </a:r>
                      <a:r>
                        <a:rPr lang="en-US" dirty="0" err="1">
                          <a:solidFill>
                            <a:schemeClr val="tx1">
                              <a:lumMod val="95000"/>
                              <a:lumOff val="5000"/>
                            </a:schemeClr>
                          </a:solidFill>
                        </a:rPr>
                        <a:t>aplikasi</a:t>
                      </a:r>
                      <a:endParaRPr lang="en-US" dirty="0">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271516656"/>
                  </a:ext>
                </a:extLst>
              </a:tr>
              <a:tr h="1386025">
                <a:tc>
                  <a:txBody>
                    <a:bodyPr/>
                    <a:lstStyle/>
                    <a:p>
                      <a:r>
                        <a:rPr lang="en-US" dirty="0" err="1">
                          <a:solidFill>
                            <a:schemeClr val="tx1">
                              <a:lumMod val="95000"/>
                              <a:lumOff val="5000"/>
                            </a:schemeClr>
                          </a:solidFill>
                        </a:rPr>
                        <a:t>Desain</a:t>
                      </a:r>
                      <a:endParaRPr lang="en-US" dirty="0">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6A2A2"/>
                    </a:solidFill>
                  </a:tcPr>
                </a:tc>
                <a:tc>
                  <a:txBody>
                    <a:bodyPr/>
                    <a:lstStyle/>
                    <a:p>
                      <a:r>
                        <a:rPr lang="en-US" dirty="0">
                          <a:solidFill>
                            <a:schemeClr val="tx1">
                              <a:lumMod val="95000"/>
                              <a:lumOff val="5000"/>
                            </a:schemeClr>
                          </a:solidFill>
                        </a:rPr>
                        <a:t>Tabel</a:t>
                      </a:r>
                    </a:p>
                    <a:p>
                      <a:r>
                        <a:rPr lang="en-US" dirty="0" err="1">
                          <a:solidFill>
                            <a:schemeClr val="tx1">
                              <a:lumMod val="95000"/>
                              <a:lumOff val="5000"/>
                            </a:schemeClr>
                          </a:solidFill>
                        </a:rPr>
                        <a:t>Hubungan</a:t>
                      </a:r>
                      <a:endParaRPr lang="en-US" dirty="0">
                        <a:solidFill>
                          <a:schemeClr val="tx1">
                            <a:lumMod val="95000"/>
                            <a:lumOff val="5000"/>
                          </a:schemeClr>
                        </a:solidFill>
                      </a:endParaRPr>
                    </a:p>
                    <a:p>
                      <a:r>
                        <a:rPr lang="en-US" dirty="0" err="1">
                          <a:solidFill>
                            <a:schemeClr val="tx1">
                              <a:lumMod val="95000"/>
                              <a:lumOff val="5000"/>
                            </a:schemeClr>
                          </a:solidFill>
                        </a:rPr>
                        <a:t>Indeks</a:t>
                      </a:r>
                      <a:endParaRPr lang="en-US" dirty="0">
                        <a:solidFill>
                          <a:schemeClr val="tx1">
                            <a:lumMod val="95000"/>
                            <a:lumOff val="5000"/>
                          </a:schemeClr>
                        </a:solidFill>
                      </a:endParaRPr>
                    </a:p>
                    <a:p>
                      <a:r>
                        <a:rPr lang="en-US" dirty="0">
                          <a:solidFill>
                            <a:schemeClr val="tx1">
                              <a:lumMod val="95000"/>
                              <a:lumOff val="5000"/>
                            </a:schemeClr>
                          </a:solidFill>
                        </a:rPr>
                        <a:t>Batasan</a:t>
                      </a:r>
                    </a:p>
                    <a:p>
                      <a:r>
                        <a:rPr lang="en-US" dirty="0" err="1">
                          <a:solidFill>
                            <a:schemeClr val="tx1">
                              <a:lumMod val="95000"/>
                              <a:lumOff val="5000"/>
                            </a:schemeClr>
                          </a:solidFill>
                        </a:rPr>
                        <a:t>Prosedur</a:t>
                      </a:r>
                      <a:r>
                        <a:rPr lang="en-US" dirty="0">
                          <a:solidFill>
                            <a:schemeClr val="tx1">
                              <a:lumMod val="95000"/>
                              <a:lumOff val="5000"/>
                            </a:schemeClr>
                          </a:solidFill>
                        </a:rPr>
                        <a:t> </a:t>
                      </a:r>
                      <a:r>
                        <a:rPr lang="en-US" dirty="0" err="1">
                          <a:solidFill>
                            <a:schemeClr val="tx1">
                              <a:lumMod val="95000"/>
                              <a:lumOff val="5000"/>
                            </a:schemeClr>
                          </a:solidFill>
                        </a:rPr>
                        <a:t>tersimpan</a:t>
                      </a:r>
                      <a:r>
                        <a:rPr lang="en-US" dirty="0">
                          <a:solidFill>
                            <a:schemeClr val="tx1">
                              <a:lumMod val="95000"/>
                              <a:lumOff val="5000"/>
                            </a:schemeClr>
                          </a:solidFill>
                        </a:rPr>
                        <a:t> dan trigger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a:solidFill>
                            <a:schemeClr val="tx1">
                              <a:lumMod val="95000"/>
                              <a:lumOff val="5000"/>
                            </a:schemeClr>
                          </a:solidFill>
                        </a:rPr>
                        <a:t>Forms </a:t>
                      </a:r>
                    </a:p>
                    <a:p>
                      <a:r>
                        <a:rPr lang="en-US" dirty="0">
                          <a:solidFill>
                            <a:schemeClr val="tx1">
                              <a:lumMod val="95000"/>
                              <a:lumOff val="5000"/>
                            </a:schemeClr>
                          </a:solidFill>
                        </a:rPr>
                        <a:t>Reports</a:t>
                      </a:r>
                    </a:p>
                    <a:p>
                      <a:r>
                        <a:rPr lang="en-US" dirty="0">
                          <a:solidFill>
                            <a:schemeClr val="tx1">
                              <a:lumMod val="95000"/>
                              <a:lumOff val="5000"/>
                            </a:schemeClr>
                          </a:solidFill>
                        </a:rPr>
                        <a:t>Queries</a:t>
                      </a:r>
                    </a:p>
                    <a:p>
                      <a:r>
                        <a:rPr lang="en-US" dirty="0" err="1">
                          <a:solidFill>
                            <a:schemeClr val="tx1">
                              <a:lumMod val="95000"/>
                              <a:lumOff val="5000"/>
                            </a:schemeClr>
                          </a:solidFill>
                        </a:rPr>
                        <a:t>Kode</a:t>
                      </a:r>
                      <a:r>
                        <a:rPr lang="en-US" dirty="0">
                          <a:solidFill>
                            <a:schemeClr val="tx1">
                              <a:lumMod val="95000"/>
                              <a:lumOff val="5000"/>
                            </a:schemeClr>
                          </a:solidFill>
                        </a:rPr>
                        <a:t> </a:t>
                      </a:r>
                      <a:r>
                        <a:rPr lang="en-US" dirty="0" err="1">
                          <a:solidFill>
                            <a:schemeClr val="tx1">
                              <a:lumMod val="95000"/>
                              <a:lumOff val="5000"/>
                            </a:schemeClr>
                          </a:solidFill>
                        </a:rPr>
                        <a:t>aplikasi</a:t>
                      </a:r>
                      <a:endParaRPr lang="en-US" dirty="0">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699914369"/>
                  </a:ext>
                </a:extLst>
              </a:tr>
              <a:tr h="1645905">
                <a:tc>
                  <a:txBody>
                    <a:bodyPr/>
                    <a:lstStyle/>
                    <a:p>
                      <a:r>
                        <a:rPr lang="en-US" dirty="0" err="1">
                          <a:solidFill>
                            <a:schemeClr val="tx1">
                              <a:lumMod val="95000"/>
                              <a:lumOff val="5000"/>
                            </a:schemeClr>
                          </a:solidFill>
                        </a:rPr>
                        <a:t>Implementasi</a:t>
                      </a:r>
                      <a:endParaRPr lang="en-US" dirty="0">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6A2A2"/>
                    </a:solidFill>
                  </a:tcPr>
                </a:tc>
                <a:tc>
                  <a:txBody>
                    <a:bodyPr/>
                    <a:lstStyle/>
                    <a:p>
                      <a:r>
                        <a:rPr lang="en-US" dirty="0" err="1">
                          <a:solidFill>
                            <a:schemeClr val="tx1">
                              <a:lumMod val="95000"/>
                              <a:lumOff val="5000"/>
                            </a:schemeClr>
                          </a:solidFill>
                        </a:rPr>
                        <a:t>Menciptakan</a:t>
                      </a:r>
                      <a:r>
                        <a:rPr lang="en-US" dirty="0">
                          <a:solidFill>
                            <a:schemeClr val="tx1">
                              <a:lumMod val="95000"/>
                              <a:lumOff val="5000"/>
                            </a:schemeClr>
                          </a:solidFill>
                        </a:rPr>
                        <a:t> </a:t>
                      </a:r>
                      <a:r>
                        <a:rPr lang="en-US" dirty="0" err="1">
                          <a:solidFill>
                            <a:schemeClr val="tx1">
                              <a:lumMod val="95000"/>
                              <a:lumOff val="5000"/>
                            </a:schemeClr>
                          </a:solidFill>
                        </a:rPr>
                        <a:t>tabel</a:t>
                      </a:r>
                      <a:endParaRPr lang="en-US" dirty="0">
                        <a:solidFill>
                          <a:schemeClr val="tx1">
                            <a:lumMod val="95000"/>
                            <a:lumOff val="5000"/>
                          </a:schemeClr>
                        </a:solidFill>
                      </a:endParaRPr>
                    </a:p>
                    <a:p>
                      <a:r>
                        <a:rPr lang="en-US" dirty="0" err="1">
                          <a:solidFill>
                            <a:schemeClr val="tx1">
                              <a:lumMod val="95000"/>
                              <a:lumOff val="5000"/>
                            </a:schemeClr>
                          </a:solidFill>
                        </a:rPr>
                        <a:t>Menciptakan</a:t>
                      </a:r>
                      <a:r>
                        <a:rPr lang="en-US" dirty="0">
                          <a:solidFill>
                            <a:schemeClr val="tx1">
                              <a:lumMod val="95000"/>
                              <a:lumOff val="5000"/>
                            </a:schemeClr>
                          </a:solidFill>
                        </a:rPr>
                        <a:t> </a:t>
                      </a:r>
                      <a:r>
                        <a:rPr lang="en-US" dirty="0" err="1">
                          <a:solidFill>
                            <a:schemeClr val="tx1">
                              <a:lumMod val="95000"/>
                              <a:lumOff val="5000"/>
                            </a:schemeClr>
                          </a:solidFill>
                        </a:rPr>
                        <a:t>hubungan</a:t>
                      </a:r>
                      <a:endParaRPr lang="en-US" dirty="0">
                        <a:solidFill>
                          <a:schemeClr val="tx1">
                            <a:lumMod val="95000"/>
                            <a:lumOff val="5000"/>
                          </a:schemeClr>
                        </a:solidFill>
                      </a:endParaRPr>
                    </a:p>
                    <a:p>
                      <a:r>
                        <a:rPr lang="en-US" dirty="0" err="1">
                          <a:solidFill>
                            <a:schemeClr val="tx1">
                              <a:lumMod val="95000"/>
                              <a:lumOff val="5000"/>
                            </a:schemeClr>
                          </a:solidFill>
                        </a:rPr>
                        <a:t>Menciptakan</a:t>
                      </a:r>
                      <a:r>
                        <a:rPr lang="en-US" dirty="0">
                          <a:solidFill>
                            <a:schemeClr val="tx1">
                              <a:lumMod val="95000"/>
                              <a:lumOff val="5000"/>
                            </a:schemeClr>
                          </a:solidFill>
                        </a:rPr>
                        <a:t> Batasan</a:t>
                      </a:r>
                    </a:p>
                    <a:p>
                      <a:r>
                        <a:rPr lang="en-US" dirty="0" err="1">
                          <a:solidFill>
                            <a:schemeClr val="tx1">
                              <a:lumMod val="95000"/>
                              <a:lumOff val="5000"/>
                            </a:schemeClr>
                          </a:solidFill>
                        </a:rPr>
                        <a:t>Menulis</a:t>
                      </a:r>
                      <a:r>
                        <a:rPr lang="en-US" dirty="0">
                          <a:solidFill>
                            <a:schemeClr val="tx1">
                              <a:lumMod val="95000"/>
                              <a:lumOff val="5000"/>
                            </a:schemeClr>
                          </a:solidFill>
                        </a:rPr>
                        <a:t> </a:t>
                      </a:r>
                      <a:r>
                        <a:rPr lang="en-US" dirty="0" err="1">
                          <a:solidFill>
                            <a:schemeClr val="tx1">
                              <a:lumMod val="95000"/>
                              <a:lumOff val="5000"/>
                            </a:schemeClr>
                          </a:solidFill>
                        </a:rPr>
                        <a:t>prosedur</a:t>
                      </a:r>
                      <a:r>
                        <a:rPr lang="en-US" dirty="0">
                          <a:solidFill>
                            <a:schemeClr val="tx1">
                              <a:lumMod val="95000"/>
                              <a:lumOff val="5000"/>
                            </a:schemeClr>
                          </a:solidFill>
                        </a:rPr>
                        <a:t> </a:t>
                      </a:r>
                      <a:r>
                        <a:rPr lang="en-US" dirty="0" err="1">
                          <a:solidFill>
                            <a:schemeClr val="tx1">
                              <a:lumMod val="95000"/>
                              <a:lumOff val="5000"/>
                            </a:schemeClr>
                          </a:solidFill>
                        </a:rPr>
                        <a:t>tersimpan</a:t>
                      </a:r>
                      <a:r>
                        <a:rPr lang="en-US" dirty="0">
                          <a:solidFill>
                            <a:schemeClr val="tx1">
                              <a:lumMod val="95000"/>
                              <a:lumOff val="5000"/>
                            </a:schemeClr>
                          </a:solidFill>
                        </a:rPr>
                        <a:t> dan trigger</a:t>
                      </a:r>
                    </a:p>
                    <a:p>
                      <a:r>
                        <a:rPr lang="en-US" dirty="0" err="1">
                          <a:solidFill>
                            <a:schemeClr val="tx1">
                              <a:lumMod val="95000"/>
                              <a:lumOff val="5000"/>
                            </a:schemeClr>
                          </a:solidFill>
                        </a:rPr>
                        <a:t>Mengisi</a:t>
                      </a:r>
                      <a:r>
                        <a:rPr lang="en-US" dirty="0">
                          <a:solidFill>
                            <a:schemeClr val="tx1">
                              <a:lumMod val="95000"/>
                              <a:lumOff val="5000"/>
                            </a:schemeClr>
                          </a:solidFill>
                        </a:rPr>
                        <a:t> Database</a:t>
                      </a:r>
                    </a:p>
                    <a:p>
                      <a:r>
                        <a:rPr lang="en-US" dirty="0" err="1">
                          <a:solidFill>
                            <a:schemeClr val="tx1">
                              <a:lumMod val="95000"/>
                              <a:lumOff val="5000"/>
                            </a:schemeClr>
                          </a:solidFill>
                        </a:rPr>
                        <a:t>Menguji</a:t>
                      </a:r>
                      <a:endParaRPr lang="en-US" dirty="0">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err="1">
                          <a:solidFill>
                            <a:schemeClr val="tx1">
                              <a:lumMod val="95000"/>
                              <a:lumOff val="5000"/>
                            </a:schemeClr>
                          </a:solidFill>
                        </a:rPr>
                        <a:t>Membuat</a:t>
                      </a:r>
                      <a:r>
                        <a:rPr lang="en-US" dirty="0">
                          <a:solidFill>
                            <a:schemeClr val="tx1">
                              <a:lumMod val="95000"/>
                              <a:lumOff val="5000"/>
                            </a:schemeClr>
                          </a:solidFill>
                        </a:rPr>
                        <a:t> forms</a:t>
                      </a:r>
                    </a:p>
                    <a:p>
                      <a:r>
                        <a:rPr lang="en-US" dirty="0" err="1">
                          <a:solidFill>
                            <a:schemeClr val="tx1">
                              <a:lumMod val="95000"/>
                              <a:lumOff val="5000"/>
                            </a:schemeClr>
                          </a:solidFill>
                        </a:rPr>
                        <a:t>Membuat</a:t>
                      </a:r>
                      <a:r>
                        <a:rPr lang="en-US" dirty="0">
                          <a:solidFill>
                            <a:schemeClr val="tx1">
                              <a:lumMod val="95000"/>
                              <a:lumOff val="5000"/>
                            </a:schemeClr>
                          </a:solidFill>
                        </a:rPr>
                        <a:t> reports</a:t>
                      </a:r>
                    </a:p>
                    <a:p>
                      <a:r>
                        <a:rPr lang="en-US" dirty="0" err="1">
                          <a:solidFill>
                            <a:schemeClr val="tx1">
                              <a:lumMod val="95000"/>
                              <a:lumOff val="5000"/>
                            </a:schemeClr>
                          </a:solidFill>
                        </a:rPr>
                        <a:t>Menciptakan</a:t>
                      </a:r>
                      <a:r>
                        <a:rPr lang="en-US" dirty="0">
                          <a:solidFill>
                            <a:schemeClr val="tx1">
                              <a:lumMod val="95000"/>
                              <a:lumOff val="5000"/>
                            </a:schemeClr>
                          </a:solidFill>
                        </a:rPr>
                        <a:t> queries</a:t>
                      </a:r>
                    </a:p>
                    <a:p>
                      <a:r>
                        <a:rPr lang="en-US" dirty="0" err="1">
                          <a:solidFill>
                            <a:schemeClr val="tx1">
                              <a:lumMod val="95000"/>
                              <a:lumOff val="5000"/>
                            </a:schemeClr>
                          </a:solidFill>
                        </a:rPr>
                        <a:t>Menulis</a:t>
                      </a:r>
                      <a:r>
                        <a:rPr lang="en-US" dirty="0">
                          <a:solidFill>
                            <a:schemeClr val="tx1">
                              <a:lumMod val="95000"/>
                              <a:lumOff val="5000"/>
                            </a:schemeClr>
                          </a:solidFill>
                        </a:rPr>
                        <a:t> </a:t>
                      </a:r>
                      <a:r>
                        <a:rPr lang="en-US" dirty="0" err="1">
                          <a:solidFill>
                            <a:schemeClr val="tx1">
                              <a:lumMod val="95000"/>
                              <a:lumOff val="5000"/>
                            </a:schemeClr>
                          </a:solidFill>
                        </a:rPr>
                        <a:t>kode</a:t>
                      </a:r>
                      <a:r>
                        <a:rPr lang="en-US" dirty="0">
                          <a:solidFill>
                            <a:schemeClr val="tx1">
                              <a:lumMod val="95000"/>
                              <a:lumOff val="5000"/>
                            </a:schemeClr>
                          </a:solidFill>
                        </a:rPr>
                        <a:t> </a:t>
                      </a:r>
                      <a:r>
                        <a:rPr lang="en-US" dirty="0" err="1">
                          <a:solidFill>
                            <a:schemeClr val="tx1">
                              <a:lumMod val="95000"/>
                              <a:lumOff val="5000"/>
                            </a:schemeClr>
                          </a:solidFill>
                        </a:rPr>
                        <a:t>aplikasi</a:t>
                      </a:r>
                      <a:endParaRPr lang="en-US" dirty="0">
                        <a:solidFill>
                          <a:schemeClr val="tx1">
                            <a:lumMod val="95000"/>
                            <a:lumOff val="5000"/>
                          </a:schemeClr>
                        </a:solidFill>
                      </a:endParaRPr>
                    </a:p>
                    <a:p>
                      <a:r>
                        <a:rPr lang="en-US" dirty="0" err="1">
                          <a:solidFill>
                            <a:schemeClr val="tx1">
                              <a:lumMod val="95000"/>
                              <a:lumOff val="5000"/>
                            </a:schemeClr>
                          </a:solidFill>
                        </a:rPr>
                        <a:t>Menguji</a:t>
                      </a:r>
                      <a:r>
                        <a:rPr lang="en-US" dirty="0">
                          <a:solidFill>
                            <a:schemeClr val="tx1">
                              <a:lumMod val="95000"/>
                              <a:lumOff val="5000"/>
                            </a:schemeClr>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352660940"/>
                  </a:ext>
                </a:extLst>
              </a:tr>
            </a:tbl>
          </a:graphicData>
        </a:graphic>
      </p:graphicFrame>
      <p:sp>
        <p:nvSpPr>
          <p:cNvPr id="5" name="Content Placeholder 2">
            <a:extLst>
              <a:ext uri="{FF2B5EF4-FFF2-40B4-BE49-F238E27FC236}">
                <a16:creationId xmlns:a16="http://schemas.microsoft.com/office/drawing/2014/main" id="{8A37E225-ED26-4486-80AB-F4081672563A}"/>
              </a:ext>
            </a:extLst>
          </p:cNvPr>
          <p:cNvSpPr txBox="1">
            <a:spLocks/>
          </p:cNvSpPr>
          <p:nvPr/>
        </p:nvSpPr>
        <p:spPr>
          <a:xfrm>
            <a:off x="1728541" y="234641"/>
            <a:ext cx="1408828" cy="604157"/>
          </a:xfrm>
          <a:prstGeom prst="rect">
            <a:avLst/>
          </a:prstGeom>
        </p:spPr>
        <p:txBody>
          <a:bodyPr vert="horz" lIns="45720" tIns="45720" rIns="45720" bIns="45720" rtlCol="0">
            <a:normAutofit fontScale="925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a:hlinkClick r:id="rId2" action="ppaction://hlinksldjump"/>
              </a:rPr>
              <a:t>Database</a:t>
            </a:r>
            <a:endParaRPr lang="en-US" dirty="0">
              <a:hlinkClick r:id="rId2" action="ppaction://hlinksldjump"/>
            </a:endParaRPr>
          </a:p>
        </p:txBody>
      </p:sp>
      <p:sp>
        <p:nvSpPr>
          <p:cNvPr id="6" name="Content Placeholder 2">
            <a:hlinkClick r:id="rId3" action="ppaction://hlinksldjump"/>
            <a:extLst>
              <a:ext uri="{FF2B5EF4-FFF2-40B4-BE49-F238E27FC236}">
                <a16:creationId xmlns:a16="http://schemas.microsoft.com/office/drawing/2014/main" id="{8B104737-3D5F-4E73-954B-A9B0F6879B0F}"/>
              </a:ext>
            </a:extLst>
          </p:cNvPr>
          <p:cNvSpPr txBox="1">
            <a:spLocks/>
          </p:cNvSpPr>
          <p:nvPr/>
        </p:nvSpPr>
        <p:spPr>
          <a:xfrm>
            <a:off x="3137369" y="240356"/>
            <a:ext cx="2404871" cy="604157"/>
          </a:xfrm>
          <a:prstGeom prst="rect">
            <a:avLst/>
          </a:prstGeom>
        </p:spPr>
        <p:txBody>
          <a:bodyPr vert="horz" lIns="45720" tIns="45720" rIns="45720" bIns="45720" rtlCol="0">
            <a:normAutofit fontScale="925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err="1"/>
              <a:t>Struktur</a:t>
            </a:r>
            <a:r>
              <a:rPr lang="en-US" dirty="0"/>
              <a:t> Database</a:t>
            </a:r>
          </a:p>
        </p:txBody>
      </p:sp>
      <p:sp>
        <p:nvSpPr>
          <p:cNvPr id="7" name="Content Placeholder 2">
            <a:hlinkClick r:id="rId4" action="ppaction://hlinksldjump"/>
            <a:extLst>
              <a:ext uri="{FF2B5EF4-FFF2-40B4-BE49-F238E27FC236}">
                <a16:creationId xmlns:a16="http://schemas.microsoft.com/office/drawing/2014/main" id="{16B6FA58-6FC3-4B39-A5D5-9E2659871BD4}"/>
              </a:ext>
            </a:extLst>
          </p:cNvPr>
          <p:cNvSpPr txBox="1">
            <a:spLocks/>
          </p:cNvSpPr>
          <p:nvPr/>
        </p:nvSpPr>
        <p:spPr>
          <a:xfrm>
            <a:off x="5542240" y="240356"/>
            <a:ext cx="1408828"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RDBMS</a:t>
            </a:r>
          </a:p>
        </p:txBody>
      </p:sp>
      <p:sp>
        <p:nvSpPr>
          <p:cNvPr id="8" name="Content Placeholder 2">
            <a:hlinkClick r:id="rId5" action="ppaction://hlinksldjump"/>
            <a:extLst>
              <a:ext uri="{FF2B5EF4-FFF2-40B4-BE49-F238E27FC236}">
                <a16:creationId xmlns:a16="http://schemas.microsoft.com/office/drawing/2014/main" id="{EB759D5C-5444-44B1-8E78-879BD28F0479}"/>
              </a:ext>
            </a:extLst>
          </p:cNvPr>
          <p:cNvSpPr txBox="1">
            <a:spLocks/>
          </p:cNvSpPr>
          <p:nvPr/>
        </p:nvSpPr>
        <p:spPr>
          <a:xfrm>
            <a:off x="6688296" y="240356"/>
            <a:ext cx="1408828" cy="604157"/>
          </a:xfrm>
          <a:prstGeom prst="rect">
            <a:avLst/>
          </a:prstGeom>
        </p:spPr>
        <p:txBody>
          <a:bodyPr vert="horz" lIns="45720" tIns="45720" rIns="45720" bIns="45720" rtlCol="0">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Kesimpulan</a:t>
            </a:r>
          </a:p>
        </p:txBody>
      </p:sp>
      <p:sp>
        <p:nvSpPr>
          <p:cNvPr id="9" name="Content Placeholder 2">
            <a:hlinkClick r:id="rId6" action="ppaction://hlinksldjump"/>
            <a:extLst>
              <a:ext uri="{FF2B5EF4-FFF2-40B4-BE49-F238E27FC236}">
                <a16:creationId xmlns:a16="http://schemas.microsoft.com/office/drawing/2014/main" id="{12F6B50B-AA2C-4CE3-885F-A6A9E0183CB0}"/>
              </a:ext>
            </a:extLst>
          </p:cNvPr>
          <p:cNvSpPr txBox="1">
            <a:spLocks/>
          </p:cNvSpPr>
          <p:nvPr/>
        </p:nvSpPr>
        <p:spPr>
          <a:xfrm>
            <a:off x="605463" y="228926"/>
            <a:ext cx="1621100"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Home</a:t>
            </a:r>
          </a:p>
        </p:txBody>
      </p:sp>
      <p:sp>
        <p:nvSpPr>
          <p:cNvPr id="10" name="Content Placeholder 2">
            <a:hlinkClick r:id="rId7" action="ppaction://hlinksldjump"/>
            <a:extLst>
              <a:ext uri="{FF2B5EF4-FFF2-40B4-BE49-F238E27FC236}">
                <a16:creationId xmlns:a16="http://schemas.microsoft.com/office/drawing/2014/main" id="{4FA0222A-1653-45BD-8922-90905EC117B3}"/>
              </a:ext>
            </a:extLst>
          </p:cNvPr>
          <p:cNvSpPr txBox="1">
            <a:spLocks/>
          </p:cNvSpPr>
          <p:nvPr/>
        </p:nvSpPr>
        <p:spPr>
          <a:xfrm>
            <a:off x="8178765" y="228925"/>
            <a:ext cx="1621099" cy="604157"/>
          </a:xfrm>
          <a:prstGeom prst="rect">
            <a:avLst/>
          </a:prstGeom>
        </p:spPr>
        <p:txBody>
          <a:bodyPr vert="horz" lIns="45720" tIns="45720" rIns="45720" bIns="45720" rtlCol="0">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err="1"/>
              <a:t>Soal</a:t>
            </a:r>
            <a:r>
              <a:rPr lang="en-US" dirty="0"/>
              <a:t> </a:t>
            </a:r>
            <a:r>
              <a:rPr lang="en-US" dirty="0" err="1"/>
              <a:t>Latihan</a:t>
            </a:r>
            <a:endParaRPr lang="en-US" dirty="0"/>
          </a:p>
        </p:txBody>
      </p:sp>
      <p:sp>
        <p:nvSpPr>
          <p:cNvPr id="11" name="Content Placeholder 2">
            <a:hlinkClick r:id="rId8" action="ppaction://hlinksldjump"/>
            <a:extLst>
              <a:ext uri="{FF2B5EF4-FFF2-40B4-BE49-F238E27FC236}">
                <a16:creationId xmlns:a16="http://schemas.microsoft.com/office/drawing/2014/main" id="{D374D0ED-9D59-4ED7-86E2-02A0CE8E5D9E}"/>
              </a:ext>
            </a:extLst>
          </p:cNvPr>
          <p:cNvSpPr txBox="1">
            <a:spLocks/>
          </p:cNvSpPr>
          <p:nvPr/>
        </p:nvSpPr>
        <p:spPr>
          <a:xfrm>
            <a:off x="9844274" y="240355"/>
            <a:ext cx="2088753"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What’s Next?</a:t>
            </a:r>
          </a:p>
        </p:txBody>
      </p:sp>
    </p:spTree>
    <p:extLst>
      <p:ext uri="{BB962C8B-B14F-4D97-AF65-F5344CB8AC3E}">
        <p14:creationId xmlns:p14="http://schemas.microsoft.com/office/powerpoint/2010/main" val="272670636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A0866-5615-4C08-838B-E9677B551279}"/>
              </a:ext>
            </a:extLst>
          </p:cNvPr>
          <p:cNvSpPr>
            <a:spLocks noGrp="1"/>
          </p:cNvSpPr>
          <p:nvPr>
            <p:ph type="title"/>
          </p:nvPr>
        </p:nvSpPr>
        <p:spPr>
          <a:xfrm>
            <a:off x="1024128" y="3063372"/>
            <a:ext cx="9720072" cy="1499616"/>
          </a:xfrm>
        </p:spPr>
        <p:txBody>
          <a:bodyPr/>
          <a:lstStyle/>
          <a:p>
            <a:pPr algn="ctr"/>
            <a:r>
              <a:rPr lang="en-US" dirty="0"/>
              <a:t>TERIMA KASIH</a:t>
            </a:r>
          </a:p>
        </p:txBody>
      </p:sp>
      <p:sp>
        <p:nvSpPr>
          <p:cNvPr id="4" name="Content Placeholder 2">
            <a:extLst>
              <a:ext uri="{FF2B5EF4-FFF2-40B4-BE49-F238E27FC236}">
                <a16:creationId xmlns:a16="http://schemas.microsoft.com/office/drawing/2014/main" id="{896DF4BC-53B7-44CB-8AA8-FA0D877A3908}"/>
              </a:ext>
            </a:extLst>
          </p:cNvPr>
          <p:cNvSpPr txBox="1">
            <a:spLocks/>
          </p:cNvSpPr>
          <p:nvPr/>
        </p:nvSpPr>
        <p:spPr>
          <a:xfrm>
            <a:off x="1649028" y="182554"/>
            <a:ext cx="1408828" cy="604157"/>
          </a:xfrm>
          <a:prstGeom prst="rect">
            <a:avLst/>
          </a:prstGeom>
        </p:spPr>
        <p:txBody>
          <a:bodyPr vert="horz" lIns="45720" tIns="45720" rIns="45720" bIns="45720" rtlCol="0">
            <a:normAutofit fontScale="925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a:hlinkClick r:id="rId2" action="ppaction://hlinksldjump"/>
              </a:rPr>
              <a:t>Database</a:t>
            </a:r>
            <a:endParaRPr lang="en-US" dirty="0">
              <a:hlinkClick r:id="rId2" action="ppaction://hlinksldjump"/>
            </a:endParaRPr>
          </a:p>
        </p:txBody>
      </p:sp>
      <p:sp>
        <p:nvSpPr>
          <p:cNvPr id="5" name="Content Placeholder 2">
            <a:hlinkClick r:id="rId3" action="ppaction://hlinksldjump"/>
            <a:extLst>
              <a:ext uri="{FF2B5EF4-FFF2-40B4-BE49-F238E27FC236}">
                <a16:creationId xmlns:a16="http://schemas.microsoft.com/office/drawing/2014/main" id="{404FFBFC-9B98-4B00-BFCF-6F442840C1F4}"/>
              </a:ext>
            </a:extLst>
          </p:cNvPr>
          <p:cNvSpPr txBox="1">
            <a:spLocks/>
          </p:cNvSpPr>
          <p:nvPr/>
        </p:nvSpPr>
        <p:spPr>
          <a:xfrm>
            <a:off x="3057856" y="188269"/>
            <a:ext cx="2404871" cy="604157"/>
          </a:xfrm>
          <a:prstGeom prst="rect">
            <a:avLst/>
          </a:prstGeom>
        </p:spPr>
        <p:txBody>
          <a:bodyPr vert="horz" lIns="45720" tIns="45720" rIns="45720" bIns="45720" rtlCol="0">
            <a:normAutofit fontScale="925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err="1"/>
              <a:t>Struktur</a:t>
            </a:r>
            <a:r>
              <a:rPr lang="en-US" dirty="0"/>
              <a:t> Database</a:t>
            </a:r>
          </a:p>
        </p:txBody>
      </p:sp>
      <p:sp>
        <p:nvSpPr>
          <p:cNvPr id="6" name="Content Placeholder 2">
            <a:hlinkClick r:id="rId4" action="ppaction://hlinksldjump"/>
            <a:extLst>
              <a:ext uri="{FF2B5EF4-FFF2-40B4-BE49-F238E27FC236}">
                <a16:creationId xmlns:a16="http://schemas.microsoft.com/office/drawing/2014/main" id="{45E8A920-4527-4FCC-B856-26503D091378}"/>
              </a:ext>
            </a:extLst>
          </p:cNvPr>
          <p:cNvSpPr txBox="1">
            <a:spLocks/>
          </p:cNvSpPr>
          <p:nvPr/>
        </p:nvSpPr>
        <p:spPr>
          <a:xfrm>
            <a:off x="5462727" y="188269"/>
            <a:ext cx="1408828"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RDBMS</a:t>
            </a:r>
          </a:p>
        </p:txBody>
      </p:sp>
      <p:sp>
        <p:nvSpPr>
          <p:cNvPr id="7" name="Content Placeholder 2">
            <a:hlinkClick r:id="rId5" action="ppaction://hlinksldjump"/>
            <a:extLst>
              <a:ext uri="{FF2B5EF4-FFF2-40B4-BE49-F238E27FC236}">
                <a16:creationId xmlns:a16="http://schemas.microsoft.com/office/drawing/2014/main" id="{70BB796E-C4E2-4DC5-9919-84958A52E835}"/>
              </a:ext>
            </a:extLst>
          </p:cNvPr>
          <p:cNvSpPr txBox="1">
            <a:spLocks/>
          </p:cNvSpPr>
          <p:nvPr/>
        </p:nvSpPr>
        <p:spPr>
          <a:xfrm>
            <a:off x="6608783" y="188269"/>
            <a:ext cx="1408828" cy="604157"/>
          </a:xfrm>
          <a:prstGeom prst="rect">
            <a:avLst/>
          </a:prstGeom>
        </p:spPr>
        <p:txBody>
          <a:bodyPr vert="horz" lIns="45720" tIns="45720" rIns="45720" bIns="45720" rtlCol="0">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Kesimpulan</a:t>
            </a:r>
          </a:p>
        </p:txBody>
      </p:sp>
      <p:sp>
        <p:nvSpPr>
          <p:cNvPr id="8" name="Content Placeholder 2">
            <a:hlinkClick r:id="rId6" action="ppaction://hlinksldjump"/>
            <a:extLst>
              <a:ext uri="{FF2B5EF4-FFF2-40B4-BE49-F238E27FC236}">
                <a16:creationId xmlns:a16="http://schemas.microsoft.com/office/drawing/2014/main" id="{9FEBC2CB-ED50-4432-A8BF-05594E2B4A1A}"/>
              </a:ext>
            </a:extLst>
          </p:cNvPr>
          <p:cNvSpPr txBox="1">
            <a:spLocks/>
          </p:cNvSpPr>
          <p:nvPr/>
        </p:nvSpPr>
        <p:spPr>
          <a:xfrm>
            <a:off x="525950" y="176839"/>
            <a:ext cx="1621100"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Home</a:t>
            </a:r>
          </a:p>
        </p:txBody>
      </p:sp>
      <p:sp>
        <p:nvSpPr>
          <p:cNvPr id="9" name="Content Placeholder 2">
            <a:hlinkClick r:id="rId7" action="ppaction://hlinksldjump"/>
            <a:extLst>
              <a:ext uri="{FF2B5EF4-FFF2-40B4-BE49-F238E27FC236}">
                <a16:creationId xmlns:a16="http://schemas.microsoft.com/office/drawing/2014/main" id="{E7E50231-A0A0-41F6-98BF-7907D8BF7B16}"/>
              </a:ext>
            </a:extLst>
          </p:cNvPr>
          <p:cNvSpPr txBox="1">
            <a:spLocks/>
          </p:cNvSpPr>
          <p:nvPr/>
        </p:nvSpPr>
        <p:spPr>
          <a:xfrm>
            <a:off x="8099252" y="176838"/>
            <a:ext cx="1621099" cy="604157"/>
          </a:xfrm>
          <a:prstGeom prst="rect">
            <a:avLst/>
          </a:prstGeom>
        </p:spPr>
        <p:txBody>
          <a:bodyPr vert="horz" lIns="45720" tIns="45720" rIns="45720" bIns="45720" rtlCol="0">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err="1"/>
              <a:t>Soal</a:t>
            </a:r>
            <a:r>
              <a:rPr lang="en-US" dirty="0"/>
              <a:t> </a:t>
            </a:r>
            <a:r>
              <a:rPr lang="en-US" dirty="0" err="1"/>
              <a:t>Latihan</a:t>
            </a:r>
            <a:endParaRPr lang="en-US" dirty="0"/>
          </a:p>
        </p:txBody>
      </p:sp>
      <p:sp>
        <p:nvSpPr>
          <p:cNvPr id="10" name="Content Placeholder 2">
            <a:hlinkClick r:id="rId8" action="ppaction://hlinksldjump"/>
            <a:extLst>
              <a:ext uri="{FF2B5EF4-FFF2-40B4-BE49-F238E27FC236}">
                <a16:creationId xmlns:a16="http://schemas.microsoft.com/office/drawing/2014/main" id="{1C4055A6-3490-42E3-98AF-EAAC64CE1DE5}"/>
              </a:ext>
            </a:extLst>
          </p:cNvPr>
          <p:cNvSpPr txBox="1">
            <a:spLocks/>
          </p:cNvSpPr>
          <p:nvPr/>
        </p:nvSpPr>
        <p:spPr>
          <a:xfrm>
            <a:off x="9764761" y="188268"/>
            <a:ext cx="2088753"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What’s Next?</a:t>
            </a:r>
          </a:p>
        </p:txBody>
      </p:sp>
    </p:spTree>
    <p:extLst>
      <p:ext uri="{BB962C8B-B14F-4D97-AF65-F5344CB8AC3E}">
        <p14:creationId xmlns:p14="http://schemas.microsoft.com/office/powerpoint/2010/main" val="182279179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9E2FE-A899-48B5-95AC-E75E03F0D785}"/>
              </a:ext>
            </a:extLst>
          </p:cNvPr>
          <p:cNvSpPr>
            <a:spLocks noGrp="1"/>
          </p:cNvSpPr>
          <p:nvPr>
            <p:ph type="title"/>
          </p:nvPr>
        </p:nvSpPr>
        <p:spPr/>
        <p:txBody>
          <a:bodyPr/>
          <a:lstStyle/>
          <a:p>
            <a:r>
              <a:rPr lang="en-US" dirty="0" err="1"/>
              <a:t>Sumber</a:t>
            </a:r>
            <a:endParaRPr lang="en-US" dirty="0"/>
          </a:p>
        </p:txBody>
      </p:sp>
      <p:sp>
        <p:nvSpPr>
          <p:cNvPr id="3" name="Content Placeholder 2">
            <a:extLst>
              <a:ext uri="{FF2B5EF4-FFF2-40B4-BE49-F238E27FC236}">
                <a16:creationId xmlns:a16="http://schemas.microsoft.com/office/drawing/2014/main" id="{C55E5F0B-619E-4500-8B1D-0C79784C6525}"/>
              </a:ext>
            </a:extLst>
          </p:cNvPr>
          <p:cNvSpPr>
            <a:spLocks noGrp="1"/>
          </p:cNvSpPr>
          <p:nvPr>
            <p:ph idx="1"/>
          </p:nvPr>
        </p:nvSpPr>
        <p:spPr/>
        <p:txBody>
          <a:bodyPr/>
          <a:lstStyle/>
          <a:p>
            <a:endParaRPr lang="en-US" u="sng" dirty="0">
              <a:hlinkClick r:id="rId2"/>
            </a:endParaRPr>
          </a:p>
          <a:p>
            <a:r>
              <a:rPr lang="id-ID" u="sng" dirty="0">
                <a:hlinkClick r:id="rId2"/>
              </a:rPr>
              <a:t>http://www.itfreelanceindo.com/readnews/150/Pengertian-Database,-DBMS,-dan-RDBMS.html</a:t>
            </a:r>
            <a:endParaRPr lang="en-US" dirty="0"/>
          </a:p>
          <a:p>
            <a:r>
              <a:rPr lang="id-ID" u="sng" dirty="0">
                <a:hlinkClick r:id="rId3"/>
              </a:rPr>
              <a:t>http://www.proweb.co.id/articles/web_application/rdbms.html</a:t>
            </a:r>
            <a:endParaRPr lang="en-US" dirty="0"/>
          </a:p>
          <a:p>
            <a:r>
              <a:rPr lang="id-ID" u="sng" dirty="0">
                <a:hlinkClick r:id="rId4"/>
              </a:rPr>
              <a:t>https://bahasaweb.com/pengertian-database/</a:t>
            </a:r>
            <a:endParaRPr lang="en-US" u="sng" dirty="0"/>
          </a:p>
          <a:p>
            <a:r>
              <a:rPr lang="en-US" dirty="0">
                <a:hlinkClick r:id="rId5"/>
              </a:rPr>
              <a:t>http://hellobeautifulthings.blogspot.co.id/2013/10/contoh-relasi-antar-tabel.html</a:t>
            </a:r>
            <a:endParaRPr lang="en-US" dirty="0"/>
          </a:p>
          <a:p>
            <a:r>
              <a:rPr lang="en-US" dirty="0">
                <a:hlinkClick r:id="rId6"/>
              </a:rPr>
              <a:t>http://muhammad-anwari.blogspot.co.id/2015/06/relasi-antar-tabel.html</a:t>
            </a:r>
            <a:endParaRPr lang="en-US" dirty="0"/>
          </a:p>
          <a:p>
            <a:endParaRPr lang="en-US" dirty="0"/>
          </a:p>
          <a:p>
            <a:endParaRPr lang="en-US" dirty="0"/>
          </a:p>
          <a:p>
            <a:endParaRPr lang="en-US" dirty="0"/>
          </a:p>
        </p:txBody>
      </p:sp>
      <p:sp>
        <p:nvSpPr>
          <p:cNvPr id="4" name="Content Placeholder 2">
            <a:extLst>
              <a:ext uri="{FF2B5EF4-FFF2-40B4-BE49-F238E27FC236}">
                <a16:creationId xmlns:a16="http://schemas.microsoft.com/office/drawing/2014/main" id="{E665C335-A2BE-4F85-B33A-57B3BEA9A06E}"/>
              </a:ext>
            </a:extLst>
          </p:cNvPr>
          <p:cNvSpPr txBox="1">
            <a:spLocks/>
          </p:cNvSpPr>
          <p:nvPr/>
        </p:nvSpPr>
        <p:spPr>
          <a:xfrm>
            <a:off x="1728541" y="234641"/>
            <a:ext cx="1408828" cy="604157"/>
          </a:xfrm>
          <a:prstGeom prst="rect">
            <a:avLst/>
          </a:prstGeom>
        </p:spPr>
        <p:txBody>
          <a:bodyPr vert="horz" lIns="45720" tIns="45720" rIns="45720" bIns="45720" rtlCol="0">
            <a:normAutofit fontScale="925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a:hlinkClick r:id="rId7" action="ppaction://hlinksldjump"/>
              </a:rPr>
              <a:t>Database</a:t>
            </a:r>
            <a:endParaRPr lang="en-US" dirty="0">
              <a:hlinkClick r:id="rId7" action="ppaction://hlinksldjump"/>
            </a:endParaRPr>
          </a:p>
        </p:txBody>
      </p:sp>
      <p:sp>
        <p:nvSpPr>
          <p:cNvPr id="5" name="Content Placeholder 2">
            <a:hlinkClick r:id="rId8" action="ppaction://hlinksldjump"/>
            <a:extLst>
              <a:ext uri="{FF2B5EF4-FFF2-40B4-BE49-F238E27FC236}">
                <a16:creationId xmlns:a16="http://schemas.microsoft.com/office/drawing/2014/main" id="{61AA9389-E5BD-4122-9804-5772F1D21B9E}"/>
              </a:ext>
            </a:extLst>
          </p:cNvPr>
          <p:cNvSpPr txBox="1">
            <a:spLocks/>
          </p:cNvSpPr>
          <p:nvPr/>
        </p:nvSpPr>
        <p:spPr>
          <a:xfrm>
            <a:off x="3137369" y="240356"/>
            <a:ext cx="2404871" cy="604157"/>
          </a:xfrm>
          <a:prstGeom prst="rect">
            <a:avLst/>
          </a:prstGeom>
        </p:spPr>
        <p:txBody>
          <a:bodyPr vert="horz" lIns="45720" tIns="45720" rIns="45720" bIns="45720" rtlCol="0">
            <a:normAutofit fontScale="925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err="1"/>
              <a:t>Struktur</a:t>
            </a:r>
            <a:r>
              <a:rPr lang="en-US" dirty="0"/>
              <a:t> Database</a:t>
            </a:r>
          </a:p>
        </p:txBody>
      </p:sp>
      <p:sp>
        <p:nvSpPr>
          <p:cNvPr id="6" name="Content Placeholder 2">
            <a:hlinkClick r:id="rId9" action="ppaction://hlinksldjump"/>
            <a:extLst>
              <a:ext uri="{FF2B5EF4-FFF2-40B4-BE49-F238E27FC236}">
                <a16:creationId xmlns:a16="http://schemas.microsoft.com/office/drawing/2014/main" id="{38A526CF-2269-46FE-823D-3EED8DAB8293}"/>
              </a:ext>
            </a:extLst>
          </p:cNvPr>
          <p:cNvSpPr txBox="1">
            <a:spLocks/>
          </p:cNvSpPr>
          <p:nvPr/>
        </p:nvSpPr>
        <p:spPr>
          <a:xfrm>
            <a:off x="5542240" y="240356"/>
            <a:ext cx="1408828"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RDBMS</a:t>
            </a:r>
          </a:p>
        </p:txBody>
      </p:sp>
      <p:sp>
        <p:nvSpPr>
          <p:cNvPr id="7" name="Content Placeholder 2">
            <a:hlinkClick r:id="rId10" action="ppaction://hlinksldjump"/>
            <a:extLst>
              <a:ext uri="{FF2B5EF4-FFF2-40B4-BE49-F238E27FC236}">
                <a16:creationId xmlns:a16="http://schemas.microsoft.com/office/drawing/2014/main" id="{B343845D-145E-4C24-9EA9-1894EAAABC57}"/>
              </a:ext>
            </a:extLst>
          </p:cNvPr>
          <p:cNvSpPr txBox="1">
            <a:spLocks/>
          </p:cNvSpPr>
          <p:nvPr/>
        </p:nvSpPr>
        <p:spPr>
          <a:xfrm>
            <a:off x="6688296" y="240356"/>
            <a:ext cx="1408828" cy="604157"/>
          </a:xfrm>
          <a:prstGeom prst="rect">
            <a:avLst/>
          </a:prstGeom>
        </p:spPr>
        <p:txBody>
          <a:bodyPr vert="horz" lIns="45720" tIns="45720" rIns="45720" bIns="45720" rtlCol="0">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Kesimpulan</a:t>
            </a:r>
          </a:p>
        </p:txBody>
      </p:sp>
      <p:sp>
        <p:nvSpPr>
          <p:cNvPr id="8" name="Content Placeholder 2">
            <a:hlinkClick r:id="rId11" action="ppaction://hlinksldjump"/>
            <a:extLst>
              <a:ext uri="{FF2B5EF4-FFF2-40B4-BE49-F238E27FC236}">
                <a16:creationId xmlns:a16="http://schemas.microsoft.com/office/drawing/2014/main" id="{6BF4AB78-D61F-4C4A-8069-9C9E46CC277F}"/>
              </a:ext>
            </a:extLst>
          </p:cNvPr>
          <p:cNvSpPr txBox="1">
            <a:spLocks/>
          </p:cNvSpPr>
          <p:nvPr/>
        </p:nvSpPr>
        <p:spPr>
          <a:xfrm>
            <a:off x="605463" y="228926"/>
            <a:ext cx="1621100"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Home</a:t>
            </a:r>
          </a:p>
        </p:txBody>
      </p:sp>
      <p:sp>
        <p:nvSpPr>
          <p:cNvPr id="9" name="Content Placeholder 2">
            <a:hlinkClick r:id="rId12" action="ppaction://hlinksldjump"/>
            <a:extLst>
              <a:ext uri="{FF2B5EF4-FFF2-40B4-BE49-F238E27FC236}">
                <a16:creationId xmlns:a16="http://schemas.microsoft.com/office/drawing/2014/main" id="{77E20C33-18ED-45AD-8B8A-F39C22D65519}"/>
              </a:ext>
            </a:extLst>
          </p:cNvPr>
          <p:cNvSpPr txBox="1">
            <a:spLocks/>
          </p:cNvSpPr>
          <p:nvPr/>
        </p:nvSpPr>
        <p:spPr>
          <a:xfrm>
            <a:off x="8178765" y="228925"/>
            <a:ext cx="1621099" cy="604157"/>
          </a:xfrm>
          <a:prstGeom prst="rect">
            <a:avLst/>
          </a:prstGeom>
        </p:spPr>
        <p:txBody>
          <a:bodyPr vert="horz" lIns="45720" tIns="45720" rIns="45720" bIns="45720" rtlCol="0">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err="1"/>
              <a:t>Soal</a:t>
            </a:r>
            <a:r>
              <a:rPr lang="en-US" dirty="0"/>
              <a:t> </a:t>
            </a:r>
            <a:r>
              <a:rPr lang="en-US" dirty="0" err="1"/>
              <a:t>Latihan</a:t>
            </a:r>
            <a:endParaRPr lang="en-US" dirty="0"/>
          </a:p>
        </p:txBody>
      </p:sp>
      <p:sp>
        <p:nvSpPr>
          <p:cNvPr id="10" name="Content Placeholder 2">
            <a:hlinkClick r:id="rId13" action="ppaction://hlinksldjump"/>
            <a:extLst>
              <a:ext uri="{FF2B5EF4-FFF2-40B4-BE49-F238E27FC236}">
                <a16:creationId xmlns:a16="http://schemas.microsoft.com/office/drawing/2014/main" id="{1D9D0AC7-53F7-47E9-A7F1-FC9F816F60D8}"/>
              </a:ext>
            </a:extLst>
          </p:cNvPr>
          <p:cNvSpPr txBox="1">
            <a:spLocks/>
          </p:cNvSpPr>
          <p:nvPr/>
        </p:nvSpPr>
        <p:spPr>
          <a:xfrm>
            <a:off x="9844274" y="240355"/>
            <a:ext cx="2088753" cy="60415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What’s Next?</a:t>
            </a:r>
          </a:p>
        </p:txBody>
      </p:sp>
      <p:sp>
        <p:nvSpPr>
          <p:cNvPr id="11" name="TextBox 10">
            <a:hlinkClick r:id="rId14"/>
            <a:extLst>
              <a:ext uri="{FF2B5EF4-FFF2-40B4-BE49-F238E27FC236}">
                <a16:creationId xmlns:a16="http://schemas.microsoft.com/office/drawing/2014/main" id="{35F2DFF9-C633-4E36-AC0A-6185539020C2}"/>
              </a:ext>
            </a:extLst>
          </p:cNvPr>
          <p:cNvSpPr txBox="1"/>
          <p:nvPr/>
        </p:nvSpPr>
        <p:spPr>
          <a:xfrm>
            <a:off x="1030471" y="2245026"/>
            <a:ext cx="3309333" cy="369332"/>
          </a:xfrm>
          <a:prstGeom prst="rect">
            <a:avLst/>
          </a:prstGeom>
          <a:noFill/>
        </p:spPr>
        <p:txBody>
          <a:bodyPr wrap="square" rtlCol="0">
            <a:spAutoFit/>
          </a:bodyPr>
          <a:lstStyle/>
          <a:p>
            <a:r>
              <a:rPr lang="en-US" dirty="0" err="1"/>
              <a:t>Penjelasan</a:t>
            </a:r>
            <a:r>
              <a:rPr lang="en-US" dirty="0"/>
              <a:t> </a:t>
            </a:r>
            <a:r>
              <a:rPr lang="en-US" dirty="0" err="1"/>
              <a:t>lebih</a:t>
            </a:r>
            <a:r>
              <a:rPr lang="en-US" dirty="0"/>
              <a:t> </a:t>
            </a:r>
            <a:r>
              <a:rPr lang="en-US" dirty="0" err="1"/>
              <a:t>lanjut</a:t>
            </a:r>
            <a:r>
              <a:rPr lang="en-US" dirty="0"/>
              <a:t> </a:t>
            </a:r>
          </a:p>
        </p:txBody>
      </p:sp>
    </p:spTree>
    <p:extLst>
      <p:ext uri="{BB962C8B-B14F-4D97-AF65-F5344CB8AC3E}">
        <p14:creationId xmlns:p14="http://schemas.microsoft.com/office/powerpoint/2010/main" val="5551966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5059</TotalTime>
  <Words>1217</Words>
  <Application>Microsoft Office PowerPoint</Application>
  <PresentationFormat>Widescreen</PresentationFormat>
  <Paragraphs>331</Paragraphs>
  <Slides>18</Slides>
  <Notes>11</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Tw Cen MT</vt:lpstr>
      <vt:lpstr>Tw Cen MT Condensed</vt:lpstr>
      <vt:lpstr>Wingdings 3</vt:lpstr>
      <vt:lpstr>Integral</vt:lpstr>
      <vt:lpstr>PERANCANGAN DATABASE</vt:lpstr>
      <vt:lpstr>PowerPoint Presentation</vt:lpstr>
      <vt:lpstr>Database</vt:lpstr>
      <vt:lpstr>Sistem database</vt:lpstr>
      <vt:lpstr>SQL</vt:lpstr>
      <vt:lpstr>DBMS (Database Management System)</vt:lpstr>
      <vt:lpstr>RDBMS (Relational Database Management System)</vt:lpstr>
      <vt:lpstr>Struktur Database</vt:lpstr>
      <vt:lpstr>PowerPoint Presentation</vt:lpstr>
      <vt:lpstr>relasi entitas  </vt:lpstr>
      <vt:lpstr>PowerPoint Presentation</vt:lpstr>
      <vt:lpstr>PowerPoint Presentation</vt:lpstr>
      <vt:lpstr>Contoh relasi pada Sistem Penjualan Barang</vt:lpstr>
      <vt:lpstr>perancangan database</vt:lpstr>
      <vt:lpstr>Latihan </vt:lpstr>
      <vt:lpstr>pengembangan database</vt:lpstr>
      <vt:lpstr>TERIMA KASIH</vt:lpstr>
      <vt:lpstr>Sumber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MySQL 2</dc:title>
  <dc:creator>axioo</dc:creator>
  <cp:lastModifiedBy>Abu Bakar Prakoso Bekti</cp:lastModifiedBy>
  <cp:revision>67</cp:revision>
  <dcterms:created xsi:type="dcterms:W3CDTF">2017-05-08T13:22:14Z</dcterms:created>
  <dcterms:modified xsi:type="dcterms:W3CDTF">2020-12-08T04:24:30Z</dcterms:modified>
</cp:coreProperties>
</file>