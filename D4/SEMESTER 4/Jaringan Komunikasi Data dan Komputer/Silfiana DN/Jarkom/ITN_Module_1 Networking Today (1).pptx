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20.xml" ContentType="application/vnd.openxmlformats-officedocument.presentationml.tags+xml"/>
  <Override PartName="/ppt/notesSlides/notesSlide21.xml" ContentType="application/vnd.openxmlformats-officedocument.presentationml.notesSlide+xml"/>
  <Override PartName="/ppt/tags/tag21.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tags/tag22.xml" ContentType="application/vnd.openxmlformats-officedocument.presentationml.tags+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23.xml" ContentType="application/vnd.openxmlformats-officedocument.presentationml.tags+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24.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25.xml" ContentType="application/vnd.openxmlformats-officedocument.presentationml.tags+xml"/>
  <Override PartName="/ppt/notesSlides/notesSlide35.xml" ContentType="application/vnd.openxmlformats-officedocument.presentationml.notesSlide+xml"/>
  <Override PartName="/ppt/tags/tag26.xml" ContentType="application/vnd.openxmlformats-officedocument.presentationml.tag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tags/tag27.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tags/tag28.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tags/tag29.xml" ContentType="application/vnd.openxmlformats-officedocument.presentationml.tags+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tags/tag30.xml" ContentType="application/vnd.openxmlformats-officedocument.presentationml.tags+xml"/>
  <Override PartName="/ppt/notesSlides/notesSlide62.xml" ContentType="application/vnd.openxmlformats-officedocument.presentationml.notesSlide+xml"/>
  <Override PartName="/ppt/tags/tag31.xml" ContentType="application/vnd.openxmlformats-officedocument.presentationml.tags+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tags/tag32.xml" ContentType="application/vnd.openxmlformats-officedocument.presentationml.tags+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tags/tag33.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74"/>
  </p:notesMasterIdLst>
  <p:sldIdLst>
    <p:sldId id="513" r:id="rId2"/>
    <p:sldId id="730" r:id="rId3"/>
    <p:sldId id="1070" r:id="rId4"/>
    <p:sldId id="1071" r:id="rId5"/>
    <p:sldId id="880" r:id="rId6"/>
    <p:sldId id="924" r:id="rId7"/>
    <p:sldId id="1052" r:id="rId8"/>
    <p:sldId id="1054" r:id="rId9"/>
    <p:sldId id="1055" r:id="rId10"/>
    <p:sldId id="1056" r:id="rId11"/>
    <p:sldId id="1057" r:id="rId12"/>
    <p:sldId id="876" r:id="rId13"/>
    <p:sldId id="925" r:id="rId14"/>
    <p:sldId id="759" r:id="rId15"/>
    <p:sldId id="628" r:id="rId16"/>
    <p:sldId id="1058" r:id="rId17"/>
    <p:sldId id="926" r:id="rId18"/>
    <p:sldId id="927" r:id="rId19"/>
    <p:sldId id="788" r:id="rId20"/>
    <p:sldId id="928" r:id="rId21"/>
    <p:sldId id="956" r:id="rId22"/>
    <p:sldId id="930" r:id="rId23"/>
    <p:sldId id="932" r:id="rId24"/>
    <p:sldId id="886" r:id="rId25"/>
    <p:sldId id="936" r:id="rId26"/>
    <p:sldId id="955" r:id="rId27"/>
    <p:sldId id="942" r:id="rId28"/>
    <p:sldId id="957" r:id="rId29"/>
    <p:sldId id="944" r:id="rId30"/>
    <p:sldId id="946" r:id="rId31"/>
    <p:sldId id="947" r:id="rId32"/>
    <p:sldId id="948" r:id="rId33"/>
    <p:sldId id="952" r:id="rId34"/>
    <p:sldId id="966" r:id="rId35"/>
    <p:sldId id="967" r:id="rId36"/>
    <p:sldId id="968" r:id="rId37"/>
    <p:sldId id="972" r:id="rId38"/>
    <p:sldId id="976" r:id="rId39"/>
    <p:sldId id="977" r:id="rId40"/>
    <p:sldId id="978" r:id="rId41"/>
    <p:sldId id="979" r:id="rId42"/>
    <p:sldId id="980" r:id="rId43"/>
    <p:sldId id="981" r:id="rId44"/>
    <p:sldId id="987" r:id="rId45"/>
    <p:sldId id="984" r:id="rId46"/>
    <p:sldId id="985" r:id="rId47"/>
    <p:sldId id="990" r:id="rId48"/>
    <p:sldId id="995" r:id="rId49"/>
    <p:sldId id="996" r:id="rId50"/>
    <p:sldId id="1015" r:id="rId51"/>
    <p:sldId id="998" r:id="rId52"/>
    <p:sldId id="999" r:id="rId53"/>
    <p:sldId id="1009" r:id="rId54"/>
    <p:sldId id="1000" r:id="rId55"/>
    <p:sldId id="1001" r:id="rId56"/>
    <p:sldId id="1002" r:id="rId57"/>
    <p:sldId id="1003" r:id="rId58"/>
    <p:sldId id="1004" r:id="rId59"/>
    <p:sldId id="1021" r:id="rId60"/>
    <p:sldId id="1022" r:id="rId61"/>
    <p:sldId id="1035" r:id="rId62"/>
    <p:sldId id="1024" r:id="rId63"/>
    <p:sldId id="1025" r:id="rId64"/>
    <p:sldId id="1041" r:id="rId65"/>
    <p:sldId id="1026" r:id="rId66"/>
    <p:sldId id="1027" r:id="rId67"/>
    <p:sldId id="1043" r:id="rId68"/>
    <p:sldId id="1042" r:id="rId69"/>
    <p:sldId id="1044" r:id="rId70"/>
    <p:sldId id="1045" r:id="rId71"/>
    <p:sldId id="1050" r:id="rId72"/>
    <p:sldId id="291" r:id="rId73"/>
  </p:sldIdLst>
  <p:sldSz cx="9144000" cy="5143500" type="screen16x9"/>
  <p:notesSz cx="6858000" cy="9144000"/>
  <p:custDataLst>
    <p:tags r:id="rId75"/>
  </p:custDataLst>
  <p:defaultTextStyle>
    <a:defPPr>
      <a:defRPr lang="id"/>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cmAuthor>
  <p:cmAuthor id="2" name="Bob Vachon" initials="BV" lastIdx="24" clrIdx="2">
    <p:extLst/>
  </p:cmAuthor>
  <p:cmAuthor id="3" name="Sue Livingston -X (suliving - UNICON INC at Cisco)" initials="SL-(-UIaC" lastIdx="4" clrIdx="3">
    <p:extLst>
      <p:ext uri="{19B8F6BF-5375-455C-9EA6-DF929625EA0E}">
        <p15:presenceInfo xmlns:p15="http://schemas.microsoft.com/office/powerpoint/2012/main" userId="S::suliving@cisco.com::dc701d48-dd51-411a-9041-b7f1328f1486" providerId="AD"/>
      </p:ext>
    </p:extLst>
  </p:cmAuthor>
  <p:cmAuthor id="4" name="jagibbon" initials="jmg" lastIdx="3"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13" autoAdjust="0"/>
    <p:restoredTop sz="84965" autoAdjust="0"/>
  </p:normalViewPr>
  <p:slideViewPr>
    <p:cSldViewPr snapToGrid="0" showGuides="1">
      <p:cViewPr varScale="1">
        <p:scale>
          <a:sx n="75" d="100"/>
          <a:sy n="75" d="100"/>
        </p:scale>
        <p:origin x="1316" y="48"/>
      </p:cViewPr>
      <p:guideLst>
        <p:guide orient="horz" pos="1620"/>
        <p:guide pos="336"/>
      </p:guideLst>
    </p:cSldViewPr>
  </p:slid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commentAuthors" Target="commentAuthor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12/6/2019</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buFontTx/>
              <a:buNone/>
            </a:pPr>
            <a:r xmlns:a="http://schemas.openxmlformats.org/drawingml/2006/main">
              <a:rPr lang="id" b="0" dirty="0"/>
              <a:t>Program Akademi Jaringan Cisco</a:t>
            </a:r>
          </a:p>
          <a:p>
            <a:pPr xmlns:a="http://schemas.openxmlformats.org/drawingml/2006/main">
              <a:buFontTx/>
              <a:buNone/>
            </a:pPr>
            <a:r xmlns:a="http://schemas.openxmlformats.org/drawingml/2006/main">
              <a:rPr lang="id" b="0" dirty="0"/>
              <a:t>Pengantar Jaringan v7.0 (ITN)</a:t>
            </a:r>
          </a:p>
          <a:p>
            <a:pPr xmlns:a="http://schemas.openxmlformats.org/drawingml/2006/main">
              <a:buFontTx/>
              <a:buNone/>
            </a:pPr>
            <a:r xmlns:a="http://schemas.openxmlformats.org/drawingml/2006/main">
              <a:rPr lang="id" sz="1200" b="0" dirty="0"/>
              <a:t>Modul 1: Jaringan Saat Ini</a:t>
            </a:r>
            <a:endParaRPr xmlns:a="http://schemas.openxmlformats.org/drawingml/2006/main"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pPr algn="r"/>
              <a:t>2</a:t>
            </a:fld>
            <a:endParaRPr lang="en-US" sz="800" b="0" dirty="0"/>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866771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algn="r"/>
            <a:fld id="{ACE20BE7-F2F3-4E26-9454-50B18F790A4E}" type="slidenum">
              <a:rPr lang="en-US" sz="800" b="0">
                <a:ea typeface="ＭＳ Ｐゴシック" pitchFamily="34" charset="-128"/>
              </a:rPr>
              <a:pPr algn="r"/>
              <a:t>5</a:t>
            </a:fld>
            <a:endParaRPr lang="en-US" sz="800" b="0" dirty="0">
              <a:ea typeface="ＭＳ Ｐゴシック" pitchFamily="34" charset="-128"/>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6</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6874538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pPr algn="r"/>
              <a:t>7</a:t>
            </a:fld>
            <a:endParaRPr lang="en-US" sz="800" b="0" dirty="0"/>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07969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solidFill>
                  <a:prstClr val="black"/>
                </a:solidFill>
              </a:rPr>
              <a:pPr algn="r"/>
              <a:t>8</a:t>
            </a:fld>
            <a:endParaRPr lang="en-US" sz="800" b="0" dirty="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8381961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solidFill>
                  <a:prstClr val="black"/>
                </a:solidFill>
              </a:rPr>
              <a:pPr algn="r"/>
              <a:t>9</a:t>
            </a:fld>
            <a:endParaRPr lang="en-US" sz="800" b="0" dirty="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956044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solidFill>
                  <a:prstClr val="black"/>
                </a:solidFill>
              </a:rPr>
              <a:pPr algn="r"/>
              <a:t>10</a:t>
            </a:fld>
            <a:endParaRPr lang="en-US" sz="800" b="0" dirty="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287837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391C207-9349-46D5-9D89-8ADDA5014D1F}" type="slidenum">
              <a:rPr lang="en-US" sz="800" b="0">
                <a:solidFill>
                  <a:prstClr val="black"/>
                </a:solidFill>
              </a:rPr>
              <a:pPr algn="r"/>
              <a:t>11</a:t>
            </a:fld>
            <a:endParaRPr lang="en-US" sz="800" b="0" dirty="0">
              <a:solidFill>
                <a:prstClr val="black"/>
              </a:solidFill>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4149976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buFontTx/>
              <a:buNone/>
            </a:pPr>
            <a:r xmlns:a="http://schemas.openxmlformats.org/drawingml/2006/main">
              <a:rPr lang="id" b="0" dirty="0"/>
              <a:t>Program Akademi Jaringan Cisco</a:t>
            </a:r>
          </a:p>
          <a:p>
            <a:pPr xmlns:a="http://schemas.openxmlformats.org/drawingml/2006/main">
              <a:buFontTx/>
              <a:buNone/>
            </a:pPr>
            <a:r xmlns:a="http://schemas.openxmlformats.org/drawingml/2006/main">
              <a:rPr lang="id" b="0" dirty="0"/>
              <a:t>Pengantar Jaringan v7.0 (ITN)</a:t>
            </a:r>
          </a:p>
          <a:p>
            <a:pPr xmlns:a="http://schemas.openxmlformats.org/drawingml/2006/main">
              <a:buFontTx/>
              <a:buNone/>
            </a:pPr>
            <a:r xmlns:a="http://schemas.openxmlformats.org/drawingml/2006/main">
              <a:rPr lang="id" sz="1200" b="0" dirty="0"/>
              <a:t>Modul 1: Jaringan </a:t>
            </a:r>
            <a:r xmlns:a="http://schemas.openxmlformats.org/drawingml/2006/main">
              <a:rPr lang="id" sz="1200" b="0" baseline="0" dirty="0"/>
              <a:t>Saat Ini</a:t>
            </a:r>
            <a:endParaRPr xmlns:a="http://schemas.openxmlformats.org/drawingml/2006/main"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0A313ED8-785B-4D16-9B17-4143385249B9}" type="slidenum">
              <a:rPr lang="en-US" sz="800" b="0"/>
              <a:pPr algn="r"/>
              <a:t>13</a:t>
            </a:fld>
            <a:endParaRPr lang="en-US" sz="800" b="0" dirty="0"/>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xmlns:a="http://schemas.openxmlformats.org/drawingml/2006/main" marL="0" marR="0" lvl="0" indent="0" algn="l" defTabSz="457200" rtl="0" eaLnBrk="1" fontAlgn="auto" latinLnBrk="0" hangingPunct="1">
              <a:lnSpc>
                <a:spcPct val="100000"/>
              </a:lnSpc>
              <a:spcBef>
                <a:spcPts val="0"/>
              </a:spcBef>
              <a:spcAft>
                <a:spcPts val="0"/>
              </a:spcAft>
              <a:buClrTx/>
              <a:buSzTx/>
              <a:buFontTx/>
              <a:buNone/>
              <a:tabLst/>
              <a:defRPr/>
            </a:pPr>
            <a:r xmlns:a="http://schemas.openxmlformats.org/drawingml/2006/main">
              <a:rPr lang="id" sz="1200" b="0" dirty="0"/>
              <a:t>1 – Jaringan Hari Ini</a:t>
            </a:r>
          </a:p>
          <a:p>
            <a:r xmlns:a="http://schemas.openxmlformats.org/drawingml/2006/main">
              <a:rPr lang="id" dirty="0"/>
              <a:t>1.0.2 – Apa yang akan saya pelajari dalam modul ini?</a:t>
            </a:r>
          </a:p>
        </p:txBody>
      </p:sp>
    </p:spTree>
    <p:extLst>
      <p:ext uri="{BB962C8B-B14F-4D97-AF65-F5344CB8AC3E}">
        <p14:creationId xmlns:p14="http://schemas.microsoft.com/office/powerpoint/2010/main" val="1587924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buFontTx/>
              <a:buNone/>
            </a:pPr>
            <a:r xmlns:a="http://schemas.openxmlformats.org/drawingml/2006/main">
              <a:rPr lang="id" sz="1200" b="0" dirty="0"/>
              <a:t>1 – Jaringan Hari Ini</a:t>
            </a:r>
          </a:p>
          <a:p>
            <a:pPr xmlns:a="http://schemas.openxmlformats.org/drawingml/2006/main">
              <a:buFontTx/>
              <a:buNone/>
            </a:pPr>
            <a:r xmlns:a="http://schemas.openxmlformats.org/drawingml/2006/main">
              <a:rPr lang="id" sz="1200" b="0" dirty="0"/>
              <a:t>1.1 – Jaringan </a:t>
            </a:r>
            <a:r xmlns:a="http://schemas.openxmlformats.org/drawingml/2006/main">
              <a:rPr lang="id" sz="1200" b="0" baseline="0" dirty="0"/>
              <a:t>Mempengaruhi Kehidupan Kita</a:t>
            </a:r>
            <a:endParaRPr xmlns:a="http://schemas.openxmlformats.org/drawingml/2006/main"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15</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1.1 – Jaringan Mempengaruhi Kehidupan kita</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1.1.1 – </a:t>
            </a:r>
            <a:r xmlns:a="http://schemas.openxmlformats.org/drawingml/2006/main">
              <a:rPr lang="id" altLang="en-US" dirty="0"/>
              <a:t>Jaringan Menghubungkan Kita</a:t>
            </a:r>
            <a:endParaRPr xmlns:a="http://schemas.openxmlformats.org/drawingml/2006/main"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525190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16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1.1 – Jaringan Mempengaruhi Kehidupan kita</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1.1.2 – </a:t>
            </a:r>
            <a:r xmlns:a="http://schemas.openxmlformats.org/drawingml/2006/main">
              <a:rPr lang="id" altLang="en-US" dirty="0"/>
              <a:t>Video – Pengalaman Belajar Cisco Networking Academy</a:t>
            </a:r>
            <a:endParaRPr xmlns:a="http://schemas.openxmlformats.org/drawingml/2006/main"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30705504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17</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1.1 – Jaringan Mempengaruhi Kehidupan kita</a:t>
            </a:r>
          </a:p>
          <a:p>
            <a:pPr xmlns:a="http://schemas.openxmlformats.org/drawingml/2006/main">
              <a:lnSpc>
                <a:spcPct val="80000"/>
              </a:lnSpc>
              <a:buFontTx/>
              <a:buNone/>
            </a:pPr>
            <a:r xmlns:a="http://schemas.openxmlformats.org/drawingml/2006/main">
              <a:rPr lang="id" dirty="0">
                <a:latin typeface="Arial" charset="0"/>
              </a:rPr>
              <a:t>1.1.3 </a:t>
            </a:r>
            <a:r xmlns:a="http://schemas.openxmlformats.org/drawingml/2006/main">
              <a:rPr lang="id" baseline="0" dirty="0">
                <a:latin typeface="Arial" charset="0"/>
              </a:rPr>
              <a:t>Tanpa Batasan</a:t>
            </a:r>
          </a:p>
          <a:p>
            <a:pPr>
              <a:lnSpc>
                <a:spcPct val="80000"/>
              </a:lnSpc>
              <a:buFontTx/>
              <a:buNone/>
            </a:pPr>
            <a:endParaRPr lang="en-US" dirty="0"/>
          </a:p>
        </p:txBody>
      </p:sp>
    </p:spTree>
    <p:extLst>
      <p:ext uri="{BB962C8B-B14F-4D97-AF65-F5344CB8AC3E}">
        <p14:creationId xmlns:p14="http://schemas.microsoft.com/office/powerpoint/2010/main" val="7853359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1.2 – </a:t>
            </a:r>
            <a:r xmlns:a="http://schemas.openxmlformats.org/drawingml/2006/main">
              <a:rPr lang="id" sz="1200" kern="1200" baseline="0" dirty="0">
                <a:solidFill>
                  <a:schemeClr val="tx1"/>
                </a:solidFill>
                <a:latin typeface="Arial" charset="0"/>
                <a:ea typeface="ＭＳ Ｐゴシック" charset="0"/>
                <a:cs typeface="ＭＳ Ｐゴシック" charset="0"/>
              </a:rPr>
              <a:t>Komponen Jaringan</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19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1.2 – </a:t>
            </a:r>
            <a:r xmlns:a="http://schemas.openxmlformats.org/drawingml/2006/main">
              <a:rPr lang="id" sz="1200" kern="1200" baseline="0" dirty="0">
                <a:solidFill>
                  <a:schemeClr val="tx1"/>
                </a:solidFill>
                <a:latin typeface="Arial" charset="0"/>
                <a:ea typeface="ＭＳ Ｐゴシック" charset="0"/>
                <a:cs typeface="ＭＳ Ｐゴシック" charset="0"/>
              </a:rPr>
              <a:t>Komponen Jaringan</a:t>
            </a:r>
            <a:endParaRPr xmlns:a="http://schemas.openxmlformats.org/drawingml/2006/main" lang="en-US" dirty="0"/>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1.2.1– Peran Tuan Rumah</a:t>
            </a:r>
          </a:p>
        </p:txBody>
      </p:sp>
    </p:spTree>
    <p:extLst>
      <p:ext uri="{BB962C8B-B14F-4D97-AF65-F5344CB8AC3E}">
        <p14:creationId xmlns:p14="http://schemas.microsoft.com/office/powerpoint/2010/main" val="3427554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20</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1.2 – </a:t>
            </a:r>
            <a:r xmlns:a="http://schemas.openxmlformats.org/drawingml/2006/main">
              <a:rPr lang="id" sz="1200" kern="1200" baseline="0" dirty="0">
                <a:solidFill>
                  <a:schemeClr val="tx1"/>
                </a:solidFill>
                <a:latin typeface="Arial" charset="0"/>
                <a:ea typeface="ＭＳ Ｐゴシック" charset="0"/>
                <a:cs typeface="ＭＳ Ｐゴシック" charset="0"/>
              </a:rPr>
              <a:t>Komponen Jaringan</a:t>
            </a:r>
            <a:endParaRPr xmlns:a="http://schemas.openxmlformats.org/drawingml/2006/main" lang="en-US" dirty="0"/>
          </a:p>
          <a:p>
            <a:pPr xmlns:a="http://schemas.openxmlformats.org/drawingml/2006/main" marL="0" marR="0" lvl="0" indent="0" algn="l" defTabSz="457200" rtl="0" eaLnBrk="1" fontAlgn="auto" latinLnBrk="0" hangingPunct="1">
              <a:lnSpc>
                <a:spcPct val="80000"/>
              </a:lnSpc>
              <a:spcBef>
                <a:spcPts val="0"/>
              </a:spcBef>
              <a:spcAft>
                <a:spcPts val="0"/>
              </a:spcAft>
              <a:buClrTx/>
              <a:buSzTx/>
              <a:buFontTx/>
              <a:buNone/>
              <a:tabLst/>
              <a:defRPr/>
            </a:pPr>
            <a:r xmlns:a="http://schemas.openxmlformats.org/drawingml/2006/main">
              <a:rPr lang="id" sz="1200" kern="1200" dirty="0">
                <a:solidFill>
                  <a:schemeClr val="tx1"/>
                </a:solidFill>
                <a:latin typeface="Arial" charset="0"/>
                <a:ea typeface="ＭＳ Ｐゴシック" charset="0"/>
                <a:cs typeface="ＭＳ Ｐゴシック" charset="0"/>
              </a:rPr>
              <a:t>1.2.2 – Rekan ke Rekan</a:t>
            </a:r>
            <a:endParaRPr xmlns:a="http://schemas.openxmlformats.org/drawingml/2006/main" lang="en-US" dirty="0"/>
          </a:p>
          <a:p>
            <a:pPr>
              <a:lnSpc>
                <a:spcPct val="80000"/>
              </a:lnSpc>
              <a:buFontTx/>
              <a:buNone/>
            </a:pPr>
            <a:endParaRPr lang="en-US" dirty="0"/>
          </a:p>
        </p:txBody>
      </p:sp>
    </p:spTree>
    <p:extLst>
      <p:ext uri="{BB962C8B-B14F-4D97-AF65-F5344CB8AC3E}">
        <p14:creationId xmlns:p14="http://schemas.microsoft.com/office/powerpoint/2010/main" val="34275545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21</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1.2 – </a:t>
            </a:r>
            <a:r xmlns:a="http://schemas.openxmlformats.org/drawingml/2006/main">
              <a:rPr lang="id" sz="1200" kern="1200" baseline="0" dirty="0">
                <a:solidFill>
                  <a:schemeClr val="tx1"/>
                </a:solidFill>
                <a:latin typeface="Arial" charset="0"/>
                <a:ea typeface="ＭＳ Ｐゴシック" charset="0"/>
                <a:cs typeface="ＭＳ Ｐゴシック" charset="0"/>
              </a:rPr>
              <a:t>Komponen Jaringan</a:t>
            </a:r>
            <a:endParaRPr xmlns:a="http://schemas.openxmlformats.org/drawingml/2006/main" lang="en-US" dirty="0"/>
          </a:p>
          <a:p>
            <a:pPr xmlns:a="http://schemas.openxmlformats.org/drawingml/2006/main" marL="0" marR="0" lvl="0" indent="0" algn="l" defTabSz="457200" rtl="0" eaLnBrk="1" fontAlgn="auto" latinLnBrk="0" hangingPunct="1">
              <a:lnSpc>
                <a:spcPct val="80000"/>
              </a:lnSpc>
              <a:spcBef>
                <a:spcPts val="0"/>
              </a:spcBef>
              <a:spcAft>
                <a:spcPts val="0"/>
              </a:spcAft>
              <a:buClrTx/>
              <a:buSzTx/>
              <a:buFontTx/>
              <a:buNone/>
              <a:tabLst/>
              <a:defRPr/>
            </a:pPr>
            <a:r xmlns:a="http://schemas.openxmlformats.org/drawingml/2006/main">
              <a:rPr lang="id" sz="1200" kern="1200" dirty="0">
                <a:solidFill>
                  <a:schemeClr val="tx1"/>
                </a:solidFill>
                <a:latin typeface="Arial" charset="0"/>
                <a:ea typeface="ＭＳ Ｐゴシック" charset="0"/>
                <a:cs typeface="ＭＳ Ｐゴシック" charset="0"/>
              </a:rPr>
              <a:t>1.2.3 – Perangkat Akhir</a:t>
            </a:r>
            <a:endParaRPr xmlns:a="http://schemas.openxmlformats.org/drawingml/2006/main" lang="en-US" dirty="0"/>
          </a:p>
        </p:txBody>
      </p:sp>
    </p:spTree>
    <p:extLst>
      <p:ext uri="{BB962C8B-B14F-4D97-AF65-F5344CB8AC3E}">
        <p14:creationId xmlns:p14="http://schemas.microsoft.com/office/powerpoint/2010/main" val="3427554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1.2 – </a:t>
            </a:r>
            <a:r xmlns:a="http://schemas.openxmlformats.org/drawingml/2006/main">
              <a:rPr lang="id" sz="1200" kern="1200" baseline="0" dirty="0">
                <a:solidFill>
                  <a:schemeClr val="tx1"/>
                </a:solidFill>
                <a:latin typeface="Arial" charset="0"/>
                <a:ea typeface="ＭＳ Ｐゴシック" charset="0"/>
                <a:cs typeface="ＭＳ Ｐゴシック" charset="0"/>
              </a:rPr>
              <a:t>Komponen Jaringan</a:t>
            </a:r>
            <a:endParaRPr xmlns:a="http://schemas.openxmlformats.org/drawingml/2006/main" lang="en-US" dirty="0"/>
          </a:p>
          <a:p>
            <a:pPr xmlns:a="http://schemas.openxmlformats.org/drawingml/2006/main" marL="0" marR="0" lvl="0" indent="0" algn="l" defTabSz="457200" rtl="0" eaLnBrk="1" fontAlgn="auto" latinLnBrk="0" hangingPunct="1">
              <a:lnSpc>
                <a:spcPct val="80000"/>
              </a:lnSpc>
              <a:spcBef>
                <a:spcPts val="0"/>
              </a:spcBef>
              <a:spcAft>
                <a:spcPts val="0"/>
              </a:spcAft>
              <a:buClrTx/>
              <a:buSzTx/>
              <a:buFontTx/>
              <a:buNone/>
              <a:tabLst/>
              <a:defRPr/>
            </a:pPr>
            <a:r xmlns:a="http://schemas.openxmlformats.org/drawingml/2006/main">
              <a:rPr lang="id" sz="1200" kern="1200" dirty="0">
                <a:solidFill>
                  <a:schemeClr val="tx1"/>
                </a:solidFill>
                <a:latin typeface="Arial" charset="0"/>
                <a:ea typeface="ＭＳ Ｐゴシック" charset="0"/>
                <a:cs typeface="ＭＳ Ｐゴシック" charset="0"/>
              </a:rPr>
              <a:t>1.2.4 – </a:t>
            </a:r>
            <a:r xmlns:a="http://schemas.openxmlformats.org/drawingml/2006/main">
              <a:rPr lang="id" altLang="en-US" dirty="0"/>
              <a:t>Perangkat Jaringan Perantara</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34479415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23</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1.2 – </a:t>
            </a:r>
            <a:r xmlns:a="http://schemas.openxmlformats.org/drawingml/2006/main">
              <a:rPr lang="id" sz="1200" kern="1200" baseline="0" dirty="0">
                <a:solidFill>
                  <a:schemeClr val="tx1"/>
                </a:solidFill>
                <a:latin typeface="Arial" charset="0"/>
                <a:ea typeface="ＭＳ Ｐゴシック" charset="0"/>
                <a:cs typeface="ＭＳ Ｐゴシック" charset="0"/>
              </a:rPr>
              <a:t>Komponen Jaringan</a:t>
            </a:r>
            <a:endParaRPr xmlns:a="http://schemas.openxmlformats.org/drawingml/2006/main" lang="en-US" dirty="0"/>
          </a:p>
          <a:p>
            <a:pPr xmlns:a="http://schemas.openxmlformats.org/drawingml/2006/main" marL="0" marR="0" lvl="0" indent="0" algn="l" defTabSz="457200" rtl="0" eaLnBrk="1" fontAlgn="auto" latinLnBrk="0" hangingPunct="1">
              <a:lnSpc>
                <a:spcPct val="80000"/>
              </a:lnSpc>
              <a:spcBef>
                <a:spcPts val="0"/>
              </a:spcBef>
              <a:spcAft>
                <a:spcPts val="0"/>
              </a:spcAft>
              <a:buClrTx/>
              <a:buSzTx/>
              <a:buFontTx/>
              <a:buNone/>
              <a:tabLst/>
              <a:defRPr/>
            </a:pPr>
            <a:r xmlns:a="http://schemas.openxmlformats.org/drawingml/2006/main">
              <a:rPr lang="id" sz="1200" kern="1200" dirty="0">
                <a:solidFill>
                  <a:schemeClr val="tx1"/>
                </a:solidFill>
                <a:latin typeface="Arial" charset="0"/>
                <a:ea typeface="ＭＳ Ｐゴシック" charset="0"/>
                <a:cs typeface="ＭＳ Ｐゴシック" charset="0"/>
              </a:rPr>
              <a:t>1.2.5 – </a:t>
            </a:r>
            <a:r xmlns:a="http://schemas.openxmlformats.org/drawingml/2006/main">
              <a:rPr lang="id" altLang="en-US" dirty="0"/>
              <a:t>Media Jaringan</a:t>
            </a:r>
          </a:p>
          <a:p>
            <a:pPr xmlns:a="http://schemas.openxmlformats.org/drawingml/2006/main" marL="0" marR="0" lvl="0" indent="0" algn="l" defTabSz="457200" rtl="0" eaLnBrk="1" fontAlgn="auto" latinLnBrk="0" hangingPunct="1">
              <a:lnSpc>
                <a:spcPct val="80000"/>
              </a:lnSpc>
              <a:spcBef>
                <a:spcPts val="0"/>
              </a:spcBef>
              <a:spcAft>
                <a:spcPts val="0"/>
              </a:spcAft>
              <a:buClrTx/>
              <a:buSzTx/>
              <a:buFontTx/>
              <a:buNone/>
              <a:tabLst/>
              <a:defRPr/>
            </a:pPr>
            <a:r xmlns:a="http://schemas.openxmlformats.org/drawingml/2006/main">
              <a:rPr lang="id" sz="1200" dirty="0">
                <a:effectLst/>
              </a:rPr>
              <a:t>1.2.6 – Periksa Pemahaman Anda – Komponen Jaringan</a:t>
            </a:r>
            <a:endParaRPr xmlns:a="http://schemas.openxmlformats.org/drawingml/2006/main" lang="en-US" dirty="0"/>
          </a:p>
        </p:txBody>
      </p:sp>
    </p:spTree>
    <p:extLst>
      <p:ext uri="{BB962C8B-B14F-4D97-AF65-F5344CB8AC3E}">
        <p14:creationId xmlns:p14="http://schemas.microsoft.com/office/powerpoint/2010/main" val="34275545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1.3 – </a:t>
            </a:r>
            <a:r xmlns:a="http://schemas.openxmlformats.org/drawingml/2006/main">
              <a:rPr lang="id" sz="1200" dirty="0">
                <a:solidFill>
                  <a:schemeClr val="accent5">
                    <a:lumMod val="40000"/>
                    <a:lumOff val="60000"/>
                  </a:schemeClr>
                </a:solidFill>
              </a:rPr>
              <a:t>Representasi dan Topologi Jaringan</a:t>
            </a:r>
            <a:endParaRPr xmlns:a="http://schemas.openxmlformats.org/drawingml/2006/main"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1.3 – </a:t>
            </a:r>
            <a:r xmlns:a="http://schemas.openxmlformats.org/drawingml/2006/main">
              <a:rPr lang="id" sz="1200" dirty="0">
                <a:solidFill>
                  <a:schemeClr val="accent5">
                    <a:lumMod val="40000"/>
                    <a:lumOff val="60000"/>
                  </a:schemeClr>
                </a:solidFill>
              </a:rPr>
              <a:t>Representasi dan Topologi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1.3.1 – </a:t>
            </a:r>
            <a:r xmlns:a="http://schemas.openxmlformats.org/drawingml/2006/main">
              <a:rPr lang="id" baseline="0" dirty="0">
                <a:latin typeface="Arial" charset="0"/>
              </a:rPr>
              <a:t>Representasi Jaringan</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25</a:t>
            </a:fld>
            <a:endParaRPr lang="en-US" dirty="0">
              <a:solidFill>
                <a:prstClr val="black"/>
              </a:solidFill>
            </a:endParaRPr>
          </a:p>
        </p:txBody>
      </p:sp>
    </p:spTree>
    <p:extLst>
      <p:ext uri="{BB962C8B-B14F-4D97-AF65-F5344CB8AC3E}">
        <p14:creationId xmlns:p14="http://schemas.microsoft.com/office/powerpoint/2010/main" val="25158769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1.3 – </a:t>
            </a:r>
            <a:r xmlns:a="http://schemas.openxmlformats.org/drawingml/2006/main">
              <a:rPr lang="id" sz="1200" dirty="0">
                <a:solidFill>
                  <a:schemeClr val="accent5">
                    <a:lumMod val="40000"/>
                    <a:lumOff val="60000"/>
                  </a:schemeClr>
                </a:solidFill>
              </a:rPr>
              <a:t>Representasi dan Topologi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1.3.2 – Diagram Topologi</a:t>
            </a:r>
          </a:p>
          <a:p>
            <a:pPr xmlns:a="http://schemas.openxmlformats.org/drawingml/2006/main" marL="0" marR="0" lvl="0" indent="0" algn="l" defTabSz="457200" rtl="0" eaLnBrk="1" fontAlgn="auto" latinLnBrk="0" hangingPunct="1">
              <a:lnSpc>
                <a:spcPct val="80000"/>
              </a:lnSpc>
              <a:spcBef>
                <a:spcPts val="0"/>
              </a:spcBef>
              <a:spcAft>
                <a:spcPts val="0"/>
              </a:spcAft>
              <a:buClrTx/>
              <a:buSzTx/>
              <a:buFontTx/>
              <a:buNone/>
              <a:tabLst/>
              <a:defRPr/>
            </a:pPr>
            <a:r xmlns:a="http://schemas.openxmlformats.org/drawingml/2006/main">
              <a:rPr lang="id" sz="1200" dirty="0">
                <a:effectLst/>
              </a:rPr>
              <a:t>1.3.3 – Periksa Pemahaman Anda – Representasi Jaringan dan Topologi</a:t>
            </a:r>
            <a:endParaRPr xmlns:a="http://schemas.openxmlformats.org/drawingml/2006/main" lang="en-US" dirty="0"/>
          </a:p>
          <a:p>
            <a:pPr>
              <a:lnSpc>
                <a:spcPct val="80000"/>
              </a:lnSpc>
              <a:buFontTx/>
              <a:buNone/>
            </a:pP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42607111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1.4 – </a:t>
            </a:r>
            <a:r xmlns:a="http://schemas.openxmlformats.org/drawingml/2006/main">
              <a:rPr lang="id" sz="1200" dirty="0">
                <a:solidFill>
                  <a:schemeClr val="accent5">
                    <a:lumMod val="40000"/>
                    <a:lumOff val="60000"/>
                  </a:schemeClr>
                </a:solidFill>
              </a:rPr>
              <a:t>Jenis Jaringan Umum</a:t>
            </a:r>
            <a:endParaRPr xmlns:a="http://schemas.openxmlformats.org/drawingml/2006/main"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27</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1.4 – </a:t>
            </a:r>
            <a:r xmlns:a="http://schemas.openxmlformats.org/drawingml/2006/main">
              <a:rPr lang="id" sz="1200" dirty="0">
                <a:solidFill>
                  <a:schemeClr val="accent5">
                    <a:lumMod val="40000"/>
                    <a:lumOff val="60000"/>
                  </a:schemeClr>
                </a:solidFill>
              </a:rPr>
              <a:t>Jenis Jaringan Umum</a:t>
            </a:r>
            <a:endParaRPr xmlns:a="http://schemas.openxmlformats.org/drawingml/2006/main" lang="en-GB" b="0" dirty="0"/>
          </a:p>
          <a:p>
            <a:r xmlns:a="http://schemas.openxmlformats.org/drawingml/2006/main">
              <a:rPr lang="id" dirty="0"/>
              <a:t>1.4.1 </a:t>
            </a:r>
            <a:r xmlns:a="http://schemas.openxmlformats.org/drawingml/2006/main">
              <a:rPr lang="id" baseline="0" dirty="0"/>
              <a:t>– Jaringan dengan Berbagai Ukuran</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42784409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solidFill>
                  <a:prstClr val="black"/>
                </a:solidFill>
              </a:rPr>
              <a:pPr/>
              <a:t>29</a:t>
            </a:fld>
            <a:endParaRPr lang="en-US" altLang="en-US" sz="800" dirty="0">
              <a:solidFill>
                <a:prstClr val="black"/>
              </a:solidFill>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1.4 – </a:t>
            </a:r>
            <a:r xmlns:a="http://schemas.openxmlformats.org/drawingml/2006/main">
              <a:rPr lang="id" sz="1200" dirty="0">
                <a:solidFill>
                  <a:schemeClr val="accent5">
                    <a:lumMod val="40000"/>
                    <a:lumOff val="60000"/>
                  </a:schemeClr>
                </a:solidFill>
              </a:rPr>
              <a:t>Jenis Jaringan Umum</a:t>
            </a:r>
            <a:endParaRPr xmlns:a="http://schemas.openxmlformats.org/drawingml/2006/main" lang="en-GB" b="0" dirty="0"/>
          </a:p>
          <a:p>
            <a:r xmlns:a="http://schemas.openxmlformats.org/drawingml/2006/main">
              <a:rPr lang="id" dirty="0"/>
              <a:t>1.4.2 </a:t>
            </a:r>
            <a:r xmlns:a="http://schemas.openxmlformats.org/drawingml/2006/main">
              <a:rPr lang="id" baseline="0" dirty="0"/>
              <a:t>– </a:t>
            </a:r>
            <a:r xmlns:a="http://schemas.openxmlformats.org/drawingml/2006/main">
              <a:rPr lang="id" altLang="en-US" dirty="0"/>
              <a:t>LAN dan WAN</a:t>
            </a:r>
            <a:endParaRPr xmlns:a="http://schemas.openxmlformats.org/drawingml/2006/main" lang="en-US" dirty="0"/>
          </a:p>
        </p:txBody>
      </p:sp>
    </p:spTree>
    <p:extLst>
      <p:ext uri="{BB962C8B-B14F-4D97-AF65-F5344CB8AC3E}">
        <p14:creationId xmlns:p14="http://schemas.microsoft.com/office/powerpoint/2010/main" val="34275545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1.4 – </a:t>
            </a:r>
            <a:r xmlns:a="http://schemas.openxmlformats.org/drawingml/2006/main">
              <a:rPr lang="id" sz="1200" dirty="0">
                <a:solidFill>
                  <a:schemeClr val="accent5">
                    <a:lumMod val="40000"/>
                    <a:lumOff val="60000"/>
                  </a:schemeClr>
                </a:solidFill>
              </a:rPr>
              <a:t>Jenis Jaringan Umum</a:t>
            </a:r>
            <a:endParaRPr xmlns:a="http://schemas.openxmlformats.org/drawingml/2006/main" lang="en-GB" b="0" dirty="0"/>
          </a:p>
          <a:p>
            <a:r xmlns:a="http://schemas.openxmlformats.org/drawingml/2006/main">
              <a:rPr lang="id" dirty="0"/>
              <a:t>1.4.2 </a:t>
            </a:r>
            <a:r xmlns:a="http://schemas.openxmlformats.org/drawingml/2006/main">
              <a:rPr lang="id" baseline="0" dirty="0"/>
              <a:t>– </a:t>
            </a:r>
            <a:r xmlns:a="http://schemas.openxmlformats.org/drawingml/2006/main">
              <a:rPr lang="id" altLang="en-US" dirty="0"/>
              <a:t>LAN dan WAN (lanjutan)</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426071113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1.4 – </a:t>
            </a:r>
            <a:r xmlns:a="http://schemas.openxmlformats.org/drawingml/2006/main">
              <a:rPr lang="id" sz="1200" dirty="0">
                <a:solidFill>
                  <a:schemeClr val="accent5">
                    <a:lumMod val="40000"/>
                    <a:lumOff val="60000"/>
                  </a:schemeClr>
                </a:solidFill>
              </a:rPr>
              <a:t>Jenis Jaringan Umum</a:t>
            </a:r>
            <a:endParaRPr xmlns:a="http://schemas.openxmlformats.org/drawingml/2006/main" lang="en-GB" b="0" dirty="0"/>
          </a:p>
          <a:p>
            <a:r xmlns:a="http://schemas.openxmlformats.org/drawingml/2006/main">
              <a:rPr lang="id" dirty="0"/>
              <a:t>1.4.3 </a:t>
            </a:r>
            <a:r xmlns:a="http://schemas.openxmlformats.org/drawingml/2006/main">
              <a:rPr lang="id" baseline="0" dirty="0"/>
              <a:t>– </a:t>
            </a:r>
            <a:r xmlns:a="http://schemas.openxmlformats.org/drawingml/2006/main">
              <a:rPr lang="id" dirty="0">
                <a:latin typeface="Arial" charset="0"/>
              </a:rPr>
              <a:t>Internet </a:t>
            </a:r>
            <a:r xmlns:a="http://schemas.openxmlformats.org/drawingml/2006/main">
              <a:rPr lang="id" baseline="0" dirty="0">
                <a:latin typeface="Arial" charset="0"/>
              </a:rPr>
              <a:t>_</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23431774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1.4 – </a:t>
            </a:r>
            <a:r xmlns:a="http://schemas.openxmlformats.org/drawingml/2006/main">
              <a:rPr lang="id" sz="1200" dirty="0">
                <a:solidFill>
                  <a:schemeClr val="accent5">
                    <a:lumMod val="40000"/>
                    <a:lumOff val="60000"/>
                  </a:schemeClr>
                </a:solidFill>
              </a:rPr>
              <a:t>Jenis Jaringan Umum</a:t>
            </a:r>
            <a:endParaRPr xmlns:a="http://schemas.openxmlformats.org/drawingml/2006/main" lang="en-GB" b="0" dirty="0"/>
          </a:p>
          <a:p>
            <a:r xmlns:a="http://schemas.openxmlformats.org/drawingml/2006/main">
              <a:rPr lang="id" dirty="0"/>
              <a:t>1.4.4</a:t>
            </a:r>
            <a:r xmlns:a="http://schemas.openxmlformats.org/drawingml/2006/main">
              <a:rPr lang="id" baseline="0" dirty="0"/>
              <a:t> </a:t>
            </a:r>
            <a:r xmlns:a="http://schemas.openxmlformats.org/drawingml/2006/main">
              <a:rPr lang="id" dirty="0">
                <a:latin typeface="Arial" charset="0"/>
              </a:rPr>
              <a:t>– Intranet </a:t>
            </a:r>
            <a:r xmlns:a="http://schemas.openxmlformats.org/drawingml/2006/main">
              <a:rPr lang="id" baseline="0" dirty="0">
                <a:latin typeface="Arial" charset="0"/>
              </a:rPr>
              <a:t>dan Ekstranet</a:t>
            </a:r>
          </a:p>
          <a:p>
            <a:pPr xmlns:a="http://schemas.openxmlformats.org/drawingml/2006/main" marL="0" marR="0" lvl="0" indent="0" algn="l" defTabSz="457200" rtl="0" eaLnBrk="1" fontAlgn="auto" latinLnBrk="0" hangingPunct="1">
              <a:lnSpc>
                <a:spcPct val="100000"/>
              </a:lnSpc>
              <a:spcBef>
                <a:spcPts val="0"/>
              </a:spcBef>
              <a:spcAft>
                <a:spcPts val="0"/>
              </a:spcAft>
              <a:buClrTx/>
              <a:buSzTx/>
              <a:buFontTx/>
              <a:buNone/>
              <a:tabLst/>
              <a:defRPr/>
            </a:pPr>
            <a:r xmlns:a="http://schemas.openxmlformats.org/drawingml/2006/main">
              <a:rPr lang="id" sz="1200" dirty="0">
                <a:effectLst/>
              </a:rPr>
              <a:t>1.4.5 – Periksa Pemahaman Anda – Jenis Jaringan Umum</a:t>
            </a:r>
            <a:endParaRPr xmlns:a="http://schemas.openxmlformats.org/drawingml/2006/main"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32</a:t>
            </a:fld>
            <a:endParaRPr lang="en-US" dirty="0">
              <a:solidFill>
                <a:prstClr val="black"/>
              </a:solidFill>
            </a:endParaRPr>
          </a:p>
        </p:txBody>
      </p:sp>
    </p:spTree>
    <p:extLst>
      <p:ext uri="{BB962C8B-B14F-4D97-AF65-F5344CB8AC3E}">
        <p14:creationId xmlns:p14="http://schemas.microsoft.com/office/powerpoint/2010/main" val="31743421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1.5 – </a:t>
            </a:r>
            <a:r xmlns:a="http://schemas.openxmlformats.org/drawingml/2006/main">
              <a:rPr lang="id" sz="1200" dirty="0">
                <a:solidFill>
                  <a:schemeClr val="accent5">
                    <a:lumMod val="40000"/>
                    <a:lumOff val="60000"/>
                  </a:schemeClr>
                </a:solidFill>
              </a:rPr>
              <a:t>Koneksi Internet</a:t>
            </a:r>
            <a:endParaRPr xmlns:a="http://schemas.openxmlformats.org/drawingml/2006/main"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33</a:t>
            </a:fld>
            <a:endParaRPr lang="en-US" dirty="0">
              <a:solidFill>
                <a:prstClr val="black"/>
              </a:solidFill>
            </a:endParaRPr>
          </a:p>
        </p:txBody>
      </p:sp>
    </p:spTree>
    <p:extLst>
      <p:ext uri="{BB962C8B-B14F-4D97-AF65-F5344CB8AC3E}">
        <p14:creationId xmlns:p14="http://schemas.microsoft.com/office/powerpoint/2010/main" val="9681813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1.5 – </a:t>
            </a:r>
            <a:r xmlns:a="http://schemas.openxmlformats.org/drawingml/2006/main">
              <a:rPr lang="id" sz="1200" dirty="0">
                <a:solidFill>
                  <a:schemeClr val="accent5">
                    <a:lumMod val="40000"/>
                    <a:lumOff val="60000"/>
                  </a:schemeClr>
                </a:solidFill>
              </a:rPr>
              <a:t>Koneksi Internet</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1.5.1 – Teknologi Akses Internet</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34</a:t>
            </a:fld>
            <a:endParaRPr lang="en-US" dirty="0">
              <a:solidFill>
                <a:prstClr val="black"/>
              </a:solidFill>
            </a:endParaRPr>
          </a:p>
        </p:txBody>
      </p:sp>
    </p:spTree>
    <p:extLst>
      <p:ext uri="{BB962C8B-B14F-4D97-AF65-F5344CB8AC3E}">
        <p14:creationId xmlns:p14="http://schemas.microsoft.com/office/powerpoint/2010/main" val="31795741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1.5 – </a:t>
            </a:r>
            <a:r xmlns:a="http://schemas.openxmlformats.org/drawingml/2006/main">
              <a:rPr lang="id" sz="1200" dirty="0">
                <a:solidFill>
                  <a:schemeClr val="accent5">
                    <a:lumMod val="40000"/>
                    <a:lumOff val="60000"/>
                  </a:schemeClr>
                </a:solidFill>
              </a:rPr>
              <a:t>Koneksi Internet</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1.5.2 – Koneksi Internet Rumah dan Kantor Kecil</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35</a:t>
            </a:fld>
            <a:endParaRPr lang="en-US" dirty="0">
              <a:solidFill>
                <a:prstClr val="black"/>
              </a:solidFill>
            </a:endParaRPr>
          </a:p>
        </p:txBody>
      </p:sp>
    </p:spTree>
    <p:extLst>
      <p:ext uri="{BB962C8B-B14F-4D97-AF65-F5344CB8AC3E}">
        <p14:creationId xmlns:p14="http://schemas.microsoft.com/office/powerpoint/2010/main" val="29126298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1.5 – </a:t>
            </a:r>
            <a:r xmlns:a="http://schemas.openxmlformats.org/drawingml/2006/main">
              <a:rPr lang="id" sz="1200" dirty="0">
                <a:solidFill>
                  <a:schemeClr val="accent5">
                    <a:lumMod val="40000"/>
                    <a:lumOff val="60000"/>
                  </a:schemeClr>
                </a:solidFill>
              </a:rPr>
              <a:t>Koneksi Internet</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1.5.3 – Koneksi Internet Bisnis</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36</a:t>
            </a:fld>
            <a:endParaRPr lang="en-US" dirty="0">
              <a:solidFill>
                <a:prstClr val="black"/>
              </a:solidFill>
            </a:endParaRPr>
          </a:p>
        </p:txBody>
      </p:sp>
    </p:spTree>
    <p:extLst>
      <p:ext uri="{BB962C8B-B14F-4D97-AF65-F5344CB8AC3E}">
        <p14:creationId xmlns:p14="http://schemas.microsoft.com/office/powerpoint/2010/main" val="93928757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1.5 – </a:t>
            </a:r>
            <a:r xmlns:a="http://schemas.openxmlformats.org/drawingml/2006/main">
              <a:rPr lang="id" sz="1200" dirty="0">
                <a:solidFill>
                  <a:schemeClr val="accent5">
                    <a:lumMod val="40000"/>
                    <a:lumOff val="60000"/>
                  </a:schemeClr>
                </a:solidFill>
              </a:rPr>
              <a:t>Koneksi Internet</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1.5.5 – Jaringan Konvergen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37</a:t>
            </a:fld>
            <a:endParaRPr lang="en-US" dirty="0">
              <a:solidFill>
                <a:prstClr val="black"/>
              </a:solidFill>
            </a:endParaRPr>
          </a:p>
        </p:txBody>
      </p:sp>
    </p:spTree>
    <p:extLst>
      <p:ext uri="{BB962C8B-B14F-4D97-AF65-F5344CB8AC3E}">
        <p14:creationId xmlns:p14="http://schemas.microsoft.com/office/powerpoint/2010/main" val="10162150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1.5 – </a:t>
            </a:r>
            <a:r xmlns:a="http://schemas.openxmlformats.org/drawingml/2006/main">
              <a:rPr lang="id" sz="1200" dirty="0">
                <a:solidFill>
                  <a:schemeClr val="accent5">
                    <a:lumMod val="40000"/>
                    <a:lumOff val="60000"/>
                  </a:schemeClr>
                </a:solidFill>
              </a:rPr>
              <a:t>Koneksi Internet</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1.5.5 – Jaringan Konvergen (Lanjutan)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38</a:t>
            </a:fld>
            <a:endParaRPr lang="en-US" dirty="0">
              <a:solidFill>
                <a:prstClr val="black"/>
              </a:solidFill>
            </a:endParaRPr>
          </a:p>
        </p:txBody>
      </p:sp>
    </p:spTree>
    <p:extLst>
      <p:ext uri="{BB962C8B-B14F-4D97-AF65-F5344CB8AC3E}">
        <p14:creationId xmlns:p14="http://schemas.microsoft.com/office/powerpoint/2010/main" val="26128918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1.5 – </a:t>
            </a:r>
            <a:r xmlns:a="http://schemas.openxmlformats.org/drawingml/2006/main">
              <a:rPr lang="id" sz="1200" dirty="0">
                <a:solidFill>
                  <a:schemeClr val="accent5">
                    <a:lumMod val="40000"/>
                    <a:lumOff val="60000"/>
                  </a:schemeClr>
                </a:solidFill>
              </a:rPr>
              <a:t>Koneksi Internet</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1.5.5 – </a:t>
            </a:r>
            <a:r xmlns:a="http://schemas.openxmlformats.org/drawingml/2006/main">
              <a:rPr lang="id" dirty="0"/>
              <a:t>Video – Unduh dan Instal Packet Tracer</a:t>
            </a:r>
          </a:p>
        </p:txBody>
      </p:sp>
      <p:sp>
        <p:nvSpPr>
          <p:cNvPr id="4" name="Slide Number Placeholder 3"/>
          <p:cNvSpPr>
            <a:spLocks noGrp="1"/>
          </p:cNvSpPr>
          <p:nvPr>
            <p:ph type="sldNum" sz="quarter" idx="10"/>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6862446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1.5 – </a:t>
            </a:r>
            <a:r xmlns:a="http://schemas.openxmlformats.org/drawingml/2006/main">
              <a:rPr lang="id" sz="1200" dirty="0">
                <a:solidFill>
                  <a:schemeClr val="accent5">
                    <a:lumMod val="40000"/>
                    <a:lumOff val="60000"/>
                  </a:schemeClr>
                </a:solidFill>
              </a:rPr>
              <a:t>Koneksi Internet</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1.5.6 – </a:t>
            </a:r>
            <a:r xmlns:a="http://schemas.openxmlformats.org/drawingml/2006/main">
              <a:rPr lang="id" dirty="0"/>
              <a:t>Video – Memulai Cisco Packet Tracer</a:t>
            </a:r>
          </a:p>
        </p:txBody>
      </p:sp>
      <p:sp>
        <p:nvSpPr>
          <p:cNvPr id="4" name="Slide Number Placeholder 3"/>
          <p:cNvSpPr>
            <a:spLocks noGrp="1"/>
          </p:cNvSpPr>
          <p:nvPr>
            <p:ph type="sldNum" sz="quarter" idx="10"/>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2731397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1.5 – </a:t>
            </a:r>
            <a:r xmlns:a="http://schemas.openxmlformats.org/drawingml/2006/main">
              <a:rPr lang="id" sz="1200" dirty="0">
                <a:solidFill>
                  <a:schemeClr val="accent5">
                    <a:lumMod val="40000"/>
                    <a:lumOff val="60000"/>
                  </a:schemeClr>
                </a:solidFill>
              </a:rPr>
              <a:t>Koneksi Internet</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1.5.7 – </a:t>
            </a:r>
            <a:r xmlns:a="http://schemas.openxmlformats.org/drawingml/2006/main">
              <a:rPr lang="id" dirty="0"/>
              <a:t>Pelacak Paket – Representasi Jaringan</a:t>
            </a:r>
          </a:p>
        </p:txBody>
      </p:sp>
      <p:sp>
        <p:nvSpPr>
          <p:cNvPr id="4" name="Slide Number Placeholder 3"/>
          <p:cNvSpPr>
            <a:spLocks noGrp="1"/>
          </p:cNvSpPr>
          <p:nvPr>
            <p:ph type="sldNum" sz="quarter" idx="10"/>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35962847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1.6 – </a:t>
            </a:r>
            <a:r xmlns:a="http://schemas.openxmlformats.org/drawingml/2006/main">
              <a:rPr lang="id" sz="1200" dirty="0">
                <a:solidFill>
                  <a:schemeClr val="accent5">
                    <a:lumMod val="40000"/>
                    <a:lumOff val="60000"/>
                  </a:schemeClr>
                </a:solidFill>
              </a:rPr>
              <a:t>Jaringan yang Andal</a:t>
            </a:r>
            <a:endParaRPr xmlns:a="http://schemas.openxmlformats.org/drawingml/2006/main"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42</a:t>
            </a:fld>
            <a:endParaRPr lang="en-US" dirty="0">
              <a:solidFill>
                <a:prstClr val="black"/>
              </a:solidFill>
            </a:endParaRPr>
          </a:p>
        </p:txBody>
      </p:sp>
    </p:spTree>
    <p:extLst>
      <p:ext uri="{BB962C8B-B14F-4D97-AF65-F5344CB8AC3E}">
        <p14:creationId xmlns:p14="http://schemas.microsoft.com/office/powerpoint/2010/main" val="25730151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1.6 – </a:t>
            </a:r>
            <a:r xmlns:a="http://schemas.openxmlformats.org/drawingml/2006/main">
              <a:rPr lang="id" sz="1200" dirty="0">
                <a:solidFill>
                  <a:schemeClr val="accent5">
                    <a:lumMod val="40000"/>
                    <a:lumOff val="60000"/>
                  </a:schemeClr>
                </a:solidFill>
              </a:rPr>
              <a:t>Jaringan yang Andal</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1.6.1 – Arsitektur Jaringan</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43</a:t>
            </a:fld>
            <a:endParaRPr lang="en-US" dirty="0">
              <a:solidFill>
                <a:prstClr val="black"/>
              </a:solidFill>
            </a:endParaRPr>
          </a:p>
        </p:txBody>
      </p:sp>
    </p:spTree>
    <p:extLst>
      <p:ext uri="{BB962C8B-B14F-4D97-AF65-F5344CB8AC3E}">
        <p14:creationId xmlns:p14="http://schemas.microsoft.com/office/powerpoint/2010/main" val="12518452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1.6 – </a:t>
            </a:r>
            <a:r xmlns:a="http://schemas.openxmlformats.org/drawingml/2006/main">
              <a:rPr lang="id" sz="1200" dirty="0">
                <a:solidFill>
                  <a:schemeClr val="accent5">
                    <a:lumMod val="40000"/>
                    <a:lumOff val="60000"/>
                  </a:schemeClr>
                </a:solidFill>
              </a:rPr>
              <a:t>Jaringan yang Andal</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1.6.2 – </a:t>
            </a:r>
            <a:r xmlns:a="http://schemas.openxmlformats.org/drawingml/2006/main">
              <a:rPr lang="id" baseline="0" dirty="0">
                <a:latin typeface="Arial" charset="0"/>
              </a:rPr>
              <a:t>Toleransi Kesalahan</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44</a:t>
            </a:fld>
            <a:endParaRPr lang="en-US" dirty="0">
              <a:solidFill>
                <a:prstClr val="black"/>
              </a:solidFill>
            </a:endParaRPr>
          </a:p>
        </p:txBody>
      </p:sp>
    </p:spTree>
    <p:extLst>
      <p:ext uri="{BB962C8B-B14F-4D97-AF65-F5344CB8AC3E}">
        <p14:creationId xmlns:p14="http://schemas.microsoft.com/office/powerpoint/2010/main" val="64033206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1.6 – </a:t>
            </a:r>
            <a:r xmlns:a="http://schemas.openxmlformats.org/drawingml/2006/main">
              <a:rPr lang="id" sz="1200" dirty="0">
                <a:solidFill>
                  <a:schemeClr val="accent5">
                    <a:lumMod val="40000"/>
                    <a:lumOff val="60000"/>
                  </a:schemeClr>
                </a:solidFill>
              </a:rPr>
              <a:t>Jaringan yang Andal</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1.6.3 – Skalabilitas</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45</a:t>
            </a:fld>
            <a:endParaRPr lang="en-US" dirty="0">
              <a:solidFill>
                <a:prstClr val="black"/>
              </a:solidFill>
            </a:endParaRPr>
          </a:p>
        </p:txBody>
      </p:sp>
    </p:spTree>
    <p:extLst>
      <p:ext uri="{BB962C8B-B14F-4D97-AF65-F5344CB8AC3E}">
        <p14:creationId xmlns:p14="http://schemas.microsoft.com/office/powerpoint/2010/main" val="2400305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1.6 – </a:t>
            </a:r>
            <a:r xmlns:a="http://schemas.openxmlformats.org/drawingml/2006/main">
              <a:rPr lang="id" sz="1200" dirty="0">
                <a:solidFill>
                  <a:schemeClr val="accent5">
                    <a:lumMod val="40000"/>
                    <a:lumOff val="60000"/>
                  </a:schemeClr>
                </a:solidFill>
              </a:rPr>
              <a:t>Jaringan yang Andal</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1.6.4 – Kualitas Pelayanan</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46</a:t>
            </a:fld>
            <a:endParaRPr lang="en-US" dirty="0">
              <a:solidFill>
                <a:prstClr val="black"/>
              </a:solidFill>
            </a:endParaRPr>
          </a:p>
        </p:txBody>
      </p:sp>
    </p:spTree>
    <p:extLst>
      <p:ext uri="{BB962C8B-B14F-4D97-AF65-F5344CB8AC3E}">
        <p14:creationId xmlns:p14="http://schemas.microsoft.com/office/powerpoint/2010/main" val="24154334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1.6 – </a:t>
            </a:r>
            <a:r xmlns:a="http://schemas.openxmlformats.org/drawingml/2006/main">
              <a:rPr lang="id" sz="1200" dirty="0">
                <a:solidFill>
                  <a:schemeClr val="accent5">
                    <a:lumMod val="40000"/>
                    <a:lumOff val="60000"/>
                  </a:schemeClr>
                </a:solidFill>
              </a:rPr>
              <a:t>Jaringan yang Andal</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1.6.5 – Keamanan Jaringan</a:t>
            </a:r>
          </a:p>
          <a:p>
            <a:pPr xmlns:a="http://schemas.openxmlformats.org/drawingml/2006/main" marL="0" marR="0" lvl="0" indent="0" algn="l" defTabSz="457200" rtl="0" eaLnBrk="1" fontAlgn="auto" latinLnBrk="0" hangingPunct="1">
              <a:lnSpc>
                <a:spcPct val="80000"/>
              </a:lnSpc>
              <a:spcBef>
                <a:spcPts val="0"/>
              </a:spcBef>
              <a:spcAft>
                <a:spcPts val="0"/>
              </a:spcAft>
              <a:buClrTx/>
              <a:buSzTx/>
              <a:buFontTx/>
              <a:buNone/>
              <a:tabLst/>
              <a:defRPr/>
            </a:pPr>
            <a:r xmlns:a="http://schemas.openxmlformats.org/drawingml/2006/main">
              <a:rPr lang="id" sz="1200" dirty="0">
                <a:effectLst/>
              </a:rPr>
              <a:t>1.6.6 – Periksa Pemahaman Anda – Jaringan yang Andal</a:t>
            </a:r>
            <a:endParaRPr xmlns:a="http://schemas.openxmlformats.org/drawingml/2006/main" lang="en-US" dirty="0"/>
          </a:p>
          <a:p>
            <a:pPr>
              <a:lnSpc>
                <a:spcPct val="80000"/>
              </a:lnSpc>
              <a:buFontTx/>
              <a:buNone/>
            </a:pP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47</a:t>
            </a:fld>
            <a:endParaRPr lang="en-US" dirty="0">
              <a:solidFill>
                <a:prstClr val="black"/>
              </a:solidFill>
            </a:endParaRPr>
          </a:p>
        </p:txBody>
      </p:sp>
    </p:spTree>
    <p:extLst>
      <p:ext uri="{BB962C8B-B14F-4D97-AF65-F5344CB8AC3E}">
        <p14:creationId xmlns:p14="http://schemas.microsoft.com/office/powerpoint/2010/main" val="380523316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1.7 – </a:t>
            </a:r>
            <a:r xmlns:a="http://schemas.openxmlformats.org/drawingml/2006/main">
              <a:rPr lang="id" sz="1200" dirty="0">
                <a:solidFill>
                  <a:schemeClr val="accent5">
                    <a:lumMod val="40000"/>
                    <a:lumOff val="60000"/>
                  </a:schemeClr>
                </a:solidFill>
              </a:rPr>
              <a:t>Tren Jaringan</a:t>
            </a:r>
            <a:endParaRPr xmlns:a="http://schemas.openxmlformats.org/drawingml/2006/main"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48</a:t>
            </a:fld>
            <a:endParaRPr lang="en-US" dirty="0">
              <a:solidFill>
                <a:prstClr val="black"/>
              </a:solidFill>
            </a:endParaRPr>
          </a:p>
        </p:txBody>
      </p:sp>
    </p:spTree>
    <p:extLst>
      <p:ext uri="{BB962C8B-B14F-4D97-AF65-F5344CB8AC3E}">
        <p14:creationId xmlns:p14="http://schemas.microsoft.com/office/powerpoint/2010/main" val="30651753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1.7 – </a:t>
            </a:r>
            <a:r xmlns:a="http://schemas.openxmlformats.org/drawingml/2006/main">
              <a:rPr lang="id" sz="1200" dirty="0">
                <a:solidFill>
                  <a:schemeClr val="accent5">
                    <a:lumMod val="40000"/>
                    <a:lumOff val="60000"/>
                  </a:schemeClr>
                </a:solidFill>
              </a:rPr>
              <a:t>Tren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1.7.1 – </a:t>
            </a:r>
            <a:r xmlns:a="http://schemas.openxmlformats.org/drawingml/2006/main">
              <a:rPr lang="id" baseline="0" dirty="0">
                <a:latin typeface="Arial" charset="0"/>
              </a:rPr>
              <a:t>Tren Terkini</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49</a:t>
            </a:fld>
            <a:endParaRPr lang="en-US" dirty="0">
              <a:solidFill>
                <a:prstClr val="black"/>
              </a:solidFill>
            </a:endParaRPr>
          </a:p>
        </p:txBody>
      </p:sp>
    </p:spTree>
    <p:extLst>
      <p:ext uri="{BB962C8B-B14F-4D97-AF65-F5344CB8AC3E}">
        <p14:creationId xmlns:p14="http://schemas.microsoft.com/office/powerpoint/2010/main" val="298840061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1.7 – </a:t>
            </a:r>
            <a:r xmlns:a="http://schemas.openxmlformats.org/drawingml/2006/main">
              <a:rPr lang="id" sz="1200" dirty="0">
                <a:solidFill>
                  <a:schemeClr val="accent5">
                    <a:lumMod val="40000"/>
                    <a:lumOff val="60000"/>
                  </a:schemeClr>
                </a:solidFill>
              </a:rPr>
              <a:t>Tren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1.7.2 – Bawa Perangkat Anda Sendiri (BYOD)</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50</a:t>
            </a:fld>
            <a:endParaRPr lang="en-US" dirty="0">
              <a:solidFill>
                <a:prstClr val="black"/>
              </a:solidFill>
            </a:endParaRPr>
          </a:p>
        </p:txBody>
      </p:sp>
    </p:spTree>
    <p:extLst>
      <p:ext uri="{BB962C8B-B14F-4D97-AF65-F5344CB8AC3E}">
        <p14:creationId xmlns:p14="http://schemas.microsoft.com/office/powerpoint/2010/main" val="9769226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1.7 – </a:t>
            </a:r>
            <a:r xmlns:a="http://schemas.openxmlformats.org/drawingml/2006/main">
              <a:rPr lang="id" sz="1200" dirty="0">
                <a:solidFill>
                  <a:schemeClr val="accent5">
                    <a:lumMod val="40000"/>
                    <a:lumOff val="60000"/>
                  </a:schemeClr>
                </a:solidFill>
              </a:rPr>
              <a:t>Tren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1.7.3 – Kolaborasi Daring</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51</a:t>
            </a:fld>
            <a:endParaRPr lang="en-US" dirty="0">
              <a:solidFill>
                <a:prstClr val="black"/>
              </a:solidFill>
            </a:endParaRPr>
          </a:p>
        </p:txBody>
      </p:sp>
    </p:spTree>
    <p:extLst>
      <p:ext uri="{BB962C8B-B14F-4D97-AF65-F5344CB8AC3E}">
        <p14:creationId xmlns:p14="http://schemas.microsoft.com/office/powerpoint/2010/main" val="180099455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1.7 – </a:t>
            </a:r>
            <a:r xmlns:a="http://schemas.openxmlformats.org/drawingml/2006/main">
              <a:rPr lang="id" sz="1200" dirty="0">
                <a:solidFill>
                  <a:schemeClr val="accent5">
                    <a:lumMod val="40000"/>
                    <a:lumOff val="60000"/>
                  </a:schemeClr>
                </a:solidFill>
              </a:rPr>
              <a:t>Tren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1.7.4 – Komunikasi Video</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52</a:t>
            </a:fld>
            <a:endParaRPr lang="en-US" dirty="0">
              <a:solidFill>
                <a:prstClr val="black"/>
              </a:solidFill>
            </a:endParaRPr>
          </a:p>
        </p:txBody>
      </p:sp>
    </p:spTree>
    <p:extLst>
      <p:ext uri="{BB962C8B-B14F-4D97-AF65-F5344CB8AC3E}">
        <p14:creationId xmlns:p14="http://schemas.microsoft.com/office/powerpoint/2010/main" val="399265661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1.7 – </a:t>
            </a:r>
            <a:r xmlns:a="http://schemas.openxmlformats.org/drawingml/2006/main">
              <a:rPr lang="id" sz="1200" dirty="0">
                <a:solidFill>
                  <a:schemeClr val="accent5">
                    <a:lumMod val="40000"/>
                    <a:lumOff val="60000"/>
                  </a:schemeClr>
                </a:solidFill>
              </a:rPr>
              <a:t>Tren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1.7.5 – </a:t>
            </a:r>
            <a:r xmlns:a="http://schemas.openxmlformats.org/drawingml/2006/main">
              <a:rPr lang="id" altLang="en-US" dirty="0"/>
              <a:t>Video – Cisco WebEx untuk Huddles</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53</a:t>
            </a:fld>
            <a:endParaRPr lang="en-US" dirty="0">
              <a:solidFill>
                <a:prstClr val="black"/>
              </a:solidFill>
            </a:endParaRPr>
          </a:p>
        </p:txBody>
      </p:sp>
    </p:spTree>
    <p:extLst>
      <p:ext uri="{BB962C8B-B14F-4D97-AF65-F5344CB8AC3E}">
        <p14:creationId xmlns:p14="http://schemas.microsoft.com/office/powerpoint/2010/main" val="26671963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1.7 – </a:t>
            </a:r>
            <a:r xmlns:a="http://schemas.openxmlformats.org/drawingml/2006/main">
              <a:rPr lang="id" sz="1200" dirty="0">
                <a:solidFill>
                  <a:schemeClr val="accent5">
                    <a:lumMod val="40000"/>
                    <a:lumOff val="60000"/>
                  </a:schemeClr>
                </a:solidFill>
              </a:rPr>
              <a:t>Tren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1.7.6 – Komputasi Awan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54</a:t>
            </a:fld>
            <a:endParaRPr lang="en-US" dirty="0">
              <a:solidFill>
                <a:prstClr val="black"/>
              </a:solidFill>
            </a:endParaRPr>
          </a:p>
        </p:txBody>
      </p:sp>
    </p:spTree>
    <p:extLst>
      <p:ext uri="{BB962C8B-B14F-4D97-AF65-F5344CB8AC3E}">
        <p14:creationId xmlns:p14="http://schemas.microsoft.com/office/powerpoint/2010/main" val="153679121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1.7 – </a:t>
            </a:r>
            <a:r xmlns:a="http://schemas.openxmlformats.org/drawingml/2006/main">
              <a:rPr lang="id" sz="1200" dirty="0">
                <a:solidFill>
                  <a:schemeClr val="accent5">
                    <a:lumMod val="40000"/>
                    <a:lumOff val="60000"/>
                  </a:schemeClr>
                </a:solidFill>
              </a:rPr>
              <a:t>Tren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1.7.6 – Cloud Computing (Lanjutan)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55</a:t>
            </a:fld>
            <a:endParaRPr lang="en-US" dirty="0">
              <a:solidFill>
                <a:prstClr val="black"/>
              </a:solidFill>
            </a:endParaRPr>
          </a:p>
        </p:txBody>
      </p:sp>
    </p:spTree>
    <p:extLst>
      <p:ext uri="{BB962C8B-B14F-4D97-AF65-F5344CB8AC3E}">
        <p14:creationId xmlns:p14="http://schemas.microsoft.com/office/powerpoint/2010/main" val="99901401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1.7 – </a:t>
            </a:r>
            <a:r xmlns:a="http://schemas.openxmlformats.org/drawingml/2006/main">
              <a:rPr lang="id" sz="1200" dirty="0">
                <a:solidFill>
                  <a:schemeClr val="accent5">
                    <a:lumMod val="40000"/>
                    <a:lumOff val="60000"/>
                  </a:schemeClr>
                </a:solidFill>
              </a:rPr>
              <a:t>Tren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1.7.7 – </a:t>
            </a:r>
            <a:r xmlns:a="http://schemas.openxmlformats.org/drawingml/2006/main">
              <a:rPr lang="id" baseline="0" dirty="0">
                <a:latin typeface="Arial" charset="0"/>
              </a:rPr>
              <a:t>Tren Teknologi di Rumah</a:t>
            </a:r>
            <a:endParaRPr xmlns:a="http://schemas.openxmlformats.org/drawingml/2006/main"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56</a:t>
            </a:fld>
            <a:endParaRPr lang="en-US" dirty="0">
              <a:solidFill>
                <a:prstClr val="black"/>
              </a:solidFill>
            </a:endParaRPr>
          </a:p>
        </p:txBody>
      </p:sp>
    </p:spTree>
    <p:extLst>
      <p:ext uri="{BB962C8B-B14F-4D97-AF65-F5344CB8AC3E}">
        <p14:creationId xmlns:p14="http://schemas.microsoft.com/office/powerpoint/2010/main" val="308885217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1.7 – </a:t>
            </a:r>
            <a:r xmlns:a="http://schemas.openxmlformats.org/drawingml/2006/main">
              <a:rPr lang="id" sz="1200" dirty="0">
                <a:solidFill>
                  <a:schemeClr val="accent5">
                    <a:lumMod val="40000"/>
                    <a:lumOff val="60000"/>
                  </a:schemeClr>
                </a:solidFill>
              </a:rPr>
              <a:t>Tren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1.7.8 – Jaringan Saluran Listrik</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57</a:t>
            </a:fld>
            <a:endParaRPr lang="en-US" dirty="0">
              <a:solidFill>
                <a:prstClr val="black"/>
              </a:solidFill>
            </a:endParaRPr>
          </a:p>
        </p:txBody>
      </p:sp>
    </p:spTree>
    <p:extLst>
      <p:ext uri="{BB962C8B-B14F-4D97-AF65-F5344CB8AC3E}">
        <p14:creationId xmlns:p14="http://schemas.microsoft.com/office/powerpoint/2010/main" val="160499983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1.7 – </a:t>
            </a:r>
            <a:r xmlns:a="http://schemas.openxmlformats.org/drawingml/2006/main">
              <a:rPr lang="id" sz="1200" dirty="0">
                <a:solidFill>
                  <a:schemeClr val="accent5">
                    <a:lumMod val="40000"/>
                    <a:lumOff val="60000"/>
                  </a:schemeClr>
                </a:solidFill>
              </a:rPr>
              <a:t>Tren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1.7.9 – Pitalebar Nirkabel</a:t>
            </a:r>
          </a:p>
          <a:p>
            <a:pPr xmlns:a="http://schemas.openxmlformats.org/drawingml/2006/main" marL="0" marR="0" lvl="0" indent="0" algn="l" defTabSz="457200" rtl="0" eaLnBrk="1" fontAlgn="auto" latinLnBrk="0" hangingPunct="1">
              <a:lnSpc>
                <a:spcPct val="80000"/>
              </a:lnSpc>
              <a:spcBef>
                <a:spcPts val="0"/>
              </a:spcBef>
              <a:spcAft>
                <a:spcPts val="0"/>
              </a:spcAft>
              <a:buClrTx/>
              <a:buSzTx/>
              <a:buFontTx/>
              <a:buNone/>
              <a:tabLst/>
              <a:defRPr/>
            </a:pPr>
            <a:r xmlns:a="http://schemas.openxmlformats.org/drawingml/2006/main">
              <a:rPr lang="id" sz="1200" dirty="0">
                <a:effectLst/>
              </a:rPr>
              <a:t>1.7.10 – Periksa Pemahaman Anda – Tren Jaringan</a:t>
            </a:r>
            <a:endParaRPr xmlns:a="http://schemas.openxmlformats.org/drawingml/2006/main"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58</a:t>
            </a:fld>
            <a:endParaRPr lang="en-US" dirty="0">
              <a:solidFill>
                <a:prstClr val="black"/>
              </a:solidFill>
            </a:endParaRPr>
          </a:p>
        </p:txBody>
      </p:sp>
    </p:spTree>
    <p:extLst>
      <p:ext uri="{BB962C8B-B14F-4D97-AF65-F5344CB8AC3E}">
        <p14:creationId xmlns:p14="http://schemas.microsoft.com/office/powerpoint/2010/main" val="330477242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1.8 – </a:t>
            </a:r>
            <a:r xmlns:a="http://schemas.openxmlformats.org/drawingml/2006/main">
              <a:rPr lang="id" sz="1200" dirty="0">
                <a:solidFill>
                  <a:schemeClr val="accent5">
                    <a:lumMod val="40000"/>
                    <a:lumOff val="60000"/>
                  </a:schemeClr>
                </a:solidFill>
              </a:rPr>
              <a:t>Keamanan Jaringan</a:t>
            </a:r>
            <a:endParaRPr xmlns:a="http://schemas.openxmlformats.org/drawingml/2006/main" lang="en-GB" b="0" dirty="0"/>
          </a:p>
          <a:p>
            <a:pPr>
              <a:buFontTx/>
              <a:buNone/>
            </a:pP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59</a:t>
            </a:fld>
            <a:endParaRPr lang="en-US" dirty="0">
              <a:solidFill>
                <a:prstClr val="black"/>
              </a:solidFill>
            </a:endParaRPr>
          </a:p>
        </p:txBody>
      </p:sp>
    </p:spTree>
    <p:extLst>
      <p:ext uri="{BB962C8B-B14F-4D97-AF65-F5344CB8AC3E}">
        <p14:creationId xmlns:p14="http://schemas.microsoft.com/office/powerpoint/2010/main" val="36408244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1.8 – </a:t>
            </a:r>
            <a:r xmlns:a="http://schemas.openxmlformats.org/drawingml/2006/main">
              <a:rPr lang="id" sz="1200" dirty="0">
                <a:solidFill>
                  <a:schemeClr val="accent5">
                    <a:lumMod val="40000"/>
                    <a:lumOff val="60000"/>
                  </a:schemeClr>
                </a:solidFill>
              </a:rPr>
              <a:t>Keamanan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1.8.1 – </a:t>
            </a:r>
            <a:r xmlns:a="http://schemas.openxmlformats.org/drawingml/2006/main">
              <a:rPr lang="id" baseline="0" dirty="0">
                <a:latin typeface="Arial" charset="0"/>
              </a:rPr>
              <a:t>Ancaman Keamanan</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60</a:t>
            </a:fld>
            <a:endParaRPr lang="en-US" dirty="0">
              <a:solidFill>
                <a:prstClr val="black"/>
              </a:solidFill>
            </a:endParaRPr>
          </a:p>
        </p:txBody>
      </p:sp>
    </p:spTree>
    <p:extLst>
      <p:ext uri="{BB962C8B-B14F-4D97-AF65-F5344CB8AC3E}">
        <p14:creationId xmlns:p14="http://schemas.microsoft.com/office/powerpoint/2010/main" val="10777651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1.8 – </a:t>
            </a:r>
            <a:r xmlns:a="http://schemas.openxmlformats.org/drawingml/2006/main">
              <a:rPr lang="id" sz="1200" dirty="0">
                <a:solidFill>
                  <a:schemeClr val="accent5">
                    <a:lumMod val="40000"/>
                    <a:lumOff val="60000"/>
                  </a:schemeClr>
                </a:solidFill>
              </a:rPr>
              <a:t>Keamanan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1.8.1 – </a:t>
            </a:r>
            <a:r xmlns:a="http://schemas.openxmlformats.org/drawingml/2006/main">
              <a:rPr lang="id" baseline="0" dirty="0">
                <a:latin typeface="Arial" charset="0"/>
              </a:rPr>
              <a:t>Ancaman Keamanan (Lanjutan)</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61</a:t>
            </a:fld>
            <a:endParaRPr lang="en-US" dirty="0">
              <a:solidFill>
                <a:prstClr val="black"/>
              </a:solidFill>
            </a:endParaRPr>
          </a:p>
        </p:txBody>
      </p:sp>
    </p:spTree>
    <p:extLst>
      <p:ext uri="{BB962C8B-B14F-4D97-AF65-F5344CB8AC3E}">
        <p14:creationId xmlns:p14="http://schemas.microsoft.com/office/powerpoint/2010/main" val="317012754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1.8 – </a:t>
            </a:r>
            <a:r xmlns:a="http://schemas.openxmlformats.org/drawingml/2006/main">
              <a:rPr lang="id" sz="1200" dirty="0">
                <a:solidFill>
                  <a:schemeClr val="accent5">
                    <a:lumMod val="40000"/>
                    <a:lumOff val="60000"/>
                  </a:schemeClr>
                </a:solidFill>
              </a:rPr>
              <a:t>Keamanan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1.8.2 – </a:t>
            </a:r>
            <a:r xmlns:a="http://schemas.openxmlformats.org/drawingml/2006/main">
              <a:rPr lang="id" baseline="0" dirty="0">
                <a:latin typeface="Arial" charset="0"/>
              </a:rPr>
              <a:t>Solusi Keamanan</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62</a:t>
            </a:fld>
            <a:endParaRPr lang="en-US" dirty="0">
              <a:solidFill>
                <a:prstClr val="black"/>
              </a:solidFill>
            </a:endParaRPr>
          </a:p>
        </p:txBody>
      </p:sp>
    </p:spTree>
    <p:extLst>
      <p:ext uri="{BB962C8B-B14F-4D97-AF65-F5344CB8AC3E}">
        <p14:creationId xmlns:p14="http://schemas.microsoft.com/office/powerpoint/2010/main" val="2563796127"/>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1.8 – </a:t>
            </a:r>
            <a:r xmlns:a="http://schemas.openxmlformats.org/drawingml/2006/main">
              <a:rPr lang="id" sz="1200" dirty="0">
                <a:solidFill>
                  <a:schemeClr val="accent5">
                    <a:lumMod val="40000"/>
                    <a:lumOff val="60000"/>
                  </a:schemeClr>
                </a:solidFill>
              </a:rPr>
              <a:t>Keamanan Jaringan</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1.8.2 – </a:t>
            </a:r>
            <a:r xmlns:a="http://schemas.openxmlformats.org/drawingml/2006/main">
              <a:rPr lang="id" baseline="0" dirty="0">
                <a:latin typeface="Arial" charset="0"/>
              </a:rPr>
              <a:t>Solusi Keamanan (Lanjutan)</a:t>
            </a:r>
          </a:p>
          <a:p>
            <a:pPr xmlns:a="http://schemas.openxmlformats.org/drawingml/2006/main" marL="0" marR="0" lvl="0" indent="0" algn="l" defTabSz="457200" rtl="0" eaLnBrk="1" fontAlgn="auto" latinLnBrk="0" hangingPunct="1">
              <a:lnSpc>
                <a:spcPct val="80000"/>
              </a:lnSpc>
              <a:spcBef>
                <a:spcPts val="0"/>
              </a:spcBef>
              <a:spcAft>
                <a:spcPts val="0"/>
              </a:spcAft>
              <a:buClrTx/>
              <a:buSzTx/>
              <a:buFontTx/>
              <a:buNone/>
              <a:tabLst/>
              <a:defRPr/>
            </a:pPr>
            <a:r xmlns:a="http://schemas.openxmlformats.org/drawingml/2006/main">
              <a:rPr lang="id" sz="1200" dirty="0">
                <a:effectLst/>
              </a:rPr>
              <a:t>1.8.3 – Periksa Pemahaman Anda – Keamanan Jaringan</a:t>
            </a:r>
            <a:endParaRPr xmlns:a="http://schemas.openxmlformats.org/drawingml/2006/main"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63</a:t>
            </a:fld>
            <a:endParaRPr lang="en-US" dirty="0">
              <a:solidFill>
                <a:prstClr val="black"/>
              </a:solidFill>
            </a:endParaRPr>
          </a:p>
        </p:txBody>
      </p:sp>
    </p:spTree>
    <p:extLst>
      <p:ext uri="{BB962C8B-B14F-4D97-AF65-F5344CB8AC3E}">
        <p14:creationId xmlns:p14="http://schemas.microsoft.com/office/powerpoint/2010/main" val="308046358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1.9 – </a:t>
            </a:r>
            <a:r xmlns:a="http://schemas.openxmlformats.org/drawingml/2006/main">
              <a:rPr lang="id" sz="1200" dirty="0">
                <a:solidFill>
                  <a:schemeClr val="accent5">
                    <a:lumMod val="40000"/>
                    <a:lumOff val="60000"/>
                  </a:schemeClr>
                </a:solidFill>
              </a:rPr>
              <a:t>Profesional TI</a:t>
            </a:r>
            <a:endParaRPr xmlns:a="http://schemas.openxmlformats.org/drawingml/2006/main"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64</a:t>
            </a:fld>
            <a:endParaRPr lang="en-US" dirty="0">
              <a:solidFill>
                <a:prstClr val="black"/>
              </a:solidFill>
            </a:endParaRPr>
          </a:p>
        </p:txBody>
      </p:sp>
    </p:spTree>
    <p:extLst>
      <p:ext uri="{BB962C8B-B14F-4D97-AF65-F5344CB8AC3E}">
        <p14:creationId xmlns:p14="http://schemas.microsoft.com/office/powerpoint/2010/main" val="252407405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1.9 – </a:t>
            </a:r>
            <a:r xmlns:a="http://schemas.openxmlformats.org/drawingml/2006/main">
              <a:rPr lang="id" sz="1200" dirty="0">
                <a:solidFill>
                  <a:schemeClr val="accent5">
                    <a:lumMod val="40000"/>
                    <a:lumOff val="60000"/>
                  </a:schemeClr>
                </a:solidFill>
              </a:rPr>
              <a:t>Profesional TI</a:t>
            </a:r>
            <a:endParaRPr xmlns:a="http://schemas.openxmlformats.org/drawingml/2006/main" lang="en-GB" b="0" dirty="0"/>
          </a:p>
          <a:p>
            <a:pPr xmlns:a="http://schemas.openxmlformats.org/drawingml/2006/main">
              <a:lnSpc>
                <a:spcPct val="80000"/>
              </a:lnSpc>
              <a:buFontTx/>
              <a:buNone/>
            </a:pPr>
            <a:r xmlns:a="http://schemas.openxmlformats.org/drawingml/2006/main">
              <a:rPr lang="id" baseline="0" dirty="0">
                <a:latin typeface="Arial" charset="0"/>
              </a:rPr>
              <a:t>1.9.1 – CCNA</a:t>
            </a:r>
          </a:p>
          <a:p>
            <a:pPr xmlns:a="http://schemas.openxmlformats.org/drawingml/2006/main">
              <a:lnSpc>
                <a:spcPct val="80000"/>
              </a:lnSpc>
              <a:buFontTx/>
              <a:buNone/>
            </a:pPr>
            <a:r xmlns:a="http://schemas.openxmlformats.org/drawingml/2006/main">
              <a:rPr lang="id" baseline="0" dirty="0">
                <a:latin typeface="Arial" charset="0"/>
              </a:rPr>
              <a:t>Diagram dari https://newsroom.cisco.com/press-release-content?type=webcontent&amp;articleId=1993077</a:t>
            </a:r>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65</a:t>
            </a:fld>
            <a:endParaRPr lang="en-US" dirty="0">
              <a:solidFill>
                <a:prstClr val="black"/>
              </a:solidFill>
            </a:endParaRPr>
          </a:p>
        </p:txBody>
      </p:sp>
    </p:spTree>
    <p:extLst>
      <p:ext uri="{BB962C8B-B14F-4D97-AF65-F5344CB8AC3E}">
        <p14:creationId xmlns:p14="http://schemas.microsoft.com/office/powerpoint/2010/main" val="287057070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1.9 – </a:t>
            </a:r>
            <a:r xmlns:a="http://schemas.openxmlformats.org/drawingml/2006/main">
              <a:rPr lang="id" sz="1200" dirty="0">
                <a:solidFill>
                  <a:schemeClr val="accent5">
                    <a:lumMod val="40000"/>
                    <a:lumOff val="60000"/>
                  </a:schemeClr>
                </a:solidFill>
              </a:rPr>
              <a:t>Profesional TI</a:t>
            </a:r>
            <a:endParaRPr xmlns:a="http://schemas.openxmlformats.org/drawingml/2006/main" lang="en-GB" b="0" dirty="0"/>
          </a:p>
          <a:p>
            <a:pPr xmlns:a="http://schemas.openxmlformats.org/drawingml/2006/main">
              <a:lnSpc>
                <a:spcPct val="80000"/>
              </a:lnSpc>
              <a:buFontTx/>
              <a:buNone/>
            </a:pPr>
            <a:r xmlns:a="http://schemas.openxmlformats.org/drawingml/2006/main">
              <a:rPr lang="id" baseline="0" dirty="0">
                <a:latin typeface="Arial" charset="0"/>
              </a:rPr>
              <a:t>1.9.2 – </a:t>
            </a:r>
            <a:r xmlns:a="http://schemas.openxmlformats.org/drawingml/2006/main">
              <a:rPr lang="id" altLang="en-US" dirty="0"/>
              <a:t>Pekerjaan Jaringan</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66</a:t>
            </a:fld>
            <a:endParaRPr lang="en-US" dirty="0">
              <a:solidFill>
                <a:prstClr val="black"/>
              </a:solidFill>
            </a:endParaRPr>
          </a:p>
        </p:txBody>
      </p:sp>
    </p:spTree>
    <p:extLst>
      <p:ext uri="{BB962C8B-B14F-4D97-AF65-F5344CB8AC3E}">
        <p14:creationId xmlns:p14="http://schemas.microsoft.com/office/powerpoint/2010/main" val="27881906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1.9 – </a:t>
            </a:r>
            <a:r xmlns:a="http://schemas.openxmlformats.org/drawingml/2006/main">
              <a:rPr lang="id" sz="1200" dirty="0">
                <a:solidFill>
                  <a:schemeClr val="accent5">
                    <a:lumMod val="40000"/>
                    <a:lumOff val="60000"/>
                  </a:schemeClr>
                </a:solidFill>
              </a:rPr>
              <a:t>Profesional TI</a:t>
            </a:r>
            <a:endParaRPr xmlns:a="http://schemas.openxmlformats.org/drawingml/2006/main" lang="en-GB" b="0" dirty="0"/>
          </a:p>
          <a:p>
            <a:pPr xmlns:a="http://schemas.openxmlformats.org/drawingml/2006/main">
              <a:lnSpc>
                <a:spcPct val="80000"/>
              </a:lnSpc>
              <a:buFontTx/>
              <a:buNone/>
            </a:pPr>
            <a:r xmlns:a="http://schemas.openxmlformats.org/drawingml/2006/main">
              <a:rPr lang="id" baseline="0" dirty="0">
                <a:latin typeface="Arial" charset="0"/>
              </a:rPr>
              <a:t>1.9.3 – </a:t>
            </a:r>
            <a:r xmlns:a="http://schemas.openxmlformats.org/drawingml/2006/main">
              <a:rPr lang="id" altLang="en-US" dirty="0"/>
              <a:t>Lab – Meneliti Peluang Kerja TI dan Jaringan</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67</a:t>
            </a:fld>
            <a:endParaRPr lang="en-US" dirty="0">
              <a:solidFill>
                <a:prstClr val="black"/>
              </a:solidFill>
            </a:endParaRPr>
          </a:p>
        </p:txBody>
      </p:sp>
    </p:spTree>
    <p:extLst>
      <p:ext uri="{BB962C8B-B14F-4D97-AF65-F5344CB8AC3E}">
        <p14:creationId xmlns:p14="http://schemas.microsoft.com/office/powerpoint/2010/main" val="156435307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1.10 – </a:t>
            </a:r>
            <a:r xmlns:a="http://schemas.openxmlformats.org/drawingml/2006/main">
              <a:rPr lang="id" dirty="0">
                <a:solidFill>
                  <a:schemeClr val="accent5">
                    <a:lumMod val="40000"/>
                    <a:lumOff val="60000"/>
                  </a:schemeClr>
                </a:solidFill>
              </a:rPr>
              <a:t>Modul Latihan dan Kuis</a:t>
            </a:r>
            <a:endParaRPr xmlns:a="http://schemas.openxmlformats.org/drawingml/2006/main" lang="en-GB" b="0" dirty="0"/>
          </a:p>
        </p:txBody>
      </p:sp>
      <p:sp>
        <p:nvSpPr>
          <p:cNvPr id="4" name="Slide Number Placeholder 3"/>
          <p:cNvSpPr>
            <a:spLocks noGrp="1"/>
          </p:cNvSpPr>
          <p:nvPr>
            <p:ph type="sldNum" sz="quarter" idx="10"/>
          </p:nvPr>
        </p:nvSpPr>
        <p:spPr/>
        <p:txBody>
          <a:bodyPr/>
          <a:lstStyle/>
          <a:p>
            <a:fld id="{5641018C-6CAF-B84E-B92C-ECB119457FBA}" type="slidenum">
              <a:rPr lang="en-US" smtClean="0"/>
              <a:t>68</a:t>
            </a:fld>
            <a:endParaRPr lang="en-US" dirty="0"/>
          </a:p>
        </p:txBody>
      </p:sp>
    </p:spTree>
    <p:extLst>
      <p:ext uri="{BB962C8B-B14F-4D97-AF65-F5344CB8AC3E}">
        <p14:creationId xmlns:p14="http://schemas.microsoft.com/office/powerpoint/2010/main" val="181592676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1.10 – </a:t>
            </a:r>
            <a:r xmlns:a="http://schemas.openxmlformats.org/drawingml/2006/main">
              <a:rPr lang="id" dirty="0">
                <a:solidFill>
                  <a:schemeClr val="accent5">
                    <a:lumMod val="40000"/>
                    <a:lumOff val="60000"/>
                  </a:schemeClr>
                </a:solidFill>
              </a:rPr>
              <a:t>Modul Latihan dan Kuis</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1.10.1 </a:t>
            </a:r>
            <a:r xmlns:a="http://schemas.openxmlformats.org/drawingml/2006/main">
              <a:rPr lang="id" baseline="0" dirty="0">
                <a:latin typeface="Arial" charset="0"/>
              </a:rPr>
              <a:t>– </a:t>
            </a:r>
            <a:r xmlns:a="http://schemas.openxmlformats.org/drawingml/2006/main">
              <a:rPr lang="id" altLang="en-US" dirty="0"/>
              <a:t>Apa yang saya pelajari dalam modul ini?</a:t>
            </a:r>
            <a:endParaRPr xmlns:a="http://schemas.openxmlformats.org/drawingml/2006/main"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69</a:t>
            </a:fld>
            <a:endParaRPr lang="en-US" dirty="0">
              <a:solidFill>
                <a:prstClr val="black"/>
              </a:solidFill>
            </a:endParaRPr>
          </a:p>
        </p:txBody>
      </p:sp>
    </p:spTree>
    <p:extLst>
      <p:ext uri="{BB962C8B-B14F-4D97-AF65-F5344CB8AC3E}">
        <p14:creationId xmlns:p14="http://schemas.microsoft.com/office/powerpoint/2010/main" val="207069413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1.10 – </a:t>
            </a:r>
            <a:r xmlns:a="http://schemas.openxmlformats.org/drawingml/2006/main">
              <a:rPr lang="id" dirty="0">
                <a:solidFill>
                  <a:schemeClr val="accent5">
                    <a:lumMod val="40000"/>
                    <a:lumOff val="60000"/>
                  </a:schemeClr>
                </a:solidFill>
              </a:rPr>
              <a:t>Modul Latihan dan Kuis</a:t>
            </a:r>
            <a:endParaRPr xmlns:a="http://schemas.openxmlformats.org/drawingml/2006/main" lang="en-GB" b="0" dirty="0"/>
          </a:p>
          <a:p>
            <a:pPr xmlns:a="http://schemas.openxmlformats.org/drawingml/2006/main">
              <a:lnSpc>
                <a:spcPct val="80000"/>
              </a:lnSpc>
              <a:buFontTx/>
              <a:buNone/>
            </a:pPr>
            <a:r xmlns:a="http://schemas.openxmlformats.org/drawingml/2006/main">
              <a:rPr lang="id" dirty="0">
                <a:latin typeface="Arial" charset="0"/>
              </a:rPr>
              <a:t>1.10.1 </a:t>
            </a:r>
            <a:r xmlns:a="http://schemas.openxmlformats.org/drawingml/2006/main">
              <a:rPr lang="id" baseline="0" dirty="0">
                <a:latin typeface="Arial" charset="0"/>
              </a:rPr>
              <a:t>– </a:t>
            </a:r>
            <a:r xmlns:a="http://schemas.openxmlformats.org/drawingml/2006/main">
              <a:rPr lang="id" altLang="en-US" dirty="0"/>
              <a:t>Apa yang saya pelajari dalam modul ini? (Lanjutan)</a:t>
            </a:r>
          </a:p>
          <a:p>
            <a:pPr xmlns:a="http://schemas.openxmlformats.org/drawingml/2006/main" marL="0" marR="0" lvl="0" indent="0" algn="l" defTabSz="457200" rtl="0" eaLnBrk="1" fontAlgn="auto" latinLnBrk="0" hangingPunct="1">
              <a:lnSpc>
                <a:spcPct val="80000"/>
              </a:lnSpc>
              <a:spcBef>
                <a:spcPts val="0"/>
              </a:spcBef>
              <a:spcAft>
                <a:spcPts val="0"/>
              </a:spcAft>
              <a:buClrTx/>
              <a:buSzTx/>
              <a:buFontTx/>
              <a:buNone/>
              <a:tabLst/>
              <a:defRPr/>
            </a:pPr>
            <a:r xmlns:a="http://schemas.openxmlformats.org/drawingml/2006/main">
              <a:rPr lang="id" dirty="0"/>
              <a:t>1.10.2 </a:t>
            </a:r>
            <a:r xmlns:a="http://schemas.openxmlformats.org/drawingml/2006/main">
              <a:rPr lang="id" sz="1200" dirty="0">
                <a:effectLst/>
              </a:rPr>
              <a:t>– </a:t>
            </a:r>
            <a:r xmlns:a="http://schemas.openxmlformats.org/drawingml/2006/main">
              <a:rPr lang="id" sz="1200" baseline="0" dirty="0">
                <a:effectLst/>
              </a:rPr>
              <a:t>Kuis Modul</a:t>
            </a:r>
            <a:endParaRPr xmlns:a="http://schemas.openxmlformats.org/drawingml/2006/main" lang="en-US" dirty="0"/>
          </a:p>
          <a:p>
            <a:pPr>
              <a:lnSpc>
                <a:spcPct val="80000"/>
              </a:lnSpc>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solidFill>
                  <a:prstClr val="black"/>
                </a:solidFill>
              </a:rPr>
              <a:pPr/>
              <a:t>70</a:t>
            </a:fld>
            <a:endParaRPr lang="en-US" dirty="0">
              <a:solidFill>
                <a:prstClr val="black"/>
              </a:solidFill>
            </a:endParaRPr>
          </a:p>
        </p:txBody>
      </p:sp>
    </p:spTree>
    <p:extLst>
      <p:ext uri="{BB962C8B-B14F-4D97-AF65-F5344CB8AC3E}">
        <p14:creationId xmlns:p14="http://schemas.microsoft.com/office/powerpoint/2010/main" val="22687747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71</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xmlns:a="http://schemas.openxmlformats.org/drawingml/2006/main">
              <a:lnSpc>
                <a:spcPct val="80000"/>
              </a:lnSpc>
              <a:buFontTx/>
              <a:buNone/>
            </a:pPr>
            <a:r xmlns:a="http://schemas.openxmlformats.org/drawingml/2006/main">
              <a:rPr lang="id" sz="1200" kern="1200" dirty="0">
                <a:solidFill>
                  <a:schemeClr val="tx1"/>
                </a:solidFill>
                <a:latin typeface="Arial" charset="0"/>
                <a:ea typeface="ＭＳ Ｐゴシック" charset="0"/>
                <a:cs typeface="ＭＳ Ｐゴシック" charset="0"/>
              </a:rPr>
              <a:t>1 – Jaringan Hari Ini</a:t>
            </a:r>
          </a:p>
          <a:p>
            <a:pPr xmlns:a="http://schemas.openxmlformats.org/drawingml/2006/main">
              <a:lnSpc>
                <a:spcPct val="80000"/>
              </a:lnSpc>
              <a:buFontTx/>
              <a:buNone/>
            </a:pPr>
            <a:r xmlns:a="http://schemas.openxmlformats.org/drawingml/2006/main">
              <a:rPr lang="id" dirty="0">
                <a:latin typeface="Arial" charset="0"/>
              </a:rPr>
              <a:t>Syarat dan Perintah Baru</a:t>
            </a:r>
            <a:endParaRPr xmlns:a="http://schemas.openxmlformats.org/drawingml/2006/main" lang="en-US" dirty="0"/>
          </a:p>
        </p:txBody>
      </p:sp>
    </p:spTree>
    <p:extLst>
      <p:ext uri="{BB962C8B-B14F-4D97-AF65-F5344CB8AC3E}">
        <p14:creationId xmlns:p14="http://schemas.microsoft.com/office/powerpoint/2010/main" val="4156090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mod="1">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3653042546"/>
      </p:ext>
    </p:extLst>
  </p:cSld>
  <p:clrMapOvr>
    <a:masterClrMapping/>
  </p:clrMapOvr>
  <p:transition spd="slow">
    <p:wipe/>
  </p:transition>
  <p:extLst mod="1">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974617842"/>
      </p:ext>
    </p:extLst>
  </p:cSld>
  <p:clrMapOvr>
    <a:masterClrMapping/>
  </p:clrMapOvr>
  <p:transition spd="slow">
    <p:wipe/>
  </p:transition>
  <p:extLst mod="1">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3.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3.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4.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3.xml"/><Relationship Id="rId1" Type="http://schemas.openxmlformats.org/officeDocument/2006/relationships/tags" Target="../tags/tag15.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3.xml"/><Relationship Id="rId1" Type="http://schemas.openxmlformats.org/officeDocument/2006/relationships/tags" Target="../tags/tag17.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3.xml"/><Relationship Id="rId1" Type="http://schemas.openxmlformats.org/officeDocument/2006/relationships/tags" Target="../tags/tag18.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3.xml"/><Relationship Id="rId1" Type="http://schemas.openxmlformats.org/officeDocument/2006/relationships/tags" Target="../tags/tag19.xml"/><Relationship Id="rId4" Type="http://schemas.openxmlformats.org/officeDocument/2006/relationships/image" Target="../media/image7.png"/></Relationships>
</file>

<file path=ppt/slides/_rels/slide22.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3.xml"/><Relationship Id="rId1" Type="http://schemas.openxmlformats.org/officeDocument/2006/relationships/tags" Target="../tags/tag20.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4.xml"/><Relationship Id="rId1" Type="http://schemas.openxmlformats.org/officeDocument/2006/relationships/tags" Target="../tags/tag21.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6.xml"/><Relationship Id="rId1" Type="http://schemas.openxmlformats.org/officeDocument/2006/relationships/slideLayout" Target="../slideLayouts/slideLayout13.xml"/><Relationship Id="rId6" Type="http://schemas.openxmlformats.org/officeDocument/2006/relationships/image" Target="../media/image16.png"/><Relationship Id="rId5" Type="http://schemas.openxmlformats.org/officeDocument/2006/relationships/image" Target="../media/image15.jpeg"/><Relationship Id="rId4" Type="http://schemas.openxmlformats.org/officeDocument/2006/relationships/image" Target="../media/image14.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3.xml"/><Relationship Id="rId1" Type="http://schemas.openxmlformats.org/officeDocument/2006/relationships/tags" Target="../tags/tag23.xml"/><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24.xml"/></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25.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26.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4.xml"/><Relationship Id="rId1" Type="http://schemas.openxmlformats.org/officeDocument/2006/relationships/tags" Target="../tags/tag27.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28.xml"/></Relationships>
</file>

<file path=ppt/slides/_rels/slide4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4.xml"/><Relationship Id="rId1" Type="http://schemas.openxmlformats.org/officeDocument/2006/relationships/tags" Target="../tags/tag29.xml"/></Relationships>
</file>

<file path=ppt/slides/_rels/slide6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3.xml"/><Relationship Id="rId1" Type="http://schemas.openxmlformats.org/officeDocument/2006/relationships/tags" Target="../tags/tag31.xml"/><Relationship Id="rId4" Type="http://schemas.openxmlformats.org/officeDocument/2006/relationships/image" Target="../media/image41.png"/></Relationships>
</file>

<file path=ppt/slides/_rels/slide66.xml.rels><?xml version="1.0" encoding="UTF-8" standalone="yes"?>
<Relationships xmlns="http://schemas.openxmlformats.org/package/2006/relationships"><Relationship Id="rId3" Type="http://schemas.openxmlformats.org/officeDocument/2006/relationships/hyperlink" Target="http://www.netacad.com/" TargetMode="External"/><Relationship Id="rId2" Type="http://schemas.openxmlformats.org/officeDocument/2006/relationships/notesSlide" Target="../notesSlides/notesSlide64.xml"/><Relationship Id="rId1" Type="http://schemas.openxmlformats.org/officeDocument/2006/relationships/slideLayout" Target="../slideLayouts/slideLayout13.xml"/><Relationship Id="rId4" Type="http://schemas.openxmlformats.org/officeDocument/2006/relationships/image" Target="../media/image42.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4.xml"/><Relationship Id="rId1" Type="http://schemas.openxmlformats.org/officeDocument/2006/relationships/tags" Target="../tags/tag3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xmlns:a="http://schemas.openxmlformats.org/drawingml/2006/main">
              <a:rPr lang="id" dirty="0">
                <a:solidFill>
                  <a:schemeClr val="accent5">
                    <a:lumMod val="40000"/>
                    <a:lumOff val="60000"/>
                  </a:schemeClr>
                </a:solidFill>
              </a:rPr>
              <a:t>Modul 1: Jaringan Saat Ini</a:t>
            </a:r>
          </a:p>
        </p:txBody>
      </p:sp>
      <p:sp>
        <p:nvSpPr>
          <p:cNvPr id="5" name="Text Placeholder 4"/>
          <p:cNvSpPr>
            <a:spLocks noGrp="1"/>
          </p:cNvSpPr>
          <p:nvPr>
            <p:ph type="body" sz="quarter" idx="13"/>
          </p:nvPr>
        </p:nvSpPr>
        <p:spPr>
          <a:xfrm>
            <a:off x="469497" y="3127609"/>
            <a:ext cx="5925246" cy="299001"/>
          </a:xfrm>
        </p:spPr>
        <p:txBody>
          <a:bodyPr/>
          <a:lstStyle/>
          <a:p>
            <a:r xmlns:a="http://schemas.openxmlformats.org/drawingml/2006/main">
              <a:rPr lang="id" dirty="0">
                <a:solidFill>
                  <a:schemeClr val="bg2">
                    <a:lumMod val="40000"/>
                    <a:lumOff val="60000"/>
                  </a:schemeClr>
                </a:solidFill>
              </a:rPr>
              <a:t>Materi Instruktur</a:t>
            </a:r>
          </a:p>
        </p:txBody>
      </p:sp>
      <p:sp>
        <p:nvSpPr>
          <p:cNvPr id="7" name="Subtitle 6"/>
          <p:cNvSpPr>
            <a:spLocks noGrp="1"/>
          </p:cNvSpPr>
          <p:nvPr>
            <p:ph type="subTitle" idx="1"/>
          </p:nvPr>
        </p:nvSpPr>
        <p:spPr>
          <a:xfrm>
            <a:off x="469497" y="3809526"/>
            <a:ext cx="2368954" cy="902174"/>
          </a:xfrm>
        </p:spPr>
        <p:txBody>
          <a:bodyPr/>
          <a:lstStyle/>
          <a:p>
            <a:r xmlns:a="http://schemas.openxmlformats.org/drawingml/2006/main">
              <a:rPr lang="id" dirty="0">
                <a:solidFill>
                  <a:schemeClr val="accent5">
                    <a:lumMod val="40000"/>
                    <a:lumOff val="60000"/>
                  </a:schemeClr>
                </a:solidFill>
              </a:rPr>
              <a:t>Pengantar Jaringan v7.0 (ITN)</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a:xfrm>
            <a:off x="1" y="50629"/>
            <a:ext cx="9144000" cy="757551"/>
          </a:xfrm>
        </p:spPr>
        <p:txBody>
          <a:bodyPr/>
          <a:lstStyle/>
          <a:p>
            <a:r xmlns:a="http://schemas.openxmlformats.org/drawingml/2006/main">
              <a:rPr lang="id" dirty="0"/>
              <a:t>Materi Instruktur – Panduan Perencanaan Modul 1</a:t>
            </a:r>
          </a:p>
        </p:txBody>
      </p:sp>
      <p:sp>
        <p:nvSpPr>
          <p:cNvPr id="4099" name="Rectangle 34"/>
          <p:cNvSpPr>
            <a:spLocks noGrp="1" noChangeArrowheads="1"/>
          </p:cNvSpPr>
          <p:nvPr>
            <p:ph idx="1"/>
          </p:nvPr>
        </p:nvSpPr>
        <p:spPr>
          <a:xfrm>
            <a:off x="144065" y="798944"/>
            <a:ext cx="8853286" cy="3747655"/>
          </a:xfrm>
        </p:spPr>
        <p:txBody>
          <a:bodyPr/>
          <a:lstStyle/>
          <a:p>
            <a:pPr xmlns:a="http://schemas.openxmlformats.org/drawingml/2006/main" marL="0" indent="0">
              <a:buNone/>
            </a:pPr>
            <a:r xmlns:a="http://schemas.openxmlformats.org/drawingml/2006/main">
              <a:rPr lang="id" dirty="0"/>
              <a:t>Dek PowerPoint ini dibagi menjadi dua bagian:</a:t>
            </a:r>
          </a:p>
          <a:p>
            <a:pPr xmlns:a="http://schemas.openxmlformats.org/drawingml/2006/main">
              <a:buFont typeface="Arial" panose="020B0604020202020204" pitchFamily="34" charset="0"/>
              <a:buChar char="•"/>
            </a:pPr>
            <a:r xmlns:a="http://schemas.openxmlformats.org/drawingml/2006/main">
              <a:rPr lang="id" dirty="0"/>
              <a:t>Panduan Perencanaan Instruktur</a:t>
            </a:r>
            <a:endParaRPr xmlns:a="http://schemas.openxmlformats.org/drawingml/2006/main" lang="en-CA" dirty="0"/>
          </a:p>
          <a:p>
            <a:pPr xmlns:a="http://schemas.openxmlformats.org/drawingml/2006/main" lvl="1"/>
            <a:r xmlns:a="http://schemas.openxmlformats.org/drawingml/2006/main">
              <a:rPr lang="id" dirty="0"/>
              <a:t>Informasi untuk membantu Anda memahami modul ini</a:t>
            </a:r>
          </a:p>
          <a:p>
            <a:pPr xmlns:a="http://schemas.openxmlformats.org/drawingml/2006/main" lvl="1"/>
            <a:r xmlns:a="http://schemas.openxmlformats.org/drawingml/2006/main">
              <a:rPr lang="id" dirty="0"/>
              <a:t>Alat peraga</a:t>
            </a:r>
          </a:p>
          <a:p>
            <a:pPr xmlns:a="http://schemas.openxmlformats.org/drawingml/2006/main">
              <a:buFont typeface="Arial" panose="020B0604020202020204" pitchFamily="34" charset="0"/>
              <a:buChar char="•"/>
            </a:pPr>
            <a:r xmlns:a="http://schemas.openxmlformats.org/drawingml/2006/main">
              <a:rPr lang="id" dirty="0"/>
              <a:t>Presentasi Kelas Instruktur</a:t>
            </a:r>
          </a:p>
          <a:p>
            <a:pPr xmlns:a="http://schemas.openxmlformats.org/drawingml/2006/main" lvl="1"/>
            <a:r xmlns:a="http://schemas.openxmlformats.org/drawingml/2006/main">
              <a:rPr lang="id" dirty="0"/>
              <a:t>Slide opsional yang dapat Anda gunakan di kelas</a:t>
            </a:r>
          </a:p>
          <a:p>
            <a:pPr xmlns:a="http://schemas.openxmlformats.org/drawingml/2006/main" lvl="1"/>
            <a:r xmlns:a="http://schemas.openxmlformats.org/drawingml/2006/main">
              <a:rPr lang="id" dirty="0"/>
              <a:t>Dimulai pada slide </a:t>
            </a:r>
            <a:r xmlns:a="http://schemas.openxmlformats.org/drawingml/2006/main">
              <a:rPr lang="id"/>
              <a:t>#12</a:t>
            </a:r>
            <a:endParaRPr xmlns:a="http://schemas.openxmlformats.org/drawingml/2006/main" lang="en-CA" dirty="0"/>
          </a:p>
          <a:p>
            <a:pPr xmlns:a="http://schemas.openxmlformats.org/drawingml/2006/main" marL="142875" lvl="1" indent="0" algn="ctr">
              <a:buNone/>
            </a:pPr>
            <a:r xmlns:a="http://schemas.openxmlformats.org/drawingml/2006/main">
              <a:rPr lang="id" sz="1600" b="1" dirty="0"/>
              <a:t>Catatan </a:t>
            </a:r>
            <a:r xmlns:a="http://schemas.openxmlformats.org/drawingml/2006/main">
              <a:rPr lang="id" sz="1600" dirty="0"/>
              <a:t>: Hapus Panduan Perencanaan dari presentasi ini sebelum berbagi dengan siapa pun.</a:t>
            </a:r>
          </a:p>
          <a:p>
            <a:pPr xmlns:a="http://schemas.openxmlformats.org/drawingml/2006/main" marL="0" indent="0">
              <a:buNone/>
            </a:pPr>
            <a:r xmlns:a="http://schemas.openxmlformats.org/drawingml/2006/main">
              <a:rPr lang="id" sz="1600" b="1" dirty="0">
                <a:solidFill>
                  <a:schemeClr val="accent4"/>
                </a:solidFill>
              </a:rPr>
              <a:t>Untuk bantuan dan sumber daya tambahan, kunjungi Halaman Beranda Instruktur dan Sumber Daya Kursus untuk kursus ini. </a:t>
            </a:r>
            <a:r xmlns:a="http://schemas.openxmlformats.org/drawingml/2006/main">
              <a:rPr lang="id" sz="1600" b="1" dirty="0">
                <a:solidFill>
                  <a:schemeClr val="accent4"/>
                </a:solidFill>
              </a:rPr>
              <a:t>Anda juga dapat mengunjungi situs pengembangan profesional di netacad.com, halaman Facebook resmi Cisco Networking Academy, atau grup FB Khusus Instruktur.</a:t>
            </a:r>
            <a:endParaRPr xmlns:a="http://schemas.openxmlformats.org/drawingml/2006/main" lang="en-CA" sz="1600" b="1" dirty="0">
              <a:solidFill>
                <a:schemeClr val="accent4"/>
              </a:solidFill>
            </a:endParaRPr>
          </a:p>
        </p:txBody>
      </p:sp>
    </p:spTree>
    <p:custDataLst>
      <p:tags r:id="rId1"/>
    </p:custDataLst>
    <p:extLst>
      <p:ext uri="{BB962C8B-B14F-4D97-AF65-F5344CB8AC3E}">
        <p14:creationId xmlns:p14="http://schemas.microsoft.com/office/powerpoint/2010/main" val="3599581950"/>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xmlns:a="http://schemas.openxmlformats.org/drawingml/2006/main">
              <a:rPr lang="id" dirty="0"/>
              <a:t>Apa yang Diharapkan dalam Modul ini</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xmlns:a="http://schemas.openxmlformats.org/drawingml/2006/main" marL="0" indent="0">
              <a:buNone/>
            </a:pPr>
            <a:r xmlns:a="http://schemas.openxmlformats.org/drawingml/2006/main">
              <a:rPr lang="id" dirty="0"/>
              <a:t>Untuk memfasilitasi pembelajaran, fitur-fitur berikut dalam GUI dapat disertakan dalam modul ini:</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extLst/>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xmlns:a="http://schemas.openxmlformats.org/drawingml/2006/main">
                        <a:rPr lang="id" dirty="0"/>
                        <a:t>Fitur</a:t>
                      </a:r>
                    </a:p>
                  </a:txBody>
                  <a:tcPr/>
                </a:tc>
                <a:tc>
                  <a:txBody>
                    <a:bodyPr/>
                    <a:lstStyle/>
                    <a:p>
                      <a:r xmlns:a="http://schemas.openxmlformats.org/drawingml/2006/main">
                        <a:rPr lang="id" dirty="0"/>
                        <a:t>Keterangan</a:t>
                      </a:r>
                    </a:p>
                  </a:txBody>
                  <a:tcPr/>
                </a:tc>
                <a:extLst>
                  <a:ext uri="{0D108BD9-81ED-4DB2-BD59-A6C34878D82A}">
                    <a16:rowId xmlns:a16="http://schemas.microsoft.com/office/drawing/2014/main" val="367710602"/>
                  </a:ext>
                </a:extLst>
              </a:tr>
              <a:tr h="331556">
                <a:tc>
                  <a:txBody>
                    <a:bodyPr/>
                    <a:lstStyle/>
                    <a:p>
                      <a:pPr xmlns:a="http://schemas.openxmlformats.org/drawingml/2006/main" algn="l" fontAlgn="b"/>
                      <a:r xmlns:a="http://schemas.openxmlformats.org/drawingml/2006/main">
                        <a:rPr lang="id" sz="1400" b="0" i="0" u="none" strike="noStrike" dirty="0">
                          <a:solidFill>
                            <a:srgbClr val="000000"/>
                          </a:solidFill>
                          <a:effectLst/>
                          <a:latin typeface="+mn-lt"/>
                        </a:rPr>
                        <a:t>Animasi</a:t>
                      </a:r>
                    </a:p>
                  </a:txBody>
                  <a:tcPr marL="9525" marR="9525" marT="9525" marB="0" anchor="b"/>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dirty="0"/>
                        <a:t>Mengekspos peserta didik pada keterampilan dan konsep baru.</a:t>
                      </a:r>
                    </a:p>
                  </a:txBody>
                  <a:tcPr/>
                </a:tc>
                <a:extLst>
                  <a:ext uri="{0D108BD9-81ED-4DB2-BD59-A6C34878D82A}">
                    <a16:rowId xmlns:a16="http://schemas.microsoft.com/office/drawing/2014/main" val="698835149"/>
                  </a:ext>
                </a:extLst>
              </a:tr>
              <a:tr h="379411">
                <a:tc>
                  <a:txBody>
                    <a:bodyPr/>
                    <a:lstStyle/>
                    <a:p>
                      <a:pPr xmlns:a="http://schemas.openxmlformats.org/drawingml/2006/main" marL="0" marR="0" lvl="0" indent="0" algn="l" defTabSz="685777" rtl="0" eaLnBrk="1" fontAlgn="b" latinLnBrk="0" hangingPunct="1">
                        <a:lnSpc>
                          <a:spcPct val="100000"/>
                        </a:lnSpc>
                        <a:spcBef>
                          <a:spcPts val="0"/>
                        </a:spcBef>
                        <a:spcAft>
                          <a:spcPts val="0"/>
                        </a:spcAft>
                        <a:buClrTx/>
                        <a:buSzTx/>
                        <a:buFontTx/>
                        <a:buNone/>
                        <a:tabLst/>
                        <a:defRPr/>
                      </a:pPr>
                      <a:r xmlns:a="http://schemas.openxmlformats.org/drawingml/2006/main">
                        <a:rPr lang="id" sz="1400" b="0" i="0" u="none" strike="noStrike" dirty="0">
                          <a:solidFill>
                            <a:srgbClr val="000000"/>
                          </a:solidFill>
                          <a:effectLst/>
                          <a:latin typeface="+mn-lt"/>
                        </a:rPr>
                        <a:t>Video</a:t>
                      </a:r>
                    </a:p>
                  </a:txBody>
                  <a:tcPr marL="9525" marR="9525" marT="9525" marB="0" anchor="b"/>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dirty="0"/>
                        <a:t>Mengekspos peserta didik pada keterampilan dan konsep baru.</a:t>
                      </a:r>
                    </a:p>
                  </a:txBody>
                  <a:tcPr/>
                </a:tc>
                <a:extLst>
                  <a:ext uri="{0D108BD9-81ED-4DB2-BD59-A6C34878D82A}">
                    <a16:rowId xmlns:a16="http://schemas.microsoft.com/office/drawing/2014/main" val="904576505"/>
                  </a:ext>
                </a:extLst>
              </a:tr>
              <a:tr h="265091">
                <a:tc>
                  <a:txBody>
                    <a:bodyPr/>
                    <a:lstStyle/>
                    <a:p>
                      <a:pPr xmlns:a="http://schemas.openxmlformats.org/drawingml/2006/main" marL="0" marR="0" lvl="0" indent="0" algn="l" defTabSz="685777" rtl="0" eaLnBrk="1" fontAlgn="b" latinLnBrk="0" hangingPunct="1">
                        <a:lnSpc>
                          <a:spcPct val="100000"/>
                        </a:lnSpc>
                        <a:spcBef>
                          <a:spcPts val="0"/>
                        </a:spcBef>
                        <a:spcAft>
                          <a:spcPts val="0"/>
                        </a:spcAft>
                        <a:buClrTx/>
                        <a:buSzTx/>
                        <a:buFontTx/>
                        <a:buNone/>
                        <a:tabLst/>
                        <a:defRPr/>
                      </a:pPr>
                      <a:r xmlns:a="http://schemas.openxmlformats.org/drawingml/2006/main">
                        <a:rPr lang="id" sz="1400" b="0" i="0" u="none" strike="noStrike" dirty="0">
                          <a:solidFill>
                            <a:srgbClr val="000000"/>
                          </a:solidFill>
                          <a:effectLst/>
                          <a:latin typeface="+mn-lt"/>
                        </a:rPr>
                        <a:t>Periksa Pemahaman Anda (CYU)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xmlns:a="http://schemas.openxmlformats.org/drawingml/2006/main">
                        <a:rPr lang="id" dirty="0"/>
                        <a:t>Kuis online per topik untuk membantu pelajar mengukur pemahaman konten.</a:t>
                      </a:r>
                    </a:p>
                  </a:txBody>
                  <a:tcPr/>
                </a:tc>
                <a:extLst>
                  <a:ext uri="{0D108BD9-81ED-4DB2-BD59-A6C34878D82A}">
                    <a16:rowId xmlns:a16="http://schemas.microsoft.com/office/drawing/2014/main" val="2876586054"/>
                  </a:ext>
                </a:extLst>
              </a:tr>
              <a:tr h="178145">
                <a:tc>
                  <a:txBody>
                    <a:bodyPr/>
                    <a:lstStyle/>
                    <a:p>
                      <a:pPr xmlns:a="http://schemas.openxmlformats.org/drawingml/2006/main" marL="0" marR="0" lvl="0" indent="0" algn="l" defTabSz="685777" rtl="0" eaLnBrk="1" fontAlgn="b" latinLnBrk="0" hangingPunct="1">
                        <a:lnSpc>
                          <a:spcPct val="100000"/>
                        </a:lnSpc>
                        <a:spcBef>
                          <a:spcPts val="0"/>
                        </a:spcBef>
                        <a:spcAft>
                          <a:spcPts val="0"/>
                        </a:spcAft>
                        <a:buClrTx/>
                        <a:buSzTx/>
                        <a:buFontTx/>
                        <a:buNone/>
                        <a:tabLst/>
                        <a:defRPr/>
                      </a:pPr>
                      <a:r xmlns:a="http://schemas.openxmlformats.org/drawingml/2006/main">
                        <a:rPr lang="id" sz="1400" b="0" i="0" u="none" strike="noStrike" dirty="0">
                          <a:solidFill>
                            <a:srgbClr val="000000"/>
                          </a:solidFill>
                          <a:effectLst/>
                          <a:latin typeface="+mn-lt"/>
                        </a:rPr>
                        <a:t>Kegiatan Interaktif</a:t>
                      </a:r>
                    </a:p>
                  </a:txBody>
                  <a:tcPr marL="9525" marR="9525" marT="9525" marB="0" anchor="b"/>
                </a:tc>
                <a:tc>
                  <a:txBody>
                    <a:bodyPr/>
                    <a:lstStyle/>
                    <a:p>
                      <a:r xmlns:a="http://schemas.openxmlformats.org/drawingml/2006/main">
                        <a:rPr lang="id" dirty="0"/>
                        <a:t>Berbagai format untuk membantu pelajar mengukur pemahaman konten.</a:t>
                      </a:r>
                    </a:p>
                  </a:txBody>
                  <a:tcPr/>
                </a:tc>
                <a:extLst>
                  <a:ext uri="{0D108BD9-81ED-4DB2-BD59-A6C34878D82A}">
                    <a16:rowId xmlns:a16="http://schemas.microsoft.com/office/drawing/2014/main" val="3454703549"/>
                  </a:ext>
                </a:extLst>
              </a:tr>
              <a:tr h="215293">
                <a:tc>
                  <a:txBody>
                    <a:bodyPr/>
                    <a:lstStyle/>
                    <a:p>
                      <a:pPr xmlns:a="http://schemas.openxmlformats.org/drawingml/2006/main" algn="l" fontAlgn="b"/>
                      <a:r xmlns:a="http://schemas.openxmlformats.org/drawingml/2006/main">
                        <a:rPr lang="id" sz="1400" b="0" i="0" u="none" strike="noStrike" dirty="0">
                          <a:solidFill>
                            <a:srgbClr val="000000"/>
                          </a:solidFill>
                          <a:effectLst/>
                          <a:latin typeface="+mn-lt"/>
                        </a:rPr>
                        <a:t>Pemeriksa Sintaks</a:t>
                      </a:r>
                    </a:p>
                  </a:txBody>
                  <a:tcPr marL="9525" marR="9525" marT="9525" marB="0" anchor="b"/>
                </a:tc>
                <a:tc>
                  <a:txBody>
                    <a:bodyPr/>
                    <a:lstStyle/>
                    <a:p>
                      <a:r xmlns:a="http://schemas.openxmlformats.org/drawingml/2006/main">
                        <a:rPr lang="id" dirty="0"/>
                        <a:t>Simulasi kecil yang memaparkan pelajar ke baris perintah Cisco untuk melatih keterampilan konfigurasi.</a:t>
                      </a:r>
                    </a:p>
                  </a:txBody>
                  <a:tcPr/>
                </a:tc>
                <a:extLst>
                  <a:ext uri="{0D108BD9-81ED-4DB2-BD59-A6C34878D82A}">
                    <a16:rowId xmlns:a16="http://schemas.microsoft.com/office/drawing/2014/main" val="2195331658"/>
                  </a:ext>
                </a:extLst>
              </a:tr>
              <a:tr h="265091">
                <a:tc>
                  <a:txBody>
                    <a:bodyPr/>
                    <a:lstStyle/>
                    <a:p>
                      <a:pPr xmlns:a="http://schemas.openxmlformats.org/drawingml/2006/main" algn="l" fontAlgn="b"/>
                      <a:r xmlns:a="http://schemas.openxmlformats.org/drawingml/2006/main">
                        <a:rPr lang="id" sz="1400" b="0" i="0" u="none" strike="noStrike" dirty="0">
                          <a:solidFill>
                            <a:srgbClr val="000000"/>
                          </a:solidFill>
                          <a:effectLst/>
                          <a:latin typeface="+mn-lt"/>
                        </a:rPr>
                        <a:t>Aktivitas PT</a:t>
                      </a:r>
                    </a:p>
                  </a:txBody>
                  <a:tcPr marL="9525" marR="9525" marT="9525" marB="0" anchor="b"/>
                </a:tc>
                <a:tc>
                  <a:txBody>
                    <a:bodyPr/>
                    <a:lstStyle/>
                    <a:p>
                      <a:r xmlns:a="http://schemas.openxmlformats.org/drawingml/2006/main">
                        <a:rPr lang="id" dirty="0"/>
                        <a:t>Kegiatan simulasi dan pemodelan dirancang untuk mengeksplorasi, memperoleh, memperkuat, dan memperluas keterampilan.</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xmlns:a="http://schemas.openxmlformats.org/drawingml/2006/main">
              <a:rPr lang="id" dirty="0"/>
              <a:t>Apa yang Diharapkan dalam Modul ini (Lanjutan)</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xmlns:a="http://schemas.openxmlformats.org/drawingml/2006/main" marL="0" indent="0">
              <a:buNone/>
            </a:pPr>
            <a:r xmlns:a="http://schemas.openxmlformats.org/drawingml/2006/main">
              <a:rPr lang="id" dirty="0"/>
              <a:t>Untuk memudahkan pembelajaran, fitur-fitur berikut dapat disertakan dalam modul ini:</a:t>
            </a:r>
          </a:p>
          <a:p>
            <a:pPr marL="0" indent="0">
              <a:buNone/>
            </a:pPr>
            <a:endParaRPr lang="en-US" dirty="0"/>
          </a:p>
          <a:p>
            <a:pPr marL="0" indent="0">
              <a:buFont typeface="Wingdings" panose="05000000000000000000" pitchFamily="2" charset="2"/>
              <a:buNone/>
            </a:pPr>
            <a:endParaRPr lang="en-US" dirty="0"/>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extLst>
              <p:ext uri="{D42A27DB-BD31-4B8C-83A1-F6EECF244321}">
                <p14:modId xmlns:p14="http://schemas.microsoft.com/office/powerpoint/2010/main" val="2271999703"/>
              </p:ext>
            </p:extLst>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xmlns:a="http://schemas.openxmlformats.org/drawingml/2006/main" algn="l" fontAlgn="b"/>
                      <a:r xmlns:a="http://schemas.openxmlformats.org/drawingml/2006/main">
                        <a:rPr lang="id" sz="1400" b="1" i="0" u="none" strike="noStrike" dirty="0">
                          <a:solidFill>
                            <a:schemeClr val="bg1"/>
                          </a:solidFill>
                          <a:effectLst/>
                          <a:latin typeface="+mn-lt"/>
                        </a:rPr>
                        <a:t>Fitur</a:t>
                      </a:r>
                    </a:p>
                  </a:txBody>
                  <a:tcPr marL="9525" marR="9525" marT="9525" marB="0" anchor="b"/>
                </a:tc>
                <a:tc>
                  <a:txBody>
                    <a:bodyPr/>
                    <a:lstStyle/>
                    <a:p>
                      <a:r xmlns:a="http://schemas.openxmlformats.org/drawingml/2006/main">
                        <a:rPr lang="id" dirty="0"/>
                        <a:t>Keterangan</a:t>
                      </a:r>
                    </a:p>
                  </a:txBody>
                  <a:tcPr/>
                </a:tc>
                <a:extLst>
                  <a:ext uri="{0D108BD9-81ED-4DB2-BD59-A6C34878D82A}">
                    <a16:rowId xmlns:a16="http://schemas.microsoft.com/office/drawing/2014/main" val="3768427975"/>
                  </a:ext>
                </a:extLst>
              </a:tr>
              <a:tr h="265091">
                <a:tc>
                  <a:txBody>
                    <a:bodyPr/>
                    <a:lstStyle/>
                    <a:p>
                      <a:pPr xmlns:a="http://schemas.openxmlformats.org/drawingml/2006/main" algn="l" fontAlgn="b"/>
                      <a:r xmlns:a="http://schemas.openxmlformats.org/drawingml/2006/main">
                        <a:rPr lang="id" sz="1400" b="0" i="0" u="none" strike="noStrike" dirty="0">
                          <a:solidFill>
                            <a:srgbClr val="000000"/>
                          </a:solidFill>
                          <a:effectLst/>
                          <a:latin typeface="+mn-lt"/>
                        </a:rPr>
                        <a:t>Lab Praktis</a:t>
                      </a:r>
                    </a:p>
                  </a:txBody>
                  <a:tcPr marL="9525" marR="9525" marT="9525" marB="0" anchor="b"/>
                </a:tc>
                <a:tc>
                  <a:txBody>
                    <a:bodyPr/>
                    <a:lstStyle/>
                    <a:p>
                      <a:r xmlns:a="http://schemas.openxmlformats.org/drawingml/2006/main">
                        <a:rPr lang="id" dirty="0"/>
                        <a:t>Lab yang dirancang untuk bekerja dengan peralatan fisik.</a:t>
                      </a:r>
                    </a:p>
                  </a:txBody>
                  <a:tcPr/>
                </a:tc>
                <a:extLst>
                  <a:ext uri="{0D108BD9-81ED-4DB2-BD59-A6C34878D82A}">
                    <a16:rowId xmlns:a16="http://schemas.microsoft.com/office/drawing/2014/main" val="2258594367"/>
                  </a:ext>
                </a:extLst>
              </a:tr>
              <a:tr h="265091">
                <a:tc>
                  <a:txBody>
                    <a:bodyPr/>
                    <a:lstStyle/>
                    <a:p>
                      <a:pPr xmlns:a="http://schemas.openxmlformats.org/drawingml/2006/main" marL="0" marR="0" lvl="0" indent="0" algn="l" defTabSz="685777" rtl="0" eaLnBrk="1" fontAlgn="b" latinLnBrk="0" hangingPunct="1">
                        <a:lnSpc>
                          <a:spcPct val="100000"/>
                        </a:lnSpc>
                        <a:spcBef>
                          <a:spcPts val="0"/>
                        </a:spcBef>
                        <a:spcAft>
                          <a:spcPts val="0"/>
                        </a:spcAft>
                        <a:buClrTx/>
                        <a:buSzTx/>
                        <a:buFontTx/>
                        <a:buNone/>
                        <a:tabLst/>
                        <a:defRPr/>
                      </a:pPr>
                      <a:r xmlns:a="http://schemas.openxmlformats.org/drawingml/2006/main">
                        <a:rPr lang="id" sz="1400" b="0" i="0" u="none" strike="noStrike" dirty="0">
                          <a:solidFill>
                            <a:srgbClr val="000000"/>
                          </a:solidFill>
                          <a:effectLst/>
                          <a:latin typeface="+mn-lt"/>
                        </a:rPr>
                        <a:t>Kegiatan Kelas</a:t>
                      </a:r>
                    </a:p>
                    <a:p>
                      <a:pPr algn="l" fontAlgn="b"/>
                      <a:endParaRPr lang="en-US" sz="1400" b="0" i="0" u="none" strike="noStrike" dirty="0">
                        <a:solidFill>
                          <a:srgbClr val="000000"/>
                        </a:solidFill>
                        <a:effectLst/>
                        <a:latin typeface="+mn-lt"/>
                      </a:endParaRPr>
                    </a:p>
                  </a:txBody>
                  <a:tcPr marL="9525" marR="9525" marT="9525" marB="0" anchor="b"/>
                </a:tc>
                <a:tc>
                  <a:txBody>
                    <a:bodyPr/>
                    <a:lstStyle/>
                    <a:p>
                      <a:r xmlns:a="http://schemas.openxmlformats.org/drawingml/2006/main">
                        <a:rPr lang="id" dirty="0"/>
                        <a:t>Ini dapat ditemukan di halaman Sumber Daya Instruktur. Kegiatan Kelas dirancang untuk memfasilitasi pembelajaran, diskusi kelas, dan kolaborasi.</a:t>
                      </a:r>
                    </a:p>
                  </a:txBody>
                  <a:tcPr/>
                </a:tc>
                <a:extLst>
                  <a:ext uri="{0D108BD9-81ED-4DB2-BD59-A6C34878D82A}">
                    <a16:rowId xmlns:a16="http://schemas.microsoft.com/office/drawing/2014/main" val="1125566603"/>
                  </a:ext>
                </a:extLst>
              </a:tr>
              <a:tr h="265091">
                <a:tc>
                  <a:txBody>
                    <a:bodyPr/>
                    <a:lstStyle/>
                    <a:p>
                      <a:pPr xmlns:a="http://schemas.openxmlformats.org/drawingml/2006/main" algn="l" fontAlgn="b"/>
                      <a:r xmlns:a="http://schemas.openxmlformats.org/drawingml/2006/main">
                        <a:rPr lang="id" sz="1400" b="0" i="0" u="none" strike="noStrike" dirty="0">
                          <a:solidFill>
                            <a:srgbClr val="000000"/>
                          </a:solidFill>
                          <a:effectLst/>
                          <a:latin typeface="+mn-lt"/>
                        </a:rPr>
                        <a:t>Kuis Modul</a:t>
                      </a:r>
                    </a:p>
                  </a:txBody>
                  <a:tcPr marL="9525" marR="9525" marT="9525" marB="0" anchor="b"/>
                </a:tc>
                <a:tc>
                  <a:txBody>
                    <a:bodyPr/>
                    <a:lstStyle/>
                    <a:p>
                      <a:r xmlns:a="http://schemas.openxmlformats.org/drawingml/2006/main">
                        <a:rPr lang="id" dirty="0"/>
                        <a:t>Penilaian diri yang mengintegrasikan konsep dan keterampilan yang dipelajari sepanjang rangkaian topik yang disajikan dalam modul.</a:t>
                      </a:r>
                    </a:p>
                  </a:txBody>
                  <a:tcPr/>
                </a:tc>
                <a:extLst>
                  <a:ext uri="{0D108BD9-81ED-4DB2-BD59-A6C34878D82A}">
                    <a16:rowId xmlns:a16="http://schemas.microsoft.com/office/drawing/2014/main" val="831502776"/>
                  </a:ext>
                </a:extLst>
              </a:tr>
              <a:tr h="265091">
                <a:tc>
                  <a:txBody>
                    <a:bodyPr/>
                    <a:lstStyle/>
                    <a:p>
                      <a:pPr xmlns:a="http://schemas.openxmlformats.org/drawingml/2006/main" algn="l" fontAlgn="b"/>
                      <a:r xmlns:a="http://schemas.openxmlformats.org/drawingml/2006/main">
                        <a:rPr lang="id" sz="1400" b="0" i="0" u="none" strike="noStrike" dirty="0">
                          <a:solidFill>
                            <a:srgbClr val="000000"/>
                          </a:solidFill>
                          <a:effectLst/>
                          <a:latin typeface="+mn-lt"/>
                        </a:rPr>
                        <a:t>Ringkasan Modul</a:t>
                      </a:r>
                    </a:p>
                  </a:txBody>
                  <a:tcPr marL="9525" marR="9525" marT="9525" marB="0" anchor="b"/>
                </a:tc>
                <a:tc>
                  <a:txBody>
                    <a:bodyPr/>
                    <a:lstStyle/>
                    <a:p>
                      <a:r xmlns:a="http://schemas.openxmlformats.org/drawingml/2006/main">
                        <a:rPr lang="id" dirty="0"/>
                        <a:t>Rekap secara singkat isi modul.</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xmlns:a="http://schemas.openxmlformats.org/drawingml/2006/main" eaLnBrk="1" hangingPunct="1"/>
            <a:r xmlns:a="http://schemas.openxmlformats.org/drawingml/2006/main">
              <a:rPr lang="id" dirty="0"/>
              <a:t>Periksa Pemahaman Anda</a:t>
            </a:r>
          </a:p>
        </p:txBody>
      </p:sp>
      <p:sp>
        <p:nvSpPr>
          <p:cNvPr id="7171" name="Rectangle 34"/>
          <p:cNvSpPr>
            <a:spLocks noGrp="1" noChangeArrowheads="1"/>
          </p:cNvSpPr>
          <p:nvPr>
            <p:ph idx="1"/>
          </p:nvPr>
        </p:nvSpPr>
        <p:spPr>
          <a:xfrm>
            <a:off x="145357" y="965201"/>
            <a:ext cx="8878570" cy="3643747"/>
          </a:xfrm>
        </p:spPr>
        <p:txBody>
          <a:bodyPr/>
          <a:lstStyle/>
          <a:p>
            <a:pPr xmlns:a="http://schemas.openxmlformats.org/drawingml/2006/main">
              <a:spcBef>
                <a:spcPct val="30000"/>
              </a:spcBef>
              <a:buFont typeface="Arial" panose="020B0604020202020204" pitchFamily="34" charset="0"/>
              <a:buChar char="•"/>
            </a:pPr>
            <a:r xmlns:a="http://schemas.openxmlformats.org/drawingml/2006/main">
              <a:rPr lang="id" dirty="0"/>
              <a:t>Aktivitas Periksa Pemahaman Anda dirancang agar siswa dapat dengan cepat menentukan apakah mereka memahami konten dan dapat melanjutkan, atau apakah mereka perlu meninjau ulang.</a:t>
            </a:r>
          </a:p>
          <a:p>
            <a:pPr xmlns:a="http://schemas.openxmlformats.org/drawingml/2006/main">
              <a:spcBef>
                <a:spcPct val="30000"/>
              </a:spcBef>
              <a:buFont typeface="Arial" panose="020B0604020202020204" pitchFamily="34" charset="0"/>
              <a:buChar char="•"/>
            </a:pPr>
            <a:r xmlns:a="http://schemas.openxmlformats.org/drawingml/2006/main">
              <a:rPr lang="id" dirty="0"/>
              <a:t>Kegiatan Periksa Pemahaman Anda </a:t>
            </a:r>
            <a:r xmlns:a="http://schemas.openxmlformats.org/drawingml/2006/main">
              <a:rPr lang="id" b="1" i="1" dirty="0"/>
              <a:t>tidak </a:t>
            </a:r>
            <a:r xmlns:a="http://schemas.openxmlformats.org/drawingml/2006/main">
              <a:rPr lang="id" dirty="0"/>
              <a:t>mempengaruhi nilai siswa.</a:t>
            </a:r>
          </a:p>
          <a:p>
            <a:pPr xmlns:a="http://schemas.openxmlformats.org/drawingml/2006/main">
              <a:spcBef>
                <a:spcPct val="30000"/>
              </a:spcBef>
              <a:buFont typeface="Arial" panose="020B0604020202020204" pitchFamily="34" charset="0"/>
              <a:buChar char="•"/>
            </a:pPr>
            <a:r xmlns:a="http://schemas.openxmlformats.org/drawingml/2006/main">
              <a:rPr lang="id" dirty="0"/>
              <a:t>Tidak ada slide terpisah untuk kegiatan ini di PPT. Kegiatan-kegiatan tersebut tercantum dalam area catatan pada slide yang muncul sebelum kegiatan-kegiatan ini.</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15333575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3"/>
            <a:ext cx="9144000" cy="568207"/>
          </a:xfrm>
        </p:spPr>
        <p:txBody>
          <a:bodyPr/>
          <a:lstStyle/>
          <a:p>
            <a:pPr xmlns:a="http://schemas.openxmlformats.org/drawingml/2006/main" eaLnBrk="1" hangingPunct="1"/>
            <a:r xmlns:a="http://schemas.openxmlformats.org/drawingml/2006/main">
              <a:rPr lang="id" dirty="0"/>
              <a:t>Modul 1: Kegiatan</a:t>
            </a:r>
          </a:p>
        </p:txBody>
      </p:sp>
      <p:sp>
        <p:nvSpPr>
          <p:cNvPr id="6147" name="Rectangle 34"/>
          <p:cNvSpPr>
            <a:spLocks noGrp="1" noChangeArrowheads="1"/>
          </p:cNvSpPr>
          <p:nvPr>
            <p:ph idx="1"/>
          </p:nvPr>
        </p:nvSpPr>
        <p:spPr>
          <a:xfrm>
            <a:off x="136631" y="609600"/>
            <a:ext cx="8695135" cy="348414"/>
          </a:xfrm>
        </p:spPr>
        <p:txBody>
          <a:bodyPr/>
          <a:lstStyle/>
          <a:p>
            <a:pPr xmlns:a="http://schemas.openxmlformats.org/drawingml/2006/main" marL="0" indent="0">
              <a:spcBef>
                <a:spcPct val="30000"/>
              </a:spcBef>
              <a:buNone/>
            </a:pPr>
            <a:r xmlns:a="http://schemas.openxmlformats.org/drawingml/2006/main">
              <a:rPr lang="id" dirty="0"/>
              <a:t>Kegiatan apa saja yang terkait dengan modul ini?</a:t>
            </a:r>
            <a:endParaRPr xmlns:a="http://schemas.openxmlformats.org/drawingml/2006/main" lang="en-US" dirty="0">
              <a:solidFill>
                <a:srgbClr val="00B0F0"/>
              </a:solidFill>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7" name="Content Placeholder 3"/>
          <p:cNvGraphicFramePr>
            <a:graphicFrameLocks/>
          </p:cNvGraphicFramePr>
          <p:nvPr>
            <p:extLst>
              <p:ext uri="{D42A27DB-BD31-4B8C-83A1-F6EECF244321}">
                <p14:modId xmlns:p14="http://schemas.microsoft.com/office/powerpoint/2010/main" val="285361024"/>
              </p:ext>
            </p:extLst>
          </p:nvPr>
        </p:nvGraphicFramePr>
        <p:xfrm>
          <a:off x="369489" y="988376"/>
          <a:ext cx="8229418" cy="3198825"/>
        </p:xfrm>
        <a:graphic>
          <a:graphicData uri="http://schemas.openxmlformats.org/drawingml/2006/table">
            <a:tbl>
              <a:tblPr firstRow="1" bandRow="1">
                <a:tableStyleId>{5C22544A-7EE6-4342-B048-85BDC9FD1C3A}</a:tableStyleId>
              </a:tblPr>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382">
                <a:tc>
                  <a:txBody>
                    <a:bodyPr/>
                    <a:lstStyle/>
                    <a:p>
                      <a:pPr xmlns:a="http://schemas.openxmlformats.org/drawingml/2006/main" marL="0" marR="0" lvl="0" indent="0" algn="ctr"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200" dirty="0"/>
                        <a:t>Halaman #</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200" dirty="0"/>
                        <a:t>Tipe kegiatan</a:t>
                      </a:r>
                    </a:p>
                  </a:txBody>
                  <a:tcPr marL="68580" marR="68580" marT="34290" marB="34290" anchor="ctr"/>
                </a:tc>
                <a:tc>
                  <a:txBody>
                    <a:bodyPr/>
                    <a:lstStyle/>
                    <a:p>
                      <a:r xmlns:a="http://schemas.openxmlformats.org/drawingml/2006/main">
                        <a:rPr lang="id" sz="1200" dirty="0"/>
                        <a:t>Nama Aktivitas</a:t>
                      </a:r>
                    </a:p>
                  </a:txBody>
                  <a:tcPr marL="68580" marR="68580" marT="34290" marB="34290" anchor="ctr"/>
                </a:tc>
                <a:tc>
                  <a:txBody>
                    <a:bodyPr/>
                    <a:lstStyle/>
                    <a:p>
                      <a:r xmlns:a="http://schemas.openxmlformats.org/drawingml/2006/main">
                        <a:rPr lang="id" sz="1200" dirty="0"/>
                        <a:t>Opsional?</a:t>
                      </a:r>
                    </a:p>
                  </a:txBody>
                  <a:tcPr marL="68580" marR="68580" marT="34290" marB="34290" anchor="ctr"/>
                </a:tc>
                <a:extLst>
                  <a:ext uri="{0D108BD9-81ED-4DB2-BD59-A6C34878D82A}">
                    <a16:rowId xmlns:a16="http://schemas.microsoft.com/office/drawing/2014/main" val="10000"/>
                  </a:ext>
                </a:extLst>
              </a:tr>
              <a:tr h="236179">
                <a:tc>
                  <a:txBody>
                    <a:bodyPr/>
                    <a:lstStyle/>
                    <a:p>
                      <a:pPr xmlns:a="http://schemas.openxmlformats.org/drawingml/2006/main" algn="ctr"/>
                      <a:r xmlns:a="http://schemas.openxmlformats.org/drawingml/2006/main">
                        <a:rPr lang="id" sz="1100" dirty="0"/>
                        <a:t>1.1.2</a:t>
                      </a:r>
                    </a:p>
                  </a:txBody>
                  <a:tcPr marL="68580" marR="68580" marT="34290" marB="34290" anchor="ct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Video</a:t>
                      </a:r>
                    </a:p>
                  </a:txBody>
                  <a:tcPr marL="68580" marR="68580" marT="34290" marB="34290" anchor="ctr"/>
                </a:tc>
                <a:tc>
                  <a:txBody>
                    <a:bodyPr/>
                    <a:lstStyle/>
                    <a:p>
                      <a:r xmlns:a="http://schemas.openxmlformats.org/drawingml/2006/main">
                        <a:rPr lang="id" sz="1100" dirty="0"/>
                        <a:t>Pengalaman Belajar Cisco Networking Academy</a:t>
                      </a:r>
                    </a:p>
                  </a:txBody>
                  <a:tcPr marL="68580" marR="68580" marT="34290" marB="34290" anchor="ctr"/>
                </a:tc>
                <a:tc>
                  <a:txBody>
                    <a:bodyPr/>
                    <a:lstStyle/>
                    <a:p>
                      <a:r xmlns:a="http://schemas.openxmlformats.org/drawingml/2006/main">
                        <a:rPr lang="id" sz="1100" dirty="0"/>
                        <a:t>Direkomendasikan</a:t>
                      </a:r>
                      <a:endParaRPr xmlns:a="http://schemas.openxmlformats.org/drawingml/2006/main" lang="en-US" sz="1100" dirty="0">
                        <a:solidFill>
                          <a:schemeClr val="tx1"/>
                        </a:solidFill>
                      </a:endParaRPr>
                    </a:p>
                  </a:txBody>
                  <a:tcPr marL="68580" marR="68580" marT="34290" marB="34290" anchor="ctr"/>
                </a:tc>
                <a:extLst>
                  <a:ext uri="{0D108BD9-81ED-4DB2-BD59-A6C34878D82A}">
                    <a16:rowId xmlns:a16="http://schemas.microsoft.com/office/drawing/2014/main" val="10001"/>
                  </a:ext>
                </a:extLst>
              </a:tr>
              <a:tr h="236179">
                <a:tc>
                  <a:txBody>
                    <a:bodyPr/>
                    <a:lstStyle/>
                    <a:p>
                      <a:pPr xmlns:a="http://schemas.openxmlformats.org/drawingml/2006/main" algn="ctr"/>
                      <a:r xmlns:a="http://schemas.openxmlformats.org/drawingml/2006/main">
                        <a:rPr lang="id" sz="1100" dirty="0"/>
                        <a:t>1.2.6</a:t>
                      </a:r>
                    </a:p>
                  </a:txBody>
                  <a:tcPr marL="68580" marR="68580" marT="34290" marB="34290" anchor="ctr"/>
                </a:tc>
                <a:tc>
                  <a:txBody>
                    <a:bodyPr/>
                    <a:lstStyle/>
                    <a:p>
                      <a:pPr xmlns:a="http://schemas.openxmlformats.org/drawingml/2006/main" marL="0" marR="0" lvl="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Periksa Pemahaman Anda</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Komponen Jaringan</a:t>
                      </a:r>
                    </a:p>
                  </a:txBody>
                  <a:tcPr marL="68580" marR="68580" marT="34290" marB="34290" anchor="ctr"/>
                </a:tc>
                <a:tc>
                  <a:txBody>
                    <a:bodyPr/>
                    <a:lstStyle/>
                    <a:p>
                      <a:r xmlns:a="http://schemas.openxmlformats.org/drawingml/2006/main">
                        <a:rPr lang="id" sz="1100" dirty="0"/>
                        <a:t>Direkomendasikan</a:t>
                      </a:r>
                      <a:endParaRPr xmlns:a="http://schemas.openxmlformats.org/drawingml/2006/main" lang="en-US" sz="1100" dirty="0">
                        <a:solidFill>
                          <a:schemeClr val="tx1"/>
                        </a:solidFill>
                      </a:endParaRPr>
                    </a:p>
                  </a:txBody>
                  <a:tcPr marL="68580" marR="68580" marT="34290" marB="34290" anchor="ctr"/>
                </a:tc>
                <a:extLst>
                  <a:ext uri="{0D108BD9-81ED-4DB2-BD59-A6C34878D82A}">
                    <a16:rowId xmlns:a16="http://schemas.microsoft.com/office/drawing/2014/main" val="3039725069"/>
                  </a:ext>
                </a:extLst>
              </a:tr>
              <a:tr h="236179">
                <a:tc>
                  <a:txBody>
                    <a:bodyPr/>
                    <a:lstStyle/>
                    <a:p>
                      <a:pPr xmlns:a="http://schemas.openxmlformats.org/drawingml/2006/main" algn="ctr"/>
                      <a:r xmlns:a="http://schemas.openxmlformats.org/drawingml/2006/main">
                        <a:rPr lang="id" sz="1100" dirty="0"/>
                        <a:t>1.3.3</a:t>
                      </a:r>
                    </a:p>
                  </a:txBody>
                  <a:tcPr marL="68580" marR="68580" marT="34290" marB="34290" anchor="ctr"/>
                </a:tc>
                <a:tc>
                  <a:txBody>
                    <a:bodyPr/>
                    <a:lstStyle/>
                    <a:p>
                      <a:pPr xmlns:a="http://schemas.openxmlformats.org/drawingml/2006/main" marL="0" marR="0" lvl="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Periksa Pemahaman Anda</a:t>
                      </a:r>
                    </a:p>
                  </a:txBody>
                  <a:tcPr marL="68580" marR="68580" marT="34290" marB="34290" anchor="ctr"/>
                </a:tc>
                <a:tc>
                  <a:txBody>
                    <a:bodyPr/>
                    <a:lstStyle/>
                    <a:p>
                      <a:r xmlns:a="http://schemas.openxmlformats.org/drawingml/2006/main">
                        <a:rPr lang="id" sz="1100" dirty="0"/>
                        <a:t>Representasi dan Topologi Jaringan</a:t>
                      </a:r>
                    </a:p>
                  </a:txBody>
                  <a:tcPr marL="68580" marR="68580" marT="34290" marB="34290" anchor="ctr"/>
                </a:tc>
                <a:tc>
                  <a:txBody>
                    <a:bodyPr/>
                    <a:lstStyle/>
                    <a:p>
                      <a:r xmlns:a="http://schemas.openxmlformats.org/drawingml/2006/main">
                        <a:rPr lang="id" sz="1100" dirty="0"/>
                        <a:t>Direkomendasikan</a:t>
                      </a:r>
                      <a:endParaRPr xmlns:a="http://schemas.openxmlformats.org/drawingml/2006/main" lang="en-US" sz="1100" dirty="0">
                        <a:solidFill>
                          <a:schemeClr val="tx1"/>
                        </a:solidFill>
                      </a:endParaRPr>
                    </a:p>
                  </a:txBody>
                  <a:tcPr marL="68580" marR="68580" marT="34290" marB="34290" anchor="ctr"/>
                </a:tc>
                <a:extLst>
                  <a:ext uri="{0D108BD9-81ED-4DB2-BD59-A6C34878D82A}">
                    <a16:rowId xmlns:a16="http://schemas.microsoft.com/office/drawing/2014/main" val="1814984366"/>
                  </a:ext>
                </a:extLst>
              </a:tr>
              <a:tr h="236179">
                <a:tc>
                  <a:txBody>
                    <a:bodyPr/>
                    <a:lstStyle/>
                    <a:p>
                      <a:pPr xmlns:a="http://schemas.openxmlformats.org/drawingml/2006/main" algn="ctr"/>
                      <a:r xmlns:a="http://schemas.openxmlformats.org/drawingml/2006/main">
                        <a:rPr lang="id" sz="1100" dirty="0"/>
                        <a:t>1.4.5</a:t>
                      </a:r>
                    </a:p>
                  </a:txBody>
                  <a:tcPr marL="68580" marR="68580" marT="34290" marB="34290" anchor="ctr"/>
                </a:tc>
                <a:tc>
                  <a:txBody>
                    <a:bodyPr/>
                    <a:lstStyle/>
                    <a:p>
                      <a:pPr xmlns:a="http://schemas.openxmlformats.org/drawingml/2006/main" marL="0" marR="0" lvl="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Periksa Pemahaman Anda</a:t>
                      </a:r>
                    </a:p>
                  </a:txBody>
                  <a:tcPr marL="68580" marR="68580" marT="34290" marB="34290" anchor="ctr"/>
                </a:tc>
                <a:tc>
                  <a:txBody>
                    <a:bodyPr/>
                    <a:lstStyle/>
                    <a:p>
                      <a:r xmlns:a="http://schemas.openxmlformats.org/drawingml/2006/main">
                        <a:rPr lang="id" sz="1100" baseline="0" dirty="0"/>
                        <a:t>Jaringan </a:t>
                      </a:r>
                      <a:endParaRPr xmlns:a="http://schemas.openxmlformats.org/drawingml/2006/main" lang="en-US" sz="1100" dirty="0"/>
                      <a:r xmlns:a="http://schemas.openxmlformats.org/drawingml/2006/main">
                        <a:rPr lang="id" sz="1100" dirty="0"/>
                        <a:t>Umum</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kumimoji="0" lang="id" sz="1100" u="none" strike="noStrike" kern="1200" cap="none" spc="0" normalizeH="0" baseline="0" noProof="0" dirty="0">
                          <a:ln>
                            <a:noFill/>
                          </a:ln>
                          <a:effectLst/>
                          <a:uLnTx/>
                          <a:uFillTx/>
                        </a:rPr>
                        <a:t>Direkomendasikan</a:t>
                      </a:r>
                      <a:endParaRPr xmlns:a="http://schemas.openxmlformats.org/drawingml/2006/main"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74708435"/>
                  </a:ext>
                </a:extLst>
              </a:tr>
              <a:tr h="236179">
                <a:tc>
                  <a:txBody>
                    <a:bodyPr/>
                    <a:lstStyle/>
                    <a:p>
                      <a:pPr xmlns:a="http://schemas.openxmlformats.org/drawingml/2006/main" algn="ctr"/>
                      <a:r xmlns:a="http://schemas.openxmlformats.org/drawingml/2006/main">
                        <a:rPr lang="id" sz="1100" dirty="0"/>
                        <a:t>1.5.5</a:t>
                      </a:r>
                    </a:p>
                  </a:txBody>
                  <a:tcPr marL="68580" marR="68580" marT="34290" marB="34290" anchor="ct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Video</a:t>
                      </a:r>
                    </a:p>
                  </a:txBody>
                  <a:tcPr marL="68580" marR="68580" marT="34290" marB="34290" anchor="ctr"/>
                </a:tc>
                <a:tc>
                  <a:txBody>
                    <a:bodyPr/>
                    <a:lstStyle/>
                    <a:p>
                      <a:r xmlns:a="http://schemas.openxmlformats.org/drawingml/2006/main">
                        <a:rPr lang="id" sz="1100" dirty="0"/>
                        <a:t>Unduh dan Instal Pelacak Paket</a:t>
                      </a:r>
                    </a:p>
                  </a:txBody>
                  <a:tcPr marL="68580" marR="68580" marT="34290" marB="34290" anchor="ctr"/>
                </a:tc>
                <a:tc>
                  <a:txBody>
                    <a:bodyPr/>
                    <a:lstStyle/>
                    <a:p>
                      <a:r xmlns:a="http://schemas.openxmlformats.org/drawingml/2006/main">
                        <a:rPr lang="id" sz="1100" dirty="0"/>
                        <a:t>Direkomendasikan</a:t>
                      </a:r>
                      <a:endParaRPr xmlns:a="http://schemas.openxmlformats.org/drawingml/2006/main" lang="en-US" sz="1100" dirty="0">
                        <a:solidFill>
                          <a:schemeClr val="tx1"/>
                        </a:solidFill>
                      </a:endParaRPr>
                    </a:p>
                  </a:txBody>
                  <a:tcPr marL="68580" marR="68580" marT="34290" marB="34290" anchor="ctr"/>
                </a:tc>
                <a:extLst>
                  <a:ext uri="{0D108BD9-81ED-4DB2-BD59-A6C34878D82A}">
                    <a16:rowId xmlns:a16="http://schemas.microsoft.com/office/drawing/2014/main" val="10006"/>
                  </a:ext>
                </a:extLst>
              </a:tr>
              <a:tr h="236179">
                <a:tc>
                  <a:txBody>
                    <a:bodyPr/>
                    <a:lstStyle/>
                    <a:p>
                      <a:pPr xmlns:a="http://schemas.openxmlformats.org/drawingml/2006/main" algn="ctr"/>
                      <a:r xmlns:a="http://schemas.openxmlformats.org/drawingml/2006/main">
                        <a:rPr lang="id" sz="1100" dirty="0"/>
                        <a:t>1.5.6</a:t>
                      </a:r>
                    </a:p>
                  </a:txBody>
                  <a:tcPr marL="68580" marR="68580" marT="34290" marB="34290" anchor="ct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Video</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Memulai Cisco Paket Tracer</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kumimoji="0" lang="id" sz="1100" u="none" strike="noStrike" kern="1200" cap="none" spc="0" normalizeH="0" baseline="0" noProof="0" dirty="0">
                          <a:ln>
                            <a:noFill/>
                          </a:ln>
                          <a:effectLst/>
                          <a:uLnTx/>
                          <a:uFillTx/>
                        </a:rPr>
                        <a:t>Direkomendasikan</a:t>
                      </a:r>
                      <a:endParaRPr xmlns:a="http://schemas.openxmlformats.org/drawingml/2006/main"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161252496"/>
                  </a:ext>
                </a:extLst>
              </a:tr>
              <a:tr h="267108">
                <a:tc>
                  <a:txBody>
                    <a:bodyPr/>
                    <a:lstStyle/>
                    <a:p>
                      <a:pPr xmlns:a="http://schemas.openxmlformats.org/drawingml/2006/main" algn="ctr"/>
                      <a:r xmlns:a="http://schemas.openxmlformats.org/drawingml/2006/main">
                        <a:rPr lang="id" sz="1100" dirty="0"/>
                        <a:t>1.5.7</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Pelacak paket</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Representasi Jaringan</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kumimoji="0" lang="id" sz="1100" u="none" strike="noStrike" kern="1200" cap="none" spc="0" normalizeH="0" baseline="0" noProof="0" dirty="0">
                          <a:ln>
                            <a:noFill/>
                          </a:ln>
                          <a:effectLst/>
                          <a:uLnTx/>
                          <a:uFillTx/>
                        </a:rPr>
                        <a:t>Direkomendasikan</a:t>
                      </a:r>
                      <a:endParaRPr xmlns:a="http://schemas.openxmlformats.org/drawingml/2006/main"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364792345"/>
                  </a:ext>
                </a:extLst>
              </a:tr>
              <a:tr h="267108">
                <a:tc>
                  <a:txBody>
                    <a:bodyPr/>
                    <a:lstStyle/>
                    <a:p>
                      <a:pPr xmlns:a="http://schemas.openxmlformats.org/drawingml/2006/main" algn="ctr"/>
                      <a:r xmlns:a="http://schemas.openxmlformats.org/drawingml/2006/main">
                        <a:rPr lang="id" sz="1100" dirty="0"/>
                        <a:t>1.6.6</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Periksa Pemahaman Anda</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Jaringan yang Andal</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kumimoji="0" lang="id" sz="1100" u="none" strike="noStrike" kern="1200" cap="none" spc="0" normalizeH="0" baseline="0" noProof="0" dirty="0">
                          <a:ln>
                            <a:noFill/>
                          </a:ln>
                          <a:effectLst/>
                          <a:uLnTx/>
                          <a:uFillTx/>
                        </a:rPr>
                        <a:t>Direkomendasikan</a:t>
                      </a:r>
                      <a:endParaRPr xmlns:a="http://schemas.openxmlformats.org/drawingml/2006/main"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0008"/>
                  </a:ext>
                </a:extLst>
              </a:tr>
              <a:tr h="236179">
                <a:tc>
                  <a:txBody>
                    <a:bodyPr/>
                    <a:lstStyle/>
                    <a:p>
                      <a:pPr xmlns:a="http://schemas.openxmlformats.org/drawingml/2006/main" algn="ctr"/>
                      <a:r xmlns:a="http://schemas.openxmlformats.org/drawingml/2006/main">
                        <a:rPr lang="id" sz="1100" dirty="0"/>
                        <a:t>1.7.5</a:t>
                      </a:r>
                    </a:p>
                  </a:txBody>
                  <a:tcPr marL="68580" marR="68580" marT="34290" marB="34290" anchor="ctr"/>
                </a:tc>
                <a:tc>
                  <a:txBody>
                    <a:bodyPr/>
                    <a:lstStyle/>
                    <a:p>
                      <a:pPr xmlns:a="http://schemas.openxmlformats.org/drawingml/2006/main" marL="0" marR="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Video</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Cisco WebEx </a:t>
                      </a:r>
                      <a:r xmlns:a="http://schemas.openxmlformats.org/drawingml/2006/main">
                        <a:rPr lang="id" sz="1100" baseline="0" dirty="0"/>
                        <a:t>untuk Ngerumpi</a:t>
                      </a:r>
                      <a:endParaRPr xmlns:a="http://schemas.openxmlformats.org/drawingml/2006/main" lang="en-US" sz="1100" dirty="0"/>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kumimoji="0" lang="id" sz="1100" u="none" strike="noStrike" kern="1200" cap="none" spc="0" normalizeH="0" baseline="0" noProof="0" dirty="0">
                          <a:ln>
                            <a:noFill/>
                          </a:ln>
                          <a:effectLst/>
                          <a:uLnTx/>
                          <a:uFillTx/>
                        </a:rPr>
                        <a:t>Direkomendasikan</a:t>
                      </a:r>
                      <a:endParaRPr xmlns:a="http://schemas.openxmlformats.org/drawingml/2006/main"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522544737"/>
                  </a:ext>
                </a:extLst>
              </a:tr>
              <a:tr h="236179">
                <a:tc>
                  <a:txBody>
                    <a:bodyPr/>
                    <a:lstStyle/>
                    <a:p>
                      <a:pPr xmlns:a="http://schemas.openxmlformats.org/drawingml/2006/main" algn="ctr"/>
                      <a:r xmlns:a="http://schemas.openxmlformats.org/drawingml/2006/main">
                        <a:rPr lang="id" sz="1100" dirty="0"/>
                        <a:t>1.7.10</a:t>
                      </a:r>
                    </a:p>
                  </a:txBody>
                  <a:tcPr marL="68580" marR="68580" marT="34290" marB="34290" anchor="ctr"/>
                </a:tc>
                <a:tc>
                  <a:txBody>
                    <a:bodyPr/>
                    <a:lstStyle/>
                    <a:p>
                      <a:pPr xmlns:a="http://schemas.openxmlformats.org/drawingml/2006/main" marL="0" marR="0" lvl="0" indent="0" algn="l" defTabSz="914400"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Periksa Pemahaman Anda</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Tren Jaringan</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kumimoji="0" lang="id" sz="1100" u="none" strike="noStrike" kern="1200" cap="none" spc="0" normalizeH="0" baseline="0" noProof="0" dirty="0">
                          <a:ln>
                            <a:noFill/>
                          </a:ln>
                          <a:effectLst/>
                          <a:uLnTx/>
                          <a:uFillTx/>
                        </a:rPr>
                        <a:t>Direkomendasikan</a:t>
                      </a:r>
                      <a:endParaRPr xmlns:a="http://schemas.openxmlformats.org/drawingml/2006/main"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230909535"/>
                  </a:ext>
                </a:extLst>
              </a:tr>
              <a:tr h="236179">
                <a:tc>
                  <a:txBody>
                    <a:bodyPr/>
                    <a:lstStyle/>
                    <a:p>
                      <a:pPr xmlns:a="http://schemas.openxmlformats.org/drawingml/2006/main" algn="ctr"/>
                      <a:r xmlns:a="http://schemas.openxmlformats.org/drawingml/2006/main">
                        <a:rPr lang="id" sz="1100" dirty="0"/>
                        <a:t>1.8.3</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Periksa Pemahaman Anda</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Keamanan jaringan</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kumimoji="0" lang="id" sz="1100" u="none" strike="noStrike" kern="1200" cap="none" spc="0" normalizeH="0" baseline="0" noProof="0" dirty="0">
                          <a:ln>
                            <a:noFill/>
                          </a:ln>
                          <a:effectLst/>
                          <a:uLnTx/>
                          <a:uFillTx/>
                        </a:rPr>
                        <a:t>Direkomendasikan</a:t>
                      </a:r>
                      <a:endParaRPr xmlns:a="http://schemas.openxmlformats.org/drawingml/2006/main"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1464881506"/>
                  </a:ext>
                </a:extLst>
              </a:tr>
              <a:tr h="237247">
                <a:tc>
                  <a:txBody>
                    <a:bodyPr/>
                    <a:lstStyle/>
                    <a:p>
                      <a:pPr xmlns:a="http://schemas.openxmlformats.org/drawingml/2006/main" algn="ctr"/>
                      <a:r xmlns:a="http://schemas.openxmlformats.org/drawingml/2006/main">
                        <a:rPr lang="id" sz="1100" dirty="0"/>
                        <a:t>1.9.3</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Laboratorium</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sz="1100" dirty="0"/>
                        <a:t>Meneliti Peluang Kerja TI dan Jaringan</a:t>
                      </a:r>
                    </a:p>
                  </a:txBody>
                  <a:tcPr marL="68580" marR="68580" marT="34290" marB="34290" anchor="ct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kumimoji="0" lang="id" sz="1100" u="none" strike="noStrike" kern="1200" cap="none" spc="0" normalizeH="0" baseline="0" noProof="0" dirty="0">
                          <a:ln>
                            <a:noFill/>
                          </a:ln>
                          <a:effectLst/>
                          <a:uLnTx/>
                          <a:uFillTx/>
                        </a:rPr>
                        <a:t>Direkomendasikan</a:t>
                      </a:r>
                      <a:endParaRPr xmlns:a="http://schemas.openxmlformats.org/drawingml/2006/main"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tc>
                <a:extLst>
                  <a:ext uri="{0D108BD9-81ED-4DB2-BD59-A6C34878D82A}">
                    <a16:rowId xmlns:a16="http://schemas.microsoft.com/office/drawing/2014/main" val="3001172460"/>
                  </a:ext>
                </a:extLst>
              </a:tr>
            </a:tbl>
          </a:graphicData>
        </a:graphic>
      </p:graphicFrame>
    </p:spTree>
    <p:custDataLst>
      <p:tags r:id="rId1"/>
    </p:custDataLst>
    <p:extLst>
      <p:ext uri="{BB962C8B-B14F-4D97-AF65-F5344CB8AC3E}">
        <p14:creationId xmlns:p14="http://schemas.microsoft.com/office/powerpoint/2010/main" val="79465384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id" dirty="0"/>
              <a:t>Modul 1: Praktik Terbaik</a:t>
            </a:r>
          </a:p>
        </p:txBody>
      </p:sp>
      <p:sp>
        <p:nvSpPr>
          <p:cNvPr id="11266" name="Rectangle 34"/>
          <p:cNvSpPr>
            <a:spLocks noGrp="1" noChangeArrowheads="1"/>
          </p:cNvSpPr>
          <p:nvPr>
            <p:ph idx="1"/>
          </p:nvPr>
        </p:nvSpPr>
        <p:spPr/>
        <p:txBody>
          <a:bodyPr/>
          <a:lstStyle/>
          <a:p>
            <a:pPr xmlns:a="http://schemas.openxmlformats.org/drawingml/2006/main" marL="0" indent="0">
              <a:lnSpc>
                <a:spcPct val="85000"/>
              </a:lnSpc>
              <a:spcBef>
                <a:spcPct val="30000"/>
              </a:spcBef>
              <a:buNone/>
            </a:pPr>
            <a:r xmlns:a="http://schemas.openxmlformats.org/drawingml/2006/main">
              <a:rPr lang="id" sz="1600" dirty="0"/>
              <a:t>Sebelum mengajarkan Modul 1, instruktur harus:</a:t>
            </a:r>
          </a:p>
          <a:p>
            <a:pPr xmlns:a="http://schemas.openxmlformats.org/drawingml/2006/main">
              <a:lnSpc>
                <a:spcPct val="85000"/>
              </a:lnSpc>
              <a:spcBef>
                <a:spcPct val="30000"/>
              </a:spcBef>
              <a:buFont typeface="Arial" panose="020B0604020202020204" pitchFamily="34" charset="0"/>
              <a:buChar char="•"/>
            </a:pPr>
            <a:r xmlns:a="http://schemas.openxmlformats.org/drawingml/2006/main">
              <a:rPr lang="id" sz="1600" dirty="0"/>
              <a:t>Tinjau kegiatan dan penilaian untuk modul ini.</a:t>
            </a:r>
          </a:p>
          <a:p>
            <a:pPr xmlns:a="http://schemas.openxmlformats.org/drawingml/2006/main">
              <a:lnSpc>
                <a:spcPct val="85000"/>
              </a:lnSpc>
              <a:spcBef>
                <a:spcPct val="30000"/>
              </a:spcBef>
              <a:buFont typeface="Arial" panose="020B0604020202020204" pitchFamily="34" charset="0"/>
              <a:buChar char="•"/>
            </a:pPr>
            <a:r xmlns:a="http://schemas.openxmlformats.org/drawingml/2006/main">
              <a:rPr lang="id" sz="1600" dirty="0"/>
              <a:t>Cobalah untuk memasukkan pertanyaan sebanyak mungkin untuk membuat siswa tetap terlibat selama presentasi kelas.</a:t>
            </a:r>
          </a:p>
          <a:p>
            <a:pPr marL="0" indent="0">
              <a:lnSpc>
                <a:spcPct val="85000"/>
              </a:lnSpc>
              <a:spcBef>
                <a:spcPct val="30000"/>
              </a:spcBef>
              <a:buNone/>
            </a:pPr>
            <a:endParaRPr lang="en-US" sz="1600" dirty="0"/>
          </a:p>
          <a:p>
            <a:pPr xmlns:a="http://schemas.openxmlformats.org/drawingml/2006/main" marL="0" indent="0">
              <a:lnSpc>
                <a:spcPct val="85000"/>
              </a:lnSpc>
              <a:spcBef>
                <a:spcPct val="30000"/>
              </a:spcBef>
              <a:buNone/>
            </a:pPr>
            <a:r xmlns:a="http://schemas.openxmlformats.org/drawingml/2006/main">
              <a:rPr lang="id" sz="1600" dirty="0"/>
              <a:t>Topik 1.1</a:t>
            </a:r>
          </a:p>
          <a:p>
            <a:pPr xmlns:a="http://schemas.openxmlformats.org/drawingml/2006/main" lvl="1"/>
            <a:r xmlns:a="http://schemas.openxmlformats.org/drawingml/2006/main">
              <a:rPr lang="id" altLang="ja-JP" sz="1600" dirty="0"/>
              <a:t>Tanyakan kepada kelas:</a:t>
            </a:r>
          </a:p>
          <a:p>
            <a:pPr xmlns:a="http://schemas.openxmlformats.org/drawingml/2006/main" lvl="2"/>
            <a:r xmlns:a="http://schemas.openxmlformats.org/drawingml/2006/main">
              <a:rPr lang="id" altLang="ja-JP" sz="1600" dirty="0"/>
              <a:t>Apa yang tidak kita miliki tanpa internet?</a:t>
            </a:r>
          </a:p>
          <a:p>
            <a:pPr xmlns:a="http://schemas.openxmlformats.org/drawingml/2006/main" lvl="2"/>
            <a:r xmlns:a="http://schemas.openxmlformats.org/drawingml/2006/main">
              <a:rPr lang="id" altLang="ja-JP" sz="1600" dirty="0"/>
              <a:t>Apa yang mungkin terjadi di masa depan dengan menggunakan jaringan sebagai platform?</a:t>
            </a:r>
          </a:p>
          <a:p>
            <a:pPr lvl="1">
              <a:lnSpc>
                <a:spcPct val="85000"/>
              </a:lnSpc>
              <a:spcBef>
                <a:spcPct val="30000"/>
              </a:spcBef>
            </a:pPr>
            <a:endParaRPr lang="en-US" sz="1600"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119976613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id" dirty="0"/>
              <a:t>Modul 1: Praktik Terbaik (Lanjutan)</a:t>
            </a:r>
          </a:p>
        </p:txBody>
      </p:sp>
      <p:sp>
        <p:nvSpPr>
          <p:cNvPr id="11266" name="Rectangle 34"/>
          <p:cNvSpPr>
            <a:spLocks noGrp="1" noChangeArrowheads="1"/>
          </p:cNvSpPr>
          <p:nvPr>
            <p:ph idx="1"/>
          </p:nvPr>
        </p:nvSpPr>
        <p:spPr>
          <a:xfrm>
            <a:off x="145358" y="798944"/>
            <a:ext cx="8853286" cy="3993954"/>
          </a:xfrm>
        </p:spPr>
        <p:txBody>
          <a:bodyPr/>
          <a:lstStyle/>
          <a:p>
            <a:pPr xmlns:a="http://schemas.openxmlformats.org/drawingml/2006/main" marL="0" indent="0">
              <a:buNone/>
            </a:pPr>
            <a:r xmlns:a="http://schemas.openxmlformats.org/drawingml/2006/main">
              <a:rPr lang="id" altLang="ja-JP" sz="1600" dirty="0"/>
              <a:t>Topik 1.2</a:t>
            </a:r>
          </a:p>
          <a:p>
            <a:pPr xmlns:a="http://schemas.openxmlformats.org/drawingml/2006/main" lvl="1"/>
            <a:r xmlns:a="http://schemas.openxmlformats.org/drawingml/2006/main">
              <a:rPr lang="id" altLang="ja-JP" sz="1600" dirty="0"/>
              <a:t>Tanyakan kepada siswa apa pendapat mereka ketika seseorang menggunakan istilah “tuan rumah”. Apa itu “tuan rumah”?</a:t>
            </a:r>
          </a:p>
          <a:p>
            <a:pPr xmlns:a="http://schemas.openxmlformats.org/drawingml/2006/main" lvl="1"/>
            <a:r xmlns:a="http://schemas.openxmlformats.org/drawingml/2006/main">
              <a:rPr lang="id" altLang="ja-JP" sz="1600" dirty="0"/>
              <a:t>Diskusikan perbedaan antara jaringan klien server dan jaringan peer-to-peer (P2P). Tanyakan kepada siswa masalah apa yang bisa kita hadapi dengan P2P.</a:t>
            </a:r>
          </a:p>
          <a:p>
            <a:pPr xmlns:a="http://schemas.openxmlformats.org/drawingml/2006/main" lvl="1"/>
            <a:r xmlns:a="http://schemas.openxmlformats.org/drawingml/2006/main">
              <a:rPr lang="id" altLang="ja-JP" sz="1600" dirty="0"/>
              <a:t>Dalam P2P, pengguna dapat berbagi informasi dengan seseorang yang sebenarnya tidak mempunyai hak tersebut. Ingatlah bahwa ini adalah model desentralisasi dimana pengelola tidak dapat melakukan banyak kendali.</a:t>
            </a:r>
          </a:p>
          <a:p>
            <a:pPr xmlns:a="http://schemas.openxmlformats.org/drawingml/2006/main" lvl="1"/>
            <a:r xmlns:a="http://schemas.openxmlformats.org/drawingml/2006/main">
              <a:rPr lang="id" altLang="ja-JP" sz="1600" dirty="0"/>
              <a:t>Juga ketika orang yang menjadi server tidak ada (pergi makan siang, berlibur, dll.) sumber daya mereka tidak akan tersedia untuk klien. Penting bahwa ini paling baik digunakan pada jaringan yang sangat kecil.</a:t>
            </a:r>
            <a:endParaRPr xmlns:a="http://schemas.openxmlformats.org/drawingml/2006/main" lang="en-US" altLang="ja-JP" dirty="0"/>
          </a:p>
          <a:p>
            <a:pPr marL="0" indent="0">
              <a:lnSpc>
                <a:spcPct val="85000"/>
              </a:lnSpc>
              <a:spcBef>
                <a:spcPct val="30000"/>
              </a:spcBef>
              <a:buNone/>
            </a:pPr>
            <a:endParaRPr lang="en-US" dirty="0"/>
          </a:p>
          <a:p>
            <a:pPr>
              <a:lnSpc>
                <a:spcPct val="85000"/>
              </a:lnSpc>
              <a:spcBef>
                <a:spcPct val="30000"/>
              </a:spcBef>
            </a:pPr>
            <a:endParaRPr lang="en-US" dirty="0"/>
          </a:p>
          <a:p>
            <a:pPr>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custDataLst>
      <p:tags r:id="rId1"/>
    </p:custDataLst>
    <p:extLst>
      <p:ext uri="{BB962C8B-B14F-4D97-AF65-F5344CB8AC3E}">
        <p14:creationId xmlns:p14="http://schemas.microsoft.com/office/powerpoint/2010/main" val="4051986856"/>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4"/>
            <a:ext cx="9144000" cy="635940"/>
          </a:xfrm>
        </p:spPr>
        <p:txBody>
          <a:bodyPr/>
          <a:lstStyle/>
          <a:p>
            <a:r xmlns:a="http://schemas.openxmlformats.org/drawingml/2006/main">
              <a:rPr lang="id" dirty="0"/>
              <a:t>Modul 1: Praktik Terbaik (Lanjutan)</a:t>
            </a:r>
          </a:p>
        </p:txBody>
      </p:sp>
      <p:sp>
        <p:nvSpPr>
          <p:cNvPr id="11266" name="Rectangle 34"/>
          <p:cNvSpPr>
            <a:spLocks noGrp="1" noChangeArrowheads="1"/>
          </p:cNvSpPr>
          <p:nvPr>
            <p:ph idx="1"/>
          </p:nvPr>
        </p:nvSpPr>
        <p:spPr>
          <a:xfrm>
            <a:off x="145358" y="677334"/>
            <a:ext cx="8853286" cy="4155319"/>
          </a:xfrm>
        </p:spPr>
        <p:txBody>
          <a:bodyPr/>
          <a:lstStyle/>
          <a:p>
            <a:pPr xmlns:a="http://schemas.openxmlformats.org/drawingml/2006/main" marL="0" indent="0">
              <a:lnSpc>
                <a:spcPct val="85000"/>
              </a:lnSpc>
              <a:spcBef>
                <a:spcPct val="30000"/>
              </a:spcBef>
              <a:buNone/>
            </a:pPr>
            <a:r xmlns:a="http://schemas.openxmlformats.org/drawingml/2006/main">
              <a:rPr lang="id" sz="1600" dirty="0"/>
              <a:t>Topik 1.3</a:t>
            </a:r>
          </a:p>
          <a:p>
            <a:pPr xmlns:a="http://schemas.openxmlformats.org/drawingml/2006/main" lvl="1">
              <a:lnSpc>
                <a:spcPct val="85000"/>
              </a:lnSpc>
              <a:spcBef>
                <a:spcPct val="30000"/>
              </a:spcBef>
            </a:pPr>
            <a:r xmlns:a="http://schemas.openxmlformats.org/drawingml/2006/main">
              <a:rPr lang="id" sz="1600" dirty="0"/>
              <a:t>Membuat demonstrasi Packet Tracer dan merujuknya ke seluruh modul ketika mereferensikan konsep yang diperkenalkan dalam modul (router, switch, antarmuka, port, koneksi media jaringan)</a:t>
            </a:r>
          </a:p>
          <a:p>
            <a:pPr xmlns:a="http://schemas.openxmlformats.org/drawingml/2006/main" lvl="2">
              <a:lnSpc>
                <a:spcPct val="85000"/>
              </a:lnSpc>
              <a:spcBef>
                <a:spcPct val="30000"/>
              </a:spcBef>
            </a:pPr>
            <a:r xmlns:a="http://schemas.openxmlformats.org/drawingml/2006/main">
              <a:rPr lang="id" sz="1600" dirty="0"/>
              <a:t>Tunjukkan topologi dasar dan beberapa ikon kunci</a:t>
            </a:r>
          </a:p>
          <a:p>
            <a:pPr xmlns:a="http://schemas.openxmlformats.org/drawingml/2006/main" lvl="2">
              <a:lnSpc>
                <a:spcPct val="85000"/>
              </a:lnSpc>
              <a:spcBef>
                <a:spcPct val="30000"/>
              </a:spcBef>
            </a:pPr>
            <a:r xmlns:a="http://schemas.openxmlformats.org/drawingml/2006/main">
              <a:rPr lang="id" sz="1600" dirty="0"/>
              <a:t>Perkuat perbedaan antara topologi fisik dan logis</a:t>
            </a:r>
          </a:p>
          <a:p>
            <a:pPr xmlns:a="http://schemas.openxmlformats.org/drawingml/2006/main" lvl="2">
              <a:lnSpc>
                <a:spcPct val="85000"/>
              </a:lnSpc>
              <a:spcBef>
                <a:spcPct val="30000"/>
              </a:spcBef>
            </a:pPr>
            <a:r xmlns:a="http://schemas.openxmlformats.org/drawingml/2006/main">
              <a:rPr lang="id" sz="1600" dirty="0"/>
              <a:t>Analoginya juga bagus, ketika memikirkan tentang peta jalan, peta yang menunjukkan topologi fisik akan menunjukkan lokasi jalan-jalan tersebut; sedangkan peta logis mungkin menunjukkan ke arah mana arus lalu lintas di jalan, seperti jalan satu arah atau jalan dua arah, dll. Penting untuk mengetahui baik fisik maupun logis, sama pentingnya dengan mengetahui tidak hanya di mana jalan-jalan tersebut berada, tetapi juga ke arah mana lalu lintas diperbolehkan melewati jalan tersebut.</a:t>
            </a:r>
          </a:p>
          <a:p>
            <a:pPr xmlns:a="http://schemas.openxmlformats.org/drawingml/2006/main" marL="0" indent="0">
              <a:lnSpc>
                <a:spcPct val="85000"/>
              </a:lnSpc>
              <a:spcBef>
                <a:spcPct val="30000"/>
              </a:spcBef>
              <a:buNone/>
            </a:pPr>
            <a:r xmlns:a="http://schemas.openxmlformats.org/drawingml/2006/main">
              <a:rPr lang="id" sz="1600" dirty="0"/>
              <a:t>Topik 1.4</a:t>
            </a:r>
          </a:p>
          <a:p>
            <a:pPr xmlns:a="http://schemas.openxmlformats.org/drawingml/2006/main" lvl="1">
              <a:lnSpc>
                <a:spcPct val="85000"/>
              </a:lnSpc>
              <a:spcBef>
                <a:spcPct val="30000"/>
              </a:spcBef>
            </a:pPr>
            <a:r xmlns:a="http://schemas.openxmlformats.org/drawingml/2006/main">
              <a:rPr lang="id" sz="1600" dirty="0"/>
              <a:t>Tanyakan kepada siswa jenis peralatan apa yang ada di jaringan rumah mereka. Pertimbangkan bahwa semua item ini berada di jaringan terbesar. Perbedaannya terletak pada kemampuan, kuantitas, dan biaya peralatan suatu perusahaan.</a:t>
            </a:r>
          </a:p>
          <a:p>
            <a:pPr marL="261937" lvl="2" indent="0">
              <a:lnSpc>
                <a:spcPct val="85000"/>
              </a:lnSpc>
              <a:spcBef>
                <a:spcPct val="30000"/>
              </a:spcBef>
              <a:buNone/>
            </a:pPr>
            <a:endParaRPr lang="en-US" sz="1400" dirty="0"/>
          </a:p>
          <a:p>
            <a:pPr marL="0" indent="0" eaLnBrk="1" hangingPunct="1">
              <a:lnSpc>
                <a:spcPct val="85000"/>
              </a:lnSpc>
              <a:spcBef>
                <a:spcPct val="30000"/>
              </a:spcBef>
              <a:buNone/>
            </a:pPr>
            <a:endParaRPr lang="en-US" dirty="0"/>
          </a:p>
        </p:txBody>
      </p:sp>
    </p:spTree>
    <p:custDataLst>
      <p:tags r:id="rId1"/>
    </p:custDataLst>
    <p:extLst>
      <p:ext uri="{BB962C8B-B14F-4D97-AF65-F5344CB8AC3E}">
        <p14:creationId xmlns:p14="http://schemas.microsoft.com/office/powerpoint/2010/main" val="107932120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590785"/>
          </a:xfrm>
        </p:spPr>
        <p:txBody>
          <a:bodyPr/>
          <a:lstStyle/>
          <a:p>
            <a:r xmlns:a="http://schemas.openxmlformats.org/drawingml/2006/main">
              <a:rPr lang="id" dirty="0"/>
              <a:t>Modul 1: Praktik Terbaik (Lanjutan)</a:t>
            </a:r>
          </a:p>
        </p:txBody>
      </p:sp>
      <p:sp>
        <p:nvSpPr>
          <p:cNvPr id="11266" name="Rectangle 34"/>
          <p:cNvSpPr>
            <a:spLocks noGrp="1" noChangeArrowheads="1"/>
          </p:cNvSpPr>
          <p:nvPr>
            <p:ph idx="1"/>
          </p:nvPr>
        </p:nvSpPr>
        <p:spPr>
          <a:xfrm>
            <a:off x="145357" y="555978"/>
            <a:ext cx="8853286" cy="4155319"/>
          </a:xfrm>
        </p:spPr>
        <p:txBody>
          <a:bodyPr/>
          <a:lstStyle/>
          <a:p>
            <a:pPr xmlns:a="http://schemas.openxmlformats.org/drawingml/2006/main" marL="0" indent="0">
              <a:lnSpc>
                <a:spcPct val="85000"/>
              </a:lnSpc>
              <a:spcBef>
                <a:spcPct val="30000"/>
              </a:spcBef>
              <a:buNone/>
            </a:pPr>
            <a:r xmlns:a="http://schemas.openxmlformats.org/drawingml/2006/main">
              <a:rPr lang="id" sz="1600" dirty="0"/>
              <a:t>Topik 1.5</a:t>
            </a:r>
          </a:p>
          <a:p>
            <a:pPr xmlns:a="http://schemas.openxmlformats.org/drawingml/2006/main" lvl="1">
              <a:lnSpc>
                <a:spcPct val="85000"/>
              </a:lnSpc>
              <a:spcBef>
                <a:spcPct val="30000"/>
              </a:spcBef>
            </a:pPr>
            <a:r xmlns:a="http://schemas.openxmlformats.org/drawingml/2006/main">
              <a:rPr lang="id" sz="1600" dirty="0"/>
              <a:t>Tanyakan kepada kelas bagaimana mereka terhubung ke internet di rumah.</a:t>
            </a:r>
          </a:p>
          <a:p>
            <a:pPr xmlns:a="http://schemas.openxmlformats.org/drawingml/2006/main" lvl="1">
              <a:lnSpc>
                <a:spcPct val="85000"/>
              </a:lnSpc>
              <a:spcBef>
                <a:spcPct val="30000"/>
              </a:spcBef>
            </a:pPr>
            <a:r xmlns:a="http://schemas.openxmlformats.org/drawingml/2006/main">
              <a:rPr lang="id" sz="1600" dirty="0"/>
              <a:t>Adakah yang ingat menghubungkan melalui modem dialup?</a:t>
            </a:r>
          </a:p>
          <a:p>
            <a:pPr xmlns:a="http://schemas.openxmlformats.org/drawingml/2006/main" lvl="1">
              <a:lnSpc>
                <a:spcPct val="85000"/>
              </a:lnSpc>
              <a:spcBef>
                <a:spcPct val="30000"/>
              </a:spcBef>
            </a:pPr>
            <a:r xmlns:a="http://schemas.openxmlformats.org/drawingml/2006/main">
              <a:rPr lang="id" sz="1600" dirty="0"/>
              <a:t>Tanyakan kepada kelas apakah ada yang menggunakan layanan telepon VoIP yang dipaketkan dari ISP mereka. Ini akan menjadi contoh jaringan rumah yang terkonvergensi.</a:t>
            </a:r>
          </a:p>
          <a:p>
            <a:pPr xmlns:a="http://schemas.openxmlformats.org/drawingml/2006/main" marL="0" lvl="0" indent="0">
              <a:lnSpc>
                <a:spcPct val="85000"/>
              </a:lnSpc>
              <a:spcBef>
                <a:spcPct val="30000"/>
              </a:spcBef>
              <a:buClr>
                <a:srgbClr val="58585B"/>
              </a:buClr>
              <a:buNone/>
            </a:pPr>
            <a:r xmlns:a="http://schemas.openxmlformats.org/drawingml/2006/main">
              <a:rPr lang="id" sz="1600" dirty="0"/>
              <a:t>Topik 1.6</a:t>
            </a:r>
          </a:p>
          <a:p>
            <a:pPr xmlns:a="http://schemas.openxmlformats.org/drawingml/2006/main" lvl="1">
              <a:lnSpc>
                <a:spcPct val="85000"/>
              </a:lnSpc>
              <a:spcBef>
                <a:spcPct val="30000"/>
              </a:spcBef>
              <a:buClr>
                <a:srgbClr val="58585B"/>
              </a:buClr>
            </a:pPr>
            <a:r xmlns:a="http://schemas.openxmlformats.org/drawingml/2006/main">
              <a:rPr lang="id" sz="1600" dirty="0"/>
              <a:t>QoS adalah kemampuan untuk memberikan keuntungan pada jenis lalu lintas tertentu.</a:t>
            </a:r>
          </a:p>
          <a:p>
            <a:pPr xmlns:a="http://schemas.openxmlformats.org/drawingml/2006/main" lvl="2">
              <a:lnSpc>
                <a:spcPct val="85000"/>
              </a:lnSpc>
              <a:spcBef>
                <a:spcPct val="30000"/>
              </a:spcBef>
              <a:buClr>
                <a:srgbClr val="58585B"/>
              </a:buClr>
            </a:pPr>
            <a:r xmlns:a="http://schemas.openxmlformats.org/drawingml/2006/main">
              <a:rPr lang="id" sz="1600" dirty="0"/>
              <a:t>Tanyakan kepada anggota kelas kapan kita ingin memberikan keuntungan kepada sesuatu atau seseorang, tetapi kepada semua orang. Jika mereka tidak dapat memikirkan apa pun, tanyakan apakah kita mempunyai keadaan darurat, apakah kita ingin ambulans, truk pemadam kebakaran, dll. diperlakukan seperti lalu lintas lainnya di jalan raya?</a:t>
            </a:r>
          </a:p>
          <a:p>
            <a:pPr xmlns:a="http://schemas.openxmlformats.org/drawingml/2006/main" lvl="2">
              <a:lnSpc>
                <a:spcPct val="85000"/>
              </a:lnSpc>
              <a:spcBef>
                <a:spcPct val="30000"/>
              </a:spcBef>
              <a:buClr>
                <a:srgbClr val="58585B"/>
              </a:buClr>
            </a:pPr>
            <a:r xmlns:a="http://schemas.openxmlformats.org/drawingml/2006/main">
              <a:rPr lang="id" sz="1600" dirty="0"/>
              <a:t>Diskusikan secara singkat contoh bagaimana Kerahasiaan, Integritas, dan Ketersediaan diterapkan.</a:t>
            </a:r>
          </a:p>
          <a:p>
            <a:pPr xmlns:a="http://schemas.openxmlformats.org/drawingml/2006/main" lvl="3">
              <a:lnSpc>
                <a:spcPct val="85000"/>
              </a:lnSpc>
              <a:spcBef>
                <a:spcPct val="30000"/>
              </a:spcBef>
              <a:buClr>
                <a:srgbClr val="58585B"/>
              </a:buClr>
            </a:pPr>
            <a:r xmlns:a="http://schemas.openxmlformats.org/drawingml/2006/main">
              <a:rPr lang="id" sz="1600" dirty="0"/>
              <a:t>Kerahasiaan – Enkripsi</a:t>
            </a:r>
          </a:p>
          <a:p>
            <a:pPr xmlns:a="http://schemas.openxmlformats.org/drawingml/2006/main" lvl="3">
              <a:lnSpc>
                <a:spcPct val="85000"/>
              </a:lnSpc>
              <a:spcBef>
                <a:spcPct val="30000"/>
              </a:spcBef>
              <a:buClr>
                <a:srgbClr val="58585B"/>
              </a:buClr>
            </a:pPr>
            <a:r xmlns:a="http://schemas.openxmlformats.org/drawingml/2006/main">
              <a:rPr lang="id" sz="1600" dirty="0"/>
              <a:t>Integritas – checksum atau hashing</a:t>
            </a:r>
          </a:p>
          <a:p>
            <a:pPr xmlns:a="http://schemas.openxmlformats.org/drawingml/2006/main" lvl="3">
              <a:lnSpc>
                <a:spcPct val="85000"/>
              </a:lnSpc>
              <a:spcBef>
                <a:spcPct val="30000"/>
              </a:spcBef>
              <a:buClr>
                <a:srgbClr val="58585B"/>
              </a:buClr>
            </a:pPr>
            <a:r xmlns:a="http://schemas.openxmlformats.org/drawingml/2006/main">
              <a:rPr lang="id" sz="1600" dirty="0"/>
              <a:t>Ketersediaan – dipastikan dengan perangkat keras yang berlebihan, koneksi, pencadangan, pemulihan bencana</a:t>
            </a:r>
          </a:p>
          <a:p>
            <a:pPr eaLnBrk="1" hangingPunct="1">
              <a:lnSpc>
                <a:spcPct val="85000"/>
              </a:lnSpc>
              <a:spcBef>
                <a:spcPct val="30000"/>
              </a:spcBef>
            </a:pPr>
            <a:endParaRPr lang="en-US" dirty="0"/>
          </a:p>
        </p:txBody>
      </p:sp>
    </p:spTree>
    <p:extLst>
      <p:ext uri="{BB962C8B-B14F-4D97-AF65-F5344CB8AC3E}">
        <p14:creationId xmlns:p14="http://schemas.microsoft.com/office/powerpoint/2010/main" val="237308208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xmlns:a="http://schemas.openxmlformats.org/drawingml/2006/main">
              <a:rPr lang="id" dirty="0"/>
              <a:t>Modul 1: Praktik Terbaik (Lanjutan)</a:t>
            </a:r>
          </a:p>
        </p:txBody>
      </p:sp>
      <p:sp>
        <p:nvSpPr>
          <p:cNvPr id="11266" name="Rectangle 34"/>
          <p:cNvSpPr>
            <a:spLocks noGrp="1" noChangeArrowheads="1"/>
          </p:cNvSpPr>
          <p:nvPr>
            <p:ph idx="1"/>
          </p:nvPr>
        </p:nvSpPr>
        <p:spPr>
          <a:xfrm>
            <a:off x="145357" y="646544"/>
            <a:ext cx="8853286" cy="4155319"/>
          </a:xfrm>
        </p:spPr>
        <p:txBody>
          <a:bodyPr/>
          <a:lstStyle/>
          <a:p>
            <a:pPr xmlns:a="http://schemas.openxmlformats.org/drawingml/2006/main" marL="0" indent="0" eaLnBrk="1" hangingPunct="1">
              <a:lnSpc>
                <a:spcPct val="85000"/>
              </a:lnSpc>
              <a:spcBef>
                <a:spcPct val="30000"/>
              </a:spcBef>
              <a:buNone/>
            </a:pPr>
            <a:r xmlns:a="http://schemas.openxmlformats.org/drawingml/2006/main">
              <a:rPr lang="id" dirty="0"/>
              <a:t>Topik 1.7</a:t>
            </a:r>
          </a:p>
          <a:p>
            <a:pPr xmlns:a="http://schemas.openxmlformats.org/drawingml/2006/main" lvl="1">
              <a:lnSpc>
                <a:spcPct val="85000"/>
              </a:lnSpc>
              <a:spcBef>
                <a:spcPct val="30000"/>
              </a:spcBef>
            </a:pPr>
            <a:r xmlns:a="http://schemas.openxmlformats.org/drawingml/2006/main">
              <a:rPr lang="id" sz="1500" dirty="0"/>
              <a:t>Mintalah siswa mendiskusikan perangkat apa yang mereka gunakan untuk melakukan BYOD dan di mana.</a:t>
            </a:r>
          </a:p>
          <a:p>
            <a:pPr xmlns:a="http://schemas.openxmlformats.org/drawingml/2006/main" lvl="1">
              <a:lnSpc>
                <a:spcPct val="85000"/>
              </a:lnSpc>
              <a:spcBef>
                <a:spcPct val="30000"/>
              </a:spcBef>
            </a:pPr>
            <a:r xmlns:a="http://schemas.openxmlformats.org/drawingml/2006/main">
              <a:rPr lang="id" sz="1500" dirty="0"/>
              <a:t>Tanyakan kepada siswa apakah mereka menggunakan Cloud Computing dan untuk apa.</a:t>
            </a:r>
          </a:p>
          <a:p>
            <a:pPr xmlns:a="http://schemas.openxmlformats.org/drawingml/2006/main" lvl="1">
              <a:lnSpc>
                <a:spcPct val="85000"/>
              </a:lnSpc>
              <a:spcBef>
                <a:spcPct val="30000"/>
              </a:spcBef>
            </a:pPr>
            <a:r xmlns:a="http://schemas.openxmlformats.org/drawingml/2006/main">
              <a:rPr lang="id" sz="1500" dirty="0"/>
              <a:t>1.7.6 – Lakukan riset terlebih dahulu untuk membantu menjelaskan apa itu Custom Cloud</a:t>
            </a:r>
          </a:p>
          <a:p>
            <a:pPr xmlns:a="http://schemas.openxmlformats.org/drawingml/2006/main" lvl="1">
              <a:lnSpc>
                <a:spcPct val="85000"/>
              </a:lnSpc>
              <a:spcBef>
                <a:spcPct val="30000"/>
              </a:spcBef>
            </a:pPr>
            <a:r xmlns:a="http://schemas.openxmlformats.org/drawingml/2006/main">
              <a:rPr lang="id" sz="1500" dirty="0"/>
              <a:t>1.7.7 – Mintalah siswa untuk mendiskusikan apakah ada orang yang saat ini memanfaatkan teknologi rumah pintar</a:t>
            </a:r>
          </a:p>
          <a:p>
            <a:pPr xmlns:a="http://schemas.openxmlformats.org/drawingml/2006/main" lvl="2">
              <a:lnSpc>
                <a:spcPct val="85000"/>
              </a:lnSpc>
              <a:spcBef>
                <a:spcPct val="30000"/>
              </a:spcBef>
            </a:pPr>
            <a:r xmlns:a="http://schemas.openxmlformats.org/drawingml/2006/main">
              <a:rPr lang="id" sz="1500" dirty="0"/>
              <a:t>Apa saja kemungkinan lain selain yang disebutkan dalam kurikulum?</a:t>
            </a:r>
          </a:p>
          <a:p>
            <a:pPr xmlns:a="http://schemas.openxmlformats.org/drawingml/2006/main" marL="0" indent="0">
              <a:lnSpc>
                <a:spcPct val="85000"/>
              </a:lnSpc>
              <a:spcBef>
                <a:spcPct val="30000"/>
              </a:spcBef>
              <a:buNone/>
            </a:pPr>
            <a:r xmlns:a="http://schemas.openxmlformats.org/drawingml/2006/main">
              <a:rPr lang="id" dirty="0"/>
              <a:t>Topik1.8</a:t>
            </a:r>
          </a:p>
          <a:p>
            <a:pPr xmlns:a="http://schemas.openxmlformats.org/drawingml/2006/main" lvl="1">
              <a:lnSpc>
                <a:spcPct val="85000"/>
              </a:lnSpc>
              <a:spcBef>
                <a:spcPct val="30000"/>
              </a:spcBef>
            </a:pPr>
            <a:r xmlns:a="http://schemas.openxmlformats.org/drawingml/2006/main">
              <a:rPr lang="id" sz="1500" dirty="0"/>
              <a:t>Tanyakan kepada kelas ancaman internal apa yang mungkin mereka lihat sebagai administrator jaringan.</a:t>
            </a:r>
          </a:p>
          <a:p>
            <a:pPr xmlns:a="http://schemas.openxmlformats.org/drawingml/2006/main" lvl="1">
              <a:lnSpc>
                <a:spcPct val="85000"/>
              </a:lnSpc>
              <a:spcBef>
                <a:spcPct val="30000"/>
              </a:spcBef>
            </a:pPr>
            <a:r xmlns:a="http://schemas.openxmlformats.org/drawingml/2006/main">
              <a:rPr lang="id" sz="1500" dirty="0"/>
              <a:t>Tanyakan mengapa serangan internal sama pentingnya untuk diatasi dengan serangan eksternal yang sudah jelas terlihat.</a:t>
            </a:r>
          </a:p>
          <a:p>
            <a:pPr xmlns:a="http://schemas.openxmlformats.org/drawingml/2006/main" marL="0" indent="0">
              <a:lnSpc>
                <a:spcPct val="85000"/>
              </a:lnSpc>
              <a:spcBef>
                <a:spcPct val="30000"/>
              </a:spcBef>
              <a:buNone/>
            </a:pPr>
            <a:r xmlns:a="http://schemas.openxmlformats.org/drawingml/2006/main">
              <a:rPr lang="id" dirty="0"/>
              <a:t>Topik 1.9</a:t>
            </a:r>
          </a:p>
          <a:p>
            <a:pPr xmlns:a="http://schemas.openxmlformats.org/drawingml/2006/main" lvl="1">
              <a:lnSpc>
                <a:spcPct val="85000"/>
              </a:lnSpc>
              <a:spcBef>
                <a:spcPct val="30000"/>
              </a:spcBef>
            </a:pPr>
            <a:r xmlns:a="http://schemas.openxmlformats.org/drawingml/2006/main">
              <a:rPr lang="id" sz="1500" dirty="0"/>
              <a:t>Diskusikan manfaat memperoleh sertifikasi CCNA.</a:t>
            </a:r>
          </a:p>
          <a:p>
            <a:pPr xmlns:a="http://schemas.openxmlformats.org/drawingml/2006/main" lvl="1">
              <a:lnSpc>
                <a:spcPct val="85000"/>
              </a:lnSpc>
              <a:spcBef>
                <a:spcPct val="30000"/>
              </a:spcBef>
            </a:pPr>
            <a:r xmlns:a="http://schemas.openxmlformats.org/drawingml/2006/main">
              <a:rPr lang="id" sz="1500" dirty="0"/>
              <a:t>Mintalah siswa meneliti lowongan pekerjaan jaringan saat ini yang memerlukan CCNA atau sertifikasi Cisco lainnya.</a:t>
            </a:r>
          </a:p>
          <a:p>
            <a:pPr>
              <a:lnSpc>
                <a:spcPct val="85000"/>
              </a:lnSpc>
              <a:spcBef>
                <a:spcPct val="30000"/>
              </a:spcBef>
            </a:pPr>
            <a:endParaRPr lang="en-US" dirty="0"/>
          </a:p>
          <a:p>
            <a:pPr>
              <a:lnSpc>
                <a:spcPct val="85000"/>
              </a:lnSpc>
              <a:spcBef>
                <a:spcPct val="30000"/>
              </a:spcBef>
            </a:pPr>
            <a:endParaRPr lang="en-US" dirty="0"/>
          </a:p>
          <a:p>
            <a:pPr lvl="1">
              <a:lnSpc>
                <a:spcPct val="85000"/>
              </a:lnSpc>
              <a:spcBef>
                <a:spcPct val="30000"/>
              </a:spcBef>
            </a:pPr>
            <a:endParaRPr lang="en-US" dirty="0"/>
          </a:p>
          <a:p>
            <a:pPr eaLnBrk="1" hangingPunct="1">
              <a:lnSpc>
                <a:spcPct val="85000"/>
              </a:lnSpc>
              <a:spcBef>
                <a:spcPct val="30000"/>
              </a:spcBef>
            </a:pPr>
            <a:endParaRPr lang="en-US" dirty="0"/>
          </a:p>
          <a:p>
            <a:pPr marL="630238" lvl="2" indent="-214313">
              <a:buFont typeface="Arial" panose="020B0604020202020204" pitchFamily="34" charset="0"/>
              <a:buChar char="•"/>
            </a:pPr>
            <a:endParaRPr lang="en-US" sz="1200" dirty="0"/>
          </a:p>
          <a:p>
            <a:pPr marL="630238" lvl="2" indent="-214313">
              <a:buFont typeface="Arial" panose="020B0604020202020204" pitchFamily="34" charset="0"/>
              <a:buChar char="•"/>
            </a:pPr>
            <a:endParaRPr lang="en-US" sz="1500" dirty="0"/>
          </a:p>
          <a:p>
            <a:pPr eaLnBrk="1" hangingPunct="1">
              <a:lnSpc>
                <a:spcPct val="85000"/>
              </a:lnSpc>
              <a:spcBef>
                <a:spcPct val="30000"/>
              </a:spcBef>
            </a:pPr>
            <a:endParaRPr lang="en-US" b="1" dirty="0">
              <a:solidFill>
                <a:srgbClr val="FF0000"/>
              </a:solidFill>
            </a:endParaRPr>
          </a:p>
          <a:p>
            <a:pPr eaLnBrk="1" hangingPunct="1">
              <a:lnSpc>
                <a:spcPct val="85000"/>
              </a:lnSpc>
              <a:spcBef>
                <a:spcPct val="30000"/>
              </a:spcBef>
            </a:pPr>
            <a:endParaRPr lang="en-US" dirty="0"/>
          </a:p>
        </p:txBody>
      </p:sp>
    </p:spTree>
    <p:extLst>
      <p:ext uri="{BB962C8B-B14F-4D97-AF65-F5344CB8AC3E}">
        <p14:creationId xmlns:p14="http://schemas.microsoft.com/office/powerpoint/2010/main" val="2856283264"/>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751893"/>
            <a:ext cx="6672708" cy="644730"/>
          </a:xfrm>
        </p:spPr>
        <p:txBody>
          <a:bodyPr/>
          <a:lstStyle/>
          <a:p>
            <a:r xmlns:a="http://schemas.openxmlformats.org/drawingml/2006/main">
              <a:rPr lang="id" dirty="0">
                <a:solidFill>
                  <a:schemeClr val="accent5">
                    <a:lumMod val="40000"/>
                    <a:lumOff val="60000"/>
                  </a:schemeClr>
                </a:solidFill>
              </a:rPr>
              <a:t>Modul 1: Jaringan Saat Ini</a:t>
            </a:r>
          </a:p>
        </p:txBody>
      </p:sp>
      <p:sp>
        <p:nvSpPr>
          <p:cNvPr id="7" name="Subtitle 6"/>
          <p:cNvSpPr>
            <a:spLocks noGrp="1"/>
          </p:cNvSpPr>
          <p:nvPr>
            <p:ph type="subTitle" idx="1"/>
          </p:nvPr>
        </p:nvSpPr>
        <p:spPr>
          <a:xfrm>
            <a:off x="469497" y="3809526"/>
            <a:ext cx="2368954" cy="902174"/>
          </a:xfrm>
        </p:spPr>
        <p:txBody>
          <a:bodyPr/>
          <a:lstStyle/>
          <a:p>
            <a:r xmlns:a="http://schemas.openxmlformats.org/drawingml/2006/main">
              <a:rPr lang="id" dirty="0">
                <a:solidFill>
                  <a:schemeClr val="accent5">
                    <a:lumMod val="40000"/>
                    <a:lumOff val="60000"/>
                  </a:schemeClr>
                </a:solidFill>
              </a:rPr>
              <a:t>Pengantar Jaringan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xmlns:a="http://schemas.openxmlformats.org/drawingml/2006/main" eaLnBrk="1" hangingPunct="1"/>
            <a:r xmlns:a="http://schemas.openxmlformats.org/drawingml/2006/main">
              <a:rPr lang="id" dirty="0"/>
              <a:t>Tujuan Modul</a:t>
            </a:r>
          </a:p>
        </p:txBody>
      </p:sp>
      <p:sp>
        <p:nvSpPr>
          <p:cNvPr id="6147" name="Rectangle 34"/>
          <p:cNvSpPr>
            <a:spLocks noGrp="1" noChangeArrowheads="1"/>
          </p:cNvSpPr>
          <p:nvPr>
            <p:ph idx="1"/>
          </p:nvPr>
        </p:nvSpPr>
        <p:spPr>
          <a:xfrm>
            <a:off x="99461" y="654206"/>
            <a:ext cx="8731272" cy="827461"/>
          </a:xfrm>
        </p:spPr>
        <p:txBody>
          <a:bodyPr/>
          <a:lstStyle/>
          <a:p>
            <a:pPr xmlns:a="http://schemas.openxmlformats.org/drawingml/2006/main" marL="0" lvl="0" indent="0" defTabSz="914400" eaLnBrk="0" hangingPunct="0">
              <a:spcBef>
                <a:spcPct val="0"/>
              </a:spcBef>
              <a:spcAft>
                <a:spcPct val="0"/>
              </a:spcAft>
              <a:buClrTx/>
              <a:buSzTx/>
              <a:buNone/>
            </a:pPr>
            <a:r xmlns:a="http://schemas.openxmlformats.org/drawingml/2006/main">
              <a:rPr lang="id" altLang="en-US" sz="1400" b="1" dirty="0">
                <a:solidFill>
                  <a:schemeClr val="tx1"/>
                </a:solidFill>
                <a:ea typeface="Calibri" panose="020F0502020204030204" pitchFamily="34" charset="0"/>
                <a:cs typeface="Calibri" panose="020F0502020204030204" pitchFamily="34" charset="0"/>
              </a:rPr>
              <a:t>Judul Modul: </a:t>
            </a:r>
            <a:r xmlns:a="http://schemas.openxmlformats.org/drawingml/2006/main">
              <a:rPr lang="id" altLang="en-US" sz="1400" dirty="0">
                <a:solidFill>
                  <a:schemeClr val="tx1"/>
                </a:solidFill>
                <a:ea typeface="Calibri" panose="020F0502020204030204" pitchFamily="34" charset="0"/>
                <a:cs typeface="Calibri" panose="020F0502020204030204" pitchFamily="34" charset="0"/>
              </a:rPr>
              <a:t>Jaringan Saat Ini</a:t>
            </a:r>
          </a:p>
          <a:p>
            <a:pPr marL="0" lvl="0" indent="0" defTabSz="914400" eaLnBrk="0" hangingPunct="0">
              <a:spcBef>
                <a:spcPct val="0"/>
              </a:spcBef>
              <a:spcAft>
                <a:spcPct val="0"/>
              </a:spcAft>
              <a:buClrTx/>
              <a:buSzTx/>
              <a:buNone/>
            </a:pPr>
            <a:endParaRPr lang="en-US" altLang="en-US" sz="1400" dirty="0">
              <a:solidFill>
                <a:schemeClr val="tx1"/>
              </a:solidFill>
            </a:endParaRPr>
          </a:p>
          <a:p>
            <a:pPr xmlns:a="http://schemas.openxmlformats.org/drawingml/2006/main" marL="0" lvl="0" indent="0" defTabSz="914400" eaLnBrk="0" hangingPunct="0">
              <a:spcBef>
                <a:spcPct val="0"/>
              </a:spcBef>
              <a:spcAft>
                <a:spcPct val="0"/>
              </a:spcAft>
              <a:buClrTx/>
              <a:buSzTx/>
              <a:buNone/>
            </a:pPr>
            <a:r xmlns:a="http://schemas.openxmlformats.org/drawingml/2006/main">
              <a:rPr lang="id" altLang="en-US" sz="1400" b="1" dirty="0">
                <a:solidFill>
                  <a:schemeClr val="tx1"/>
                </a:solidFill>
                <a:ea typeface="Calibri" panose="020F0502020204030204" pitchFamily="34" charset="0"/>
                <a:cs typeface="Calibri" panose="020F0502020204030204" pitchFamily="34" charset="0"/>
              </a:rPr>
              <a:t>Tujuan Modul </a:t>
            </a:r>
            <a:r xmlns:a="http://schemas.openxmlformats.org/drawingml/2006/main">
              <a:rPr lang="id" altLang="en-US" sz="1400" dirty="0">
                <a:solidFill>
                  <a:schemeClr val="tx1"/>
                </a:solidFill>
                <a:ea typeface="Calibri" panose="020F0502020204030204" pitchFamily="34" charset="0"/>
                <a:cs typeface="Calibri" panose="020F0502020204030204" pitchFamily="34" charset="0"/>
              </a:rPr>
              <a:t>: Menjelaskan kemajuan teknologi modern.</a:t>
            </a:r>
            <a:endParaRPr xmlns:a="http://schemas.openxmlformats.org/drawingml/2006/main"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137076305"/>
              </p:ext>
            </p:extLst>
          </p:nvPr>
        </p:nvGraphicFramePr>
        <p:xfrm>
          <a:off x="423333" y="1625600"/>
          <a:ext cx="8263467" cy="2765570"/>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judul topik</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Tujuan Topik</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Jaringan Mempengaruhi Kehidupan kita</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Jelaskan bagaimana jaringan mempengaruhi kehidupan kita sehari-hari.</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263724">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Komponen Jaringan</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Jelaskan bagaimana host dan perangkat jaringan digunakan.</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r h="254659">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Representasi dan Topologi Jaringan</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Menjelaskan representasi jaringan dan bagaimana mereka digunakan dalam topologi jaringan.</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283686363"/>
                  </a:ext>
                </a:extLst>
              </a:tr>
              <a:tr h="249911">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Jenis Jaringan Umum</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Bandingkan karakteristik jenis jaringan yang umum.</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466644772"/>
                  </a:ext>
                </a:extLst>
              </a:tr>
              <a:tr h="263724">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Koneksi Internet</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Jelaskan bagaimana LAN dan WAN saling terhubung ke internet.</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893854660"/>
                  </a:ext>
                </a:extLst>
              </a:tr>
              <a:tr h="287720">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Jaringan yang Andal</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Jelaskan empat persyaratan dasar jaringan yang andal.</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811040832"/>
                  </a:ext>
                </a:extLst>
              </a:tr>
              <a:tr h="406548">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Tren Jaringan</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Jelaskan bagaimana tren seperti BYOD, kolaborasi online, video, dan komputasi awan mengubah cara kita berinteraksi.</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031869363"/>
                  </a:ext>
                </a:extLst>
              </a:tr>
              <a:tr h="287720">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Keamanan jaringan</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Identifikasi beberapa ancaman keamanan dasar dan solusi untuk semua jaringan.</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2746633774"/>
                  </a:ext>
                </a:extLst>
              </a:tr>
              <a:tr h="263724">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Profesional TI</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xmlns:a="http://schemas.openxmlformats.org/drawingml/2006/main" marL="0" marR="0">
                        <a:lnSpc>
                          <a:spcPct val="107000"/>
                        </a:lnSpc>
                        <a:spcBef>
                          <a:spcPts val="0"/>
                        </a:spcBef>
                        <a:spcAft>
                          <a:spcPts val="0"/>
                        </a:spcAft>
                      </a:pPr>
                      <a:r xmlns:a="http://schemas.openxmlformats.org/drawingml/2006/main">
                        <a:rPr lang="id" sz="1100" dirty="0">
                          <a:effectLst/>
                        </a:rPr>
                        <a:t>Menjelaskan peluang kerja di bidang networking.</a:t>
                      </a:r>
                      <a:endParaRPr xmlns:a="http://schemas.openxmlformats.org/drawingml/2006/main" lang="en-US"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938905636"/>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xmlns:a="http://schemas.openxmlformats.org/drawingml/2006/main">
              <a:rPr lang="id" dirty="0">
                <a:solidFill>
                  <a:schemeClr val="accent5">
                    <a:lumMod val="40000"/>
                    <a:lumOff val="60000"/>
                  </a:schemeClr>
                </a:solidFill>
              </a:rPr>
              <a:t>1.1 Jaringan Mempengaruhi Kehidupan Kita</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44065" y="798944"/>
            <a:ext cx="8853286" cy="1470123"/>
          </a:xfrm>
        </p:spPr>
        <p:txBody>
          <a:bodyPr/>
          <a:lstStyle/>
          <a:p>
            <a:pPr marL="0" indent="0">
              <a:buNone/>
            </a:pPr>
            <a:endParaRPr lang="en-US" dirty="0"/>
          </a:p>
          <a:p>
            <a:pPr xmlns:a="http://schemas.openxmlformats.org/drawingml/2006/main" marL="0" indent="0">
              <a:buNone/>
            </a:pPr>
            <a:r xmlns:a="http://schemas.openxmlformats.org/drawingml/2006/main">
              <a:rPr lang="id" sz="1800" dirty="0"/>
              <a:t>Bagi kita, komunikasi hampir sama pentingnya dengan ketergantungan kita pada udara, air, makanan, dan tempat tinggal. Di dunia sekarang ini, melalui penggunaan jaringan, kita terhubung dengan cara yang belum pernah ada sebelumnya.</a:t>
            </a:r>
          </a:p>
        </p:txBody>
      </p:sp>
      <p:sp>
        <p:nvSpPr>
          <p:cNvPr id="6" name="Rectangle 2">
            <a:extLst>
              <a:ext uri="{FF2B5EF4-FFF2-40B4-BE49-F238E27FC236}">
                <a16:creationId xmlns:a16="http://schemas.microsoft.com/office/drawing/2014/main" id="{A7E249FF-01FC-487E-B05D-F7C27AD56CB5}"/>
              </a:ext>
            </a:extLst>
          </p:cNvPr>
          <p:cNvSpPr txBox="1">
            <a:spLocks noChangeArrowheads="1"/>
          </p:cNvSpPr>
          <p:nvPr/>
        </p:nvSpPr>
        <p:spPr bwMode="auto">
          <a:xfrm>
            <a:off x="144065" y="63366"/>
            <a:ext cx="8999935"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xmlns:a="http://schemas.openxmlformats.org/drawingml/2006/main">
              <a:rPr lang="id" altLang="en-US" sz="1600" dirty="0"/>
              <a:t>Jaringan Saat Ini </a:t>
            </a:r>
            <a:br xmlns:a="http://schemas.openxmlformats.org/drawingml/2006/main">
              <a:rPr lang="en-US" altLang="en-US" dirty="0"/>
            </a:br>
            <a:r xmlns:a="http://schemas.openxmlformats.org/drawingml/2006/main">
              <a:rPr lang="id" altLang="en-US" dirty="0"/>
              <a:t>Jaringan Menghubungkan Kita</a:t>
            </a:r>
          </a:p>
        </p:txBody>
      </p:sp>
    </p:spTree>
    <p:custDataLst>
      <p:tags r:id="rId1"/>
    </p:custDataLst>
    <p:extLst>
      <p:ext uri="{BB962C8B-B14F-4D97-AF65-F5344CB8AC3E}">
        <p14:creationId xmlns:p14="http://schemas.microsoft.com/office/powerpoint/2010/main" val="2342478232"/>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21E48970-9722-4D48-A1CA-F1B06B3C39A3}"/>
              </a:ext>
            </a:extLst>
          </p:cNvPr>
          <p:cNvSpPr txBox="1">
            <a:spLocks noChangeArrowheads="1"/>
          </p:cNvSpPr>
          <p:nvPr/>
        </p:nvSpPr>
        <p:spPr bwMode="auto">
          <a:xfrm>
            <a:off x="0" y="-123237"/>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684213" rtl="0" eaLnBrk="1" fontAlgn="base" hangingPunct="1">
              <a:lnSpc>
                <a:spcPct val="100000"/>
              </a:lnSpc>
              <a:spcBef>
                <a:spcPct val="0"/>
              </a:spcBef>
              <a:spcAft>
                <a:spcPct val="0"/>
              </a:spcAft>
              <a:defRPr lang="en-US" sz="2400" kern="120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xmlns:a="http://schemas.openxmlformats.org/drawingml/2006/main">
              <a:rPr lang="id" altLang="en-US" sz="1600" dirty="0"/>
              <a:t>Jaringan Hari Ini</a:t>
            </a:r>
            <a:br xmlns:a="http://schemas.openxmlformats.org/drawingml/2006/main">
              <a:rPr lang="en-US" altLang="en-US" dirty="0"/>
            </a:br>
            <a:endParaRPr xmlns:a="http://schemas.openxmlformats.org/drawingml/2006/main" lang="en-US" altLang="en-US" dirty="0"/>
          </a:p>
        </p:txBody>
      </p:sp>
      <p:sp>
        <p:nvSpPr>
          <p:cNvPr id="8194" name="Rectangle 2"/>
          <p:cNvSpPr>
            <a:spLocks noGrp="1" noChangeArrowheads="1"/>
          </p:cNvSpPr>
          <p:nvPr>
            <p:ph type="title"/>
          </p:nvPr>
        </p:nvSpPr>
        <p:spPr>
          <a:xfrm>
            <a:off x="1" y="41393"/>
            <a:ext cx="9144000" cy="592921"/>
          </a:xfrm>
        </p:spPr>
        <p:txBody>
          <a:bodyPr/>
          <a:lstStyle/>
          <a:p>
            <a:r xmlns:a="http://schemas.openxmlformats.org/drawingml/2006/main">
              <a:rPr lang="id" altLang="en-US" dirty="0"/>
              <a:t>Video – Pengalaman Belajar Cisco Networking Academy</a:t>
            </a:r>
          </a:p>
        </p:txBody>
      </p:sp>
      <p:sp>
        <p:nvSpPr>
          <p:cNvPr id="2" name="Content Placeholder 1"/>
          <p:cNvSpPr>
            <a:spLocks noGrp="1"/>
          </p:cNvSpPr>
          <p:nvPr>
            <p:ph idx="1"/>
          </p:nvPr>
        </p:nvSpPr>
        <p:spPr>
          <a:xfrm>
            <a:off x="144065" y="798944"/>
            <a:ext cx="8853286" cy="547847"/>
          </a:xfrm>
        </p:spPr>
        <p:txBody>
          <a:bodyPr/>
          <a:lstStyle/>
          <a:p>
            <a:pPr xmlns:a="http://schemas.openxmlformats.org/drawingml/2006/main" marL="0" indent="0">
              <a:buNone/>
            </a:pPr>
            <a:r xmlns:a="http://schemas.openxmlformats.org/drawingml/2006/main">
              <a:rPr lang="id" dirty="0"/>
              <a:t>Cisco Networking Academy: pelajari bagaimana kami menggunakan teknologi untuk membuat dunia menjadi tempat yang lebih baik.</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6530" y="1510517"/>
            <a:ext cx="5263338" cy="30038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2429297576"/>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xmlns:a="http://schemas.openxmlformats.org/drawingml/2006/main">
              <a:rPr lang="id" altLang="en-US" sz="1600" dirty="0"/>
              <a:t>Jaringan Saat Ini </a:t>
            </a:r>
            <a:br xmlns:a="http://schemas.openxmlformats.org/drawingml/2006/main">
              <a:rPr lang="en-US" altLang="en-US" dirty="0"/>
            </a:br>
            <a:r xmlns:a="http://schemas.openxmlformats.org/drawingml/2006/main">
              <a:rPr lang="id" altLang="en-US" dirty="0"/>
              <a:t>Tanpa Batas</a:t>
            </a:r>
          </a:p>
        </p:txBody>
      </p:sp>
      <p:sp>
        <p:nvSpPr>
          <p:cNvPr id="8195" name="Rectangle 6"/>
          <p:cNvSpPr>
            <a:spLocks noGrp="1" noChangeArrowheads="1"/>
          </p:cNvSpPr>
          <p:nvPr>
            <p:ph idx="1"/>
          </p:nvPr>
        </p:nvSpPr>
        <p:spPr>
          <a:xfrm>
            <a:off x="124609" y="905949"/>
            <a:ext cx="8853286" cy="1166043"/>
          </a:xfrm>
        </p:spPr>
        <p:txBody>
          <a:bodyPr/>
          <a:lstStyle/>
          <a:p>
            <a:pPr xmlns:a="http://schemas.openxmlformats.org/drawingml/2006/main">
              <a:buFont typeface="Arial" panose="020B0604020202020204" pitchFamily="34" charset="0"/>
              <a:buChar char="•"/>
            </a:pPr>
            <a:r xmlns:a="http://schemas.openxmlformats.org/drawingml/2006/main">
              <a:rPr lang="id" dirty="0"/>
              <a:t>Dunia tanpa batas</a:t>
            </a:r>
          </a:p>
          <a:p>
            <a:pPr xmlns:a="http://schemas.openxmlformats.org/drawingml/2006/main">
              <a:buFont typeface="Arial" panose="020B0604020202020204" pitchFamily="34" charset="0"/>
              <a:buChar char="•"/>
            </a:pPr>
            <a:r xmlns:a="http://schemas.openxmlformats.org/drawingml/2006/main">
              <a:rPr lang="id" dirty="0"/>
              <a:t>Komunitas global</a:t>
            </a:r>
          </a:p>
          <a:p>
            <a:pPr xmlns:a="http://schemas.openxmlformats.org/drawingml/2006/main">
              <a:buFont typeface="Arial" panose="020B0604020202020204" pitchFamily="34" charset="0"/>
              <a:buChar char="•"/>
            </a:pPr>
            <a:r xmlns:a="http://schemas.openxmlformats.org/drawingml/2006/main">
              <a:rPr lang="id" dirty="0"/>
              <a:t>Jaringan manusia</a:t>
            </a:r>
            <a:endParaRPr xmlns:a="http://schemas.openxmlformats.org/drawingml/2006/main" lang="en-US" dirty="0">
              <a:effectLst/>
            </a:endParaRPr>
          </a:p>
        </p:txBody>
      </p:sp>
      <p:pic>
        <p:nvPicPr>
          <p:cNvPr id="3" name="Picture 2"/>
          <p:cNvPicPr>
            <a:picLocks noChangeAspect="1"/>
          </p:cNvPicPr>
          <p:nvPr/>
        </p:nvPicPr>
        <p:blipFill>
          <a:blip r:embed="rId3"/>
          <a:stretch>
            <a:fillRect/>
          </a:stretch>
        </p:blipFill>
        <p:spPr>
          <a:xfrm>
            <a:off x="1456033" y="2167140"/>
            <a:ext cx="6229350" cy="2657475"/>
          </a:xfrm>
          <a:prstGeom prst="rect">
            <a:avLst/>
          </a:prstGeom>
        </p:spPr>
      </p:pic>
    </p:spTree>
    <p:extLst>
      <p:ext uri="{BB962C8B-B14F-4D97-AF65-F5344CB8AC3E}">
        <p14:creationId xmlns:p14="http://schemas.microsoft.com/office/powerpoint/2010/main" val="352921276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xmlns:a="http://schemas.openxmlformats.org/drawingml/2006/main">
              <a:rPr lang="id" dirty="0">
                <a:solidFill>
                  <a:schemeClr val="accent5">
                    <a:lumMod val="40000"/>
                    <a:lumOff val="60000"/>
                  </a:schemeClr>
                </a:solidFill>
              </a:rPr>
              <a:t>1.2 Komponen Jaringan</a:t>
            </a:r>
          </a:p>
        </p:txBody>
      </p:sp>
    </p:spTree>
    <p:custDataLst>
      <p:tags r:id="rId1"/>
    </p:custDataLst>
    <p:extLst>
      <p:ext uri="{BB962C8B-B14F-4D97-AF65-F5344CB8AC3E}">
        <p14:creationId xmlns:p14="http://schemas.microsoft.com/office/powerpoint/2010/main" val="1758337446"/>
      </p:ext>
    </p:extLst>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xmlns:a="http://schemas.openxmlformats.org/drawingml/2006/main">
              <a:rPr lang="id" altLang="en-US" dirty="0"/>
              <a:t>Host </a:t>
            </a:r>
            <a:r xmlns:a="http://schemas.openxmlformats.org/drawingml/2006/main">
              <a:rPr lang="id" altLang="en-US" sz="1600" dirty="0"/>
              <a:t>Komponen Jaringan</a:t>
            </a:r>
            <a:br xmlns:a="http://schemas.openxmlformats.org/drawingml/2006/main">
              <a:rPr lang="en-US" altLang="en-US" dirty="0"/>
            </a:br>
          </a:p>
        </p:txBody>
      </p:sp>
      <p:sp>
        <p:nvSpPr>
          <p:cNvPr id="8195" name="Rectangle 6"/>
          <p:cNvSpPr>
            <a:spLocks noGrp="1" noChangeArrowheads="1"/>
          </p:cNvSpPr>
          <p:nvPr>
            <p:ph idx="1"/>
          </p:nvPr>
        </p:nvSpPr>
        <p:spPr>
          <a:xfrm>
            <a:off x="144064" y="798945"/>
            <a:ext cx="3488136" cy="4153199"/>
          </a:xfrm>
        </p:spPr>
        <p:txBody>
          <a:bodyPr/>
          <a:lstStyle/>
          <a:p>
            <a:pPr xmlns:a="http://schemas.openxmlformats.org/drawingml/2006/main" marL="0" indent="0">
              <a:buNone/>
            </a:pPr>
            <a:r xmlns:a="http://schemas.openxmlformats.org/drawingml/2006/main">
              <a:rPr lang="id" altLang="en-US" sz="1600" dirty="0"/>
              <a:t>Setiap komputer di jaringan disebut host atau perangkat akhir.</a:t>
            </a:r>
          </a:p>
          <a:p>
            <a:pPr xmlns:a="http://schemas.openxmlformats.org/drawingml/2006/main" marL="0" indent="0">
              <a:buNone/>
            </a:pPr>
            <a:r xmlns:a="http://schemas.openxmlformats.org/drawingml/2006/main">
              <a:rPr lang="id" altLang="en-US" sz="1600" dirty="0"/>
              <a:t>Server adalah komputer yang memberikan informasi ke perangkat akhir:</a:t>
            </a:r>
          </a:p>
          <a:p>
            <a:pPr xmlns:a="http://schemas.openxmlformats.org/drawingml/2006/main" lvl="1">
              <a:buFont typeface="Arial" panose="020B0604020202020204" pitchFamily="34" charset="0"/>
              <a:buChar char="•"/>
            </a:pPr>
            <a:r xmlns:a="http://schemas.openxmlformats.org/drawingml/2006/main">
              <a:rPr lang="id" altLang="en-US" sz="1600" dirty="0"/>
              <a:t>server email</a:t>
            </a:r>
          </a:p>
          <a:p>
            <a:pPr xmlns:a="http://schemas.openxmlformats.org/drawingml/2006/main" lvl="1">
              <a:buFont typeface="Arial" panose="020B0604020202020204" pitchFamily="34" charset="0"/>
              <a:buChar char="•"/>
            </a:pPr>
            <a:r xmlns:a="http://schemas.openxmlformats.org/drawingml/2006/main">
              <a:rPr lang="id" altLang="en-US" sz="1600" dirty="0"/>
              <a:t>server web</a:t>
            </a:r>
          </a:p>
          <a:p>
            <a:pPr xmlns:a="http://schemas.openxmlformats.org/drawingml/2006/main" lvl="1">
              <a:buFont typeface="Arial" panose="020B0604020202020204" pitchFamily="34" charset="0"/>
              <a:buChar char="•"/>
            </a:pPr>
            <a:r xmlns:a="http://schemas.openxmlformats.org/drawingml/2006/main">
              <a:rPr lang="id" altLang="en-US" sz="1600" dirty="0"/>
              <a:t>server berkas</a:t>
            </a:r>
          </a:p>
          <a:p>
            <a:pPr xmlns:a="http://schemas.openxmlformats.org/drawingml/2006/main" marL="0" indent="0">
              <a:buNone/>
            </a:pPr>
            <a:r xmlns:a="http://schemas.openxmlformats.org/drawingml/2006/main">
              <a:rPr lang="id" altLang="en-US" sz="1600" dirty="0"/>
              <a:t>Klien adalah komputer yang mengirimkan permintaan ke server untuk mengambil informasi:</a:t>
            </a:r>
          </a:p>
          <a:p>
            <a:pPr xmlns:a="http://schemas.openxmlformats.org/drawingml/2006/main" lvl="1">
              <a:buFont typeface="Arial" panose="020B0604020202020204" pitchFamily="34" charset="0"/>
              <a:buChar char="•"/>
            </a:pPr>
            <a:r xmlns:a="http://schemas.openxmlformats.org/drawingml/2006/main">
              <a:rPr lang="id" altLang="en-US" sz="1600" dirty="0"/>
              <a:t>halaman web dari server web</a:t>
            </a:r>
          </a:p>
          <a:p>
            <a:pPr xmlns:a="http://schemas.openxmlformats.org/drawingml/2006/main" lvl="1"/>
            <a:r xmlns:a="http://schemas.openxmlformats.org/drawingml/2006/main">
              <a:rPr lang="id" altLang="en-US" sz="1600" dirty="0"/>
              <a:t>email dari server email</a:t>
            </a:r>
          </a:p>
          <a:p>
            <a:pPr xmlns:a="http://schemas.openxmlformats.org/drawingml/2006/main" marL="0" indent="0">
              <a:buNone/>
            </a:pPr>
            <a:r xmlns:a="http://schemas.openxmlformats.org/drawingml/2006/main">
              <a:rPr lang="id"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3760258333"/>
              </p:ext>
            </p:extLst>
          </p:nvPr>
        </p:nvGraphicFramePr>
        <p:xfrm>
          <a:off x="3699932" y="2370667"/>
          <a:ext cx="5300003" cy="2407832"/>
        </p:xfrm>
        <a:graphic>
          <a:graphicData uri="http://schemas.openxmlformats.org/drawingml/2006/table">
            <a:tbl>
              <a:tblPr firstRow="1" bandRow="1">
                <a:tableStyleId>{5C22544A-7EE6-4342-B048-85BDC9FD1C3A}</a:tableStyleId>
              </a:tblPr>
              <a:tblGrid>
                <a:gridCol w="896567">
                  <a:extLst>
                    <a:ext uri="{9D8B030D-6E8A-4147-A177-3AD203B41FA5}">
                      <a16:colId xmlns:a16="http://schemas.microsoft.com/office/drawing/2014/main" val="20000"/>
                    </a:ext>
                  </a:extLst>
                </a:gridCol>
                <a:gridCol w="4403436">
                  <a:extLst>
                    <a:ext uri="{9D8B030D-6E8A-4147-A177-3AD203B41FA5}">
                      <a16:colId xmlns:a16="http://schemas.microsoft.com/office/drawing/2014/main" val="20001"/>
                    </a:ext>
                  </a:extLst>
                </a:gridCol>
              </a:tblGrid>
              <a:tr h="527016">
                <a:tc>
                  <a:txBody>
                    <a:bodyPr/>
                    <a:lstStyle/>
                    <a:p>
                      <a:r xmlns:a="http://schemas.openxmlformats.org/drawingml/2006/main">
                        <a:rPr lang="id" dirty="0"/>
                        <a:t>Tipe Server</a:t>
                      </a:r>
                    </a:p>
                  </a:txBody>
                  <a:tcPr/>
                </a:tc>
                <a:tc>
                  <a:txBody>
                    <a:bodyPr/>
                    <a:lstStyle/>
                    <a:p>
                      <a:r xmlns:a="http://schemas.openxmlformats.org/drawingml/2006/main">
                        <a:rPr lang="id" dirty="0"/>
                        <a:t>Keterangan</a:t>
                      </a:r>
                    </a:p>
                  </a:txBody>
                  <a:tcPr/>
                </a:tc>
                <a:extLst>
                  <a:ext uri="{0D108BD9-81ED-4DB2-BD59-A6C34878D82A}">
                    <a16:rowId xmlns:a16="http://schemas.microsoft.com/office/drawing/2014/main" val="10000"/>
                  </a:ext>
                </a:extLst>
              </a:tr>
              <a:tr h="527016">
                <a:tc>
                  <a:txBody>
                    <a:bodyPr/>
                    <a:lstStyle/>
                    <a:p>
                      <a:r xmlns:a="http://schemas.openxmlformats.org/drawingml/2006/main">
                        <a:rPr lang="id" dirty="0"/>
                        <a:t>Surel</a:t>
                      </a:r>
                    </a:p>
                  </a:txBody>
                  <a:tcPr/>
                </a:tc>
                <a:tc>
                  <a:txBody>
                    <a:bodyPr/>
                    <a:lstStyle/>
                    <a:p>
                      <a:r xmlns:a="http://schemas.openxmlformats.org/drawingml/2006/main">
                        <a:rPr lang="id" sz="1400" b="0" i="0" kern="1200" dirty="0">
                          <a:solidFill>
                            <a:schemeClr val="dk1"/>
                          </a:solidFill>
                          <a:effectLst/>
                          <a:latin typeface="+mn-lt"/>
                          <a:ea typeface="+mn-ea"/>
                          <a:cs typeface="+mn-cs"/>
                        </a:rPr>
                        <a:t>Server email menjalankan perangkat lunak server email.</a:t>
                      </a:r>
                    </a:p>
                    <a:p>
                      <a:r xmlns:a="http://schemas.openxmlformats.org/drawingml/2006/main">
                        <a:rPr lang="id" sz="1400" b="0" i="0" kern="1200" dirty="0">
                          <a:solidFill>
                            <a:schemeClr val="dk1"/>
                          </a:solidFill>
                          <a:effectLst/>
                          <a:latin typeface="+mn-lt"/>
                          <a:ea typeface="+mn-ea"/>
                          <a:cs typeface="+mn-cs"/>
                        </a:rPr>
                        <a:t>Klien menggunakan</a:t>
                      </a:r>
                      <a:r xmlns:a="http://schemas.openxmlformats.org/drawingml/2006/main">
                        <a:rPr lang="id" sz="1400" b="0" i="0" kern="1200" baseline="0" dirty="0">
                          <a:solidFill>
                            <a:schemeClr val="dk1"/>
                          </a:solidFill>
                          <a:effectLst/>
                          <a:latin typeface="+mn-lt"/>
                          <a:ea typeface="+mn-ea"/>
                          <a:cs typeface="+mn-cs"/>
                        </a:rPr>
                        <a:t> </a:t>
                      </a:r>
                      <a:r xmlns:a="http://schemas.openxmlformats.org/drawingml/2006/main">
                        <a:rPr lang="id" sz="1400" b="0" i="0" kern="1200" dirty="0">
                          <a:solidFill>
                            <a:schemeClr val="dk1"/>
                          </a:solidFill>
                          <a:effectLst/>
                          <a:latin typeface="+mn-lt"/>
                          <a:ea typeface="+mn-ea"/>
                          <a:cs typeface="+mn-cs"/>
                        </a:rPr>
                        <a:t>perangkat lunak klien untuk mengakses email.</a:t>
                      </a:r>
                      <a:endParaRPr xmlns:a="http://schemas.openxmlformats.org/drawingml/2006/main" lang="en-US" dirty="0"/>
                    </a:p>
                  </a:txBody>
                  <a:tcPr/>
                </a:tc>
                <a:extLst>
                  <a:ext uri="{0D108BD9-81ED-4DB2-BD59-A6C34878D82A}">
                    <a16:rowId xmlns:a16="http://schemas.microsoft.com/office/drawing/2014/main" val="10001"/>
                  </a:ext>
                </a:extLst>
              </a:tr>
              <a:tr h="744023">
                <a:tc>
                  <a:txBody>
                    <a:bodyPr/>
                    <a:lstStyle/>
                    <a:p>
                      <a:r xmlns:a="http://schemas.openxmlformats.org/drawingml/2006/main">
                        <a:rPr lang="id" dirty="0"/>
                        <a:t>jaring</a:t>
                      </a:r>
                    </a:p>
                  </a:txBody>
                  <a:tcPr/>
                </a:tc>
                <a:tc>
                  <a:txBody>
                    <a:bodyPr/>
                    <a:lstStyle/>
                    <a:p>
                      <a:r xmlns:a="http://schemas.openxmlformats.org/drawingml/2006/main">
                        <a:rPr lang="id" sz="1400" b="0" i="0" kern="1200" dirty="0">
                          <a:solidFill>
                            <a:schemeClr val="dk1"/>
                          </a:solidFill>
                          <a:effectLst/>
                          <a:latin typeface="+mn-lt"/>
                          <a:ea typeface="+mn-ea"/>
                          <a:cs typeface="+mn-cs"/>
                        </a:rPr>
                        <a:t>Server web menjalankan perangkat lunak server web.</a:t>
                      </a:r>
                    </a:p>
                    <a:p>
                      <a:r xmlns:a="http://schemas.openxmlformats.org/drawingml/2006/main">
                        <a:rPr lang="id" sz="1400" b="0" i="0" kern="1200" dirty="0">
                          <a:solidFill>
                            <a:schemeClr val="dk1"/>
                          </a:solidFill>
                          <a:effectLst/>
                          <a:latin typeface="+mn-lt"/>
                          <a:ea typeface="+mn-ea"/>
                          <a:cs typeface="+mn-cs"/>
                        </a:rPr>
                        <a:t>Klien menggunakan perangkat lunak browser untuk mengakses halaman web.</a:t>
                      </a:r>
                      <a:endParaRPr xmlns:a="http://schemas.openxmlformats.org/drawingml/2006/main" lang="en-US" dirty="0"/>
                    </a:p>
                  </a:txBody>
                  <a:tcPr/>
                </a:tc>
                <a:extLst>
                  <a:ext uri="{0D108BD9-81ED-4DB2-BD59-A6C34878D82A}">
                    <a16:rowId xmlns:a16="http://schemas.microsoft.com/office/drawing/2014/main" val="10002"/>
                  </a:ext>
                </a:extLst>
              </a:tr>
              <a:tr h="609777">
                <a:tc>
                  <a:txBody>
                    <a:bodyPr/>
                    <a:lstStyle/>
                    <a:p>
                      <a:r xmlns:a="http://schemas.openxmlformats.org/drawingml/2006/main">
                        <a:rPr lang="id" dirty="0"/>
                        <a:t>Mengajukan</a:t>
                      </a:r>
                    </a:p>
                  </a:txBody>
                  <a:tcPr/>
                </a:tc>
                <a:tc>
                  <a:txBody>
                    <a:bodyPr/>
                    <a:lstStyle/>
                    <a:p>
                      <a:r xmlns:a="http://schemas.openxmlformats.org/drawingml/2006/main">
                        <a:rPr lang="id" sz="1400" b="0" i="0" kern="1200" dirty="0">
                          <a:solidFill>
                            <a:schemeClr val="dk1"/>
                          </a:solidFill>
                          <a:effectLst/>
                          <a:latin typeface="+mn-lt"/>
                          <a:ea typeface="+mn-ea"/>
                          <a:cs typeface="+mn-cs"/>
                        </a:rPr>
                        <a:t>Server file menyimpan file perusahaan dan pengguna.</a:t>
                      </a:r>
                    </a:p>
                    <a:p>
                      <a:r xmlns:a="http://schemas.openxmlformats.org/drawingml/2006/main">
                        <a:rPr lang="id" sz="1400" b="0" i="0" kern="1200" dirty="0">
                          <a:solidFill>
                            <a:schemeClr val="dk1"/>
                          </a:solidFill>
                          <a:effectLst/>
                          <a:latin typeface="+mn-lt"/>
                          <a:ea typeface="+mn-ea"/>
                          <a:cs typeface="+mn-cs"/>
                        </a:rPr>
                        <a:t>Perangkat klien mengakses file-file ini.</a:t>
                      </a:r>
                      <a:endParaRPr xmlns:a="http://schemas.openxmlformats.org/drawingml/2006/main" lang="en-US" dirty="0"/>
                    </a:p>
                  </a:txBody>
                  <a:tcPr/>
                </a:tc>
                <a:extLst>
                  <a:ext uri="{0D108BD9-81ED-4DB2-BD59-A6C34878D82A}">
                    <a16:rowId xmlns:a16="http://schemas.microsoft.com/office/drawing/2014/main" val="10003"/>
                  </a:ext>
                </a:extLst>
              </a:tr>
            </a:tbl>
          </a:graphicData>
        </a:graphic>
      </p:graphicFrame>
      <p:pic>
        <p:nvPicPr>
          <p:cNvPr id="4" name="Picture 3"/>
          <p:cNvPicPr>
            <a:picLocks noChangeAspect="1"/>
          </p:cNvPicPr>
          <p:nvPr/>
        </p:nvPicPr>
        <p:blipFill>
          <a:blip r:embed="rId4"/>
          <a:stretch>
            <a:fillRect/>
          </a:stretch>
        </p:blipFill>
        <p:spPr>
          <a:xfrm>
            <a:off x="3974745" y="1007532"/>
            <a:ext cx="4680156" cy="1062683"/>
          </a:xfrm>
          <a:prstGeom prst="rect">
            <a:avLst/>
          </a:prstGeom>
        </p:spPr>
      </p:pic>
    </p:spTree>
    <p:custDataLst>
      <p:tags r:id="rId1"/>
    </p:custDataLst>
    <p:extLst>
      <p:ext uri="{BB962C8B-B14F-4D97-AF65-F5344CB8AC3E}">
        <p14:creationId xmlns:p14="http://schemas.microsoft.com/office/powerpoint/2010/main" val="49223303"/>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4"/>
            <a:ext cx="9144000" cy="709974"/>
          </a:xfrm>
        </p:spPr>
        <p:txBody>
          <a:bodyPr/>
          <a:lstStyle/>
          <a:p>
            <a:r xmlns:a="http://schemas.openxmlformats.org/drawingml/2006/main">
              <a:rPr lang="id" altLang="en-US" sz="1600" dirty="0"/>
              <a:t>Komponen Jaringan </a:t>
            </a:r>
            <a:br xmlns:a="http://schemas.openxmlformats.org/drawingml/2006/main">
              <a:rPr lang="en-US" altLang="en-US" dirty="0"/>
            </a:br>
            <a:r xmlns:a="http://schemas.openxmlformats.org/drawingml/2006/main">
              <a:rPr lang="id" altLang="en-US" dirty="0"/>
              <a:t>Peer-to-Peer</a:t>
            </a:r>
          </a:p>
        </p:txBody>
      </p:sp>
      <p:sp>
        <p:nvSpPr>
          <p:cNvPr id="8195" name="Rectangle 6"/>
          <p:cNvSpPr>
            <a:spLocks noGrp="1" noChangeArrowheads="1"/>
          </p:cNvSpPr>
          <p:nvPr>
            <p:ph idx="1"/>
          </p:nvPr>
        </p:nvSpPr>
        <p:spPr>
          <a:xfrm>
            <a:off x="129888" y="728063"/>
            <a:ext cx="8853286" cy="803372"/>
          </a:xfrm>
        </p:spPr>
        <p:txBody>
          <a:bodyPr/>
          <a:lstStyle/>
          <a:p>
            <a:pPr xmlns:a="http://schemas.openxmlformats.org/drawingml/2006/main" marL="0" indent="0">
              <a:buNone/>
            </a:pPr>
            <a:r xmlns:a="http://schemas.openxmlformats.org/drawingml/2006/main">
              <a:rPr lang="id" altLang="en-US" sz="1600" dirty="0"/>
              <a:t>Dimungkinkan untuk memiliki perangkat menjadi klien dan server di Jaringan Peer-to-Peer. </a:t>
            </a:r>
            <a:r xmlns:a="http://schemas.openxmlformats.org/drawingml/2006/main">
              <a:rPr lang="id" altLang="en-US" dirty="0"/>
              <a:t>Jenis desain jaringan ini hanya direkomendasikan untuk jaringan yang sangat kecil.</a:t>
            </a:r>
          </a:p>
          <a:p>
            <a:pPr xmlns:a="http://schemas.openxmlformats.org/drawingml/2006/main" marL="0" indent="0">
              <a:buNone/>
            </a:pPr>
            <a:r xmlns:a="http://schemas.openxmlformats.org/drawingml/2006/main">
              <a:rPr lang="id" altLang="ja-JP" dirty="0"/>
              <a:t> </a:t>
            </a:r>
          </a:p>
        </p:txBody>
      </p:sp>
      <p:pic>
        <p:nvPicPr>
          <p:cNvPr id="3" name="Picture 2"/>
          <p:cNvPicPr>
            <a:picLocks noChangeAspect="1"/>
          </p:cNvPicPr>
          <p:nvPr/>
        </p:nvPicPr>
        <p:blipFill>
          <a:blip r:embed="rId4"/>
          <a:stretch>
            <a:fillRect/>
          </a:stretch>
        </p:blipFill>
        <p:spPr>
          <a:xfrm>
            <a:off x="2095929" y="1643865"/>
            <a:ext cx="4222946" cy="1099334"/>
          </a:xfrm>
          <a:prstGeom prst="rect">
            <a:avLst/>
          </a:prstGeom>
        </p:spPr>
      </p:pic>
      <p:graphicFrame>
        <p:nvGraphicFramePr>
          <p:cNvPr id="2" name="Table 1"/>
          <p:cNvGraphicFramePr>
            <a:graphicFrameLocks noGrp="1"/>
          </p:cNvGraphicFramePr>
          <p:nvPr>
            <p:extLst>
              <p:ext uri="{D42A27DB-BD31-4B8C-83A1-F6EECF244321}">
                <p14:modId xmlns:p14="http://schemas.microsoft.com/office/powerpoint/2010/main" val="796482056"/>
              </p:ext>
            </p:extLst>
          </p:nvPr>
        </p:nvGraphicFramePr>
        <p:xfrm>
          <a:off x="129888" y="2743199"/>
          <a:ext cx="8853286" cy="1902958"/>
        </p:xfrm>
        <a:graphic>
          <a:graphicData uri="http://schemas.openxmlformats.org/drawingml/2006/table">
            <a:tbl>
              <a:tblPr firstRow="1" bandRow="1">
                <a:tableStyleId>{5C22544A-7EE6-4342-B048-85BDC9FD1C3A}</a:tableStyleId>
              </a:tblPr>
              <a:tblGrid>
                <a:gridCol w="4371774">
                  <a:extLst>
                    <a:ext uri="{9D8B030D-6E8A-4147-A177-3AD203B41FA5}">
                      <a16:colId xmlns:a16="http://schemas.microsoft.com/office/drawing/2014/main" val="20000"/>
                    </a:ext>
                  </a:extLst>
                </a:gridCol>
                <a:gridCol w="4481512">
                  <a:extLst>
                    <a:ext uri="{9D8B030D-6E8A-4147-A177-3AD203B41FA5}">
                      <a16:colId xmlns:a16="http://schemas.microsoft.com/office/drawing/2014/main" val="20001"/>
                    </a:ext>
                  </a:extLst>
                </a:gridCol>
              </a:tblGrid>
              <a:tr h="276705">
                <a:tc>
                  <a:txBody>
                    <a:bodyPr/>
                    <a:lstStyle/>
                    <a:p>
                      <a:r xmlns:a="http://schemas.openxmlformats.org/drawingml/2006/main">
                        <a:rPr lang="id" dirty="0"/>
                        <a:t>Keuntungan</a:t>
                      </a:r>
                    </a:p>
                  </a:txBody>
                  <a:tcPr/>
                </a:tc>
                <a:tc>
                  <a:txBody>
                    <a:bodyPr/>
                    <a:lstStyle/>
                    <a:p>
                      <a:r xmlns:a="http://schemas.openxmlformats.org/drawingml/2006/main">
                        <a:rPr lang="id" dirty="0"/>
                        <a:t>Kekurangan</a:t>
                      </a:r>
                    </a:p>
                  </a:txBody>
                  <a:tcPr/>
                </a:tc>
                <a:extLst>
                  <a:ext uri="{0D108BD9-81ED-4DB2-BD59-A6C34878D82A}">
                    <a16:rowId xmlns:a16="http://schemas.microsoft.com/office/drawing/2014/main" val="10000"/>
                  </a:ext>
                </a:extLst>
              </a:tr>
              <a:tr h="289977">
                <a:tc>
                  <a:txBody>
                    <a:bodyPr/>
                    <a:lstStyle/>
                    <a:p>
                      <a:pPr xmlns:a="http://schemas.openxmlformats.org/drawingml/2006/main" algn="l">
                        <a:buFont typeface="Arial"/>
                        <a:buNone/>
                      </a:pPr>
                      <a:r xmlns:a="http://schemas.openxmlformats.org/drawingml/2006/main">
                        <a:rPr lang="id" b="0" i="0" dirty="0">
                          <a:solidFill>
                            <a:srgbClr val="58585B"/>
                          </a:solidFill>
                          <a:effectLst/>
                          <a:latin typeface="CiscoSans"/>
                        </a:rPr>
                        <a:t>Mudah diatur</a:t>
                      </a:r>
                    </a:p>
                  </a:txBody>
                  <a:tcPr/>
                </a:tc>
                <a:tc>
                  <a:txBody>
                    <a:bodyPr/>
                    <a:lstStyle/>
                    <a:p>
                      <a:r xmlns:a="http://schemas.openxmlformats.org/drawingml/2006/main">
                        <a:rPr lang="id" sz="1400" b="0" i="0" kern="1200" dirty="0">
                          <a:solidFill>
                            <a:schemeClr val="dk1"/>
                          </a:solidFill>
                          <a:effectLst/>
                          <a:latin typeface="+mn-lt"/>
                          <a:ea typeface="+mn-ea"/>
                          <a:cs typeface="+mn-cs"/>
                        </a:rPr>
                        <a:t>Tidak ada administrasi terpusat</a:t>
                      </a:r>
                      <a:endParaRPr xmlns:a="http://schemas.openxmlformats.org/drawingml/2006/main" lang="en-US" dirty="0"/>
                    </a:p>
                  </a:txBody>
                  <a:tcPr/>
                </a:tc>
                <a:extLst>
                  <a:ext uri="{0D108BD9-81ED-4DB2-BD59-A6C34878D82A}">
                    <a16:rowId xmlns:a16="http://schemas.microsoft.com/office/drawing/2014/main" val="10001"/>
                  </a:ext>
                </a:extLst>
              </a:tr>
              <a:tr h="276705">
                <a:tc>
                  <a:txBody>
                    <a:bodyPr/>
                    <a:lstStyle/>
                    <a:p>
                      <a:pPr xmlns:a="http://schemas.openxmlformats.org/drawingml/2006/main" algn="l">
                        <a:buFont typeface="Arial"/>
                        <a:buNone/>
                      </a:pPr>
                      <a:r xmlns:a="http://schemas.openxmlformats.org/drawingml/2006/main">
                        <a:rPr lang="id" b="0" i="0" dirty="0">
                          <a:solidFill>
                            <a:srgbClr val="58585B"/>
                          </a:solidFill>
                          <a:effectLst/>
                          <a:latin typeface="CiscoSans"/>
                        </a:rPr>
                        <a:t>Kurang rumit</a:t>
                      </a:r>
                    </a:p>
                  </a:txBody>
                  <a:tcPr/>
                </a:tc>
                <a:tc>
                  <a:txBody>
                    <a:bodyPr/>
                    <a:lstStyle/>
                    <a:p>
                      <a:r xmlns:a="http://schemas.openxmlformats.org/drawingml/2006/main">
                        <a:rPr lang="id" sz="1400" b="0" i="0" kern="1200" dirty="0">
                          <a:solidFill>
                            <a:schemeClr val="dk1"/>
                          </a:solidFill>
                          <a:effectLst/>
                          <a:latin typeface="+mn-lt"/>
                          <a:ea typeface="+mn-ea"/>
                          <a:cs typeface="+mn-cs"/>
                        </a:rPr>
                        <a:t>Tidak seaman itu</a:t>
                      </a:r>
                      <a:endParaRPr xmlns:a="http://schemas.openxmlformats.org/drawingml/2006/main" lang="en-US" dirty="0"/>
                    </a:p>
                  </a:txBody>
                  <a:tcPr/>
                </a:tc>
                <a:extLst>
                  <a:ext uri="{0D108BD9-81ED-4DB2-BD59-A6C34878D82A}">
                    <a16:rowId xmlns:a16="http://schemas.microsoft.com/office/drawing/2014/main" val="10002"/>
                  </a:ext>
                </a:extLst>
              </a:tr>
              <a:tr h="470398">
                <a:tc>
                  <a:txBody>
                    <a:bodyPr/>
                    <a:lstStyle/>
                    <a:p>
                      <a:pPr xmlns:a="http://schemas.openxmlformats.org/drawingml/2006/main" algn="l">
                        <a:buFont typeface="Arial"/>
                        <a:buNone/>
                      </a:pPr>
                      <a:r xmlns:a="http://schemas.openxmlformats.org/drawingml/2006/main">
                        <a:rPr lang="id" b="0" i="0" dirty="0">
                          <a:solidFill>
                            <a:srgbClr val="58585B"/>
                          </a:solidFill>
                          <a:effectLst/>
                          <a:latin typeface="CiscoSans"/>
                        </a:rPr>
                        <a:t>Biaya rendah</a:t>
                      </a:r>
                    </a:p>
                  </a:txBody>
                  <a:tcPr/>
                </a:tc>
                <a:tc>
                  <a:txBody>
                    <a:bodyPr/>
                    <a:lstStyle/>
                    <a:p>
                      <a:r xmlns:a="http://schemas.openxmlformats.org/drawingml/2006/main">
                        <a:rPr lang="id" sz="1400" b="0" i="0" kern="1200" dirty="0">
                          <a:solidFill>
                            <a:schemeClr val="dk1"/>
                          </a:solidFill>
                          <a:effectLst/>
                          <a:latin typeface="+mn-lt"/>
                          <a:ea typeface="+mn-ea"/>
                          <a:cs typeface="+mn-cs"/>
                        </a:rPr>
                        <a:t>Tidak terukur</a:t>
                      </a:r>
                      <a:endParaRPr xmlns:a="http://schemas.openxmlformats.org/drawingml/2006/main" lang="en-US" dirty="0"/>
                    </a:p>
                  </a:txBody>
                  <a:tcPr/>
                </a:tc>
                <a:extLst>
                  <a:ext uri="{0D108BD9-81ED-4DB2-BD59-A6C34878D82A}">
                    <a16:rowId xmlns:a16="http://schemas.microsoft.com/office/drawing/2014/main" val="10003"/>
                  </a:ext>
                </a:extLst>
              </a:tr>
              <a:tr h="470398">
                <a:tc>
                  <a:txBody>
                    <a:bodyPr/>
                    <a:lstStyle/>
                    <a:p>
                      <a:pPr xmlns:a="http://schemas.openxmlformats.org/drawingml/2006/main" algn="l">
                        <a:buFont typeface="Arial"/>
                        <a:buNone/>
                      </a:pPr>
                      <a:r xmlns:a="http://schemas.openxmlformats.org/drawingml/2006/main">
                        <a:rPr lang="id" b="0" i="0" dirty="0">
                          <a:solidFill>
                            <a:srgbClr val="58585B"/>
                          </a:solidFill>
                          <a:effectLst/>
                          <a:latin typeface="CiscoSans"/>
                        </a:rPr>
                        <a:t>Digunakan untuk tugas sederhana: mentransfer file dan berbagi printer</a:t>
                      </a:r>
                    </a:p>
                  </a:txBody>
                  <a:tcPr/>
                </a:tc>
                <a:tc>
                  <a:txBody>
                    <a:bodyPr/>
                    <a:lstStyle/>
                    <a:p>
                      <a:r xmlns:a="http://schemas.openxmlformats.org/drawingml/2006/main">
                        <a:rPr lang="id" sz="1400" b="0" i="0" kern="1200" dirty="0">
                          <a:solidFill>
                            <a:schemeClr val="dk1"/>
                          </a:solidFill>
                          <a:effectLst/>
                          <a:latin typeface="+mn-lt"/>
                          <a:ea typeface="+mn-ea"/>
                          <a:cs typeface="+mn-cs"/>
                        </a:rPr>
                        <a:t>Lebih lambat</a:t>
                      </a:r>
                      <a:r xmlns:a="http://schemas.openxmlformats.org/drawingml/2006/main">
                        <a:rPr lang="id" sz="1400" b="0" i="0" kern="1200" baseline="0" dirty="0">
                          <a:solidFill>
                            <a:schemeClr val="dk1"/>
                          </a:solidFill>
                          <a:effectLst/>
                          <a:latin typeface="+mn-lt"/>
                          <a:ea typeface="+mn-ea"/>
                          <a:cs typeface="+mn-cs"/>
                        </a:rPr>
                        <a:t> </a:t>
                      </a:r>
                      <a:r xmlns:a="http://schemas.openxmlformats.org/drawingml/2006/main">
                        <a:rPr lang="id" sz="1400" b="0" i="0" kern="1200" dirty="0">
                          <a:solidFill>
                            <a:schemeClr val="dk1"/>
                          </a:solidFill>
                          <a:effectLst/>
                          <a:latin typeface="+mn-lt"/>
                          <a:ea typeface="+mn-ea"/>
                          <a:cs typeface="+mn-cs"/>
                        </a:rPr>
                        <a:t>pertunjukan</a:t>
                      </a:r>
                      <a:endParaRPr xmlns:a="http://schemas.openxmlformats.org/drawingml/2006/main" lang="en-US" dirty="0"/>
                    </a:p>
                  </a:txBody>
                  <a:tcPr/>
                </a:tc>
                <a:extLst>
                  <a:ext uri="{0D108BD9-81ED-4DB2-BD59-A6C34878D82A}">
                    <a16:rowId xmlns:a16="http://schemas.microsoft.com/office/drawing/2014/main" val="10004"/>
                  </a:ext>
                </a:extLst>
              </a:tr>
            </a:tbl>
          </a:graphicData>
        </a:graphic>
      </p:graphicFrame>
    </p:spTree>
    <p:custDataLst>
      <p:tags r:id="rId1"/>
    </p:custDataLst>
    <p:extLst>
      <p:ext uri="{BB962C8B-B14F-4D97-AF65-F5344CB8AC3E}">
        <p14:creationId xmlns:p14="http://schemas.microsoft.com/office/powerpoint/2010/main" val="433941454"/>
      </p:ext>
    </p:extLst>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xmlns:a="http://schemas.openxmlformats.org/drawingml/2006/main">
              <a:rPr lang="id" altLang="en-US" dirty="0"/>
              <a:t>Perangkat Akhir </a:t>
            </a:r>
            <a:r xmlns:a="http://schemas.openxmlformats.org/drawingml/2006/main">
              <a:rPr lang="id" altLang="en-US" sz="1600" dirty="0"/>
              <a:t>Komponen Jaringan</a:t>
            </a:r>
            <a:br xmlns:a="http://schemas.openxmlformats.org/drawingml/2006/main">
              <a:rPr lang="en-US" altLang="en-US" dirty="0"/>
            </a:br>
          </a:p>
        </p:txBody>
      </p:sp>
      <p:sp>
        <p:nvSpPr>
          <p:cNvPr id="8195" name="Rectangle 6"/>
          <p:cNvSpPr>
            <a:spLocks noGrp="1" noChangeArrowheads="1"/>
          </p:cNvSpPr>
          <p:nvPr>
            <p:ph idx="1"/>
          </p:nvPr>
        </p:nvSpPr>
        <p:spPr>
          <a:xfrm>
            <a:off x="144065" y="798945"/>
            <a:ext cx="8853286" cy="845557"/>
          </a:xfrm>
        </p:spPr>
        <p:txBody>
          <a:bodyPr/>
          <a:lstStyle/>
          <a:p>
            <a:pPr xmlns:a="http://schemas.openxmlformats.org/drawingml/2006/main" marL="0" lvl="1" indent="0">
              <a:spcBef>
                <a:spcPts val="600"/>
              </a:spcBef>
              <a:spcAft>
                <a:spcPts val="600"/>
              </a:spcAft>
              <a:buSzPct val="90000"/>
              <a:buNone/>
            </a:pPr>
            <a:r xmlns:a="http://schemas.openxmlformats.org/drawingml/2006/main">
              <a:rPr lang="id" altLang="en-US" sz="1500" dirty="0"/>
              <a:t>Perangkat akhir adalah tempat asal pesan atau tempat pesan diterima. Data berasal dari perangkat akhir, mengalir melalui jaringan, dan tiba di perangkat akhir.</a:t>
            </a:r>
            <a:endParaRPr xmlns:a="http://schemas.openxmlformats.org/drawingml/2006/main" lang="en-CA" altLang="en-US" sz="1500" dirty="0"/>
          </a:p>
          <a:p>
            <a:pPr marL="169863" lvl="1" indent="-169863">
              <a:spcBef>
                <a:spcPts val="600"/>
              </a:spcBef>
              <a:spcAft>
                <a:spcPts val="600"/>
              </a:spcAft>
              <a:buSzPct val="90000"/>
              <a:buFont typeface="Wingdings" panose="05000000000000000000" pitchFamily="2" charset="2"/>
              <a:buChar char="§"/>
            </a:pPr>
            <a:endParaRPr lang="en-US" altLang="en-US" sz="1500" dirty="0"/>
          </a:p>
          <a:p>
            <a:endParaRPr lang="en-US" altLang="en-US" dirty="0"/>
          </a:p>
          <a:p>
            <a:pPr xmlns:a="http://schemas.openxmlformats.org/drawingml/2006/main" marL="0" indent="0">
              <a:buNone/>
            </a:pPr>
            <a:r xmlns:a="http://schemas.openxmlformats.org/drawingml/2006/main">
              <a:rPr lang="id" altLang="ja-JP" dirty="0"/>
              <a:t> </a:t>
            </a:r>
          </a:p>
        </p:txBody>
      </p:sp>
      <p:pic>
        <p:nvPicPr>
          <p:cNvPr id="20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2779" y="1644502"/>
            <a:ext cx="5437865" cy="29260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ustDataLst>
      <p:tags r:id="rId1"/>
    </p:custDataLst>
    <p:extLst>
      <p:ext uri="{BB962C8B-B14F-4D97-AF65-F5344CB8AC3E}">
        <p14:creationId xmlns:p14="http://schemas.microsoft.com/office/powerpoint/2010/main" val="1608030450"/>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xmlns:a="http://schemas.openxmlformats.org/drawingml/2006/main">
              <a:rPr lang="id" altLang="en-US" sz="1600" dirty="0"/>
              <a:t>Komponen Jaringan </a:t>
            </a:r>
            <a:br xmlns:a="http://schemas.openxmlformats.org/drawingml/2006/main">
              <a:rPr lang="en-US" altLang="en-US" dirty="0"/>
            </a:br>
            <a:r xmlns:a="http://schemas.openxmlformats.org/drawingml/2006/main">
              <a:rPr lang="id" altLang="en-US" dirty="0"/>
              <a:t>Perangkat Jaringan Perantara</a:t>
            </a:r>
            <a:endParaRPr xmlns:a="http://schemas.openxmlformats.org/drawingml/2006/main" lang="en-CA" altLang="en-US" dirty="0"/>
          </a:p>
        </p:txBody>
      </p:sp>
      <p:sp>
        <p:nvSpPr>
          <p:cNvPr id="13315" name="Content Placeholder 2"/>
          <p:cNvSpPr>
            <a:spLocks noGrp="1"/>
          </p:cNvSpPr>
          <p:nvPr>
            <p:ph idx="1"/>
          </p:nvPr>
        </p:nvSpPr>
        <p:spPr>
          <a:xfrm>
            <a:off x="366900" y="798945"/>
            <a:ext cx="7893435" cy="2419010"/>
          </a:xfrm>
        </p:spPr>
        <p:txBody>
          <a:bodyPr/>
          <a:lstStyle/>
          <a:p>
            <a:pPr xmlns:a="http://schemas.openxmlformats.org/drawingml/2006/main" marL="0" indent="0">
              <a:buNone/>
            </a:pPr>
            <a:r xmlns:a="http://schemas.openxmlformats.org/drawingml/2006/main">
              <a:rPr lang="id" altLang="en-US" dirty="0"/>
              <a:t>Perangkat perantara menghubungkan perangkat akhir. Contohnya termasuk switch, titik akses nirkabel, router, dan firewall.</a:t>
            </a:r>
          </a:p>
          <a:p>
            <a:pPr xmlns:a="http://schemas.openxmlformats.org/drawingml/2006/main" marL="0" indent="0">
              <a:buNone/>
            </a:pPr>
            <a:r xmlns:a="http://schemas.openxmlformats.org/drawingml/2006/main">
              <a:rPr lang="id" altLang="en-US" dirty="0"/>
              <a:t>Pengelolaan data saat mengalir melalui jaringan juga merupakan peran perangkat perantara, antara lain:</a:t>
            </a:r>
          </a:p>
          <a:p>
            <a:pPr xmlns:a="http://schemas.openxmlformats.org/drawingml/2006/main" lvl="1"/>
            <a:r xmlns:a="http://schemas.openxmlformats.org/drawingml/2006/main">
              <a:rPr lang="id" altLang="en-US" dirty="0"/>
              <a:t>Meregenerasi dan mengirimkan ulang sinyal data.</a:t>
            </a:r>
          </a:p>
          <a:p>
            <a:pPr xmlns:a="http://schemas.openxmlformats.org/drawingml/2006/main" lvl="1"/>
            <a:r xmlns:a="http://schemas.openxmlformats.org/drawingml/2006/main">
              <a:rPr lang="id" altLang="en-US" dirty="0"/>
              <a:t>Menjaga informasi tentang jalur apa yang ada dalam jaringan.</a:t>
            </a:r>
          </a:p>
          <a:p>
            <a:pPr xmlns:a="http://schemas.openxmlformats.org/drawingml/2006/main" lvl="1"/>
            <a:r xmlns:a="http://schemas.openxmlformats.org/drawingml/2006/main">
              <a:rPr lang="id" altLang="en-US" dirty="0"/>
              <a:t>Beritahu perangkat lain tentang kesalahan dan kegagalan komunikasi.</a:t>
            </a:r>
          </a:p>
          <a:p>
            <a:pPr lvl="1"/>
            <a:endParaRPr lang="en-US" altLang="en-US" dirty="0"/>
          </a:p>
          <a:p>
            <a:pPr lvl="1"/>
            <a:endParaRPr lang="en-US" altLang="en-US" dirty="0"/>
          </a:p>
          <a:p>
            <a:pPr marL="142875" lvl="1" indent="0">
              <a:buNone/>
            </a:pPr>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1596689" y="3354142"/>
            <a:ext cx="4988645" cy="1397000"/>
          </a:xfrm>
          <a:prstGeom prst="rect">
            <a:avLst/>
          </a:prstGeom>
        </p:spPr>
      </p:pic>
    </p:spTree>
    <p:extLst>
      <p:ext uri="{BB962C8B-B14F-4D97-AF65-F5344CB8AC3E}">
        <p14:creationId xmlns:p14="http://schemas.microsoft.com/office/powerpoint/2010/main" val="4085803757"/>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r xmlns:a="http://schemas.openxmlformats.org/drawingml/2006/main">
              <a:rPr lang="id" altLang="en-US" sz="1600" dirty="0"/>
              <a:t>Komponen Jaringan </a:t>
            </a:r>
            <a:br xmlns:a="http://schemas.openxmlformats.org/drawingml/2006/main">
              <a:rPr lang="en-US" altLang="en-US" dirty="0"/>
            </a:br>
            <a:r xmlns:a="http://schemas.openxmlformats.org/drawingml/2006/main">
              <a:rPr lang="id" altLang="en-US" dirty="0"/>
              <a:t>Media Jaringan</a:t>
            </a:r>
          </a:p>
        </p:txBody>
      </p:sp>
      <p:sp>
        <p:nvSpPr>
          <p:cNvPr id="8195" name="Rectangle 6"/>
          <p:cNvSpPr>
            <a:spLocks noGrp="1" noChangeArrowheads="1"/>
          </p:cNvSpPr>
          <p:nvPr>
            <p:ph idx="1"/>
          </p:nvPr>
        </p:nvSpPr>
        <p:spPr>
          <a:xfrm>
            <a:off x="144065" y="798946"/>
            <a:ext cx="8743293" cy="608695"/>
          </a:xfrm>
        </p:spPr>
        <p:txBody>
          <a:bodyPr/>
          <a:lstStyle/>
          <a:p>
            <a:pPr xmlns:a="http://schemas.openxmlformats.org/drawingml/2006/main" marL="0" indent="0">
              <a:buNone/>
            </a:pPr>
            <a:r xmlns:a="http://schemas.openxmlformats.org/drawingml/2006/main">
              <a:rPr lang="id" altLang="en-US" sz="1600" dirty="0"/>
              <a:t>Komunikasi melintasi jaringan dilakukan melalui media yang memungkinkan pesan berpindah dari sumber ke tujuan.</a:t>
            </a:r>
          </a:p>
          <a:p>
            <a:pPr xmlns:a="http://schemas.openxmlformats.org/drawingml/2006/main" marL="0" indent="0">
              <a:buNone/>
            </a:pPr>
            <a:r xmlns:a="http://schemas.openxmlformats.org/drawingml/2006/main">
              <a:rPr lang="id" altLang="ja-JP" dirty="0"/>
              <a:t> </a:t>
            </a:r>
          </a:p>
        </p:txBody>
      </p:sp>
      <p:graphicFrame>
        <p:nvGraphicFramePr>
          <p:cNvPr id="2" name="Table 1"/>
          <p:cNvGraphicFramePr>
            <a:graphicFrameLocks noGrp="1"/>
          </p:cNvGraphicFramePr>
          <p:nvPr>
            <p:extLst>
              <p:ext uri="{D42A27DB-BD31-4B8C-83A1-F6EECF244321}">
                <p14:modId xmlns:p14="http://schemas.microsoft.com/office/powerpoint/2010/main" val="4160711649"/>
              </p:ext>
            </p:extLst>
          </p:nvPr>
        </p:nvGraphicFramePr>
        <p:xfrm>
          <a:off x="361509" y="1496375"/>
          <a:ext cx="4557822" cy="2787791"/>
        </p:xfrm>
        <a:graphic>
          <a:graphicData uri="http://schemas.openxmlformats.org/drawingml/2006/table">
            <a:tbl>
              <a:tblPr firstRow="1" bandRow="1">
                <a:tableStyleId>{5C22544A-7EE6-4342-B048-85BDC9FD1C3A}</a:tableStyleId>
              </a:tblPr>
              <a:tblGrid>
                <a:gridCol w="2324985">
                  <a:extLst>
                    <a:ext uri="{9D8B030D-6E8A-4147-A177-3AD203B41FA5}">
                      <a16:colId xmlns:a16="http://schemas.microsoft.com/office/drawing/2014/main" val="20000"/>
                    </a:ext>
                  </a:extLst>
                </a:gridCol>
                <a:gridCol w="2232837">
                  <a:extLst>
                    <a:ext uri="{9D8B030D-6E8A-4147-A177-3AD203B41FA5}">
                      <a16:colId xmlns:a16="http://schemas.microsoft.com/office/drawing/2014/main" val="20001"/>
                    </a:ext>
                  </a:extLst>
                </a:gridCol>
              </a:tblGrid>
              <a:tr h="431126">
                <a:tc>
                  <a:txBody>
                    <a:bodyPr/>
                    <a:lstStyle/>
                    <a:p>
                      <a:r xmlns:a="http://schemas.openxmlformats.org/drawingml/2006/main">
                        <a:rPr lang="id" dirty="0"/>
                        <a:t>Jenis Media</a:t>
                      </a:r>
                    </a:p>
                  </a:txBody>
                  <a:tcPr/>
                </a:tc>
                <a:tc>
                  <a:txBody>
                    <a:bodyPr/>
                    <a:lstStyle/>
                    <a:p>
                      <a:r xmlns:a="http://schemas.openxmlformats.org/drawingml/2006/main">
                        <a:rPr lang="id" dirty="0"/>
                        <a:t>Keterangan</a:t>
                      </a:r>
                    </a:p>
                  </a:txBody>
                  <a:tcPr/>
                </a:tc>
                <a:extLst>
                  <a:ext uri="{0D108BD9-81ED-4DB2-BD59-A6C34878D82A}">
                    <a16:rowId xmlns:a16="http://schemas.microsoft.com/office/drawing/2014/main" val="10000"/>
                  </a:ext>
                </a:extLst>
              </a:tr>
              <a:tr h="599768">
                <a:tc>
                  <a:txBody>
                    <a:bodyPr/>
                    <a:lstStyle/>
                    <a:p>
                      <a:r xmlns:a="http://schemas.openxmlformats.org/drawingml/2006/main">
                        <a:rPr lang="id" sz="1400" b="1" i="0" kern="1200" dirty="0">
                          <a:solidFill>
                            <a:schemeClr val="dk1"/>
                          </a:solidFill>
                          <a:effectLst/>
                          <a:latin typeface="+mn-lt"/>
                          <a:ea typeface="+mn-ea"/>
                          <a:cs typeface="+mn-cs"/>
                        </a:rPr>
                        <a:t>Kabel logam di dalam kabel</a:t>
                      </a:r>
                      <a:endParaRPr xmlns:a="http://schemas.openxmlformats.org/drawingml/2006/main" lang="en-US" dirty="0"/>
                    </a:p>
                  </a:txBody>
                  <a:tcPr/>
                </a:tc>
                <a:tc>
                  <a:txBody>
                    <a:bodyPr/>
                    <a:lstStyle/>
                    <a:p>
                      <a:r xmlns:a="http://schemas.openxmlformats.org/drawingml/2006/main">
                        <a:rPr lang="id" sz="1400" b="0" i="0" kern="1200" dirty="0">
                          <a:solidFill>
                            <a:schemeClr val="dk1"/>
                          </a:solidFill>
                          <a:effectLst/>
                          <a:latin typeface="+mn-lt"/>
                          <a:ea typeface="+mn-ea"/>
                          <a:cs typeface="+mn-cs"/>
                        </a:rPr>
                        <a:t>Menggunakan impuls listrik</a:t>
                      </a:r>
                      <a:endParaRPr xmlns:a="http://schemas.openxmlformats.org/drawingml/2006/main" lang="en-US" dirty="0"/>
                    </a:p>
                  </a:txBody>
                  <a:tcPr/>
                </a:tc>
                <a:extLst>
                  <a:ext uri="{0D108BD9-81ED-4DB2-BD59-A6C34878D82A}">
                    <a16:rowId xmlns:a16="http://schemas.microsoft.com/office/drawing/2014/main" val="10001"/>
                  </a:ext>
                </a:extLst>
              </a:tr>
              <a:tr h="846731">
                <a:tc>
                  <a:txBody>
                    <a:bodyPr/>
                    <a:lstStyle/>
                    <a:p>
                      <a:r xmlns:a="http://schemas.openxmlformats.org/drawingml/2006/main">
                        <a:rPr lang="id" sz="1400" b="1" i="0" kern="1200" dirty="0">
                          <a:solidFill>
                            <a:schemeClr val="dk1"/>
                          </a:solidFill>
                          <a:effectLst/>
                          <a:latin typeface="+mn-lt"/>
                          <a:ea typeface="+mn-ea"/>
                          <a:cs typeface="+mn-cs"/>
                        </a:rPr>
                        <a:t>Serat kaca atau plastik di dalam kabel (kabel serat optik)</a:t>
                      </a:r>
                      <a:endParaRPr xmlns:a="http://schemas.openxmlformats.org/drawingml/2006/main" lang="en-US" dirty="0"/>
                    </a:p>
                  </a:txBody>
                  <a:tcPr/>
                </a:tc>
                <a:tc>
                  <a:txBody>
                    <a:bodyPr/>
                    <a:lstStyle/>
                    <a:p>
                      <a:r xmlns:a="http://schemas.openxmlformats.org/drawingml/2006/main">
                        <a:rPr lang="id" sz="1400" b="0" i="0" kern="1200" dirty="0">
                          <a:solidFill>
                            <a:schemeClr val="dk1"/>
                          </a:solidFill>
                          <a:effectLst/>
                          <a:latin typeface="+mn-lt"/>
                          <a:ea typeface="+mn-ea"/>
                          <a:cs typeface="+mn-cs"/>
                        </a:rPr>
                        <a:t>Menggunakan pulsa cahaya.</a:t>
                      </a:r>
                      <a:endParaRPr xmlns:a="http://schemas.openxmlformats.org/drawingml/2006/main" lang="en-US" dirty="0"/>
                    </a:p>
                  </a:txBody>
                  <a:tcPr/>
                </a:tc>
                <a:extLst>
                  <a:ext uri="{0D108BD9-81ED-4DB2-BD59-A6C34878D82A}">
                    <a16:rowId xmlns:a16="http://schemas.microsoft.com/office/drawing/2014/main" val="10002"/>
                  </a:ext>
                </a:extLst>
              </a:tr>
              <a:tr h="910166">
                <a:tc>
                  <a:txBody>
                    <a:bodyPr/>
                    <a:lstStyle/>
                    <a:p>
                      <a:r xmlns:a="http://schemas.openxmlformats.org/drawingml/2006/main">
                        <a:rPr lang="id" sz="1400" b="1" i="0" kern="1200" dirty="0">
                          <a:solidFill>
                            <a:schemeClr val="dk1"/>
                          </a:solidFill>
                          <a:effectLst/>
                          <a:latin typeface="+mn-lt"/>
                          <a:ea typeface="+mn-ea"/>
                          <a:cs typeface="+mn-cs"/>
                        </a:rPr>
                        <a:t>Transmisi nirkabel</a:t>
                      </a:r>
                      <a:endParaRPr xmlns:a="http://schemas.openxmlformats.org/drawingml/2006/main" lang="en-US" dirty="0"/>
                    </a:p>
                  </a:txBody>
                  <a:tcPr/>
                </a:tc>
                <a:tc>
                  <a:txBody>
                    <a:bodyPr/>
                    <a:lstStyle/>
                    <a:p>
                      <a:r xmlns:a="http://schemas.openxmlformats.org/drawingml/2006/main">
                        <a:rPr lang="id" sz="1400" b="0" i="0" kern="1200" dirty="0">
                          <a:solidFill>
                            <a:schemeClr val="dk1"/>
                          </a:solidFill>
                          <a:effectLst/>
                          <a:latin typeface="+mn-lt"/>
                          <a:ea typeface="+mn-ea"/>
                          <a:cs typeface="+mn-cs"/>
                        </a:rPr>
                        <a:t>Menggunakan modulasi frekuensi gelombang elektromagnetik tertentu.</a:t>
                      </a:r>
                      <a:endParaRPr xmlns:a="http://schemas.openxmlformats.org/drawingml/2006/main" lang="en-US" dirty="0"/>
                    </a:p>
                  </a:txBody>
                  <a:tcPr/>
                </a:tc>
                <a:extLst>
                  <a:ext uri="{0D108BD9-81ED-4DB2-BD59-A6C34878D82A}">
                    <a16:rowId xmlns:a16="http://schemas.microsoft.com/office/drawing/2014/main" val="10003"/>
                  </a:ext>
                </a:extLst>
              </a:tr>
            </a:tbl>
          </a:graphicData>
        </a:graphic>
      </p:graphicFrame>
      <p:pic>
        <p:nvPicPr>
          <p:cNvPr id="4" name="Picture 3"/>
          <p:cNvPicPr>
            <a:picLocks noChangeAspect="1"/>
          </p:cNvPicPr>
          <p:nvPr/>
        </p:nvPicPr>
        <p:blipFill>
          <a:blip r:embed="rId4"/>
          <a:stretch>
            <a:fillRect/>
          </a:stretch>
        </p:blipFill>
        <p:spPr>
          <a:xfrm>
            <a:off x="4919331" y="1407641"/>
            <a:ext cx="3968026" cy="2999973"/>
          </a:xfrm>
          <a:prstGeom prst="rect">
            <a:avLst/>
          </a:prstGeom>
        </p:spPr>
      </p:pic>
    </p:spTree>
    <p:custDataLst>
      <p:tags r:id="rId1"/>
    </p:custDataLst>
    <p:extLst>
      <p:ext uri="{BB962C8B-B14F-4D97-AF65-F5344CB8AC3E}">
        <p14:creationId xmlns:p14="http://schemas.microsoft.com/office/powerpoint/2010/main" val="3146129458"/>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xmlns:a="http://schemas.openxmlformats.org/drawingml/2006/main">
              <a:rPr lang="id" sz="4000" dirty="0">
                <a:solidFill>
                  <a:schemeClr val="accent5">
                    <a:lumMod val="40000"/>
                    <a:lumOff val="60000"/>
                  </a:schemeClr>
                </a:solidFill>
              </a:rPr>
              <a:t>1.3 Representasi dan Topologi Jaringan</a:t>
            </a:r>
          </a:p>
        </p:txBody>
      </p:sp>
    </p:spTree>
    <p:custDataLst>
      <p:tags r:id="rId1"/>
    </p:custDataLst>
    <p:extLst>
      <p:ext uri="{BB962C8B-B14F-4D97-AF65-F5344CB8AC3E}">
        <p14:creationId xmlns:p14="http://schemas.microsoft.com/office/powerpoint/2010/main" val="3488985433"/>
      </p:ext>
    </p:extLst>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xmlns:a="http://schemas.openxmlformats.org/drawingml/2006/main">
              <a:rPr lang="id" altLang="en-US" sz="1600" dirty="0"/>
              <a:t>Representasi Jaringan dan Topologi </a:t>
            </a:r>
            <a:br xmlns:a="http://schemas.openxmlformats.org/drawingml/2006/main">
              <a:rPr lang="en-US" altLang="en-US" dirty="0"/>
            </a:br>
            <a:r xmlns:a="http://schemas.openxmlformats.org/drawingml/2006/main">
              <a:rPr lang="id" altLang="en-US" dirty="0"/>
              <a:t>Representasi Jaringan</a:t>
            </a:r>
            <a:endParaRPr xmlns:a="http://schemas.openxmlformats.org/drawingml/2006/main" lang="en-CA" altLang="en-US" dirty="0"/>
          </a:p>
        </p:txBody>
      </p:sp>
      <p:sp>
        <p:nvSpPr>
          <p:cNvPr id="13315" name="Content Placeholder 2"/>
          <p:cNvSpPr>
            <a:spLocks noGrp="1"/>
          </p:cNvSpPr>
          <p:nvPr>
            <p:ph idx="1"/>
          </p:nvPr>
        </p:nvSpPr>
        <p:spPr>
          <a:xfrm>
            <a:off x="167117" y="1152409"/>
            <a:ext cx="3997630" cy="3282194"/>
          </a:xfrm>
        </p:spPr>
        <p:txBody>
          <a:bodyPr/>
          <a:lstStyle/>
          <a:p>
            <a:pPr xmlns:a="http://schemas.openxmlformats.org/drawingml/2006/main" marL="0" indent="0">
              <a:buNone/>
            </a:pPr>
            <a:r xmlns:a="http://schemas.openxmlformats.org/drawingml/2006/main">
              <a:rPr lang="id" altLang="en-US" sz="1600" dirty="0"/>
              <a:t>Diagram jaringan, sering disebut diagram topologi, menggunakan simbol untuk mewakili perangkat dalam jaringan.</a:t>
            </a:r>
          </a:p>
          <a:p>
            <a:pPr xmlns:a="http://schemas.openxmlformats.org/drawingml/2006/main" marL="0" indent="0">
              <a:buNone/>
            </a:pPr>
            <a:r xmlns:a="http://schemas.openxmlformats.org/drawingml/2006/main">
              <a:rPr lang="id" altLang="en-US" sz="1600" dirty="0"/>
              <a:t>Istilah-istilah penting yang perlu diketahui antara lain:</a:t>
            </a:r>
            <a:endParaRPr xmlns:a="http://schemas.openxmlformats.org/drawingml/2006/main" lang="en-CA" altLang="en-US" sz="1600" dirty="0"/>
          </a:p>
          <a:p>
            <a:pPr xmlns:a="http://schemas.openxmlformats.org/drawingml/2006/main" lvl="2"/>
            <a:r xmlns:a="http://schemas.openxmlformats.org/drawingml/2006/main">
              <a:rPr lang="id" altLang="en-US" sz="1600" dirty="0"/>
              <a:t>Kartu Antarmuka Jaringan (NIC)</a:t>
            </a:r>
          </a:p>
          <a:p>
            <a:pPr xmlns:a="http://schemas.openxmlformats.org/drawingml/2006/main" lvl="2"/>
            <a:r xmlns:a="http://schemas.openxmlformats.org/drawingml/2006/main">
              <a:rPr lang="id" altLang="en-US" sz="1600" dirty="0"/>
              <a:t>Pelabuhan Fisik</a:t>
            </a:r>
          </a:p>
          <a:p>
            <a:pPr xmlns:a="http://schemas.openxmlformats.org/drawingml/2006/main" lvl="2"/>
            <a:r xmlns:a="http://schemas.openxmlformats.org/drawingml/2006/main">
              <a:rPr lang="id" altLang="en-US" sz="1600" dirty="0"/>
              <a:t>Antarmuka</a:t>
            </a:r>
          </a:p>
          <a:p>
            <a:pPr marL="261937" lvl="2" indent="0">
              <a:buNone/>
            </a:pPr>
            <a:endParaRPr lang="en-US" sz="1600" b="1" dirty="0"/>
          </a:p>
          <a:p>
            <a:pPr xmlns:a="http://schemas.openxmlformats.org/drawingml/2006/main" marL="261937" lvl="2" indent="0">
              <a:buNone/>
            </a:pPr>
            <a:r xmlns:a="http://schemas.openxmlformats.org/drawingml/2006/main">
              <a:rPr lang="id" sz="1600" b="1" dirty="0"/>
              <a:t>Catatan </a:t>
            </a:r>
            <a:r xmlns:a="http://schemas.openxmlformats.org/drawingml/2006/main">
              <a:rPr lang="id" sz="1600" dirty="0"/>
              <a:t>: Seringkali, istilah port dan antarmuka digunakan secara bergantian</a:t>
            </a:r>
            <a:endParaRPr xmlns:a="http://schemas.openxmlformats.org/drawingml/2006/main" lang="en-CA" altLang="en-US" sz="1600" dirty="0"/>
          </a:p>
          <a:p>
            <a:pPr lvl="2"/>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4164747" y="983570"/>
            <a:ext cx="4880311" cy="3451033"/>
          </a:xfrm>
          <a:prstGeom prst="rect">
            <a:avLst/>
          </a:prstGeom>
        </p:spPr>
      </p:pic>
    </p:spTree>
    <p:extLst>
      <p:ext uri="{BB962C8B-B14F-4D97-AF65-F5344CB8AC3E}">
        <p14:creationId xmlns:p14="http://schemas.microsoft.com/office/powerpoint/2010/main" val="1047103102"/>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xmlns:a="http://schemas.openxmlformats.org/drawingml/2006/main">
              <a:rPr lang="id" altLang="en-US" sz="1600" dirty="0"/>
              <a:t>Representasi Jaringan dan Topologi </a:t>
            </a:r>
            <a:br xmlns:a="http://schemas.openxmlformats.org/drawingml/2006/main">
              <a:rPr lang="en-US" altLang="en-US" dirty="0"/>
            </a:br>
            <a:r xmlns:a="http://schemas.openxmlformats.org/drawingml/2006/main">
              <a:rPr lang="id" altLang="en-US" dirty="0"/>
              <a:t>Diagram Topologi</a:t>
            </a:r>
            <a:endParaRPr xmlns:a="http://schemas.openxmlformats.org/drawingml/2006/main" lang="en-CA" altLang="en-US" dirty="0"/>
          </a:p>
        </p:txBody>
      </p:sp>
      <p:sp>
        <p:nvSpPr>
          <p:cNvPr id="13315" name="Content Placeholder 2"/>
          <p:cNvSpPr>
            <a:spLocks noGrp="1"/>
          </p:cNvSpPr>
          <p:nvPr>
            <p:ph idx="1"/>
          </p:nvPr>
        </p:nvSpPr>
        <p:spPr>
          <a:xfrm>
            <a:off x="283940" y="797709"/>
            <a:ext cx="4062002" cy="740468"/>
          </a:xfrm>
        </p:spPr>
        <p:txBody>
          <a:bodyPr/>
          <a:lstStyle/>
          <a:p>
            <a:pPr xmlns:a="http://schemas.openxmlformats.org/drawingml/2006/main" marL="0" indent="0">
              <a:buNone/>
            </a:pPr>
            <a:r xmlns:a="http://schemas.openxmlformats.org/drawingml/2006/main">
              <a:rPr lang="id" dirty="0"/>
              <a:t>Diagram topologi fisik menggambarkan lokasi fisik perangkat perantara dan instalasi kabel.</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283940" y="1712110"/>
            <a:ext cx="4168325" cy="2681535"/>
          </a:xfrm>
          <a:prstGeom prst="rect">
            <a:avLst/>
          </a:prstGeom>
        </p:spPr>
      </p:pic>
      <p:sp>
        <p:nvSpPr>
          <p:cNvPr id="2" name="Rectangle 1"/>
          <p:cNvSpPr/>
          <p:nvPr/>
        </p:nvSpPr>
        <p:spPr>
          <a:xfrm>
            <a:off x="4911703" y="756244"/>
            <a:ext cx="4232297" cy="784830"/>
          </a:xfrm>
          <a:prstGeom prst="rect">
            <a:avLst/>
          </a:prstGeom>
        </p:spPr>
        <p:txBody>
          <a:bodyPr wrap="square">
            <a:spAutoFit/>
          </a:bodyPr>
          <a:lstStyle/>
          <a:p>
            <a:r xmlns:a="http://schemas.openxmlformats.org/drawingml/2006/main">
              <a:rPr lang="id" sz="1500" dirty="0">
                <a:solidFill>
                  <a:srgbClr val="000000"/>
                </a:solidFill>
              </a:rPr>
              <a:t>Diagram topologi logis menggambarkan perangkat, port, dan skema pengalamatan jaringan.</a:t>
            </a:r>
            <a:endParaRPr xmlns:a="http://schemas.openxmlformats.org/drawingml/2006/main" lang="en-CA" altLang="en-US" sz="1500" dirty="0">
              <a:solidFill>
                <a:srgbClr val="000000"/>
              </a:solidFill>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2416" y="1712110"/>
            <a:ext cx="3971993" cy="26769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18958278"/>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xmlns:a="http://schemas.openxmlformats.org/drawingml/2006/main">
              <a:rPr lang="id" sz="4000" dirty="0">
                <a:solidFill>
                  <a:schemeClr val="accent5">
                    <a:lumMod val="40000"/>
                    <a:lumOff val="60000"/>
                  </a:schemeClr>
                </a:solidFill>
              </a:rPr>
              <a:t>1.4 Jenis Jaringan yang Umum</a:t>
            </a:r>
          </a:p>
        </p:txBody>
      </p:sp>
    </p:spTree>
    <p:custDataLst>
      <p:tags r:id="rId1"/>
    </p:custDataLst>
    <p:extLst>
      <p:ext uri="{BB962C8B-B14F-4D97-AF65-F5344CB8AC3E}">
        <p14:creationId xmlns:p14="http://schemas.microsoft.com/office/powerpoint/2010/main" val="1749772822"/>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757551"/>
          </a:xfrm>
        </p:spPr>
        <p:txBody>
          <a:bodyPr/>
          <a:lstStyle/>
          <a:p>
            <a:r xmlns:a="http://schemas.openxmlformats.org/drawingml/2006/main">
              <a:rPr lang="id" altLang="en-US" sz="1600" dirty="0"/>
              <a:t>Jenis Jaringan Umum </a:t>
            </a:r>
            <a:br xmlns:a="http://schemas.openxmlformats.org/drawingml/2006/main">
              <a:rPr lang="en-US" altLang="en-US" sz="1600" dirty="0"/>
            </a:br>
            <a:r xmlns:a="http://schemas.openxmlformats.org/drawingml/2006/main">
              <a:rPr lang="id" altLang="en-US" dirty="0"/>
              <a:t>Jaringan dengan Banyak Ukuran</a:t>
            </a:r>
          </a:p>
        </p:txBody>
      </p:sp>
      <p:sp>
        <p:nvSpPr>
          <p:cNvPr id="55299" name="Rectangle 3"/>
          <p:cNvSpPr>
            <a:spLocks noGrp="1" noChangeArrowheads="1"/>
          </p:cNvSpPr>
          <p:nvPr>
            <p:ph type="body" idx="1"/>
          </p:nvPr>
        </p:nvSpPr>
        <p:spPr>
          <a:xfrm>
            <a:off x="4572000" y="757551"/>
            <a:ext cx="4401766" cy="3950636"/>
          </a:xfrm>
        </p:spPr>
        <p:txBody>
          <a:bodyPr/>
          <a:lstStyle/>
          <a:p>
            <a:pPr xmlns:a="http://schemas.openxmlformats.org/drawingml/2006/main" eaLnBrk="1" hangingPunct="1">
              <a:buFont typeface="Arial" panose="020B0604020202020204" pitchFamily="34" charset="0"/>
              <a:buChar char="•"/>
            </a:pPr>
            <a:r xmlns:a="http://schemas.openxmlformats.org/drawingml/2006/main">
              <a:rPr lang="id" altLang="en-US" sz="1700" dirty="0"/>
              <a:t>Jaringan Rumah Kecil – menghubungkan beberapa komputer satu sama lain dan Internet</a:t>
            </a:r>
          </a:p>
          <a:p>
            <a:pPr xmlns:a="http://schemas.openxmlformats.org/drawingml/2006/main" eaLnBrk="1" hangingPunct="1">
              <a:buFont typeface="Arial" panose="020B0604020202020204" pitchFamily="34" charset="0"/>
              <a:buChar char="•"/>
            </a:pPr>
            <a:r xmlns:a="http://schemas.openxmlformats.org/drawingml/2006/main">
              <a:rPr lang="id" altLang="en-US" sz="1700" dirty="0"/>
              <a:t>Small Office/Home Office – memungkinkan komputer di rumah atau kantor jarak jauh terhubung ke jaringan perusahaan</a:t>
            </a:r>
          </a:p>
          <a:p>
            <a:pPr xmlns:a="http://schemas.openxmlformats.org/drawingml/2006/main" eaLnBrk="1" hangingPunct="1">
              <a:buFont typeface="Arial" panose="020B0604020202020204" pitchFamily="34" charset="0"/>
              <a:buChar char="•"/>
            </a:pPr>
            <a:r xmlns:a="http://schemas.openxmlformats.org/drawingml/2006/main">
              <a:rPr lang="id" altLang="en-US" sz="1700" dirty="0"/>
              <a:t>Jaringan Menengah hingga Besar – banyak lokasi dengan ratusan atau ribuan komputer yang saling terhubung</a:t>
            </a:r>
          </a:p>
          <a:p>
            <a:pPr xmlns:a="http://schemas.openxmlformats.org/drawingml/2006/main" eaLnBrk="1" hangingPunct="1">
              <a:buFont typeface="Arial" panose="020B0604020202020204" pitchFamily="34" charset="0"/>
              <a:buChar char="•"/>
            </a:pPr>
            <a:r xmlns:a="http://schemas.openxmlformats.org/drawingml/2006/main">
              <a:rPr lang="id" altLang="en-US" sz="1700" dirty="0"/>
              <a:t>World Wide Networks – menghubungkan ratusan juta komputer di seluruh dunia – seperti internet</a:t>
            </a:r>
          </a:p>
          <a:p>
            <a:pPr lvl="1"/>
            <a:endParaRPr lang="en-US" altLang="en-US" sz="1500" dirty="0"/>
          </a:p>
          <a:p>
            <a:pPr lvl="1"/>
            <a:endParaRPr lang="en-US" altLang="en-US" sz="1800" dirty="0"/>
          </a:p>
          <a:p>
            <a:pPr marL="0" indent="0" eaLnBrk="1" hangingPunct="1">
              <a:buNone/>
            </a:pPr>
            <a:endParaRPr lang="en-CA" altLang="en-US" sz="1650" b="1" dirty="0"/>
          </a:p>
        </p:txBody>
      </p:sp>
      <p:sp>
        <p:nvSpPr>
          <p:cNvPr id="2" name="TextBox 1"/>
          <p:cNvSpPr txBox="1"/>
          <p:nvPr/>
        </p:nvSpPr>
        <p:spPr>
          <a:xfrm>
            <a:off x="0" y="2310756"/>
            <a:ext cx="4344344" cy="369332"/>
          </a:xfrm>
          <a:prstGeom prst="rect">
            <a:avLst/>
          </a:prstGeom>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r xmlns:a="http://schemas.openxmlformats.org/drawingml/2006/main">
              <a:rPr lang="id" dirty="0"/>
              <a:t>       </a:t>
            </a:r>
            <a:r xmlns:a="http://schemas.openxmlformats.org/drawingml/2006/main">
              <a:rPr lang="id" sz="1600" dirty="0"/>
              <a:t>Rumah Kecil SOHO</a:t>
            </a:r>
          </a:p>
        </p:txBody>
      </p:sp>
      <p:pic>
        <p:nvPicPr>
          <p:cNvPr id="3074" name="Picture 2" descr="this is the image’s alt tex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779" y="757551"/>
            <a:ext cx="2103105" cy="153403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d1qjbjciwpxftb.cloudfront.net/courses/ccna1/networking-today/5_common-types-of-networks/assets/1_chunk/media--Small-Home-Office-Net--image.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3884" y="757551"/>
            <a:ext cx="2090460" cy="15340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176173" y="4303795"/>
            <a:ext cx="4168171" cy="369332"/>
          </a:xfrm>
          <a:prstGeom prst="rect">
            <a:avLst/>
          </a:prstGeom>
          <a:noFill/>
        </p:spPr>
        <p:txBody>
          <a:bodyPr wrap="square" rtlCol="0">
            <a:spAutoFit/>
          </a:bodyPr>
          <a:lstStyle/>
          <a:p>
            <a:r xmlns:a="http://schemas.openxmlformats.org/drawingml/2006/main">
              <a:rPr lang="id" dirty="0"/>
              <a:t>   </a:t>
            </a:r>
            <a:r xmlns:a="http://schemas.openxmlformats.org/drawingml/2006/main">
              <a:rPr lang="id" sz="1600" dirty="0"/>
              <a:t>Sedang/Besar di Seluruh Dunia</a:t>
            </a:r>
          </a:p>
        </p:txBody>
      </p:sp>
      <p:pic>
        <p:nvPicPr>
          <p:cNvPr id="3078" name="Picture 6" descr="this is the image’s alt tex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778" y="2699263"/>
            <a:ext cx="2103105" cy="160453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3883" y="2680088"/>
            <a:ext cx="2090461" cy="16045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00830764"/>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1" y="41394"/>
            <a:ext cx="9144000" cy="709974"/>
          </a:xfrm>
        </p:spPr>
        <p:txBody>
          <a:bodyPr/>
          <a:lstStyle/>
          <a:p>
            <a:r xmlns:a="http://schemas.openxmlformats.org/drawingml/2006/main">
              <a:rPr lang="id" altLang="en-US" sz="1600" dirty="0"/>
              <a:t>Jenis Umum Jaringan </a:t>
            </a:r>
            <a:br xmlns:a="http://schemas.openxmlformats.org/drawingml/2006/main">
              <a:rPr lang="en-US" altLang="en-US" dirty="0"/>
            </a:br>
            <a:r xmlns:a="http://schemas.openxmlformats.org/drawingml/2006/main">
              <a:rPr lang="id" altLang="en-US" dirty="0"/>
              <a:t>LAN dan WAN</a:t>
            </a:r>
          </a:p>
        </p:txBody>
      </p:sp>
      <p:sp>
        <p:nvSpPr>
          <p:cNvPr id="8195" name="Rectangle 6"/>
          <p:cNvSpPr>
            <a:spLocks noGrp="1" noChangeArrowheads="1"/>
          </p:cNvSpPr>
          <p:nvPr>
            <p:ph idx="1"/>
          </p:nvPr>
        </p:nvSpPr>
        <p:spPr>
          <a:xfrm>
            <a:off x="129889" y="728061"/>
            <a:ext cx="3995544" cy="3702690"/>
          </a:xfrm>
        </p:spPr>
        <p:txBody>
          <a:bodyPr/>
          <a:lstStyle/>
          <a:p>
            <a:pPr xmlns:a="http://schemas.openxmlformats.org/drawingml/2006/main" marL="0" indent="0">
              <a:buNone/>
            </a:pPr>
            <a:r xmlns:a="http://schemas.openxmlformats.org/drawingml/2006/main">
              <a:rPr lang="id" sz="1600" dirty="0"/>
              <a:t>Infrastruktur jaringan sangat bervariasi dalam hal:</a:t>
            </a:r>
          </a:p>
          <a:p>
            <a:pPr xmlns:a="http://schemas.openxmlformats.org/drawingml/2006/main" lvl="1">
              <a:buFont typeface="Arial" panose="020B0604020202020204" pitchFamily="34" charset="0"/>
              <a:buChar char="•"/>
            </a:pPr>
            <a:r xmlns:a="http://schemas.openxmlformats.org/drawingml/2006/main">
              <a:rPr lang="id" sz="1600" dirty="0"/>
              <a:t>Ukuran area yang dicakup</a:t>
            </a:r>
          </a:p>
          <a:p>
            <a:pPr xmlns:a="http://schemas.openxmlformats.org/drawingml/2006/main" lvl="1">
              <a:buFont typeface="Arial" panose="020B0604020202020204" pitchFamily="34" charset="0"/>
              <a:buChar char="•"/>
            </a:pPr>
            <a:r xmlns:a="http://schemas.openxmlformats.org/drawingml/2006/main">
              <a:rPr lang="id" sz="1600" dirty="0"/>
              <a:t>Jumlah pengguna yang terhubung</a:t>
            </a:r>
          </a:p>
          <a:p>
            <a:pPr xmlns:a="http://schemas.openxmlformats.org/drawingml/2006/main" lvl="1">
              <a:buFont typeface="Arial" panose="020B0604020202020204" pitchFamily="34" charset="0"/>
              <a:buChar char="•"/>
            </a:pPr>
            <a:r xmlns:a="http://schemas.openxmlformats.org/drawingml/2006/main">
              <a:rPr lang="id" sz="1600" dirty="0"/>
              <a:t>Jumlah dan jenis layanan yang tersedia</a:t>
            </a:r>
          </a:p>
          <a:p>
            <a:pPr xmlns:a="http://schemas.openxmlformats.org/drawingml/2006/main" lvl="1">
              <a:buFont typeface="Arial" panose="020B0604020202020204" pitchFamily="34" charset="0"/>
              <a:buChar char="•"/>
            </a:pPr>
            <a:r xmlns:a="http://schemas.openxmlformats.org/drawingml/2006/main">
              <a:rPr lang="id" sz="1600" dirty="0"/>
              <a:t>Area tanggung jawab</a:t>
            </a:r>
          </a:p>
          <a:p>
            <a:pPr marL="142875" lvl="1" indent="0">
              <a:buNone/>
            </a:pPr>
            <a:endParaRPr lang="en-US" altLang="en-US" sz="1600" dirty="0"/>
          </a:p>
          <a:p>
            <a:pPr xmlns:a="http://schemas.openxmlformats.org/drawingml/2006/main" marL="0" indent="0">
              <a:buNone/>
            </a:pPr>
            <a:r xmlns:a="http://schemas.openxmlformats.org/drawingml/2006/main">
              <a:rPr lang="id" altLang="en-US" sz="1600" dirty="0"/>
              <a:t>Dua jenis jaringan yang paling umum:</a:t>
            </a:r>
          </a:p>
          <a:p>
            <a:pPr xmlns:a="http://schemas.openxmlformats.org/drawingml/2006/main" lvl="1">
              <a:buFont typeface="Arial" panose="020B0604020202020204" pitchFamily="34" charset="0"/>
              <a:buChar char="•"/>
            </a:pPr>
            <a:r xmlns:a="http://schemas.openxmlformats.org/drawingml/2006/main">
              <a:rPr lang="id" altLang="en-US" sz="1600" dirty="0"/>
              <a:t>Jaringan Area Lokal (LAN)</a:t>
            </a:r>
          </a:p>
          <a:p>
            <a:pPr xmlns:a="http://schemas.openxmlformats.org/drawingml/2006/main" lvl="1">
              <a:buFont typeface="Arial" panose="020B0604020202020204" pitchFamily="34" charset="0"/>
              <a:buChar char="•"/>
            </a:pPr>
            <a:r xmlns:a="http://schemas.openxmlformats.org/drawingml/2006/main">
              <a:rPr lang="id" altLang="en-US" sz="1600" dirty="0"/>
              <a:t>Jaringan Area Luas (WAN).</a:t>
            </a:r>
            <a:endParaRPr xmlns:a="http://schemas.openxmlformats.org/drawingml/2006/main" lang="en-US" altLang="en-US" sz="1600" dirty="0"/>
          </a:p>
          <a:p>
            <a:pPr xmlns:a="http://schemas.openxmlformats.org/drawingml/2006/main" marL="0" indent="0">
              <a:buNone/>
            </a:pPr>
            <a:r xmlns:a="http://schemas.openxmlformats.org/drawingml/2006/main">
              <a:rPr lang="id" altLang="ja-JP" dirty="0"/>
              <a:t> </a:t>
            </a:r>
          </a:p>
        </p:txBody>
      </p:sp>
      <p:pic>
        <p:nvPicPr>
          <p:cNvPr id="2" name="Picture 1"/>
          <p:cNvPicPr>
            <a:picLocks noChangeAspect="1"/>
          </p:cNvPicPr>
          <p:nvPr/>
        </p:nvPicPr>
        <p:blipFill>
          <a:blip r:embed="rId4"/>
          <a:stretch>
            <a:fillRect/>
          </a:stretch>
        </p:blipFill>
        <p:spPr>
          <a:xfrm>
            <a:off x="4125432" y="751368"/>
            <a:ext cx="4885003" cy="3601606"/>
          </a:xfrm>
          <a:prstGeom prst="rect">
            <a:avLst/>
          </a:prstGeom>
        </p:spPr>
      </p:pic>
    </p:spTree>
    <p:custDataLst>
      <p:tags r:id="rId1"/>
    </p:custDataLst>
    <p:extLst>
      <p:ext uri="{BB962C8B-B14F-4D97-AF65-F5344CB8AC3E}">
        <p14:creationId xmlns:p14="http://schemas.microsoft.com/office/powerpoint/2010/main" val="3427474698"/>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xmlns:a="http://schemas.openxmlformats.org/drawingml/2006/main">
              <a:rPr lang="id" altLang="en-US" sz="1600" dirty="0"/>
              <a:t>Jenis Umum Jaringan </a:t>
            </a:r>
            <a:br xmlns:a="http://schemas.openxmlformats.org/drawingml/2006/main">
              <a:rPr lang="en-US" altLang="en-US" dirty="0"/>
            </a:br>
            <a:r xmlns:a="http://schemas.openxmlformats.org/drawingml/2006/main">
              <a:rPr lang="id" altLang="en-US" dirty="0"/>
              <a:t>LAN dan WAN (lanjutan)</a:t>
            </a:r>
            <a:endParaRPr xmlns:a="http://schemas.openxmlformats.org/drawingml/2006/main" lang="en-CA" altLang="en-US" dirty="0"/>
          </a:p>
        </p:txBody>
      </p:sp>
      <p:sp>
        <p:nvSpPr>
          <p:cNvPr id="13315" name="Content Placeholder 2"/>
          <p:cNvSpPr>
            <a:spLocks noGrp="1"/>
          </p:cNvSpPr>
          <p:nvPr>
            <p:ph idx="1"/>
          </p:nvPr>
        </p:nvSpPr>
        <p:spPr>
          <a:xfrm>
            <a:off x="283940" y="797709"/>
            <a:ext cx="4062002" cy="559699"/>
          </a:xfrm>
        </p:spPr>
        <p:txBody>
          <a:bodyPr/>
          <a:lstStyle/>
          <a:p>
            <a:pPr xmlns:a="http://schemas.openxmlformats.org/drawingml/2006/main" marL="0" indent="0">
              <a:buNone/>
            </a:pPr>
            <a:r xmlns:a="http://schemas.openxmlformats.org/drawingml/2006/main">
              <a:rPr lang="id" dirty="0"/>
              <a:t>LAN adalah infrastruktur jaringan yang mencakup wilayah geografis kecil.</a:t>
            </a:r>
            <a:endParaRPr xmlns:a="http://schemas.openxmlformats.org/drawingml/2006/main"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5" name="Picture 4"/>
          <p:cNvPicPr>
            <a:picLocks noChangeAspect="1"/>
          </p:cNvPicPr>
          <p:nvPr/>
        </p:nvPicPr>
        <p:blipFill>
          <a:blip r:embed="rId3"/>
          <a:stretch>
            <a:fillRect/>
          </a:stretch>
        </p:blipFill>
        <p:spPr>
          <a:xfrm>
            <a:off x="396580" y="1357408"/>
            <a:ext cx="2556289" cy="1344169"/>
          </a:xfrm>
          <a:prstGeom prst="rect">
            <a:avLst/>
          </a:prstGeom>
        </p:spPr>
      </p:pic>
      <p:sp>
        <p:nvSpPr>
          <p:cNvPr id="2" name="Rectangle 1"/>
          <p:cNvSpPr/>
          <p:nvPr/>
        </p:nvSpPr>
        <p:spPr>
          <a:xfrm>
            <a:off x="4798060" y="742868"/>
            <a:ext cx="4232297" cy="584775"/>
          </a:xfrm>
          <a:prstGeom prst="rect">
            <a:avLst/>
          </a:prstGeom>
        </p:spPr>
        <p:txBody>
          <a:bodyPr wrap="square">
            <a:spAutoFit/>
          </a:bodyPr>
          <a:lstStyle/>
          <a:p>
            <a:r xmlns:a="http://schemas.openxmlformats.org/drawingml/2006/main">
              <a:rPr lang="id" sz="1600" dirty="0">
                <a:solidFill>
                  <a:srgbClr val="000000"/>
                </a:solidFill>
              </a:rPr>
              <a:t>WAN adalah infrastruktur jaringan yang mencakup wilayah geografis yang luas.</a:t>
            </a:r>
            <a:endParaRPr xmlns:a="http://schemas.openxmlformats.org/drawingml/2006/main" lang="en-CA" altLang="en-US" sz="1500" dirty="0">
              <a:solidFill>
                <a:srgbClr val="000000"/>
              </a:solidFill>
            </a:endParaRPr>
          </a:p>
        </p:txBody>
      </p:sp>
      <p:pic>
        <p:nvPicPr>
          <p:cNvPr id="6" name="Picture 5"/>
          <p:cNvPicPr>
            <a:picLocks noChangeAspect="1"/>
          </p:cNvPicPr>
          <p:nvPr/>
        </p:nvPicPr>
        <p:blipFill>
          <a:blip r:embed="rId4"/>
          <a:stretch>
            <a:fillRect/>
          </a:stretch>
        </p:blipFill>
        <p:spPr>
          <a:xfrm>
            <a:off x="4818150" y="1366630"/>
            <a:ext cx="3500526" cy="1412920"/>
          </a:xfrm>
          <a:prstGeom prst="rect">
            <a:avLst/>
          </a:prstGeom>
        </p:spPr>
      </p:pic>
      <p:graphicFrame>
        <p:nvGraphicFramePr>
          <p:cNvPr id="3" name="Table 2"/>
          <p:cNvGraphicFramePr>
            <a:graphicFrameLocks noGrp="1"/>
          </p:cNvGraphicFramePr>
          <p:nvPr>
            <p:extLst>
              <p:ext uri="{D42A27DB-BD31-4B8C-83A1-F6EECF244321}">
                <p14:modId xmlns:p14="http://schemas.microsoft.com/office/powerpoint/2010/main" val="2085228832"/>
              </p:ext>
            </p:extLst>
          </p:nvPr>
        </p:nvGraphicFramePr>
        <p:xfrm>
          <a:off x="396580" y="2779550"/>
          <a:ext cx="8385544" cy="1699082"/>
        </p:xfrm>
        <a:graphic>
          <a:graphicData uri="http://schemas.openxmlformats.org/drawingml/2006/table">
            <a:tbl>
              <a:tblPr firstRow="1" bandRow="1">
                <a:tableStyleId>{5C22544A-7EE6-4342-B048-85BDC9FD1C3A}</a:tableStyleId>
              </a:tblPr>
              <a:tblGrid>
                <a:gridCol w="4012387">
                  <a:extLst>
                    <a:ext uri="{9D8B030D-6E8A-4147-A177-3AD203B41FA5}">
                      <a16:colId xmlns:a16="http://schemas.microsoft.com/office/drawing/2014/main" val="20000"/>
                    </a:ext>
                  </a:extLst>
                </a:gridCol>
                <a:gridCol w="4373157">
                  <a:extLst>
                    <a:ext uri="{9D8B030D-6E8A-4147-A177-3AD203B41FA5}">
                      <a16:colId xmlns:a16="http://schemas.microsoft.com/office/drawing/2014/main" val="20001"/>
                    </a:ext>
                  </a:extLst>
                </a:gridCol>
              </a:tblGrid>
              <a:tr h="331381">
                <a:tc>
                  <a:txBody>
                    <a:bodyPr/>
                    <a:lstStyle/>
                    <a:p>
                      <a:r xmlns:a="http://schemas.openxmlformats.org/drawingml/2006/main">
                        <a:rPr lang="id" dirty="0"/>
                        <a:t>LAN</a:t>
                      </a:r>
                    </a:p>
                  </a:txBody>
                  <a:tcPr/>
                </a:tc>
                <a:tc>
                  <a:txBody>
                    <a:bodyPr/>
                    <a:lstStyle/>
                    <a:p>
                      <a:r xmlns:a="http://schemas.openxmlformats.org/drawingml/2006/main">
                        <a:rPr lang="id" dirty="0"/>
                        <a:t>LEMAH</a:t>
                      </a:r>
                    </a:p>
                  </a:txBody>
                  <a:tcPr/>
                </a:tc>
                <a:extLst>
                  <a:ext uri="{0D108BD9-81ED-4DB2-BD59-A6C34878D82A}">
                    <a16:rowId xmlns:a16="http://schemas.microsoft.com/office/drawing/2014/main" val="10000"/>
                  </a:ext>
                </a:extLst>
              </a:tr>
              <a:tr h="331381">
                <a:tc>
                  <a:txBody>
                    <a:bodyPr/>
                    <a:lstStyle/>
                    <a:p>
                      <a:r xmlns:a="http://schemas.openxmlformats.org/drawingml/2006/main">
                        <a:rPr lang="id" sz="1400" b="0" i="0" kern="1200" dirty="0">
                          <a:solidFill>
                            <a:schemeClr val="dk1"/>
                          </a:solidFill>
                          <a:effectLst/>
                          <a:latin typeface="+mn-lt"/>
                          <a:ea typeface="+mn-ea"/>
                          <a:cs typeface="+mn-cs"/>
                        </a:rPr>
                        <a:t>Interkoneksikan perangkat akhir di area terbatas.</a:t>
                      </a:r>
                      <a:endParaRPr xmlns:a="http://schemas.openxmlformats.org/drawingml/2006/main" lang="en-US" dirty="0"/>
                    </a:p>
                  </a:txBody>
                  <a:tcPr/>
                </a:tc>
                <a:tc>
                  <a:txBody>
                    <a:bodyPr/>
                    <a:lstStyle/>
                    <a:p>
                      <a:r xmlns:a="http://schemas.openxmlformats.org/drawingml/2006/main">
                        <a:rPr lang="id" sz="1400" b="0" i="0" kern="1200" dirty="0">
                          <a:solidFill>
                            <a:schemeClr val="dk1"/>
                          </a:solidFill>
                          <a:effectLst/>
                          <a:latin typeface="+mn-lt"/>
                          <a:ea typeface="+mn-ea"/>
                          <a:cs typeface="+mn-cs"/>
                        </a:rPr>
                        <a:t>Interkoneksi LAN melalui wilayah geografis yang luas.</a:t>
                      </a:r>
                      <a:endParaRPr xmlns:a="http://schemas.openxmlformats.org/drawingml/2006/main" lang="en-US" dirty="0"/>
                    </a:p>
                  </a:txBody>
                  <a:tcPr/>
                </a:tc>
                <a:extLst>
                  <a:ext uri="{0D108BD9-81ED-4DB2-BD59-A6C34878D82A}">
                    <a16:rowId xmlns:a16="http://schemas.microsoft.com/office/drawing/2014/main" val="10001"/>
                  </a:ext>
                </a:extLst>
              </a:tr>
              <a:tr h="331381">
                <a:tc>
                  <a:txBody>
                    <a:bodyPr/>
                    <a:lstStyle/>
                    <a:p>
                      <a:r xmlns:a="http://schemas.openxmlformats.org/drawingml/2006/main">
                        <a:rPr lang="id" sz="1400" b="0" i="0" kern="1200" dirty="0">
                          <a:solidFill>
                            <a:schemeClr val="dk1"/>
                          </a:solidFill>
                          <a:effectLst/>
                          <a:latin typeface="+mn-lt"/>
                          <a:ea typeface="+mn-ea"/>
                          <a:cs typeface="+mn-cs"/>
                        </a:rPr>
                        <a:t>Dikelola oleh satu organisasi atau individu.</a:t>
                      </a:r>
                      <a:endParaRPr xmlns:a="http://schemas.openxmlformats.org/drawingml/2006/main" lang="en-US" dirty="0"/>
                    </a:p>
                  </a:txBody>
                  <a:tcPr/>
                </a:tc>
                <a:tc>
                  <a:txBody>
                    <a:bodyPr/>
                    <a:lstStyle/>
                    <a:p>
                      <a:r xmlns:a="http://schemas.openxmlformats.org/drawingml/2006/main">
                        <a:rPr lang="id" sz="1400" b="0" i="0" kern="1200" dirty="0">
                          <a:solidFill>
                            <a:schemeClr val="dk1"/>
                          </a:solidFill>
                          <a:effectLst/>
                          <a:latin typeface="+mn-lt"/>
                          <a:ea typeface="+mn-ea"/>
                          <a:cs typeface="+mn-cs"/>
                        </a:rPr>
                        <a:t>Biasanya </a:t>
                      </a:r>
                      <a:r xmlns:a="http://schemas.openxmlformats.org/drawingml/2006/main">
                        <a:rPr lang="id" sz="1400" b="0" i="0" kern="1200" baseline="0" dirty="0">
                          <a:solidFill>
                            <a:schemeClr val="dk1"/>
                          </a:solidFill>
                          <a:effectLst/>
                          <a:latin typeface="+mn-lt"/>
                          <a:ea typeface="+mn-ea"/>
                          <a:cs typeface="+mn-cs"/>
                        </a:rPr>
                        <a:t>dikelola </a:t>
                      </a:r>
                      <a:r xmlns:a="http://schemas.openxmlformats.org/drawingml/2006/main">
                        <a:rPr lang="id" sz="1400" b="0" i="0" kern="1200" dirty="0">
                          <a:solidFill>
                            <a:schemeClr val="dk1"/>
                          </a:solidFill>
                          <a:effectLst/>
                          <a:latin typeface="+mn-lt"/>
                          <a:ea typeface="+mn-ea"/>
                          <a:cs typeface="+mn-cs"/>
                        </a:rPr>
                        <a:t>oleh satu </a:t>
                      </a:r>
                      <a:r xmlns:a="http://schemas.openxmlformats.org/drawingml/2006/main">
                        <a:rPr lang="id" sz="1400" b="0" i="0" kern="1200" baseline="0" dirty="0">
                          <a:solidFill>
                            <a:schemeClr val="dk1"/>
                          </a:solidFill>
                          <a:effectLst/>
                          <a:latin typeface="+mn-lt"/>
                          <a:ea typeface="+mn-ea"/>
                          <a:cs typeface="+mn-cs"/>
                        </a:rPr>
                        <a:t>atau lebih </a:t>
                      </a:r>
                      <a:r xmlns:a="http://schemas.openxmlformats.org/drawingml/2006/main">
                        <a:rPr lang="id" sz="1400" b="0" i="0" kern="1200" dirty="0">
                          <a:solidFill>
                            <a:schemeClr val="dk1"/>
                          </a:solidFill>
                          <a:effectLst/>
                          <a:latin typeface="+mn-lt"/>
                          <a:ea typeface="+mn-ea"/>
                          <a:cs typeface="+mn-cs"/>
                        </a:rPr>
                        <a:t>penyedia layanan.</a:t>
                      </a:r>
                      <a:endParaRPr xmlns:a="http://schemas.openxmlformats.org/drawingml/2006/main" lang="en-US" dirty="0"/>
                    </a:p>
                  </a:txBody>
                  <a:tcPr/>
                </a:tc>
                <a:extLst>
                  <a:ext uri="{0D108BD9-81ED-4DB2-BD59-A6C34878D82A}">
                    <a16:rowId xmlns:a16="http://schemas.microsoft.com/office/drawing/2014/main" val="10002"/>
                  </a:ext>
                </a:extLst>
              </a:tr>
              <a:tr h="331381">
                <a:tc>
                  <a:txBody>
                    <a:bodyPr/>
                    <a:lstStyle/>
                    <a:p>
                      <a:r xmlns:a="http://schemas.openxmlformats.org/drawingml/2006/main">
                        <a:rPr lang="id" sz="1400" b="0" i="0" kern="1200" dirty="0">
                          <a:solidFill>
                            <a:schemeClr val="dk1"/>
                          </a:solidFill>
                          <a:effectLst/>
                          <a:latin typeface="+mn-lt"/>
                          <a:ea typeface="+mn-ea"/>
                          <a:cs typeface="+mn-cs"/>
                        </a:rPr>
                        <a:t>Menyediakan bandwidth berkecepatan tinggi ke perangkat internal.</a:t>
                      </a:r>
                      <a:endParaRPr xmlns:a="http://schemas.openxmlformats.org/drawingml/2006/main" lang="en-US" dirty="0"/>
                    </a:p>
                  </a:txBody>
                  <a:tcPr/>
                </a:tc>
                <a:tc>
                  <a:txBody>
                    <a:bodyPr/>
                    <a:lstStyle/>
                    <a:p>
                      <a:r xmlns:a="http://schemas.openxmlformats.org/drawingml/2006/main">
                        <a:rPr lang="id" sz="1400" b="0" i="0" kern="1200" dirty="0">
                          <a:solidFill>
                            <a:schemeClr val="dk1"/>
                          </a:solidFill>
                          <a:effectLst/>
                          <a:latin typeface="+mn-lt"/>
                          <a:ea typeface="+mn-ea"/>
                          <a:cs typeface="+mn-cs"/>
                        </a:rPr>
                        <a:t>Biasanya menyediakan link berkecepatan lebih lambat antar LAN.</a:t>
                      </a:r>
                      <a:endParaRPr xmlns:a="http://schemas.openxmlformats.org/drawingml/2006/main" 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9904776"/>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xmlns:a="http://schemas.openxmlformats.org/drawingml/2006/main">
              <a:rPr lang="id" altLang="en-US" sz="1600" dirty="0"/>
              <a:t>Jenis Jaringan Umum </a:t>
            </a:r>
            <a:br xmlns:a="http://schemas.openxmlformats.org/drawingml/2006/main">
              <a:rPr lang="en-US" altLang="en-US" dirty="0"/>
            </a:br>
            <a:r xmlns:a="http://schemas.openxmlformats.org/drawingml/2006/main">
              <a:rPr lang="id" altLang="en-US" dirty="0"/>
              <a:t>Internet</a:t>
            </a:r>
            <a:endParaRPr xmlns:a="http://schemas.openxmlformats.org/drawingml/2006/main" lang="en-CA" altLang="en-US" dirty="0"/>
          </a:p>
        </p:txBody>
      </p:sp>
      <p:sp>
        <p:nvSpPr>
          <p:cNvPr id="13315" name="Content Placeholder 2"/>
          <p:cNvSpPr>
            <a:spLocks noGrp="1"/>
          </p:cNvSpPr>
          <p:nvPr>
            <p:ph idx="1"/>
          </p:nvPr>
        </p:nvSpPr>
        <p:spPr>
          <a:xfrm>
            <a:off x="122284" y="798944"/>
            <a:ext cx="4170316" cy="4054993"/>
          </a:xfrm>
        </p:spPr>
        <p:txBody>
          <a:bodyPr/>
          <a:lstStyle/>
          <a:p>
            <a:pPr xmlns:a="http://schemas.openxmlformats.org/drawingml/2006/main" marL="0" indent="0">
              <a:buNone/>
            </a:pPr>
            <a:r xmlns:a="http://schemas.openxmlformats.org/drawingml/2006/main">
              <a:rPr lang="id" altLang="en-US" sz="1600" dirty="0"/>
              <a:t>Internet adalah kumpulan LAN dan WAN yang saling terhubung di seluruh dunia.</a:t>
            </a:r>
          </a:p>
          <a:p>
            <a:pPr xmlns:a="http://schemas.openxmlformats.org/drawingml/2006/main">
              <a:buFont typeface="Arial" panose="020B0604020202020204" pitchFamily="34" charset="0"/>
              <a:buChar char="•"/>
            </a:pPr>
            <a:r xmlns:a="http://schemas.openxmlformats.org/drawingml/2006/main">
              <a:rPr lang="id" altLang="en-US" sz="1600" dirty="0"/>
              <a:t>LAN terhubung satu sama lain menggunakan WAN.</a:t>
            </a:r>
          </a:p>
          <a:p>
            <a:pPr xmlns:a="http://schemas.openxmlformats.org/drawingml/2006/main">
              <a:buFont typeface="Arial" panose="020B0604020202020204" pitchFamily="34" charset="0"/>
              <a:buChar char="•"/>
            </a:pPr>
            <a:r xmlns:a="http://schemas.openxmlformats.org/drawingml/2006/main">
              <a:rPr lang="id" altLang="en-US" sz="1600" dirty="0"/>
              <a:t>WAN dapat menggunakan kabel tembaga, kabel serat optik, dan transmisi nirkabel.</a:t>
            </a:r>
          </a:p>
          <a:p>
            <a:pPr xmlns:a="http://schemas.openxmlformats.org/drawingml/2006/main" marL="0" indent="0">
              <a:buNone/>
            </a:pPr>
            <a:r xmlns:a="http://schemas.openxmlformats.org/drawingml/2006/main">
              <a:rPr lang="id" altLang="en-US" sz="1600" dirty="0"/>
              <a:t>Internet tidak dimiliki oleh individu atau kelompok mana pun. Grup berikut dikembangkan untuk membantu menjaga struktur di internet:</a:t>
            </a:r>
          </a:p>
          <a:p>
            <a:pPr xmlns:a="http://schemas.openxmlformats.org/drawingml/2006/main" lvl="1"/>
            <a:r xmlns:a="http://schemas.openxmlformats.org/drawingml/2006/main">
              <a:rPr lang="id" altLang="en-US" sz="1600" dirty="0"/>
              <a:t>IETF</a:t>
            </a:r>
          </a:p>
          <a:p>
            <a:pPr xmlns:a="http://schemas.openxmlformats.org/drawingml/2006/main" lvl="1"/>
            <a:r xmlns:a="http://schemas.openxmlformats.org/drawingml/2006/main">
              <a:rPr lang="id" altLang="en-US" sz="1600" dirty="0"/>
              <a:t>SAYA BISAA</a:t>
            </a:r>
          </a:p>
          <a:p>
            <a:pPr xmlns:a="http://schemas.openxmlformats.org/drawingml/2006/main" lvl="1"/>
            <a:r xmlns:a="http://schemas.openxmlformats.org/drawingml/2006/main">
              <a:rPr lang="id" altLang="en-US" sz="1600" dirty="0"/>
              <a:t>IAB</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4180643" y="798944"/>
            <a:ext cx="4963357" cy="3239656"/>
          </a:xfrm>
          <a:prstGeom prst="rect">
            <a:avLst/>
          </a:prstGeom>
        </p:spPr>
      </p:pic>
    </p:spTree>
    <p:extLst>
      <p:ext uri="{BB962C8B-B14F-4D97-AF65-F5344CB8AC3E}">
        <p14:creationId xmlns:p14="http://schemas.microsoft.com/office/powerpoint/2010/main" val="2275468121"/>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xmlns:a="http://schemas.openxmlformats.org/drawingml/2006/main">
              <a:rPr lang="id" altLang="en-US" sz="1600" dirty="0"/>
              <a:t>Jenis Umum Jaringan </a:t>
            </a:r>
            <a:br xmlns:a="http://schemas.openxmlformats.org/drawingml/2006/main">
              <a:rPr lang="en-US" altLang="en-US" dirty="0"/>
            </a:br>
            <a:r xmlns:a="http://schemas.openxmlformats.org/drawingml/2006/main">
              <a:rPr lang="id" altLang="en-US" dirty="0"/>
              <a:t>Intranet dan Ekstranet</a:t>
            </a:r>
            <a:endParaRPr xmlns:a="http://schemas.openxmlformats.org/drawingml/2006/main" lang="en-CA" altLang="en-US" dirty="0"/>
          </a:p>
        </p:txBody>
      </p:sp>
      <p:sp>
        <p:nvSpPr>
          <p:cNvPr id="13315" name="Content Placeholder 2"/>
          <p:cNvSpPr>
            <a:spLocks noGrp="1"/>
          </p:cNvSpPr>
          <p:nvPr>
            <p:ph idx="1"/>
          </p:nvPr>
        </p:nvSpPr>
        <p:spPr>
          <a:xfrm>
            <a:off x="4648200" y="1109134"/>
            <a:ext cx="4067783" cy="3019294"/>
          </a:xfrm>
        </p:spPr>
        <p:txBody>
          <a:bodyPr/>
          <a:lstStyle/>
          <a:p>
            <a:pPr xmlns:a="http://schemas.openxmlformats.org/drawingml/2006/main" marL="0" indent="0">
              <a:buNone/>
            </a:pPr>
            <a:r xmlns:a="http://schemas.openxmlformats.org/drawingml/2006/main">
              <a:rPr lang="id" altLang="en-US" sz="1600" dirty="0"/>
              <a:t>Intranet adalah kumpulan pribadi LAN dan WAN internal organisasi yang dimaksudkan untuk hanya dapat diakses oleh anggota organisasi atau orang lain yang mempunyai otorisasi.</a:t>
            </a:r>
          </a:p>
          <a:p>
            <a:pPr xmlns:a="http://schemas.openxmlformats.org/drawingml/2006/main" marL="0" indent="0">
              <a:buNone/>
            </a:pPr>
            <a:r xmlns:a="http://schemas.openxmlformats.org/drawingml/2006/main">
              <a:rPr lang="id" altLang="en-US" sz="1600" dirty="0"/>
              <a:t>Sebuah organisasi mungkin menggunakan ekstranet untuk menyediakan akses aman ke jaringannya bagi individu yang bekerja di organisasi lain yang memerlukan akses ke data di jaringannya.</a:t>
            </a:r>
          </a:p>
          <a:p>
            <a:pPr lvl="1"/>
            <a:endParaRPr lang="en-CA" altLang="en-US" dirty="0"/>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95010" y="864987"/>
            <a:ext cx="3791190" cy="3763718"/>
          </a:xfrm>
          <a:prstGeom prst="rect">
            <a:avLst/>
          </a:prstGeom>
        </p:spPr>
      </p:pic>
    </p:spTree>
    <p:extLst>
      <p:ext uri="{BB962C8B-B14F-4D97-AF65-F5344CB8AC3E}">
        <p14:creationId xmlns:p14="http://schemas.microsoft.com/office/powerpoint/2010/main" val="2982612065"/>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xmlns:a="http://schemas.openxmlformats.org/drawingml/2006/main">
              <a:rPr lang="id" sz="4000" dirty="0">
                <a:solidFill>
                  <a:schemeClr val="accent5">
                    <a:lumMod val="40000"/>
                    <a:lumOff val="60000"/>
                  </a:schemeClr>
                </a:solidFill>
              </a:rPr>
              <a:t>1.5 Koneksi Internet</a:t>
            </a:r>
          </a:p>
        </p:txBody>
      </p:sp>
    </p:spTree>
    <p:custDataLst>
      <p:tags r:id="rId1"/>
    </p:custDataLst>
    <p:extLst>
      <p:ext uri="{BB962C8B-B14F-4D97-AF65-F5344CB8AC3E}">
        <p14:creationId xmlns:p14="http://schemas.microsoft.com/office/powerpoint/2010/main" val="2920016951"/>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xmlns:a="http://schemas.openxmlformats.org/drawingml/2006/main">
              <a:rPr lang="id" altLang="en-US" sz="1600" dirty="0"/>
              <a:t>Koneksi Internet </a:t>
            </a:r>
            <a:br xmlns:a="http://schemas.openxmlformats.org/drawingml/2006/main">
              <a:rPr lang="en-US" altLang="en-US" dirty="0"/>
            </a:br>
            <a:r xmlns:a="http://schemas.openxmlformats.org/drawingml/2006/main">
              <a:rPr lang="id" altLang="en-US" dirty="0"/>
              <a:t>Teknologi Akses Internet</a:t>
            </a:r>
            <a:endParaRPr xmlns:a="http://schemas.openxmlformats.org/drawingml/2006/main" lang="en-CA" altLang="en-US" dirty="0"/>
          </a:p>
        </p:txBody>
      </p:sp>
      <p:sp>
        <p:nvSpPr>
          <p:cNvPr id="13315" name="Content Placeholder 2"/>
          <p:cNvSpPr>
            <a:spLocks noGrp="1"/>
          </p:cNvSpPr>
          <p:nvPr>
            <p:ph idx="1"/>
          </p:nvPr>
        </p:nvSpPr>
        <p:spPr>
          <a:xfrm>
            <a:off x="5169846" y="500395"/>
            <a:ext cx="3822971" cy="4266338"/>
          </a:xfrm>
        </p:spPr>
        <p:txBody>
          <a:bodyPr/>
          <a:lstStyle/>
          <a:p>
            <a:pPr xmlns:a="http://schemas.openxmlformats.org/drawingml/2006/main" marL="0" indent="0">
              <a:buNone/>
            </a:pPr>
            <a:r xmlns:a="http://schemas.openxmlformats.org/drawingml/2006/main">
              <a:rPr lang="id" altLang="en-US" sz="1600" dirty="0"/>
              <a:t>Ada banyak cara untuk menghubungkan pengguna dan organisasi ke internet:</a:t>
            </a:r>
          </a:p>
          <a:p>
            <a:pPr xmlns:a="http://schemas.openxmlformats.org/drawingml/2006/main" lvl="1"/>
            <a:r xmlns:a="http://schemas.openxmlformats.org/drawingml/2006/main">
              <a:rPr lang="id" altLang="en-US" sz="1600" dirty="0"/>
              <a:t>Layanan populer untuk pengguna rumahan dan kantor kecil meliputi kabel broadband, jalur pelanggan digital broadband (DSL), WAN nirkabel, dan layanan seluler.</a:t>
            </a:r>
          </a:p>
          <a:p>
            <a:pPr xmlns:a="http://schemas.openxmlformats.org/drawingml/2006/main" lvl="1"/>
            <a:r xmlns:a="http://schemas.openxmlformats.org/drawingml/2006/main">
              <a:rPr lang="id" altLang="en-US" sz="1600" dirty="0"/>
              <a:t>Organisasi memerlukan koneksi yang lebih cepat untuk mendukung telepon IP, konferensi video, dan penyimpanan pusat data.</a:t>
            </a:r>
          </a:p>
          <a:p>
            <a:pPr xmlns:a="http://schemas.openxmlformats.org/drawingml/2006/main" lvl="1"/>
            <a:r xmlns:a="http://schemas.openxmlformats.org/drawingml/2006/main">
              <a:rPr lang="id" altLang="en-US" sz="1600" dirty="0"/>
              <a:t>Interkoneksi kelas bisnis biasanya disediakan oleh penyedia layanan (SP) dan dapat mencakup: DSL bisnis, jalur sewaan, dan Metro Ethernet.</a:t>
            </a:r>
          </a:p>
          <a:p>
            <a:pPr lvl="1"/>
            <a:endParaRPr lang="en-CA" altLang="en-US" dirty="0"/>
          </a:p>
          <a:p>
            <a:pPr lvl="1"/>
            <a:endParaRPr lang="en-CA" altLang="en-US" dirty="0"/>
          </a:p>
          <a:p>
            <a:pPr lvl="1"/>
            <a:endParaRPr lang="en-CA" altLang="en-US" dirty="0"/>
          </a:p>
          <a:p>
            <a:pPr lvl="1"/>
            <a:endParaRPr lang="en-CA" altLang="en-US" dirty="0"/>
          </a:p>
        </p:txBody>
      </p:sp>
      <p:pic>
        <p:nvPicPr>
          <p:cNvPr id="3" name="Picture 2"/>
          <p:cNvPicPr>
            <a:picLocks noChangeAspect="1"/>
          </p:cNvPicPr>
          <p:nvPr/>
        </p:nvPicPr>
        <p:blipFill>
          <a:blip r:embed="rId3"/>
          <a:stretch>
            <a:fillRect/>
          </a:stretch>
        </p:blipFill>
        <p:spPr>
          <a:xfrm>
            <a:off x="102546" y="943684"/>
            <a:ext cx="5067300" cy="2867025"/>
          </a:xfrm>
          <a:prstGeom prst="rect">
            <a:avLst/>
          </a:prstGeom>
        </p:spPr>
      </p:pic>
    </p:spTree>
    <p:extLst>
      <p:ext uri="{BB962C8B-B14F-4D97-AF65-F5344CB8AC3E}">
        <p14:creationId xmlns:p14="http://schemas.microsoft.com/office/powerpoint/2010/main" val="3978408560"/>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idx="4294967295"/>
          </p:nvPr>
        </p:nvSpPr>
        <p:spPr>
          <a:xfrm>
            <a:off x="0" y="41275"/>
            <a:ext cx="9144000" cy="757238"/>
          </a:xfrm>
        </p:spPr>
        <p:txBody>
          <a:bodyPr/>
          <a:lstStyle/>
          <a:p>
            <a:r xmlns:a="http://schemas.openxmlformats.org/drawingml/2006/main">
              <a:rPr lang="id" altLang="en-US" sz="1600" dirty="0"/>
              <a:t>Koneksi Internet </a:t>
            </a:r>
            <a:br xmlns:a="http://schemas.openxmlformats.org/drawingml/2006/main">
              <a:rPr lang="en-US" altLang="en-US" dirty="0"/>
            </a:br>
            <a:r xmlns:a="http://schemas.openxmlformats.org/drawingml/2006/main">
              <a:rPr lang="id" altLang="en-US" dirty="0"/>
              <a:t>Koneksi Internet Rumah dan Kantor Kecil</a:t>
            </a:r>
            <a:endParaRPr xmlns:a="http://schemas.openxmlformats.org/drawingml/2006/main" lang="en-CA" altLang="en-US" dirty="0"/>
          </a:p>
        </p:txBody>
      </p:sp>
      <p:graphicFrame>
        <p:nvGraphicFramePr>
          <p:cNvPr id="3" name="Table 2"/>
          <p:cNvGraphicFramePr>
            <a:graphicFrameLocks noGrp="1"/>
          </p:cNvGraphicFramePr>
          <p:nvPr>
            <p:extLst>
              <p:ext uri="{D42A27DB-BD31-4B8C-83A1-F6EECF244321}">
                <p14:modId xmlns:p14="http://schemas.microsoft.com/office/powerpoint/2010/main" val="2621803257"/>
              </p:ext>
            </p:extLst>
          </p:nvPr>
        </p:nvGraphicFramePr>
        <p:xfrm>
          <a:off x="4690378" y="798513"/>
          <a:ext cx="4277319" cy="3801959"/>
        </p:xfrm>
        <a:graphic>
          <a:graphicData uri="http://schemas.openxmlformats.org/drawingml/2006/table">
            <a:tbl>
              <a:tblPr firstRow="1" bandRow="1">
                <a:tableStyleId>{5C22544A-7EE6-4342-B048-85BDC9FD1C3A}</a:tableStyleId>
              </a:tblPr>
              <a:tblGrid>
                <a:gridCol w="1159704">
                  <a:extLst>
                    <a:ext uri="{9D8B030D-6E8A-4147-A177-3AD203B41FA5}">
                      <a16:colId xmlns:a16="http://schemas.microsoft.com/office/drawing/2014/main" val="4198409785"/>
                    </a:ext>
                  </a:extLst>
                </a:gridCol>
                <a:gridCol w="3117615">
                  <a:extLst>
                    <a:ext uri="{9D8B030D-6E8A-4147-A177-3AD203B41FA5}">
                      <a16:colId xmlns:a16="http://schemas.microsoft.com/office/drawing/2014/main" val="3545066263"/>
                    </a:ext>
                  </a:extLst>
                </a:gridCol>
              </a:tblGrid>
              <a:tr h="480706">
                <a:tc>
                  <a:txBody>
                    <a:bodyPr/>
                    <a:lstStyle/>
                    <a:p>
                      <a:r xmlns:a="http://schemas.openxmlformats.org/drawingml/2006/main">
                        <a:rPr lang="id" dirty="0"/>
                        <a:t>Koneksi</a:t>
                      </a:r>
                    </a:p>
                  </a:txBody>
                  <a:tcPr/>
                </a:tc>
                <a:tc>
                  <a:txBody>
                    <a:bodyPr/>
                    <a:lstStyle/>
                    <a:p>
                      <a:r xmlns:a="http://schemas.openxmlformats.org/drawingml/2006/main">
                        <a:rPr lang="id" dirty="0"/>
                        <a:t>Keterangan</a:t>
                      </a:r>
                    </a:p>
                  </a:txBody>
                  <a:tcPr/>
                </a:tc>
                <a:extLst>
                  <a:ext uri="{0D108BD9-81ED-4DB2-BD59-A6C34878D82A}">
                    <a16:rowId xmlns:a16="http://schemas.microsoft.com/office/drawing/2014/main" val="3787048751"/>
                  </a:ext>
                </a:extLst>
              </a:tr>
              <a:tr h="833779">
                <a:tc>
                  <a:txBody>
                    <a:bodyPr/>
                    <a:lstStyle/>
                    <a:p>
                      <a:r xmlns:a="http://schemas.openxmlformats.org/drawingml/2006/main">
                        <a:rPr lang="id" altLang="en-US" dirty="0"/>
                        <a:t>Kabel</a:t>
                      </a:r>
                      <a:endParaRPr xmlns:a="http://schemas.openxmlformats.org/drawingml/2006/main" lang="en-US" dirty="0"/>
                    </a:p>
                  </a:txBody>
                  <a:tcP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altLang="en-US" dirty="0"/>
                        <a:t>bandwidth tinggi, selalu aktif, internet yang ditawarkan oleh penyedia layanan televisi kabel.</a:t>
                      </a:r>
                    </a:p>
                  </a:txBody>
                  <a:tcPr/>
                </a:tc>
                <a:extLst>
                  <a:ext uri="{0D108BD9-81ED-4DB2-BD59-A6C34878D82A}">
                    <a16:rowId xmlns:a16="http://schemas.microsoft.com/office/drawing/2014/main" val="1775962995"/>
                  </a:ext>
                </a:extLst>
              </a:tr>
              <a:tr h="645506">
                <a:tc>
                  <a:txBody>
                    <a:bodyPr/>
                    <a:lstStyle/>
                    <a:p>
                      <a:r xmlns:a="http://schemas.openxmlformats.org/drawingml/2006/main">
                        <a:rPr lang="id" altLang="en-US" dirty="0"/>
                        <a:t>DSL</a:t>
                      </a:r>
                      <a:endParaRPr xmlns:a="http://schemas.openxmlformats.org/drawingml/2006/main" lang="en-US" dirty="0"/>
                    </a:p>
                  </a:txBody>
                  <a:tcP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altLang="en-US" dirty="0"/>
                        <a:t>bandwidth tinggi, selalu aktif, koneksi internet melalui saluran telepon.</a:t>
                      </a:r>
                    </a:p>
                  </a:txBody>
                  <a:tcPr/>
                </a:tc>
                <a:extLst>
                  <a:ext uri="{0D108BD9-81ED-4DB2-BD59-A6C34878D82A}">
                    <a16:rowId xmlns:a16="http://schemas.microsoft.com/office/drawing/2014/main" val="2935690024"/>
                  </a:ext>
                </a:extLst>
              </a:tr>
              <a:tr h="575189">
                <a:tc>
                  <a:txBody>
                    <a:bodyPr/>
                    <a:lstStyle/>
                    <a:p>
                      <a:r xmlns:a="http://schemas.openxmlformats.org/drawingml/2006/main">
                        <a:rPr lang="id" altLang="en-US" dirty="0"/>
                        <a:t>Seluler</a:t>
                      </a:r>
                      <a:endParaRPr xmlns:a="http://schemas.openxmlformats.org/drawingml/2006/main" lang="en-US" dirty="0"/>
                    </a:p>
                  </a:txBody>
                  <a:tcP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altLang="en-US" dirty="0"/>
                        <a:t>menggunakan jaringan telepon seluler untuk terhubung ke internet.</a:t>
                      </a:r>
                    </a:p>
                  </a:txBody>
                  <a:tcPr/>
                </a:tc>
                <a:extLst>
                  <a:ext uri="{0D108BD9-81ED-4DB2-BD59-A6C34878D82A}">
                    <a16:rowId xmlns:a16="http://schemas.microsoft.com/office/drawing/2014/main" val="752465591"/>
                  </a:ext>
                </a:extLst>
              </a:tr>
              <a:tr h="535259">
                <a:tc>
                  <a:txBody>
                    <a:bodyPr/>
                    <a:lstStyle/>
                    <a:p>
                      <a:r xmlns:a="http://schemas.openxmlformats.org/drawingml/2006/main">
                        <a:rPr lang="id" altLang="en-US" dirty="0"/>
                        <a:t>Satelit</a:t>
                      </a:r>
                      <a:endParaRPr xmlns:a="http://schemas.openxmlformats.org/drawingml/2006/main" lang="en-US" dirty="0"/>
                    </a:p>
                  </a:txBody>
                  <a:tcP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altLang="en-US" dirty="0"/>
                        <a:t>manfaat besar bagi daerah pedesaan tanpa Penyedia Layanan Internet.</a:t>
                      </a:r>
                    </a:p>
                  </a:txBody>
                  <a:tcPr/>
                </a:tc>
                <a:extLst>
                  <a:ext uri="{0D108BD9-81ED-4DB2-BD59-A6C34878D82A}">
                    <a16:rowId xmlns:a16="http://schemas.microsoft.com/office/drawing/2014/main" val="1196837403"/>
                  </a:ext>
                </a:extLst>
              </a:tr>
              <a:tr h="645506">
                <a:tc>
                  <a:txBody>
                    <a:bodyPr/>
                    <a:lstStyle/>
                    <a:p>
                      <a:r xmlns:a="http://schemas.openxmlformats.org/drawingml/2006/main">
                        <a:rPr lang="id" altLang="en-US" dirty="0"/>
                        <a:t>Telepon dial-up</a:t>
                      </a:r>
                      <a:endParaRPr xmlns:a="http://schemas.openxmlformats.org/drawingml/2006/main" lang="en-US" dirty="0"/>
                    </a:p>
                  </a:txBody>
                  <a:tcP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altLang="en-US" dirty="0"/>
                        <a:t>pilihan bandwidth rendah yang murah menggunakan modem.</a:t>
                      </a:r>
                    </a:p>
                  </a:txBody>
                  <a:tcPr/>
                </a:tc>
                <a:extLst>
                  <a:ext uri="{0D108BD9-81ED-4DB2-BD59-A6C34878D82A}">
                    <a16:rowId xmlns:a16="http://schemas.microsoft.com/office/drawing/2014/main" val="1536924885"/>
                  </a:ext>
                </a:extLst>
              </a:tr>
            </a:tbl>
          </a:graphicData>
        </a:graphic>
      </p:graphicFrame>
      <p:pic>
        <p:nvPicPr>
          <p:cNvPr id="2" name="Picture 1"/>
          <p:cNvPicPr>
            <a:picLocks noChangeAspect="1"/>
          </p:cNvPicPr>
          <p:nvPr/>
        </p:nvPicPr>
        <p:blipFill>
          <a:blip r:embed="rId3"/>
          <a:stretch>
            <a:fillRect/>
          </a:stretch>
        </p:blipFill>
        <p:spPr>
          <a:xfrm>
            <a:off x="5577" y="798512"/>
            <a:ext cx="4684802" cy="3056515"/>
          </a:xfrm>
          <a:prstGeom prst="rect">
            <a:avLst/>
          </a:prstGeom>
        </p:spPr>
      </p:pic>
    </p:spTree>
    <p:extLst>
      <p:ext uri="{BB962C8B-B14F-4D97-AF65-F5344CB8AC3E}">
        <p14:creationId xmlns:p14="http://schemas.microsoft.com/office/powerpoint/2010/main" val="1319242256"/>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962933" cy="757551"/>
          </a:xfrm>
        </p:spPr>
        <p:txBody>
          <a:bodyPr/>
          <a:lstStyle/>
          <a:p>
            <a:r xmlns:a="http://schemas.openxmlformats.org/drawingml/2006/main">
              <a:rPr lang="id" altLang="en-US" sz="1600" dirty="0"/>
              <a:t>Koneksi Internet </a:t>
            </a:r>
            <a:br xmlns:a="http://schemas.openxmlformats.org/drawingml/2006/main">
              <a:rPr lang="en-US" altLang="en-US" dirty="0"/>
            </a:br>
            <a:r xmlns:a="http://schemas.openxmlformats.org/drawingml/2006/main">
              <a:rPr lang="id" altLang="en-US" dirty="0"/>
              <a:t>Bisnis Koneksi Internet</a:t>
            </a:r>
            <a:endParaRPr xmlns:a="http://schemas.openxmlformats.org/drawingml/2006/main" lang="en-CA" altLang="en-US" dirty="0"/>
          </a:p>
        </p:txBody>
      </p:sp>
      <p:sp>
        <p:nvSpPr>
          <p:cNvPr id="13315" name="Content Placeholder 2"/>
          <p:cNvSpPr>
            <a:spLocks noGrp="1"/>
          </p:cNvSpPr>
          <p:nvPr>
            <p:ph idx="1"/>
          </p:nvPr>
        </p:nvSpPr>
        <p:spPr>
          <a:xfrm>
            <a:off x="87549" y="804964"/>
            <a:ext cx="4162333" cy="1461943"/>
          </a:xfrm>
        </p:spPr>
        <p:txBody>
          <a:bodyPr/>
          <a:lstStyle/>
          <a:p>
            <a:pPr xmlns:a="http://schemas.openxmlformats.org/drawingml/2006/main" marL="0" indent="0">
              <a:buNone/>
            </a:pPr>
            <a:r xmlns:a="http://schemas.openxmlformats.org/drawingml/2006/main">
              <a:rPr lang="id" altLang="en-US" sz="1600" dirty="0"/>
              <a:t>Koneksi bisnis korporat mungkin memerlukan:</a:t>
            </a:r>
          </a:p>
          <a:p>
            <a:pPr xmlns:a="http://schemas.openxmlformats.org/drawingml/2006/main" lvl="1"/>
            <a:r xmlns:a="http://schemas.openxmlformats.org/drawingml/2006/main">
              <a:rPr lang="id" altLang="en-US" sz="1600" dirty="0"/>
              <a:t>bandwidth yang lebih tinggi</a:t>
            </a:r>
          </a:p>
          <a:p>
            <a:pPr xmlns:a="http://schemas.openxmlformats.org/drawingml/2006/main" lvl="1"/>
            <a:r xmlns:a="http://schemas.openxmlformats.org/drawingml/2006/main">
              <a:rPr lang="id" altLang="en-US" sz="1600" dirty="0"/>
              <a:t>koneksi khusus</a:t>
            </a:r>
          </a:p>
          <a:p>
            <a:pPr xmlns:a="http://schemas.openxmlformats.org/drawingml/2006/main" lvl="1"/>
            <a:r xmlns:a="http://schemas.openxmlformats.org/drawingml/2006/main">
              <a:rPr lang="id" altLang="en-US" sz="1600" dirty="0"/>
              <a:t>layanan yang dikelola</a:t>
            </a:r>
          </a:p>
        </p:txBody>
      </p:sp>
      <p:pic>
        <p:nvPicPr>
          <p:cNvPr id="2" name="Picture 1"/>
          <p:cNvPicPr>
            <a:picLocks noChangeAspect="1"/>
          </p:cNvPicPr>
          <p:nvPr/>
        </p:nvPicPr>
        <p:blipFill>
          <a:blip r:embed="rId3"/>
          <a:stretch>
            <a:fillRect/>
          </a:stretch>
        </p:blipFill>
        <p:spPr>
          <a:xfrm>
            <a:off x="281781" y="2354926"/>
            <a:ext cx="3968101" cy="2457754"/>
          </a:xfrm>
          <a:prstGeom prst="rect">
            <a:avLst/>
          </a:prstGeom>
        </p:spPr>
      </p:pic>
      <p:graphicFrame>
        <p:nvGraphicFramePr>
          <p:cNvPr id="6" name="Table 5"/>
          <p:cNvGraphicFramePr>
            <a:graphicFrameLocks noGrp="1"/>
          </p:cNvGraphicFramePr>
          <p:nvPr>
            <p:extLst>
              <p:ext uri="{D42A27DB-BD31-4B8C-83A1-F6EECF244321}">
                <p14:modId xmlns:p14="http://schemas.microsoft.com/office/powerpoint/2010/main" val="4231926614"/>
              </p:ext>
            </p:extLst>
          </p:nvPr>
        </p:nvGraphicFramePr>
        <p:xfrm>
          <a:off x="4690378" y="798514"/>
          <a:ext cx="4277319" cy="3809311"/>
        </p:xfrm>
        <a:graphic>
          <a:graphicData uri="http://schemas.openxmlformats.org/drawingml/2006/table">
            <a:tbl>
              <a:tblPr firstRow="1" bandRow="1">
                <a:tableStyleId>{5C22544A-7EE6-4342-B048-85BDC9FD1C3A}</a:tableStyleId>
              </a:tblPr>
              <a:tblGrid>
                <a:gridCol w="1159704">
                  <a:extLst>
                    <a:ext uri="{9D8B030D-6E8A-4147-A177-3AD203B41FA5}">
                      <a16:colId xmlns:a16="http://schemas.microsoft.com/office/drawing/2014/main" val="4198409785"/>
                    </a:ext>
                  </a:extLst>
                </a:gridCol>
                <a:gridCol w="3117615">
                  <a:extLst>
                    <a:ext uri="{9D8B030D-6E8A-4147-A177-3AD203B41FA5}">
                      <a16:colId xmlns:a16="http://schemas.microsoft.com/office/drawing/2014/main" val="3545066263"/>
                    </a:ext>
                  </a:extLst>
                </a:gridCol>
              </a:tblGrid>
              <a:tr h="503117">
                <a:tc>
                  <a:txBody>
                    <a:bodyPr/>
                    <a:lstStyle/>
                    <a:p>
                      <a:r xmlns:a="http://schemas.openxmlformats.org/drawingml/2006/main">
                        <a:rPr lang="id" dirty="0"/>
                        <a:t>Jenis Koneksi</a:t>
                      </a:r>
                    </a:p>
                  </a:txBody>
                  <a:tcPr/>
                </a:tc>
                <a:tc>
                  <a:txBody>
                    <a:bodyPr/>
                    <a:lstStyle/>
                    <a:p>
                      <a:r xmlns:a="http://schemas.openxmlformats.org/drawingml/2006/main">
                        <a:rPr lang="id" dirty="0"/>
                        <a:t>Keterangan</a:t>
                      </a:r>
                    </a:p>
                  </a:txBody>
                  <a:tcPr/>
                </a:tc>
                <a:extLst>
                  <a:ext uri="{0D108BD9-81ED-4DB2-BD59-A6C34878D82A}">
                    <a16:rowId xmlns:a16="http://schemas.microsoft.com/office/drawing/2014/main" val="3787048751"/>
                  </a:ext>
                </a:extLst>
              </a:tr>
              <a:tr h="1067301">
                <a:tc>
                  <a:txBody>
                    <a:bodyPr/>
                    <a:lstStyle/>
                    <a:p>
                      <a:r xmlns:a="http://schemas.openxmlformats.org/drawingml/2006/main">
                        <a:rPr lang="id" altLang="en-US" dirty="0"/>
                        <a:t>Jalur Sewa Khusus</a:t>
                      </a:r>
                      <a:endParaRPr xmlns:a="http://schemas.openxmlformats.org/drawingml/2006/main" lang="en-US" dirty="0"/>
                    </a:p>
                  </a:txBody>
                  <a:tcP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altLang="en-US" dirty="0"/>
                        <a:t>Ini adalah sirkuit yang dicadangkan dalam jaringan penyedia layanan yang menghubungkan kantor yang jauh dengan jaringan suara dan/atau data pribadi.</a:t>
                      </a:r>
                    </a:p>
                  </a:txBody>
                  <a:tcPr/>
                </a:tc>
                <a:extLst>
                  <a:ext uri="{0D108BD9-81ED-4DB2-BD59-A6C34878D82A}">
                    <a16:rowId xmlns:a16="http://schemas.microsoft.com/office/drawing/2014/main" val="1775962995"/>
                  </a:ext>
                </a:extLst>
              </a:tr>
              <a:tr h="675600">
                <a:tc>
                  <a:txBody>
                    <a:bodyPr/>
                    <a:lstStyle/>
                    <a:p>
                      <a:r xmlns:a="http://schemas.openxmlformats.org/drawingml/2006/main">
                        <a:rPr lang="id" altLang="en-US" dirty="0"/>
                        <a:t>WAN Ethernet</a:t>
                      </a:r>
                      <a:endParaRPr xmlns:a="http://schemas.openxmlformats.org/drawingml/2006/main" lang="en-US" dirty="0"/>
                    </a:p>
                  </a:txBody>
                  <a:tcP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altLang="en-US" dirty="0"/>
                        <a:t>Ini memperluas teknologi akses LAN ke WAN.</a:t>
                      </a:r>
                    </a:p>
                  </a:txBody>
                  <a:tcPr/>
                </a:tc>
                <a:extLst>
                  <a:ext uri="{0D108BD9-81ED-4DB2-BD59-A6C34878D82A}">
                    <a16:rowId xmlns:a16="http://schemas.microsoft.com/office/drawing/2014/main" val="2935690024"/>
                  </a:ext>
                </a:extLst>
              </a:tr>
              <a:tr h="872650">
                <a:tc>
                  <a:txBody>
                    <a:bodyPr/>
                    <a:lstStyle/>
                    <a:p>
                      <a:r xmlns:a="http://schemas.openxmlformats.org/drawingml/2006/main">
                        <a:rPr lang="id" altLang="en-US" dirty="0"/>
                        <a:t>DSL</a:t>
                      </a:r>
                      <a:endParaRPr xmlns:a="http://schemas.openxmlformats.org/drawingml/2006/main" lang="en-US" dirty="0"/>
                    </a:p>
                  </a:txBody>
                  <a:tcP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altLang="en-US" dirty="0"/>
                        <a:t>DSL Bisnis tersedia dalam berbagai format termasuk Symmetric Digital Subscriber Lines (SDSL).</a:t>
                      </a:r>
                    </a:p>
                  </a:txBody>
                  <a:tcPr/>
                </a:tc>
                <a:extLst>
                  <a:ext uri="{0D108BD9-81ED-4DB2-BD59-A6C34878D82A}">
                    <a16:rowId xmlns:a16="http://schemas.microsoft.com/office/drawing/2014/main" val="752465591"/>
                  </a:ext>
                </a:extLst>
              </a:tr>
              <a:tr h="675600">
                <a:tc>
                  <a:txBody>
                    <a:bodyPr/>
                    <a:lstStyle/>
                    <a:p>
                      <a:r xmlns:a="http://schemas.openxmlformats.org/drawingml/2006/main">
                        <a:rPr lang="id" altLang="en-US" dirty="0"/>
                        <a:t>Satelit</a:t>
                      </a:r>
                      <a:endParaRPr xmlns:a="http://schemas.openxmlformats.org/drawingml/2006/main" lang="en-US" dirty="0"/>
                    </a:p>
                  </a:txBody>
                  <a:tcPr/>
                </a:tc>
                <a:tc>
                  <a:txBody>
                    <a:bodyPr/>
                    <a:lstStyle/>
                    <a:p>
                      <a:pPr xmlns:a="http://schemas.openxmlformats.org/drawingml/2006/main" marL="0" marR="0" lvl="0" indent="0" algn="l" defTabSz="685777" rtl="0" eaLnBrk="1" fontAlgn="auto" latinLnBrk="0" hangingPunct="1">
                        <a:lnSpc>
                          <a:spcPct val="100000"/>
                        </a:lnSpc>
                        <a:spcBef>
                          <a:spcPts val="0"/>
                        </a:spcBef>
                        <a:spcAft>
                          <a:spcPts val="0"/>
                        </a:spcAft>
                        <a:buClrTx/>
                        <a:buSzTx/>
                        <a:buFontTx/>
                        <a:buNone/>
                        <a:tabLst/>
                        <a:defRPr/>
                      </a:pPr>
                      <a:r xmlns:a="http://schemas.openxmlformats.org/drawingml/2006/main">
                        <a:rPr lang="id" altLang="en-US" dirty="0"/>
                        <a:t>Ini dapat menyediakan koneksi ketika solusi kabel tidak tersedia.</a:t>
                      </a:r>
                    </a:p>
                  </a:txBody>
                  <a:tcPr/>
                </a:tc>
                <a:extLst>
                  <a:ext uri="{0D108BD9-81ED-4DB2-BD59-A6C34878D82A}">
                    <a16:rowId xmlns:a16="http://schemas.microsoft.com/office/drawing/2014/main" val="1196837403"/>
                  </a:ext>
                </a:extLst>
              </a:tr>
            </a:tbl>
          </a:graphicData>
        </a:graphic>
      </p:graphicFrame>
    </p:spTree>
    <p:extLst>
      <p:ext uri="{BB962C8B-B14F-4D97-AF65-F5344CB8AC3E}">
        <p14:creationId xmlns:p14="http://schemas.microsoft.com/office/powerpoint/2010/main" val="926137725"/>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3871387" cy="757551"/>
          </a:xfrm>
        </p:spPr>
        <p:txBody>
          <a:bodyPr/>
          <a:lstStyle/>
          <a:p>
            <a:r xmlns:a="http://schemas.openxmlformats.org/drawingml/2006/main">
              <a:rPr lang="id" altLang="en-US" sz="1600" dirty="0"/>
              <a:t>Koneksi Internet </a:t>
            </a:r>
            <a:br xmlns:a="http://schemas.openxmlformats.org/drawingml/2006/main">
              <a:rPr lang="en-US" altLang="en-US" dirty="0"/>
            </a:br>
            <a:r xmlns:a="http://schemas.openxmlformats.org/drawingml/2006/main">
              <a:rPr lang="id" altLang="en-US" dirty="0"/>
              <a:t>Jaringan Konvergen</a:t>
            </a:r>
            <a:endParaRPr xmlns:a="http://schemas.openxmlformats.org/drawingml/2006/main" lang="en-CA" altLang="en-US" dirty="0"/>
          </a:p>
        </p:txBody>
      </p:sp>
      <p:sp>
        <p:nvSpPr>
          <p:cNvPr id="13315" name="Content Placeholder 2"/>
          <p:cNvSpPr>
            <a:spLocks noGrp="1"/>
          </p:cNvSpPr>
          <p:nvPr>
            <p:ph idx="1"/>
          </p:nvPr>
        </p:nvSpPr>
        <p:spPr>
          <a:xfrm>
            <a:off x="87549" y="1069128"/>
            <a:ext cx="3871387" cy="2619624"/>
          </a:xfrm>
        </p:spPr>
        <p:txBody>
          <a:bodyPr/>
          <a:lstStyle/>
          <a:p>
            <a:pPr xmlns:a="http://schemas.openxmlformats.org/drawingml/2006/main" marL="0" indent="0">
              <a:buNone/>
            </a:pPr>
            <a:r xmlns:a="http://schemas.openxmlformats.org/drawingml/2006/main">
              <a:rPr lang="id" altLang="en-US" sz="1600" dirty="0"/>
              <a:t>Sebelum jaringan terkonvergensi, sebuah organisasi akan terhubung dengan kabel secara terpisah untuk telepon, video, dan data. Masing-masing jaringan ini akan menggunakan teknologi berbeda untuk membawa sinyal.</a:t>
            </a:r>
          </a:p>
          <a:p>
            <a:pPr xmlns:a="http://schemas.openxmlformats.org/drawingml/2006/main" marL="0" indent="0">
              <a:buNone/>
            </a:pPr>
            <a:r xmlns:a="http://schemas.openxmlformats.org/drawingml/2006/main">
              <a:rPr lang="id" altLang="en-US" sz="1600" dirty="0"/>
              <a:t>Masing-masing teknologi ini akan menggunakan seperangkat aturan dan standar yang berbeda.</a:t>
            </a:r>
            <a:endParaRPr xmlns:a="http://schemas.openxmlformats.org/drawingml/2006/main" lang="en-CA" altLang="en-US" sz="1600" dirty="0"/>
          </a:p>
        </p:txBody>
      </p:sp>
      <p:pic>
        <p:nvPicPr>
          <p:cNvPr id="5" name="Picture 4"/>
          <p:cNvPicPr>
            <a:picLocks noChangeAspect="1"/>
          </p:cNvPicPr>
          <p:nvPr/>
        </p:nvPicPr>
        <p:blipFill>
          <a:blip r:embed="rId4"/>
          <a:stretch>
            <a:fillRect/>
          </a:stretch>
        </p:blipFill>
        <p:spPr>
          <a:xfrm>
            <a:off x="3958936" y="798944"/>
            <a:ext cx="4808118" cy="3159992"/>
          </a:xfrm>
          <a:prstGeom prst="rect">
            <a:avLst/>
          </a:prstGeom>
        </p:spPr>
      </p:pic>
    </p:spTree>
    <p:custDataLst>
      <p:tags r:id="rId1"/>
    </p:custDataLst>
    <p:extLst>
      <p:ext uri="{BB962C8B-B14F-4D97-AF65-F5344CB8AC3E}">
        <p14:creationId xmlns:p14="http://schemas.microsoft.com/office/powerpoint/2010/main" val="3001470487"/>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858077" cy="757551"/>
          </a:xfrm>
        </p:spPr>
        <p:txBody>
          <a:bodyPr/>
          <a:lstStyle/>
          <a:p>
            <a:r xmlns:a="http://schemas.openxmlformats.org/drawingml/2006/main">
              <a:rPr lang="id" altLang="en-US" sz="1600" dirty="0"/>
              <a:t>Koneksi Internet </a:t>
            </a:r>
            <a:br xmlns:a="http://schemas.openxmlformats.org/drawingml/2006/main">
              <a:rPr lang="en-US" altLang="en-US" dirty="0"/>
            </a:br>
            <a:r xmlns:a="http://schemas.openxmlformats.org/drawingml/2006/main">
              <a:rPr lang="id" altLang="en-US" dirty="0"/>
              <a:t>Jaringan Konvergen (Lanjutan)</a:t>
            </a:r>
            <a:endParaRPr xmlns:a="http://schemas.openxmlformats.org/drawingml/2006/main" lang="en-CA" altLang="en-US" dirty="0"/>
          </a:p>
        </p:txBody>
      </p:sp>
      <p:sp>
        <p:nvSpPr>
          <p:cNvPr id="13315" name="Content Placeholder 2"/>
          <p:cNvSpPr>
            <a:spLocks noGrp="1"/>
          </p:cNvSpPr>
          <p:nvPr>
            <p:ph idx="1"/>
          </p:nvPr>
        </p:nvSpPr>
        <p:spPr>
          <a:xfrm>
            <a:off x="223066" y="879499"/>
            <a:ext cx="3735870" cy="3082610"/>
          </a:xfrm>
        </p:spPr>
        <p:txBody>
          <a:bodyPr/>
          <a:lstStyle/>
          <a:p>
            <a:pPr xmlns:a="http://schemas.openxmlformats.org/drawingml/2006/main" marL="0" indent="0">
              <a:buNone/>
            </a:pPr>
            <a:r xmlns:a="http://schemas.openxmlformats.org/drawingml/2006/main">
              <a:rPr lang="id" altLang="en-US" sz="1600" dirty="0"/>
              <a:t>Jaringan data terkonvergensi membawa banyak layanan pada satu tautan termasuk:</a:t>
            </a:r>
          </a:p>
          <a:p>
            <a:pPr xmlns:a="http://schemas.openxmlformats.org/drawingml/2006/main" lvl="1">
              <a:buFont typeface="Arial" panose="020B0604020202020204" pitchFamily="34" charset="0"/>
              <a:buChar char="•"/>
            </a:pPr>
            <a:r xmlns:a="http://schemas.openxmlformats.org/drawingml/2006/main">
              <a:rPr lang="id" altLang="en-US" sz="1600" dirty="0"/>
              <a:t>data</a:t>
            </a:r>
          </a:p>
          <a:p>
            <a:pPr xmlns:a="http://schemas.openxmlformats.org/drawingml/2006/main" lvl="1">
              <a:buFont typeface="Arial" panose="020B0604020202020204" pitchFamily="34" charset="0"/>
              <a:buChar char="•"/>
            </a:pPr>
            <a:r xmlns:a="http://schemas.openxmlformats.org/drawingml/2006/main">
              <a:rPr lang="id" altLang="en-US" sz="1600" dirty="0"/>
              <a:t>suara</a:t>
            </a:r>
          </a:p>
          <a:p>
            <a:pPr xmlns:a="http://schemas.openxmlformats.org/drawingml/2006/main" lvl="1">
              <a:buFont typeface="Arial" panose="020B0604020202020204" pitchFamily="34" charset="0"/>
              <a:buChar char="•"/>
            </a:pPr>
            <a:r xmlns:a="http://schemas.openxmlformats.org/drawingml/2006/main">
              <a:rPr lang="id" altLang="en-US" sz="1600" dirty="0"/>
              <a:t>video</a:t>
            </a:r>
          </a:p>
          <a:p>
            <a:pPr xmlns:a="http://schemas.openxmlformats.org/drawingml/2006/main" marL="0" indent="0">
              <a:buNone/>
            </a:pPr>
            <a:r xmlns:a="http://schemas.openxmlformats.org/drawingml/2006/main">
              <a:rPr lang="id" altLang="en-US" sz="1600" dirty="0"/>
              <a:t>Jaringan konvergensi dapat mengirimkan data, suara, dan video melalui infrastruktur jaringan yang sama. Infrastruktur jaringan menggunakan seperangkat aturan dan standar yang sama.</a:t>
            </a:r>
          </a:p>
          <a:p>
            <a:pPr marL="0" indent="0">
              <a:buNone/>
            </a:pPr>
            <a:endParaRPr lang="en-CA" altLang="en-US" dirty="0"/>
          </a:p>
        </p:txBody>
      </p:sp>
      <p:pic>
        <p:nvPicPr>
          <p:cNvPr id="4" name="Picture 3"/>
          <p:cNvPicPr>
            <a:picLocks noChangeAspect="1"/>
          </p:cNvPicPr>
          <p:nvPr/>
        </p:nvPicPr>
        <p:blipFill>
          <a:blip r:embed="rId4"/>
          <a:stretch>
            <a:fillRect/>
          </a:stretch>
        </p:blipFill>
        <p:spPr>
          <a:xfrm>
            <a:off x="3958936" y="876009"/>
            <a:ext cx="4977527" cy="3086100"/>
          </a:xfrm>
          <a:prstGeom prst="rect">
            <a:avLst/>
          </a:prstGeom>
        </p:spPr>
      </p:pic>
    </p:spTree>
    <p:custDataLst>
      <p:tags r:id="rId1"/>
    </p:custDataLst>
    <p:extLst>
      <p:ext uri="{BB962C8B-B14F-4D97-AF65-F5344CB8AC3E}">
        <p14:creationId xmlns:p14="http://schemas.microsoft.com/office/powerpoint/2010/main" val="2360324304"/>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xmlns:a="http://schemas.openxmlformats.org/drawingml/2006/main">
              <a:rPr lang="id" sz="1600" dirty="0"/>
              <a:t>Koneksi Internet </a:t>
            </a:r>
            <a:br xmlns:a="http://schemas.openxmlformats.org/drawingml/2006/main">
              <a:rPr lang="en-US" dirty="0"/>
            </a:br>
            <a:r xmlns:a="http://schemas.openxmlformats.org/drawingml/2006/main">
              <a:rPr lang="id" dirty="0"/>
              <a:t>– Unduh dan Instal Packet Tracer</a:t>
            </a:r>
          </a:p>
        </p:txBody>
      </p:sp>
      <p:sp>
        <p:nvSpPr>
          <p:cNvPr id="2" name="TextBox 1">
            <a:extLst>
              <a:ext uri="{FF2B5EF4-FFF2-40B4-BE49-F238E27FC236}">
                <a16:creationId xmlns:a16="http://schemas.microsoft.com/office/drawing/2014/main" id="{572B4726-4F97-4776-BF36-8887934D7622}"/>
              </a:ext>
            </a:extLst>
          </p:cNvPr>
          <p:cNvSpPr txBox="1"/>
          <p:nvPr/>
        </p:nvSpPr>
        <p:spPr>
          <a:xfrm>
            <a:off x="389467" y="982133"/>
            <a:ext cx="8365066" cy="369332"/>
          </a:xfrm>
          <a:prstGeom prst="rect">
            <a:avLst/>
          </a:prstGeom>
          <a:noFill/>
        </p:spPr>
        <p:txBody>
          <a:bodyPr wrap="square" rtlCol="0">
            <a:spAutoFit/>
          </a:bodyPr>
          <a:lstStyle/>
          <a:p>
            <a:r xmlns:a="http://schemas.openxmlformats.org/drawingml/2006/main">
              <a:rPr lang="id" dirty="0"/>
              <a:t>Video ini akan mendemonstrasikan proses download dan instalasi Packet Tracer.</a:t>
            </a:r>
          </a:p>
        </p:txBody>
      </p:sp>
    </p:spTree>
    <p:extLst>
      <p:ext uri="{BB962C8B-B14F-4D97-AF65-F5344CB8AC3E}">
        <p14:creationId xmlns:p14="http://schemas.microsoft.com/office/powerpoint/2010/main" val="3036343635"/>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 y="15993"/>
            <a:ext cx="9144000" cy="757551"/>
          </a:xfrm>
        </p:spPr>
        <p:txBody>
          <a:bodyPr/>
          <a:lstStyle/>
          <a:p>
            <a:r xmlns:a="http://schemas.openxmlformats.org/drawingml/2006/main">
              <a:rPr lang="id" sz="1600" dirty="0"/>
              <a:t>Koneksi Internet </a:t>
            </a:r>
            <a:br xmlns:a="http://schemas.openxmlformats.org/drawingml/2006/main">
              <a:rPr lang="en-US" dirty="0"/>
            </a:br>
            <a:r xmlns:a="http://schemas.openxmlformats.org/drawingml/2006/main">
              <a:rPr lang="id" dirty="0"/>
              <a:t>– Memulai Cisco Packet Tracer</a:t>
            </a:r>
          </a:p>
        </p:txBody>
      </p:sp>
      <p:sp>
        <p:nvSpPr>
          <p:cNvPr id="2" name="TextBox 1">
            <a:extLst>
              <a:ext uri="{FF2B5EF4-FFF2-40B4-BE49-F238E27FC236}">
                <a16:creationId xmlns:a16="http://schemas.microsoft.com/office/drawing/2014/main" id="{0A69B2E0-30F8-436A-97AA-D48D88BF5E7E}"/>
              </a:ext>
            </a:extLst>
          </p:cNvPr>
          <p:cNvSpPr txBox="1"/>
          <p:nvPr/>
        </p:nvSpPr>
        <p:spPr>
          <a:xfrm>
            <a:off x="228601" y="914400"/>
            <a:ext cx="7831666" cy="923330"/>
          </a:xfrm>
          <a:prstGeom prst="rect">
            <a:avLst/>
          </a:prstGeom>
          <a:noFill/>
        </p:spPr>
        <p:txBody>
          <a:bodyPr wrap="square" rtlCol="0">
            <a:spAutoFit/>
          </a:bodyPr>
          <a:lstStyle/>
          <a:p>
            <a:r xmlns:a="http://schemas.openxmlformats.org/drawingml/2006/main">
              <a:rPr lang="id" dirty="0"/>
              <a:t>Video ini akan mencakup hal-hal berikut:</a:t>
            </a:r>
          </a:p>
          <a:p>
            <a:pPr xmlns:a="http://schemas.openxmlformats.org/drawingml/2006/main" marL="285750" indent="-285750">
              <a:buFont typeface="Arial" panose="020B0604020202020204" pitchFamily="34" charset="0"/>
              <a:buChar char="•"/>
            </a:pPr>
            <a:r xmlns:a="http://schemas.openxmlformats.org/drawingml/2006/main">
              <a:rPr lang="id" dirty="0"/>
              <a:t>Navigasi antarmuka Packet Tracer</a:t>
            </a:r>
          </a:p>
          <a:p>
            <a:pPr xmlns:a="http://schemas.openxmlformats.org/drawingml/2006/main" marL="285750" indent="-285750">
              <a:buFont typeface="Arial" panose="020B0604020202020204" pitchFamily="34" charset="0"/>
              <a:buChar char="•"/>
            </a:pPr>
            <a:r xmlns:a="http://schemas.openxmlformats.org/drawingml/2006/main">
              <a:rPr lang="id" dirty="0"/>
              <a:t>Sesuaikan Antarmuka Pelacak Paket</a:t>
            </a:r>
          </a:p>
        </p:txBody>
      </p:sp>
    </p:spTree>
    <p:extLst>
      <p:ext uri="{BB962C8B-B14F-4D97-AF65-F5344CB8AC3E}">
        <p14:creationId xmlns:p14="http://schemas.microsoft.com/office/powerpoint/2010/main" val="1779332428"/>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xmlns:a="http://schemas.openxmlformats.org/drawingml/2006/main">
              <a:rPr lang="id" dirty="0"/>
              <a:t>Pelacak Paket </a:t>
            </a:r>
            <a:r xmlns:a="http://schemas.openxmlformats.org/drawingml/2006/main">
              <a:rPr lang="id" sz="1600" dirty="0"/>
              <a:t>Koneksi Internet – Representasi Jaringan</a:t>
            </a:r>
            <a:br xmlns:a="http://schemas.openxmlformats.org/drawingml/2006/main">
              <a:rPr lang="en-US" dirty="0"/>
            </a:br>
          </a:p>
        </p:txBody>
      </p:sp>
      <p:sp>
        <p:nvSpPr>
          <p:cNvPr id="2" name="Content Placeholder 1"/>
          <p:cNvSpPr>
            <a:spLocks noGrp="1"/>
          </p:cNvSpPr>
          <p:nvPr>
            <p:ph idx="1"/>
          </p:nvPr>
        </p:nvSpPr>
        <p:spPr>
          <a:xfrm>
            <a:off x="144065" y="798944"/>
            <a:ext cx="8853286" cy="3428499"/>
          </a:xfrm>
        </p:spPr>
        <p:txBody>
          <a:bodyPr/>
          <a:lstStyle/>
          <a:p>
            <a:pPr xmlns:a="http://schemas.openxmlformats.org/drawingml/2006/main" marL="0" indent="0">
              <a:buNone/>
            </a:pPr>
            <a:r xmlns:a="http://schemas.openxmlformats.org/drawingml/2006/main">
              <a:rPr lang="id" sz="1600" dirty="0"/>
              <a:t>Di pelacak Paket ini Anda akan melakukan hal berikut:</a:t>
            </a:r>
          </a:p>
          <a:p>
            <a:pPr xmlns:a="http://schemas.openxmlformats.org/drawingml/2006/main" lvl="1"/>
            <a:r xmlns:a="http://schemas.openxmlformats.org/drawingml/2006/main">
              <a:rPr lang="id" sz="1600" dirty="0"/>
              <a:t>Model jaringan dalam kegiatan ini menggabungkan banyak teknologi yang akan Anda kuasai dalam studi CCNA Anda.</a:t>
            </a:r>
          </a:p>
          <a:p>
            <a:pPr marL="0" indent="0">
              <a:buNone/>
            </a:pPr>
            <a:endParaRPr lang="en-US" sz="1600" dirty="0"/>
          </a:p>
          <a:p>
            <a:pPr xmlns:a="http://schemas.openxmlformats.org/drawingml/2006/main" marL="0" indent="0">
              <a:buNone/>
            </a:pPr>
            <a:r xmlns:a="http://schemas.openxmlformats.org/drawingml/2006/main">
              <a:rPr lang="id" sz="1600" dirty="0"/>
              <a:t> </a:t>
            </a:r>
            <a:r xmlns:a="http://schemas.openxmlformats.org/drawingml/2006/main">
              <a:rPr lang="id" sz="1600" b="1" dirty="0"/>
              <a:t>Catatan </a:t>
            </a:r>
            <a:r xmlns:a="http://schemas.openxmlformats.org/drawingml/2006/main">
              <a:rPr lang="id" sz="1600" dirty="0"/>
              <a:t>: Tidak penting bagi Anda untuk memahami semua yang Anda lihat dan lakukan dalam aktivitas ini.</a:t>
            </a:r>
          </a:p>
        </p:txBody>
      </p:sp>
    </p:spTree>
    <p:extLst>
      <p:ext uri="{BB962C8B-B14F-4D97-AF65-F5344CB8AC3E}">
        <p14:creationId xmlns:p14="http://schemas.microsoft.com/office/powerpoint/2010/main" val="250813675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xmlns:a="http://schemas.openxmlformats.org/drawingml/2006/main">
              <a:rPr lang="id" sz="4000" dirty="0">
                <a:solidFill>
                  <a:schemeClr val="accent5">
                    <a:lumMod val="40000"/>
                    <a:lumOff val="60000"/>
                  </a:schemeClr>
                </a:solidFill>
              </a:rPr>
              <a:t>1.6 Jaringan yang Andal</a:t>
            </a:r>
          </a:p>
        </p:txBody>
      </p:sp>
    </p:spTree>
    <p:custDataLst>
      <p:tags r:id="rId1"/>
    </p:custDataLst>
    <p:extLst>
      <p:ext uri="{BB962C8B-B14F-4D97-AF65-F5344CB8AC3E}">
        <p14:creationId xmlns:p14="http://schemas.microsoft.com/office/powerpoint/2010/main" val="4122653524"/>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xmlns:a="http://schemas.openxmlformats.org/drawingml/2006/main">
              <a:rPr lang="id" altLang="en-US" dirty="0"/>
              <a:t>Arsitektur </a:t>
            </a:r>
            <a:endParaRPr xmlns:a="http://schemas.openxmlformats.org/drawingml/2006/main" lang="en-CA" altLang="en-US" dirty="0"/>
            <a:r xmlns:a="http://schemas.openxmlformats.org/drawingml/2006/main">
              <a:rPr lang="id" altLang="en-US" dirty="0" err="1"/>
              <a:t>Jaringan </a:t>
            </a:r>
            <a:r xmlns:a="http://schemas.openxmlformats.org/drawingml/2006/main">
              <a:rPr lang="id" altLang="en-US" sz="1600" dirty="0"/>
              <a:t>Jaringan yang Andal</a:t>
            </a:r>
            <a:br xmlns:a="http://schemas.openxmlformats.org/drawingml/2006/main">
              <a:rPr lang="en-US" altLang="en-US" dirty="0"/>
            </a:br>
          </a:p>
        </p:txBody>
      </p:sp>
      <p:sp>
        <p:nvSpPr>
          <p:cNvPr id="13315" name="Content Placeholder 2"/>
          <p:cNvSpPr>
            <a:spLocks noGrp="1"/>
          </p:cNvSpPr>
          <p:nvPr>
            <p:ph idx="1"/>
          </p:nvPr>
        </p:nvSpPr>
        <p:spPr>
          <a:xfrm>
            <a:off x="4883285" y="414868"/>
            <a:ext cx="4192621" cy="4075490"/>
          </a:xfrm>
        </p:spPr>
        <p:txBody>
          <a:bodyPr/>
          <a:lstStyle/>
          <a:p>
            <a:endParaRPr lang="en-CA" altLang="en-US" dirty="0"/>
          </a:p>
          <a:p>
            <a:pPr xmlns:a="http://schemas.openxmlformats.org/drawingml/2006/main" marL="0" indent="0">
              <a:buNone/>
            </a:pPr>
            <a:r xmlns:a="http://schemas.openxmlformats.org/drawingml/2006/main">
              <a:rPr lang="id" altLang="en-US" sz="1600" dirty="0"/>
              <a:t>Arsitektur Jaringan mengacu pada teknologi yang mendukung infrastruktur yang memindahkan data melalui jaringan.</a:t>
            </a:r>
          </a:p>
          <a:p>
            <a:pPr xmlns:a="http://schemas.openxmlformats.org/drawingml/2006/main" marL="0" indent="0">
              <a:buNone/>
            </a:pPr>
            <a:r xmlns:a="http://schemas.openxmlformats.org/drawingml/2006/main">
              <a:rPr lang="id" altLang="en-US" sz="1600" dirty="0"/>
              <a:t>Ada empat karakteristik dasar yang perlu ditangani oleh arsitektur dasar untuk memenuhi harapan pengguna:</a:t>
            </a:r>
          </a:p>
          <a:p>
            <a:pPr xmlns:a="http://schemas.openxmlformats.org/drawingml/2006/main" lvl="1">
              <a:buFont typeface="Arial" panose="020B0604020202020204" pitchFamily="34" charset="0"/>
              <a:buChar char="•"/>
            </a:pPr>
            <a:r xmlns:a="http://schemas.openxmlformats.org/drawingml/2006/main">
              <a:rPr lang="id" altLang="en-US" sz="1600" dirty="0"/>
              <a:t>Toleransi kesalahan</a:t>
            </a:r>
          </a:p>
          <a:p>
            <a:pPr xmlns:a="http://schemas.openxmlformats.org/drawingml/2006/main" lvl="1">
              <a:buFont typeface="Arial" panose="020B0604020202020204" pitchFamily="34" charset="0"/>
              <a:buChar char="•"/>
            </a:pPr>
            <a:r xmlns:a="http://schemas.openxmlformats.org/drawingml/2006/main">
              <a:rPr lang="id" altLang="en-US" sz="1600" dirty="0"/>
              <a:t>Skalabilitas</a:t>
            </a:r>
          </a:p>
          <a:p>
            <a:pPr xmlns:a="http://schemas.openxmlformats.org/drawingml/2006/main" lvl="1">
              <a:buFont typeface="Arial" panose="020B0604020202020204" pitchFamily="34" charset="0"/>
              <a:buChar char="•"/>
            </a:pPr>
            <a:r xmlns:a="http://schemas.openxmlformats.org/drawingml/2006/main">
              <a:rPr lang="id" altLang="en-US" sz="1600" dirty="0"/>
              <a:t>Kualitas Layanan ( </a:t>
            </a:r>
            <a:r xmlns:a="http://schemas.openxmlformats.org/drawingml/2006/main">
              <a:rPr lang="id" altLang="en-US" sz="1600" dirty="0" err="1"/>
              <a:t>QoS </a:t>
            </a:r>
            <a:r xmlns:a="http://schemas.openxmlformats.org/drawingml/2006/main">
              <a:rPr lang="id" altLang="en-US" sz="1600" dirty="0"/>
              <a:t>)</a:t>
            </a:r>
          </a:p>
          <a:p>
            <a:pPr xmlns:a="http://schemas.openxmlformats.org/drawingml/2006/main" lvl="1">
              <a:buFont typeface="Arial" panose="020B0604020202020204" pitchFamily="34" charset="0"/>
              <a:buChar char="•"/>
            </a:pPr>
            <a:r xmlns:a="http://schemas.openxmlformats.org/drawingml/2006/main">
              <a:rPr lang="id" altLang="en-US" sz="1600" dirty="0"/>
              <a:t>Keamanan</a:t>
            </a:r>
          </a:p>
        </p:txBody>
      </p:sp>
      <p:pic>
        <p:nvPicPr>
          <p:cNvPr id="2" name="Picture 1"/>
          <p:cNvPicPr>
            <a:picLocks noChangeAspect="1"/>
          </p:cNvPicPr>
          <p:nvPr/>
        </p:nvPicPr>
        <p:blipFill>
          <a:blip r:embed="rId3"/>
          <a:stretch>
            <a:fillRect/>
          </a:stretch>
        </p:blipFill>
        <p:spPr>
          <a:xfrm>
            <a:off x="448425" y="824344"/>
            <a:ext cx="3772426" cy="3724795"/>
          </a:xfrm>
          <a:prstGeom prst="rect">
            <a:avLst/>
          </a:prstGeom>
        </p:spPr>
      </p:pic>
    </p:spTree>
    <p:extLst>
      <p:ext uri="{BB962C8B-B14F-4D97-AF65-F5344CB8AC3E}">
        <p14:creationId xmlns:p14="http://schemas.microsoft.com/office/powerpoint/2010/main" val="738450805"/>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875300" cy="657417"/>
          </a:xfrm>
        </p:spPr>
        <p:txBody>
          <a:bodyPr/>
          <a:lstStyle/>
          <a:p>
            <a:r xmlns:a="http://schemas.openxmlformats.org/drawingml/2006/main">
              <a:rPr lang="id" altLang="en-US" dirty="0"/>
              <a:t>Toleransi Kesalahan </a:t>
            </a:r>
            <a:endParaRPr xmlns:a="http://schemas.openxmlformats.org/drawingml/2006/main" lang="en-CA" altLang="en-US" dirty="0"/>
            <a:r xmlns:a="http://schemas.openxmlformats.org/drawingml/2006/main">
              <a:rPr lang="id" altLang="en-US" sz="1600" dirty="0"/>
              <a:t>Jaringan yang Andal</a:t>
            </a:r>
            <a:br xmlns:a="http://schemas.openxmlformats.org/drawingml/2006/main">
              <a:rPr lang="en-US" altLang="en-US" dirty="0"/>
            </a:br>
          </a:p>
        </p:txBody>
      </p:sp>
      <p:sp>
        <p:nvSpPr>
          <p:cNvPr id="13315" name="Content Placeholder 2"/>
          <p:cNvSpPr>
            <a:spLocks noGrp="1"/>
          </p:cNvSpPr>
          <p:nvPr>
            <p:ph idx="1"/>
          </p:nvPr>
        </p:nvSpPr>
        <p:spPr>
          <a:xfrm>
            <a:off x="202765" y="698810"/>
            <a:ext cx="4174502" cy="4013508"/>
          </a:xfrm>
        </p:spPr>
        <p:txBody>
          <a:bodyPr/>
          <a:lstStyle/>
          <a:p>
            <a:pPr xmlns:a="http://schemas.openxmlformats.org/drawingml/2006/main" marL="0" indent="0">
              <a:buNone/>
            </a:pPr>
            <a:r xmlns:a="http://schemas.openxmlformats.org/drawingml/2006/main">
              <a:rPr lang="id" altLang="en-US" sz="1600" dirty="0"/>
              <a:t>Jaringan yang toleran terhadap kesalahan membatasi dampak kegagalan dengan membatasi jumlah perangkat yang terpengaruh. Beberapa jalur diperlukan untuk toleransi kesalahan.</a:t>
            </a:r>
          </a:p>
          <a:p>
            <a:pPr xmlns:a="http://schemas.openxmlformats.org/drawingml/2006/main" marL="0" indent="0">
              <a:buNone/>
            </a:pPr>
            <a:r xmlns:a="http://schemas.openxmlformats.org/drawingml/2006/main">
              <a:rPr lang="id" altLang="en-US" sz="1600" dirty="0"/>
              <a:t>Jaringan yang andal menyediakan redundansi dengan menerapkan jaringan packet-switched:</a:t>
            </a:r>
          </a:p>
          <a:p>
            <a:pPr xmlns:a="http://schemas.openxmlformats.org/drawingml/2006/main" lvl="1">
              <a:buFont typeface="Arial" panose="020B0604020202020204" pitchFamily="34" charset="0"/>
              <a:buChar char="•"/>
            </a:pPr>
            <a:r xmlns:a="http://schemas.openxmlformats.org/drawingml/2006/main">
              <a:rPr lang="id" altLang="en-US" sz="1600" dirty="0"/>
              <a:t>Peralihan paket membagi lalu lintas menjadi paket-paket yang dirutekan melalui jaringan.</a:t>
            </a:r>
          </a:p>
          <a:p>
            <a:pPr xmlns:a="http://schemas.openxmlformats.org/drawingml/2006/main" lvl="1">
              <a:buFont typeface="Arial" panose="020B0604020202020204" pitchFamily="34" charset="0"/>
              <a:buChar char="•"/>
            </a:pPr>
            <a:r xmlns:a="http://schemas.openxmlformats.org/drawingml/2006/main">
              <a:rPr lang="id" altLang="en-US" sz="1600" dirty="0"/>
              <a:t>Setiap paket secara teoritis dapat mengambil jalur berbeda menuju tujuan.</a:t>
            </a:r>
          </a:p>
          <a:p>
            <a:pPr xmlns:a="http://schemas.openxmlformats.org/drawingml/2006/main" marL="0" indent="0">
              <a:buNone/>
            </a:pPr>
            <a:r xmlns:a="http://schemas.openxmlformats.org/drawingml/2006/main">
              <a:rPr lang="id" altLang="en-US" sz="1600" dirty="0"/>
              <a:t>Hal ini tidak mungkin dilakukan dengan jaringan Circuit-switched yang membentuk sirkuit khusus.</a:t>
            </a:r>
          </a:p>
          <a:p>
            <a:endParaRPr lang="en-CA" altLang="en-US" dirty="0"/>
          </a:p>
        </p:txBody>
      </p:sp>
      <p:pic>
        <p:nvPicPr>
          <p:cNvPr id="2" name="Picture 1"/>
          <p:cNvPicPr>
            <a:picLocks noChangeAspect="1"/>
          </p:cNvPicPr>
          <p:nvPr/>
        </p:nvPicPr>
        <p:blipFill>
          <a:blip r:embed="rId3"/>
          <a:stretch>
            <a:fillRect/>
          </a:stretch>
        </p:blipFill>
        <p:spPr>
          <a:xfrm>
            <a:off x="4308804" y="755961"/>
            <a:ext cx="4769261" cy="3079440"/>
          </a:xfrm>
          <a:prstGeom prst="rect">
            <a:avLst/>
          </a:prstGeom>
        </p:spPr>
      </p:pic>
    </p:spTree>
    <p:extLst>
      <p:ext uri="{BB962C8B-B14F-4D97-AF65-F5344CB8AC3E}">
        <p14:creationId xmlns:p14="http://schemas.microsoft.com/office/powerpoint/2010/main" val="2362907193"/>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xmlns:a="http://schemas.openxmlformats.org/drawingml/2006/main">
              <a:rPr lang="id" altLang="en-US" dirty="0"/>
              <a:t>Skalabilitas </a:t>
            </a:r>
            <a:endParaRPr xmlns:a="http://schemas.openxmlformats.org/drawingml/2006/main" lang="en-CA" altLang="en-US" dirty="0"/>
            <a:r xmlns:a="http://schemas.openxmlformats.org/drawingml/2006/main">
              <a:rPr lang="id" altLang="en-US" sz="1600" dirty="0"/>
              <a:t>Jaringan yang Andal</a:t>
            </a:r>
            <a:br xmlns:a="http://schemas.openxmlformats.org/drawingml/2006/main">
              <a:rPr lang="en-US" altLang="en-US" dirty="0"/>
            </a:br>
          </a:p>
        </p:txBody>
      </p:sp>
      <p:sp>
        <p:nvSpPr>
          <p:cNvPr id="13315" name="Content Placeholder 2"/>
          <p:cNvSpPr>
            <a:spLocks noGrp="1"/>
          </p:cNvSpPr>
          <p:nvPr>
            <p:ph idx="1"/>
          </p:nvPr>
        </p:nvSpPr>
        <p:spPr>
          <a:xfrm>
            <a:off x="5432086" y="784034"/>
            <a:ext cx="3529770" cy="3384643"/>
          </a:xfrm>
        </p:spPr>
        <p:txBody>
          <a:bodyPr/>
          <a:lstStyle/>
          <a:p>
            <a:endParaRPr lang="en-CA" altLang="en-US" sz="1800" dirty="0"/>
          </a:p>
          <a:p>
            <a:pPr xmlns:a="http://schemas.openxmlformats.org/drawingml/2006/main" marL="0" indent="0">
              <a:buNone/>
            </a:pPr>
            <a:r xmlns:a="http://schemas.openxmlformats.org/drawingml/2006/main">
              <a:rPr lang="id" altLang="en-US" sz="1800" dirty="0"/>
              <a:t>Jaringan yang terukur dapat diperluas dengan cepat dan mudah untuk mendukung pengguna dan aplikasi baru tanpa berdampak pada kinerja layanan kepada pengguna yang sudah ada.</a:t>
            </a:r>
          </a:p>
          <a:p>
            <a:pPr xmlns:a="http://schemas.openxmlformats.org/drawingml/2006/main" marL="0" indent="0">
              <a:buNone/>
            </a:pPr>
            <a:r xmlns:a="http://schemas.openxmlformats.org/drawingml/2006/main">
              <a:rPr lang="id" altLang="en-US" sz="1800" dirty="0"/>
              <a:t>Perancang jaringan mengikuti standar dan protokol yang diterima untuk membuat jaringan dapat diskalakan.</a:t>
            </a:r>
          </a:p>
          <a:p>
            <a:endParaRPr lang="en-CA" altLang="en-US" dirty="0"/>
          </a:p>
        </p:txBody>
      </p:sp>
      <p:pic>
        <p:nvPicPr>
          <p:cNvPr id="3" name="Picture 2"/>
          <p:cNvPicPr>
            <a:picLocks noChangeAspect="1"/>
          </p:cNvPicPr>
          <p:nvPr/>
        </p:nvPicPr>
        <p:blipFill>
          <a:blip r:embed="rId3"/>
          <a:stretch>
            <a:fillRect/>
          </a:stretch>
        </p:blipFill>
        <p:spPr>
          <a:xfrm>
            <a:off x="87550" y="984157"/>
            <a:ext cx="5234470" cy="3639798"/>
          </a:xfrm>
          <a:prstGeom prst="rect">
            <a:avLst/>
          </a:prstGeom>
        </p:spPr>
      </p:pic>
    </p:spTree>
    <p:extLst>
      <p:ext uri="{BB962C8B-B14F-4D97-AF65-F5344CB8AC3E}">
        <p14:creationId xmlns:p14="http://schemas.microsoft.com/office/powerpoint/2010/main" val="112306789"/>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xmlns:a="http://schemas.openxmlformats.org/drawingml/2006/main">
              <a:rPr lang="id" altLang="en-US" dirty="0"/>
              <a:t>Kualitas Layanan </a:t>
            </a:r>
            <a:endParaRPr xmlns:a="http://schemas.openxmlformats.org/drawingml/2006/main" lang="en-CA" altLang="en-US" dirty="0"/>
            <a:r xmlns:a="http://schemas.openxmlformats.org/drawingml/2006/main">
              <a:rPr lang="id" altLang="en-US" sz="1600" dirty="0"/>
              <a:t>Jaringan yang Andal</a:t>
            </a:r>
            <a:br xmlns:a="http://schemas.openxmlformats.org/drawingml/2006/main">
              <a:rPr lang="en-US" altLang="en-US" dirty="0"/>
            </a:br>
          </a:p>
        </p:txBody>
      </p:sp>
      <p:sp>
        <p:nvSpPr>
          <p:cNvPr id="13315" name="Content Placeholder 2"/>
          <p:cNvSpPr>
            <a:spLocks noGrp="1"/>
          </p:cNvSpPr>
          <p:nvPr>
            <p:ph idx="1"/>
          </p:nvPr>
        </p:nvSpPr>
        <p:spPr>
          <a:xfrm>
            <a:off x="87549" y="798944"/>
            <a:ext cx="3809042" cy="4147129"/>
          </a:xfrm>
        </p:spPr>
        <p:txBody>
          <a:bodyPr/>
          <a:lstStyle/>
          <a:p>
            <a:pPr xmlns:a="http://schemas.openxmlformats.org/drawingml/2006/main" marL="0" indent="0">
              <a:buNone/>
            </a:pPr>
            <a:r xmlns:a="http://schemas.openxmlformats.org/drawingml/2006/main">
              <a:rPr lang="id" altLang="en-US" dirty="0"/>
              <a:t>Transmisi suara dan video langsung memerlukan ekspektasi yang lebih tinggi agar layanan tersebut dapat diberikan.</a:t>
            </a:r>
          </a:p>
          <a:p>
            <a:pPr xmlns:a="http://schemas.openxmlformats.org/drawingml/2006/main" marL="0" indent="0">
              <a:buNone/>
            </a:pPr>
            <a:r xmlns:a="http://schemas.openxmlformats.org/drawingml/2006/main">
              <a:rPr lang="id" altLang="en-US" dirty="0"/>
              <a:t>Pernahkah Anda menonton video langsung dengan jeda dan jeda terus-menerus? Hal ini terjadi ketika ada permintaan bandwidth yang lebih tinggi daripada yang tersedia – dan QoS tidak dikonfigurasi.</a:t>
            </a:r>
          </a:p>
          <a:p>
            <a:pPr xmlns:a="http://schemas.openxmlformats.org/drawingml/2006/main">
              <a:buFont typeface="Arial" panose="020B0604020202020204" pitchFamily="34" charset="0"/>
              <a:buChar char="•"/>
            </a:pPr>
            <a:r xmlns:a="http://schemas.openxmlformats.org/drawingml/2006/main">
              <a:rPr lang="id" altLang="en-US" dirty="0"/>
              <a:t>Kualitas Layanan ( </a:t>
            </a:r>
            <a:r xmlns:a="http://schemas.openxmlformats.org/drawingml/2006/main">
              <a:rPr lang="id" altLang="en-US" dirty="0" err="1"/>
              <a:t>QoS </a:t>
            </a:r>
            <a:r xmlns:a="http://schemas.openxmlformats.org/drawingml/2006/main">
              <a:rPr lang="id" altLang="en-US" dirty="0"/>
              <a:t>) adalah mekanisme utama yang digunakan untuk memastikan pengiriman konten yang andal bagi semua pengguna.</a:t>
            </a:r>
          </a:p>
          <a:p>
            <a:pPr xmlns:a="http://schemas.openxmlformats.org/drawingml/2006/main">
              <a:buFont typeface="Arial" panose="020B0604020202020204" pitchFamily="34" charset="0"/>
              <a:buChar char="•"/>
            </a:pPr>
            <a:r xmlns:a="http://schemas.openxmlformats.org/drawingml/2006/main">
              <a:rPr lang="id" altLang="en-US" dirty="0"/>
              <a:t>Dengan adanya kebijakan QoS, router dapat lebih mudah mengatur aliran lalu lintas data dan suara.</a:t>
            </a:r>
          </a:p>
          <a:p>
            <a:pPr>
              <a:buFont typeface="Wingdings" panose="05000000000000000000" pitchFamily="2" charset="2"/>
              <a:buChar char="Ø"/>
            </a:pPr>
            <a:endParaRPr lang="en-CA" altLang="en-US" dirty="0"/>
          </a:p>
        </p:txBody>
      </p:sp>
      <p:pic>
        <p:nvPicPr>
          <p:cNvPr id="3" name="Picture 2"/>
          <p:cNvPicPr>
            <a:picLocks noChangeAspect="1"/>
          </p:cNvPicPr>
          <p:nvPr/>
        </p:nvPicPr>
        <p:blipFill>
          <a:blip r:embed="rId3"/>
          <a:stretch>
            <a:fillRect/>
          </a:stretch>
        </p:blipFill>
        <p:spPr>
          <a:xfrm>
            <a:off x="3896591" y="798944"/>
            <a:ext cx="5106266" cy="3909372"/>
          </a:xfrm>
          <a:prstGeom prst="rect">
            <a:avLst/>
          </a:prstGeom>
        </p:spPr>
      </p:pic>
    </p:spTree>
    <p:extLst>
      <p:ext uri="{BB962C8B-B14F-4D97-AF65-F5344CB8AC3E}">
        <p14:creationId xmlns:p14="http://schemas.microsoft.com/office/powerpoint/2010/main" val="3182582864"/>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234470" cy="757551"/>
          </a:xfrm>
        </p:spPr>
        <p:txBody>
          <a:bodyPr/>
          <a:lstStyle/>
          <a:p>
            <a:r xmlns:a="http://schemas.openxmlformats.org/drawingml/2006/main">
              <a:rPr lang="id" altLang="en-US" dirty="0"/>
              <a:t>Keamanan </a:t>
            </a:r>
            <a:endParaRPr xmlns:a="http://schemas.openxmlformats.org/drawingml/2006/main" lang="en-CA" altLang="en-US" dirty="0"/>
            <a:r xmlns:a="http://schemas.openxmlformats.org/drawingml/2006/main">
              <a:rPr lang="id" altLang="en-US" dirty="0" err="1"/>
              <a:t>Jaringan </a:t>
            </a:r>
            <a:r xmlns:a="http://schemas.openxmlformats.org/drawingml/2006/main">
              <a:rPr lang="id" altLang="en-US" sz="1600" dirty="0"/>
              <a:t>Jaringan Yang Andal</a:t>
            </a:r>
            <a:br xmlns:a="http://schemas.openxmlformats.org/drawingml/2006/main">
              <a:rPr lang="en-US" altLang="en-US" dirty="0"/>
            </a:br>
          </a:p>
        </p:txBody>
      </p:sp>
      <p:sp>
        <p:nvSpPr>
          <p:cNvPr id="13315" name="Content Placeholder 2"/>
          <p:cNvSpPr>
            <a:spLocks noGrp="1"/>
          </p:cNvSpPr>
          <p:nvPr>
            <p:ph idx="1"/>
          </p:nvPr>
        </p:nvSpPr>
        <p:spPr>
          <a:xfrm>
            <a:off x="5164667" y="132511"/>
            <a:ext cx="3687122" cy="4595354"/>
          </a:xfrm>
        </p:spPr>
        <p:txBody>
          <a:bodyPr/>
          <a:lstStyle/>
          <a:p>
            <a:pPr xmlns:a="http://schemas.openxmlformats.org/drawingml/2006/main" marL="0" indent="0">
              <a:buNone/>
            </a:pPr>
            <a:r xmlns:a="http://schemas.openxmlformats.org/drawingml/2006/main">
              <a:rPr lang="id" altLang="en-US" dirty="0"/>
              <a:t>Ada dua jenis keamanan jaringan utama yang harus ditangani:</a:t>
            </a:r>
          </a:p>
          <a:p>
            <a:pPr xmlns:a="http://schemas.openxmlformats.org/drawingml/2006/main" lvl="1">
              <a:buFont typeface="Arial" panose="020B0604020202020204" pitchFamily="34" charset="0"/>
              <a:buChar char="•"/>
            </a:pPr>
            <a:r xmlns:a="http://schemas.openxmlformats.org/drawingml/2006/main">
              <a:rPr lang="id" altLang="en-US" sz="1500" dirty="0"/>
              <a:t>Keamanan infrastruktur jaringan</a:t>
            </a:r>
          </a:p>
          <a:p>
            <a:pPr xmlns:a="http://schemas.openxmlformats.org/drawingml/2006/main" lvl="2">
              <a:buFont typeface="Arial" panose="020B0604020202020204" pitchFamily="34" charset="0"/>
              <a:buChar char="•"/>
            </a:pPr>
            <a:r xmlns:a="http://schemas.openxmlformats.org/drawingml/2006/main">
              <a:rPr lang="id" altLang="en-US" sz="1400" dirty="0"/>
              <a:t>Keamanan fisik perangkat jaringan</a:t>
            </a:r>
          </a:p>
          <a:p>
            <a:pPr xmlns:a="http://schemas.openxmlformats.org/drawingml/2006/main" lvl="2">
              <a:buFont typeface="Arial" panose="020B0604020202020204" pitchFamily="34" charset="0"/>
              <a:buChar char="•"/>
            </a:pPr>
            <a:r xmlns:a="http://schemas.openxmlformats.org/drawingml/2006/main">
              <a:rPr lang="id" altLang="en-US" sz="1400" dirty="0"/>
              <a:t>Mencegah akses tidak sah ke perangkat</a:t>
            </a:r>
          </a:p>
          <a:p>
            <a:pPr xmlns:a="http://schemas.openxmlformats.org/drawingml/2006/main" lvl="1">
              <a:buFont typeface="Arial" panose="020B0604020202020204" pitchFamily="34" charset="0"/>
              <a:buChar char="•"/>
            </a:pPr>
            <a:r xmlns:a="http://schemas.openxmlformats.org/drawingml/2006/main">
              <a:rPr lang="id" altLang="en-US" sz="1500" dirty="0"/>
              <a:t>Informasi keamanan</a:t>
            </a:r>
          </a:p>
          <a:p>
            <a:pPr xmlns:a="http://schemas.openxmlformats.org/drawingml/2006/main" lvl="2">
              <a:buFont typeface="Arial" panose="020B0604020202020204" pitchFamily="34" charset="0"/>
              <a:buChar char="•"/>
            </a:pPr>
            <a:r xmlns:a="http://schemas.openxmlformats.org/drawingml/2006/main">
              <a:rPr lang="id" altLang="en-US" sz="1400" dirty="0"/>
              <a:t>Perlindungan informasi atau data yang dikirimkan melalui jaringan</a:t>
            </a:r>
          </a:p>
          <a:p>
            <a:pPr xmlns:a="http://schemas.openxmlformats.org/drawingml/2006/main" marL="0" indent="0">
              <a:buNone/>
            </a:pPr>
            <a:r xmlns:a="http://schemas.openxmlformats.org/drawingml/2006/main">
              <a:rPr lang="id" altLang="en-US" dirty="0"/>
              <a:t>Tiga tujuan keamanan jaringan:</a:t>
            </a:r>
          </a:p>
          <a:p>
            <a:pPr xmlns:a="http://schemas.openxmlformats.org/drawingml/2006/main" lvl="1"/>
            <a:r xmlns:a="http://schemas.openxmlformats.org/drawingml/2006/main">
              <a:rPr lang="id" altLang="en-US" dirty="0"/>
              <a:t>Kerahasiaan – hanya penerima yang dituju yang dapat membaca data</a:t>
            </a:r>
          </a:p>
          <a:p>
            <a:pPr xmlns:a="http://schemas.openxmlformats.org/drawingml/2006/main" lvl="1"/>
            <a:r xmlns:a="http://schemas.openxmlformats.org/drawingml/2006/main">
              <a:rPr lang="id" altLang="en-US" dirty="0"/>
              <a:t>Integritas – jaminan bahwa data tidak diubah selama transmisi</a:t>
            </a:r>
          </a:p>
          <a:p>
            <a:pPr xmlns:a="http://schemas.openxmlformats.org/drawingml/2006/main" lvl="1"/>
            <a:r xmlns:a="http://schemas.openxmlformats.org/drawingml/2006/main">
              <a:rPr lang="id" altLang="en-US" dirty="0"/>
              <a:t>Ketersediaan – jaminan akses data yang tepat waktu dan andal bagi pengguna yang berwenang</a:t>
            </a:r>
          </a:p>
          <a:p>
            <a:endParaRPr lang="en-CA" altLang="en-US" dirty="0"/>
          </a:p>
        </p:txBody>
      </p:sp>
      <p:pic>
        <p:nvPicPr>
          <p:cNvPr id="2" name="Picture 1"/>
          <p:cNvPicPr>
            <a:picLocks noChangeAspect="1"/>
          </p:cNvPicPr>
          <p:nvPr/>
        </p:nvPicPr>
        <p:blipFill>
          <a:blip r:embed="rId3"/>
          <a:stretch>
            <a:fillRect/>
          </a:stretch>
        </p:blipFill>
        <p:spPr>
          <a:xfrm>
            <a:off x="87549" y="988631"/>
            <a:ext cx="4975518" cy="3644666"/>
          </a:xfrm>
          <a:prstGeom prst="rect">
            <a:avLst/>
          </a:prstGeom>
        </p:spPr>
      </p:pic>
    </p:spTree>
    <p:extLst>
      <p:ext uri="{BB962C8B-B14F-4D97-AF65-F5344CB8AC3E}">
        <p14:creationId xmlns:p14="http://schemas.microsoft.com/office/powerpoint/2010/main" val="2698346635"/>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xmlns:a="http://schemas.openxmlformats.org/drawingml/2006/main">
              <a:rPr lang="id" sz="4000" dirty="0">
                <a:solidFill>
                  <a:schemeClr val="accent5">
                    <a:lumMod val="40000"/>
                    <a:lumOff val="60000"/>
                  </a:schemeClr>
                </a:solidFill>
              </a:rPr>
              <a:t>1.7 Tren Jaringan</a:t>
            </a:r>
          </a:p>
        </p:txBody>
      </p:sp>
    </p:spTree>
    <p:custDataLst>
      <p:tags r:id="rId1"/>
    </p:custDataLst>
    <p:extLst>
      <p:ext uri="{BB962C8B-B14F-4D97-AF65-F5344CB8AC3E}">
        <p14:creationId xmlns:p14="http://schemas.microsoft.com/office/powerpoint/2010/main" val="4015053183"/>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xmlns:a="http://schemas.openxmlformats.org/drawingml/2006/main">
              <a:rPr lang="id" altLang="en-US" sz="1600" dirty="0"/>
              <a:t>Tren Jaringan Tren </a:t>
            </a:r>
            <a:br xmlns:a="http://schemas.openxmlformats.org/drawingml/2006/main">
              <a:rPr lang="en-US" altLang="en-US" dirty="0"/>
            </a:br>
            <a:r xmlns:a="http://schemas.openxmlformats.org/drawingml/2006/main">
              <a:rPr lang="id" altLang="en-US" dirty="0"/>
              <a:t>Terkini</a:t>
            </a:r>
            <a:endParaRPr xmlns:a="http://schemas.openxmlformats.org/drawingml/2006/main" lang="en-CA" altLang="en-US" dirty="0"/>
          </a:p>
        </p:txBody>
      </p:sp>
      <p:sp>
        <p:nvSpPr>
          <p:cNvPr id="13315" name="Content Placeholder 2"/>
          <p:cNvSpPr>
            <a:spLocks noGrp="1"/>
          </p:cNvSpPr>
          <p:nvPr>
            <p:ph idx="1"/>
          </p:nvPr>
        </p:nvSpPr>
        <p:spPr>
          <a:xfrm>
            <a:off x="5322019" y="555812"/>
            <a:ext cx="3529770" cy="3810000"/>
          </a:xfrm>
        </p:spPr>
        <p:txBody>
          <a:bodyPr/>
          <a:lstStyle/>
          <a:p>
            <a:endParaRPr lang="en-CA" altLang="en-US" dirty="0"/>
          </a:p>
          <a:p>
            <a:pPr xmlns:a="http://schemas.openxmlformats.org/drawingml/2006/main" marL="0" indent="0">
              <a:buNone/>
            </a:pPr>
            <a:r xmlns:a="http://schemas.openxmlformats.org/drawingml/2006/main">
              <a:rPr lang="id" altLang="en-US" dirty="0"/>
              <a:t>Peran jaringan harus menyesuaikan dan terus bertransformasi agar mampu mengikuti perkembangan teknologi baru dan perangkat pengguna akhir yang terus-menerus memasuki pasar.</a:t>
            </a:r>
          </a:p>
          <a:p>
            <a:pPr xmlns:a="http://schemas.openxmlformats.org/drawingml/2006/main" marL="0" indent="0">
              <a:buNone/>
            </a:pPr>
            <a:r xmlns:a="http://schemas.openxmlformats.org/drawingml/2006/main">
              <a:rPr lang="id" altLang="en-US" dirty="0"/>
              <a:t>Beberapa tren jaringan baru yang mempengaruhi organisasi dan konsumen:</a:t>
            </a:r>
          </a:p>
          <a:p>
            <a:pPr xmlns:a="http://schemas.openxmlformats.org/drawingml/2006/main" lvl="1">
              <a:buFont typeface="Arial" panose="020B0604020202020204" pitchFamily="34" charset="0"/>
              <a:buChar char="•"/>
            </a:pPr>
            <a:r xmlns:a="http://schemas.openxmlformats.org/drawingml/2006/main">
              <a:rPr lang="id" altLang="en-US" dirty="0"/>
              <a:t>Bawa Perangkat Anda Sendiri (BYOD)</a:t>
            </a:r>
          </a:p>
          <a:p>
            <a:pPr xmlns:a="http://schemas.openxmlformats.org/drawingml/2006/main" lvl="1">
              <a:buFont typeface="Arial" panose="020B0604020202020204" pitchFamily="34" charset="0"/>
              <a:buChar char="•"/>
            </a:pPr>
            <a:r xmlns:a="http://schemas.openxmlformats.org/drawingml/2006/main">
              <a:rPr lang="id" altLang="en-US" dirty="0"/>
              <a:t>Kolaborasi daring</a:t>
            </a:r>
          </a:p>
          <a:p>
            <a:pPr xmlns:a="http://schemas.openxmlformats.org/drawingml/2006/main" lvl="1">
              <a:buFont typeface="Arial" panose="020B0604020202020204" pitchFamily="34" charset="0"/>
              <a:buChar char="•"/>
            </a:pPr>
            <a:r xmlns:a="http://schemas.openxmlformats.org/drawingml/2006/main">
              <a:rPr lang="id" altLang="en-US" dirty="0"/>
              <a:t>Komunikasi video</a:t>
            </a:r>
          </a:p>
          <a:p>
            <a:pPr xmlns:a="http://schemas.openxmlformats.org/drawingml/2006/main" lvl="1">
              <a:buFont typeface="Arial" panose="020B0604020202020204" pitchFamily="34" charset="0"/>
              <a:buChar char="•"/>
            </a:pPr>
            <a:r xmlns:a="http://schemas.openxmlformats.org/drawingml/2006/main">
              <a:rPr lang="id" altLang="en-US" dirty="0"/>
              <a:t>Komputasi awan</a:t>
            </a:r>
          </a:p>
          <a:p>
            <a:endParaRPr lang="en-CA" altLang="en-US" dirty="0"/>
          </a:p>
          <a:p>
            <a:endParaRPr lang="en-CA" altLang="en-US" dirty="0"/>
          </a:p>
        </p:txBody>
      </p:sp>
      <p:pic>
        <p:nvPicPr>
          <p:cNvPr id="3" name="Picture 2"/>
          <p:cNvPicPr>
            <a:picLocks noChangeAspect="1"/>
          </p:cNvPicPr>
          <p:nvPr/>
        </p:nvPicPr>
        <p:blipFill>
          <a:blip r:embed="rId3"/>
          <a:stretch>
            <a:fillRect/>
          </a:stretch>
        </p:blipFill>
        <p:spPr>
          <a:xfrm>
            <a:off x="87549" y="798944"/>
            <a:ext cx="5172075" cy="3724275"/>
          </a:xfrm>
          <a:prstGeom prst="rect">
            <a:avLst/>
          </a:prstGeom>
        </p:spPr>
      </p:pic>
    </p:spTree>
    <p:extLst>
      <p:ext uri="{BB962C8B-B14F-4D97-AF65-F5344CB8AC3E}">
        <p14:creationId xmlns:p14="http://schemas.microsoft.com/office/powerpoint/2010/main" val="587437588"/>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234470" cy="757551"/>
          </a:xfrm>
        </p:spPr>
        <p:txBody>
          <a:bodyPr/>
          <a:lstStyle/>
          <a:p>
            <a:r xmlns:a="http://schemas.openxmlformats.org/drawingml/2006/main">
              <a:rPr lang="id" altLang="en-US" sz="1600" dirty="0"/>
              <a:t>Tren Jaringan </a:t>
            </a:r>
            <a:br xmlns:a="http://schemas.openxmlformats.org/drawingml/2006/main">
              <a:rPr lang="en-US" altLang="en-US" dirty="0"/>
            </a:br>
            <a:r xmlns:a="http://schemas.openxmlformats.org/drawingml/2006/main">
              <a:rPr lang="id" altLang="en-US" dirty="0"/>
              <a:t>Bawa Perangkat Anda Sendiri</a:t>
            </a:r>
            <a:endParaRPr xmlns:a="http://schemas.openxmlformats.org/drawingml/2006/main" lang="en-CA" altLang="en-US" dirty="0"/>
          </a:p>
        </p:txBody>
      </p:sp>
      <p:sp>
        <p:nvSpPr>
          <p:cNvPr id="13315" name="Content Placeholder 2"/>
          <p:cNvSpPr>
            <a:spLocks noGrp="1"/>
          </p:cNvSpPr>
          <p:nvPr>
            <p:ph idx="1"/>
          </p:nvPr>
        </p:nvSpPr>
        <p:spPr>
          <a:xfrm>
            <a:off x="5322019" y="274320"/>
            <a:ext cx="3529770" cy="4315609"/>
          </a:xfrm>
        </p:spPr>
        <p:txBody>
          <a:bodyPr/>
          <a:lstStyle/>
          <a:p>
            <a:pPr xmlns:a="http://schemas.openxmlformats.org/drawingml/2006/main" marL="0" indent="0">
              <a:buNone/>
            </a:pPr>
            <a:r xmlns:a="http://schemas.openxmlformats.org/drawingml/2006/main">
              <a:rPr lang="id" altLang="en-US" dirty="0"/>
              <a:t>Bawa Perangkat Anda Sendiri (BYOD) memungkinkan pengguna untuk menggunakan perangkat mereka sendiri sehingga memberi mereka lebih banyak peluang dan fleksibilitas lebih besar.</a:t>
            </a:r>
          </a:p>
          <a:p>
            <a:pPr xmlns:a="http://schemas.openxmlformats.org/drawingml/2006/main" marL="0" indent="0">
              <a:buNone/>
            </a:pPr>
            <a:r xmlns:a="http://schemas.openxmlformats.org/drawingml/2006/main">
              <a:rPr lang="id" altLang="en-US" dirty="0"/>
              <a:t>BYOD memungkinkan pengguna akhir memiliki kebebasan menggunakan alat pribadi untuk mengakses informasi dan berkomunikasi menggunakan:</a:t>
            </a:r>
          </a:p>
          <a:p>
            <a:pPr xmlns:a="http://schemas.openxmlformats.org/drawingml/2006/main" lvl="1"/>
            <a:r xmlns:a="http://schemas.openxmlformats.org/drawingml/2006/main">
              <a:rPr lang="id" altLang="en-US" dirty="0"/>
              <a:t>Laptop</a:t>
            </a:r>
          </a:p>
          <a:p>
            <a:pPr xmlns:a="http://schemas.openxmlformats.org/drawingml/2006/main" lvl="1"/>
            <a:r xmlns:a="http://schemas.openxmlformats.org/drawingml/2006/main">
              <a:rPr lang="id" altLang="en-US" dirty="0"/>
              <a:t>Netbook</a:t>
            </a:r>
          </a:p>
          <a:p>
            <a:pPr xmlns:a="http://schemas.openxmlformats.org/drawingml/2006/main" lvl="1"/>
            <a:r xmlns:a="http://schemas.openxmlformats.org/drawingml/2006/main">
              <a:rPr lang="id" altLang="en-US" dirty="0"/>
              <a:t>Tablet</a:t>
            </a:r>
          </a:p>
          <a:p>
            <a:pPr xmlns:a="http://schemas.openxmlformats.org/drawingml/2006/main" lvl="1"/>
            <a:r xmlns:a="http://schemas.openxmlformats.org/drawingml/2006/main">
              <a:rPr lang="id" altLang="en-US" dirty="0"/>
              <a:t>Ponsel pintar</a:t>
            </a:r>
          </a:p>
          <a:p>
            <a:pPr xmlns:a="http://schemas.openxmlformats.org/drawingml/2006/main" lvl="1"/>
            <a:r xmlns:a="http://schemas.openxmlformats.org/drawingml/2006/main">
              <a:rPr lang="id" altLang="en-US" dirty="0"/>
              <a:t>Pembaca elektronik</a:t>
            </a:r>
          </a:p>
          <a:p>
            <a:pPr xmlns:a="http://schemas.openxmlformats.org/drawingml/2006/main" marL="0" indent="0">
              <a:buNone/>
            </a:pPr>
            <a:r xmlns:a="http://schemas.openxmlformats.org/drawingml/2006/main">
              <a:rPr lang="id" dirty="0"/>
              <a:t>BYOD berarti perangkat apa pun, dengan kepemilikan apa pun, yang digunakan di mana saja.</a:t>
            </a:r>
            <a:endParaRPr xmlns:a="http://schemas.openxmlformats.org/drawingml/2006/main" lang="en-CA" altLang="en-US" dirty="0"/>
          </a:p>
        </p:txBody>
      </p:sp>
      <p:pic>
        <p:nvPicPr>
          <p:cNvPr id="2" name="Picture 1"/>
          <p:cNvPicPr>
            <a:picLocks noChangeAspect="1"/>
          </p:cNvPicPr>
          <p:nvPr/>
        </p:nvPicPr>
        <p:blipFill>
          <a:blip r:embed="rId3"/>
          <a:stretch>
            <a:fillRect/>
          </a:stretch>
        </p:blipFill>
        <p:spPr>
          <a:xfrm>
            <a:off x="207094" y="894229"/>
            <a:ext cx="5114925" cy="3695700"/>
          </a:xfrm>
          <a:prstGeom prst="rect">
            <a:avLst/>
          </a:prstGeom>
        </p:spPr>
      </p:pic>
    </p:spTree>
    <p:extLst>
      <p:ext uri="{BB962C8B-B14F-4D97-AF65-F5344CB8AC3E}">
        <p14:creationId xmlns:p14="http://schemas.microsoft.com/office/powerpoint/2010/main" val="3305950304"/>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617313" cy="757551"/>
          </a:xfrm>
        </p:spPr>
        <p:txBody>
          <a:bodyPr/>
          <a:lstStyle/>
          <a:p>
            <a:r xmlns:a="http://schemas.openxmlformats.org/drawingml/2006/main">
              <a:rPr lang="id" altLang="en-US" dirty="0"/>
              <a:t>Kolaborasi Online </a:t>
            </a:r>
            <a:endParaRPr xmlns:a="http://schemas.openxmlformats.org/drawingml/2006/main" lang="en-CA" altLang="en-US" dirty="0"/>
            <a:r xmlns:a="http://schemas.openxmlformats.org/drawingml/2006/main">
              <a:rPr lang="id" altLang="en-US" sz="1600" dirty="0"/>
              <a:t>Tren Jaringan</a:t>
            </a:r>
            <a:br xmlns:a="http://schemas.openxmlformats.org/drawingml/2006/main">
              <a:rPr lang="en-US" altLang="en-US" dirty="0"/>
            </a:br>
          </a:p>
        </p:txBody>
      </p:sp>
      <p:sp>
        <p:nvSpPr>
          <p:cNvPr id="13315" name="Content Placeholder 2"/>
          <p:cNvSpPr>
            <a:spLocks noGrp="1"/>
          </p:cNvSpPr>
          <p:nvPr>
            <p:ph idx="1"/>
          </p:nvPr>
        </p:nvSpPr>
        <p:spPr>
          <a:xfrm>
            <a:off x="5357877" y="684643"/>
            <a:ext cx="3529770" cy="3754495"/>
          </a:xfrm>
        </p:spPr>
        <p:txBody>
          <a:bodyPr/>
          <a:lstStyle/>
          <a:p>
            <a:r xmlns:a="http://schemas.openxmlformats.org/drawingml/2006/main">
              <a:rPr lang="id" altLang="en-US" dirty="0"/>
              <a:t>Berkolaborasi dan bekerja dengan orang lain melalui jaringan pada proyek bersama.</a:t>
            </a:r>
          </a:p>
          <a:p>
            <a:r xmlns:a="http://schemas.openxmlformats.org/drawingml/2006/main">
              <a:rPr lang="id" altLang="en-US" dirty="0"/>
              <a:t>Alat kolaborasi termasuk Cisco WebEx (ditunjukkan pada gambar) memberi pengguna cara untuk terhubung dan berinteraksi secara instan.</a:t>
            </a:r>
          </a:p>
          <a:p>
            <a:r xmlns:a="http://schemas.openxmlformats.org/drawingml/2006/main">
              <a:rPr lang="id" altLang="en-US" dirty="0"/>
              <a:t>Kolaborasi adalah prioritas yang sangat tinggi bagi dunia usaha dan pendidikan.</a:t>
            </a:r>
          </a:p>
          <a:p>
            <a:r xmlns:a="http://schemas.openxmlformats.org/drawingml/2006/main">
              <a:rPr lang="id" dirty="0"/>
              <a:t>Cisco </a:t>
            </a:r>
            <a:r xmlns:a="http://schemas.openxmlformats.org/drawingml/2006/main">
              <a:rPr lang="id" dirty="0" err="1"/>
              <a:t>Webex </a:t>
            </a:r>
            <a:r xmlns:a="http://schemas.openxmlformats.org/drawingml/2006/main">
              <a:rPr lang="id" dirty="0"/>
              <a:t>Teams adalah alat kolaborasi multifungsi.</a:t>
            </a:r>
          </a:p>
          <a:p>
            <a:pPr xmlns:a="http://schemas.openxmlformats.org/drawingml/2006/main" lvl="1">
              <a:buFont typeface="Arial" panose="020B0604020202020204" pitchFamily="34" charset="0"/>
              <a:buChar char="•"/>
            </a:pPr>
            <a:r xmlns:a="http://schemas.openxmlformats.org/drawingml/2006/main">
              <a:rPr lang="id" dirty="0"/>
              <a:t>mengirim pesan instan</a:t>
            </a:r>
          </a:p>
          <a:p>
            <a:pPr xmlns:a="http://schemas.openxmlformats.org/drawingml/2006/main" lvl="1">
              <a:buFont typeface="Arial" panose="020B0604020202020204" pitchFamily="34" charset="0"/>
              <a:buChar char="•"/>
            </a:pPr>
            <a:r xmlns:a="http://schemas.openxmlformats.org/drawingml/2006/main">
              <a:rPr lang="id" dirty="0"/>
              <a:t>memposting gambar</a:t>
            </a:r>
          </a:p>
          <a:p>
            <a:pPr xmlns:a="http://schemas.openxmlformats.org/drawingml/2006/main" lvl="1">
              <a:buFont typeface="Arial" panose="020B0604020202020204" pitchFamily="34" charset="0"/>
              <a:buChar char="•"/>
            </a:pPr>
            <a:r xmlns:a="http://schemas.openxmlformats.org/drawingml/2006/main">
              <a:rPr lang="id" dirty="0"/>
              <a:t>memposting video dan tautan</a:t>
            </a:r>
            <a:endParaRPr xmlns:a="http://schemas.openxmlformats.org/drawingml/2006/main" lang="en-CA" altLang="en-US" dirty="0"/>
          </a:p>
          <a:p>
            <a:endParaRPr lang="en-CA" altLang="en-US" dirty="0"/>
          </a:p>
        </p:txBody>
      </p:sp>
      <p:pic>
        <p:nvPicPr>
          <p:cNvPr id="2" name="Picture 1"/>
          <p:cNvPicPr>
            <a:picLocks noChangeAspect="1"/>
          </p:cNvPicPr>
          <p:nvPr/>
        </p:nvPicPr>
        <p:blipFill>
          <a:blip r:embed="rId3"/>
          <a:stretch>
            <a:fillRect/>
          </a:stretch>
        </p:blipFill>
        <p:spPr>
          <a:xfrm>
            <a:off x="274622" y="1202201"/>
            <a:ext cx="4835762" cy="2719377"/>
          </a:xfrm>
          <a:prstGeom prst="rect">
            <a:avLst/>
          </a:prstGeom>
        </p:spPr>
      </p:pic>
    </p:spTree>
    <p:extLst>
      <p:ext uri="{BB962C8B-B14F-4D97-AF65-F5344CB8AC3E}">
        <p14:creationId xmlns:p14="http://schemas.microsoft.com/office/powerpoint/2010/main" val="4076195484"/>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xmlns:a="http://schemas.openxmlformats.org/drawingml/2006/main">
              <a:rPr lang="id" altLang="en-US" dirty="0"/>
              <a:t>Komunikasi Video </a:t>
            </a:r>
            <a:endParaRPr xmlns:a="http://schemas.openxmlformats.org/drawingml/2006/main" lang="en-CA" altLang="en-US" dirty="0"/>
            <a:r xmlns:a="http://schemas.openxmlformats.org/drawingml/2006/main">
              <a:rPr lang="id" altLang="en-US" sz="1600" dirty="0"/>
              <a:t>Tren Jaringan</a:t>
            </a:r>
            <a:br xmlns:a="http://schemas.openxmlformats.org/drawingml/2006/main">
              <a:rPr lang="en-US" altLang="en-US" dirty="0"/>
            </a:br>
          </a:p>
        </p:txBody>
      </p:sp>
      <p:sp>
        <p:nvSpPr>
          <p:cNvPr id="13315" name="Content Placeholder 2"/>
          <p:cNvSpPr>
            <a:spLocks noGrp="1"/>
          </p:cNvSpPr>
          <p:nvPr>
            <p:ph idx="1"/>
          </p:nvPr>
        </p:nvSpPr>
        <p:spPr>
          <a:xfrm>
            <a:off x="313268" y="802758"/>
            <a:ext cx="7929584" cy="2482309"/>
          </a:xfrm>
        </p:spPr>
        <p:txBody>
          <a:bodyPr/>
          <a:lstStyle/>
          <a:p>
            <a:pPr xmlns:a="http://schemas.openxmlformats.org/drawingml/2006/main">
              <a:buFont typeface="Arial" panose="020B0604020202020204" pitchFamily="34" charset="0"/>
              <a:buChar char="•"/>
            </a:pPr>
            <a:r xmlns:a="http://schemas.openxmlformats.org/drawingml/2006/main">
              <a:rPr lang="id" sz="1800" dirty="0"/>
              <a:t>Panggilan video dilakukan kepada siapa saja, di mana pun mereka berada.</a:t>
            </a:r>
          </a:p>
          <a:p>
            <a:pPr xmlns:a="http://schemas.openxmlformats.org/drawingml/2006/main">
              <a:buFont typeface="Arial" panose="020B0604020202020204" pitchFamily="34" charset="0"/>
              <a:buChar char="•"/>
            </a:pPr>
            <a:r xmlns:a="http://schemas.openxmlformats.org/drawingml/2006/main">
              <a:rPr lang="id" sz="1800" dirty="0"/>
              <a:t>Konferensi video adalah alat yang ampuh untuk berkomunikasi dengan orang lain.</a:t>
            </a:r>
          </a:p>
          <a:p>
            <a:pPr xmlns:a="http://schemas.openxmlformats.org/drawingml/2006/main">
              <a:buFont typeface="Arial" panose="020B0604020202020204" pitchFamily="34" charset="0"/>
              <a:buChar char="•"/>
            </a:pPr>
            <a:r xmlns:a="http://schemas.openxmlformats.org/drawingml/2006/main">
              <a:rPr lang="id" sz="1800" dirty="0"/>
              <a:t>Video menjadi persyaratan penting untuk kolaborasi yang efektif.</a:t>
            </a:r>
          </a:p>
          <a:p>
            <a:pPr xmlns:a="http://schemas.openxmlformats.org/drawingml/2006/main">
              <a:buFont typeface="Arial" panose="020B0604020202020204" pitchFamily="34" charset="0"/>
              <a:buChar char="•"/>
            </a:pPr>
            <a:r xmlns:a="http://schemas.openxmlformats.org/drawingml/2006/main">
              <a:rPr lang="id" sz="1800" dirty="0"/>
              <a:t>Cisco </a:t>
            </a:r>
            <a:r xmlns:a="http://schemas.openxmlformats.org/drawingml/2006/main">
              <a:rPr lang="id" sz="1800" dirty="0" err="1"/>
              <a:t>TelePresence </a:t>
            </a:r>
            <a:r xmlns:a="http://schemas.openxmlformats.org/drawingml/2006/main">
              <a:rPr lang="id" sz="1800" dirty="0"/>
              <a:t>adalah salah satu cara bekerja di mana semua orang, di mana saja </a:t>
            </a:r>
            <a:r xmlns:a="http://schemas.openxmlformats.org/drawingml/2006/main">
              <a:rPr lang="id" dirty="0"/>
              <a:t>.</a:t>
            </a:r>
          </a:p>
          <a:p>
            <a:pPr marL="0" indent="0">
              <a:buNone/>
            </a:pPr>
            <a:endParaRPr lang="en-CA" altLang="en-US" dirty="0"/>
          </a:p>
        </p:txBody>
      </p:sp>
    </p:spTree>
    <p:extLst>
      <p:ext uri="{BB962C8B-B14F-4D97-AF65-F5344CB8AC3E}">
        <p14:creationId xmlns:p14="http://schemas.microsoft.com/office/powerpoint/2010/main" val="2197293219"/>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056451" cy="757551"/>
          </a:xfrm>
        </p:spPr>
        <p:txBody>
          <a:bodyPr/>
          <a:lstStyle/>
          <a:p>
            <a:r xmlns:a="http://schemas.openxmlformats.org/drawingml/2006/main">
              <a:rPr lang="id" altLang="en-US" sz="1600" dirty="0"/>
              <a:t>Tren Jaringan </a:t>
            </a:r>
            <a:br xmlns:a="http://schemas.openxmlformats.org/drawingml/2006/main">
              <a:rPr lang="en-US" altLang="en-US" dirty="0"/>
            </a:br>
            <a:r xmlns:a="http://schemas.openxmlformats.org/drawingml/2006/main">
              <a:rPr lang="id" altLang="en-US" dirty="0"/>
              <a:t>– Cisco WebEx untuk Huddles</a:t>
            </a:r>
            <a:endParaRPr xmlns:a="http://schemas.openxmlformats.org/drawingml/2006/main" lang="en-CA" altLang="en-US" dirty="0"/>
          </a:p>
        </p:txBody>
      </p:sp>
      <p:pic>
        <p:nvPicPr>
          <p:cNvPr id="7" name="Content Placeholder 6"/>
          <p:cNvPicPr>
            <a:picLocks noGrp="1" noChangeAspect="1"/>
          </p:cNvPicPr>
          <p:nvPr>
            <p:ph idx="1"/>
          </p:nvPr>
        </p:nvPicPr>
        <p:blipFill>
          <a:blip r:embed="rId3"/>
          <a:stretch>
            <a:fillRect/>
          </a:stretch>
        </p:blipFill>
        <p:spPr>
          <a:xfrm>
            <a:off x="1210079" y="798944"/>
            <a:ext cx="6811390" cy="3865030"/>
          </a:xfrm>
          <a:prstGeom prst="rect">
            <a:avLst/>
          </a:prstGeom>
        </p:spPr>
      </p:pic>
    </p:spTree>
    <p:extLst>
      <p:ext uri="{BB962C8B-B14F-4D97-AF65-F5344CB8AC3E}">
        <p14:creationId xmlns:p14="http://schemas.microsoft.com/office/powerpoint/2010/main" val="2402435713"/>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082966" cy="990238"/>
          </a:xfrm>
        </p:spPr>
        <p:txBody>
          <a:bodyPr/>
          <a:lstStyle/>
          <a:p>
            <a:r xmlns:a="http://schemas.openxmlformats.org/drawingml/2006/main">
              <a:rPr lang="id" altLang="en-US" sz="1600" dirty="0"/>
              <a:t>Tren Jaringan </a:t>
            </a:r>
            <a:br xmlns:a="http://schemas.openxmlformats.org/drawingml/2006/main">
              <a:rPr lang="en-US" altLang="en-US" dirty="0"/>
            </a:br>
            <a:r xmlns:a="http://schemas.openxmlformats.org/drawingml/2006/main">
              <a:rPr lang="id" altLang="en-US" dirty="0"/>
              <a:t>Cloud Computing</a:t>
            </a:r>
            <a:endParaRPr xmlns:a="http://schemas.openxmlformats.org/drawingml/2006/main" lang="en-CA" altLang="en-US" dirty="0"/>
          </a:p>
        </p:txBody>
      </p:sp>
      <p:sp>
        <p:nvSpPr>
          <p:cNvPr id="13315" name="Content Placeholder 2"/>
          <p:cNvSpPr>
            <a:spLocks noGrp="1"/>
          </p:cNvSpPr>
          <p:nvPr>
            <p:ph idx="1"/>
          </p:nvPr>
        </p:nvSpPr>
        <p:spPr>
          <a:xfrm>
            <a:off x="87549" y="1031631"/>
            <a:ext cx="8861997" cy="3224328"/>
          </a:xfrm>
        </p:spPr>
        <p:txBody>
          <a:bodyPr/>
          <a:lstStyle/>
          <a:p>
            <a:pPr xmlns:a="http://schemas.openxmlformats.org/drawingml/2006/main" marL="0" indent="0">
              <a:buNone/>
            </a:pPr>
            <a:r xmlns:a="http://schemas.openxmlformats.org/drawingml/2006/main">
              <a:rPr lang="id" altLang="en-US" dirty="0"/>
              <a:t>Komputasi awan memungkinkan kita menyimpan file pribadi atau membuat cadangan data di server melalui internet.</a:t>
            </a:r>
          </a:p>
          <a:p>
            <a:pPr xmlns:a="http://schemas.openxmlformats.org/drawingml/2006/main" lvl="1"/>
            <a:r xmlns:a="http://schemas.openxmlformats.org/drawingml/2006/main">
              <a:rPr lang="id" altLang="en-US" dirty="0"/>
              <a:t>Aplikasi juga dapat diakses menggunakan Cloud.</a:t>
            </a:r>
          </a:p>
          <a:p>
            <a:pPr xmlns:a="http://schemas.openxmlformats.org/drawingml/2006/main" lvl="1"/>
            <a:r xmlns:a="http://schemas.openxmlformats.org/drawingml/2006/main">
              <a:rPr lang="id" altLang="en-US" dirty="0"/>
              <a:t>Memungkinkan bisnis melakukan pengiriman ke perangkat apa pun di mana pun di dunia.</a:t>
            </a:r>
          </a:p>
          <a:p>
            <a:pPr marL="0" indent="0">
              <a:buNone/>
            </a:pPr>
            <a:endParaRPr lang="en-CA" altLang="en-US" dirty="0"/>
          </a:p>
          <a:p>
            <a:pPr xmlns:a="http://schemas.openxmlformats.org/drawingml/2006/main" marL="0" indent="0">
              <a:buNone/>
            </a:pPr>
            <a:r xmlns:a="http://schemas.openxmlformats.org/drawingml/2006/main">
              <a:rPr lang="id" altLang="en-US" dirty="0"/>
              <a:t>Komputasi awan dimungkinkan oleh pusat data.</a:t>
            </a:r>
          </a:p>
          <a:p>
            <a:pPr xmlns:a="http://schemas.openxmlformats.org/drawingml/2006/main" lvl="1"/>
            <a:r xmlns:a="http://schemas.openxmlformats.org/drawingml/2006/main">
              <a:rPr lang="id" altLang="en-US" dirty="0"/>
              <a:t>Perusahaan kecil yang tidak mampu membeli pusat data mereka sendiri, menyewa server dan layanan penyimpanan dari organisasi pusat data yang lebih besar di Cloud.</a:t>
            </a:r>
          </a:p>
          <a:p>
            <a:pPr marL="0" indent="0">
              <a:buNone/>
            </a:pPr>
            <a:endParaRPr lang="en-CA" altLang="en-US" dirty="0"/>
          </a:p>
        </p:txBody>
      </p:sp>
    </p:spTree>
    <p:extLst>
      <p:ext uri="{BB962C8B-B14F-4D97-AF65-F5344CB8AC3E}">
        <p14:creationId xmlns:p14="http://schemas.microsoft.com/office/powerpoint/2010/main" val="741150266"/>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753023" cy="1032033"/>
          </a:xfrm>
        </p:spPr>
        <p:txBody>
          <a:bodyPr/>
          <a:lstStyle/>
          <a:p>
            <a:r xmlns:a="http://schemas.openxmlformats.org/drawingml/2006/main">
              <a:rPr lang="id" altLang="en-US" sz="1600" dirty="0"/>
              <a:t>Tren Jaringan </a:t>
            </a:r>
            <a:br xmlns:a="http://schemas.openxmlformats.org/drawingml/2006/main">
              <a:rPr lang="en-US" altLang="en-US" dirty="0"/>
            </a:br>
            <a:r xmlns:a="http://schemas.openxmlformats.org/drawingml/2006/main">
              <a:rPr lang="id" altLang="en-US" dirty="0"/>
              <a:t>Cloud Computing (Lanjutan)</a:t>
            </a:r>
            <a:endParaRPr xmlns:a="http://schemas.openxmlformats.org/drawingml/2006/main" lang="en-CA" altLang="en-US" dirty="0"/>
          </a:p>
        </p:txBody>
      </p:sp>
      <p:sp>
        <p:nvSpPr>
          <p:cNvPr id="13315" name="Content Placeholder 2"/>
          <p:cNvSpPr>
            <a:spLocks noGrp="1"/>
          </p:cNvSpPr>
          <p:nvPr>
            <p:ph idx="1"/>
          </p:nvPr>
        </p:nvSpPr>
        <p:spPr>
          <a:xfrm>
            <a:off x="152400" y="1073425"/>
            <a:ext cx="8850813" cy="3616339"/>
          </a:xfrm>
        </p:spPr>
        <p:txBody>
          <a:bodyPr/>
          <a:lstStyle/>
          <a:p>
            <a:pPr xmlns:a="http://schemas.openxmlformats.org/drawingml/2006/main" marL="0" indent="0">
              <a:buNone/>
            </a:pPr>
            <a:r xmlns:a="http://schemas.openxmlformats.org/drawingml/2006/main">
              <a:rPr lang="id" altLang="en-US" dirty="0"/>
              <a:t>Empat jenis Awan:</a:t>
            </a:r>
          </a:p>
          <a:p>
            <a:pPr xmlns:a="http://schemas.openxmlformats.org/drawingml/2006/main" lvl="1">
              <a:buFont typeface="Arial" panose="020B0604020202020204" pitchFamily="34" charset="0"/>
              <a:buChar char="•"/>
            </a:pPr>
            <a:r xmlns:a="http://schemas.openxmlformats.org/drawingml/2006/main">
              <a:rPr lang="id" altLang="en-US" sz="1600" dirty="0"/>
              <a:t>Awan Publik</a:t>
            </a:r>
          </a:p>
          <a:p>
            <a:pPr xmlns:a="http://schemas.openxmlformats.org/drawingml/2006/main" lvl="2">
              <a:buFont typeface="Arial" panose="020B0604020202020204" pitchFamily="34" charset="0"/>
              <a:buChar char="•"/>
            </a:pPr>
            <a:r xmlns:a="http://schemas.openxmlformats.org/drawingml/2006/main">
              <a:rPr lang="id" altLang="en-US" sz="1600" dirty="0"/>
              <a:t>Tersedia untuk masyarakat umum melalui model bayar per penggunaan atau gratis.</a:t>
            </a:r>
          </a:p>
          <a:p>
            <a:pPr xmlns:a="http://schemas.openxmlformats.org/drawingml/2006/main" lvl="1">
              <a:buFont typeface="Arial" panose="020B0604020202020204" pitchFamily="34" charset="0"/>
              <a:buChar char="•"/>
            </a:pPr>
            <a:r xmlns:a="http://schemas.openxmlformats.org/drawingml/2006/main">
              <a:rPr lang="id" altLang="en-US" sz="1600" dirty="0"/>
              <a:t>Awan Pribadi</a:t>
            </a:r>
          </a:p>
          <a:p>
            <a:pPr xmlns:a="http://schemas.openxmlformats.org/drawingml/2006/main" lvl="2">
              <a:buFont typeface="Arial" panose="020B0604020202020204" pitchFamily="34" charset="0"/>
              <a:buChar char="•"/>
            </a:pPr>
            <a:r xmlns:a="http://schemas.openxmlformats.org/drawingml/2006/main">
              <a:rPr lang="id" altLang="en-US" sz="1600" dirty="0"/>
              <a:t>Ditujukan untuk organisasi atau badan tertentu seperti pemerintah.</a:t>
            </a:r>
          </a:p>
          <a:p>
            <a:pPr xmlns:a="http://schemas.openxmlformats.org/drawingml/2006/main" lvl="1">
              <a:buFont typeface="Arial" panose="020B0604020202020204" pitchFamily="34" charset="0"/>
              <a:buChar char="•"/>
            </a:pPr>
            <a:r xmlns:a="http://schemas.openxmlformats.org/drawingml/2006/main">
              <a:rPr lang="id" altLang="en-US" sz="1600" dirty="0"/>
              <a:t>Awan Hibrida</a:t>
            </a:r>
          </a:p>
          <a:p>
            <a:pPr xmlns:a="http://schemas.openxmlformats.org/drawingml/2006/main" lvl="2">
              <a:buFont typeface="Arial" panose="020B0604020202020204" pitchFamily="34" charset="0"/>
              <a:buChar char="•"/>
            </a:pPr>
            <a:r xmlns:a="http://schemas.openxmlformats.org/drawingml/2006/main">
              <a:rPr lang="id" altLang="en-US" sz="1600" dirty="0"/>
              <a:t>Terdiri dari dua atau lebih jenis Cloud – misalnya, sebagian khusus dan sebagian publik.</a:t>
            </a:r>
          </a:p>
          <a:p>
            <a:pPr xmlns:a="http://schemas.openxmlformats.org/drawingml/2006/main" lvl="2">
              <a:buFont typeface="Arial" panose="020B0604020202020204" pitchFamily="34" charset="0"/>
              <a:buChar char="•"/>
            </a:pPr>
            <a:r xmlns:a="http://schemas.openxmlformats.org/drawingml/2006/main">
              <a:rPr lang="id" altLang="en-US" sz="1600" dirty="0"/>
              <a:t>Masing-masing bagian tetap menjadi objek tersendiri namun keduanya terhubung menggunakan arsitektur yang sama.</a:t>
            </a:r>
          </a:p>
          <a:p>
            <a:pPr xmlns:a="http://schemas.openxmlformats.org/drawingml/2006/main" lvl="1">
              <a:buFont typeface="Arial" panose="020B0604020202020204" pitchFamily="34" charset="0"/>
              <a:buChar char="•"/>
            </a:pPr>
            <a:r xmlns:a="http://schemas.openxmlformats.org/drawingml/2006/main">
              <a:rPr lang="id" altLang="en-US" sz="1600" dirty="0"/>
              <a:t>Awan Khusus</a:t>
            </a:r>
          </a:p>
          <a:p>
            <a:pPr xmlns:a="http://schemas.openxmlformats.org/drawingml/2006/main" lvl="2">
              <a:buFont typeface="Arial" panose="020B0604020202020204" pitchFamily="34" charset="0"/>
              <a:buChar char="•"/>
            </a:pPr>
            <a:r xmlns:a="http://schemas.openxmlformats.org/drawingml/2006/main">
              <a:rPr lang="id" sz="1600" dirty="0"/>
              <a:t>Dibangun untuk memenuhi kebutuhan industri tertentu, seperti layanan kesehatan atau media.</a:t>
            </a:r>
          </a:p>
          <a:p>
            <a:pPr xmlns:a="http://schemas.openxmlformats.org/drawingml/2006/main" lvl="2">
              <a:buFont typeface="Arial" panose="020B0604020202020204" pitchFamily="34" charset="0"/>
              <a:buChar char="•"/>
            </a:pPr>
            <a:r xmlns:a="http://schemas.openxmlformats.org/drawingml/2006/main">
              <a:rPr lang="id" sz="1600" dirty="0"/>
              <a:t>Bisa swasta atau publik.</a:t>
            </a:r>
            <a:endParaRPr xmlns:a="http://schemas.openxmlformats.org/drawingml/2006/main" lang="en-CA" altLang="en-US" sz="1600" dirty="0"/>
          </a:p>
          <a:p>
            <a:pPr marL="261937" lvl="2" indent="0">
              <a:buNone/>
            </a:pPr>
            <a:endParaRPr lang="en-CA" altLang="en-US" dirty="0"/>
          </a:p>
          <a:p>
            <a:pPr lvl="1"/>
            <a:endParaRPr lang="en-CA" altLang="en-US" dirty="0"/>
          </a:p>
          <a:p>
            <a:pPr lvl="1"/>
            <a:endParaRPr lang="en-CA" altLang="en-US" dirty="0"/>
          </a:p>
        </p:txBody>
      </p:sp>
    </p:spTree>
    <p:extLst>
      <p:ext uri="{BB962C8B-B14F-4D97-AF65-F5344CB8AC3E}">
        <p14:creationId xmlns:p14="http://schemas.microsoft.com/office/powerpoint/2010/main" val="2020466046"/>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xmlns:a="http://schemas.openxmlformats.org/drawingml/2006/main">
              <a:rPr lang="id" altLang="en-US" sz="1600" dirty="0"/>
              <a:t>Tren Jaringan </a:t>
            </a:r>
            <a:br xmlns:a="http://schemas.openxmlformats.org/drawingml/2006/main">
              <a:rPr lang="en-US" altLang="en-US" dirty="0"/>
            </a:br>
            <a:r xmlns:a="http://schemas.openxmlformats.org/drawingml/2006/main">
              <a:rPr lang="id" altLang="en-US" dirty="0"/>
              <a:t>Tren Teknologi di Rumah</a:t>
            </a:r>
            <a:endParaRPr xmlns:a="http://schemas.openxmlformats.org/drawingml/2006/main" lang="en-CA" altLang="en-US" dirty="0"/>
          </a:p>
        </p:txBody>
      </p:sp>
      <p:sp>
        <p:nvSpPr>
          <p:cNvPr id="13315" name="Content Placeholder 2"/>
          <p:cNvSpPr>
            <a:spLocks noGrp="1"/>
          </p:cNvSpPr>
          <p:nvPr>
            <p:ph idx="1"/>
          </p:nvPr>
        </p:nvSpPr>
        <p:spPr>
          <a:xfrm>
            <a:off x="4986866" y="798944"/>
            <a:ext cx="3720351" cy="3240267"/>
          </a:xfrm>
        </p:spPr>
        <p:txBody>
          <a:bodyPr/>
          <a:lstStyle/>
          <a:p>
            <a:pPr xmlns:a="http://schemas.openxmlformats.org/drawingml/2006/main" lvl="1">
              <a:buFont typeface="Arial" panose="020B0604020202020204" pitchFamily="34" charset="0"/>
              <a:buChar char="•"/>
            </a:pPr>
            <a:r xmlns:a="http://schemas.openxmlformats.org/drawingml/2006/main">
              <a:rPr lang="id" altLang="en-US" sz="1600" dirty="0"/>
              <a:t>Teknologi rumah pintar adalah tren yang berkembang yang memungkinkan teknologi diintegrasikan ke dalam peralatan sehari-hari sehingga dapat saling terhubung dengan perangkat lain.</a:t>
            </a:r>
          </a:p>
          <a:p>
            <a:pPr xmlns:a="http://schemas.openxmlformats.org/drawingml/2006/main" lvl="1">
              <a:buFont typeface="Arial" panose="020B0604020202020204" pitchFamily="34" charset="0"/>
              <a:buChar char="•"/>
            </a:pPr>
            <a:r xmlns:a="http://schemas.openxmlformats.org/drawingml/2006/main">
              <a:rPr lang="id" altLang="en-US" sz="1600" dirty="0"/>
              <a:t>Oven mungkin mengetahui jam berapa Anda harus memasak makanan dengan berkomunikasi dengan kalender Anda tentang jam berapa Anda dijadwalkan tiba di rumah.</a:t>
            </a:r>
          </a:p>
          <a:p>
            <a:pPr xmlns:a="http://schemas.openxmlformats.org/drawingml/2006/main" lvl="1">
              <a:buFont typeface="Arial" panose="020B0604020202020204" pitchFamily="34" charset="0"/>
              <a:buChar char="•"/>
            </a:pPr>
            <a:r xmlns:a="http://schemas.openxmlformats.org/drawingml/2006/main">
              <a:rPr lang="id" sz="1600" dirty="0"/>
              <a:t>Teknologi rumah pintar saat ini sedang dikembangkan untuk seluruh ruangan di dalam rumah.</a:t>
            </a:r>
            <a:endParaRPr xmlns:a="http://schemas.openxmlformats.org/drawingml/2006/main" lang="en-CA" altLang="en-US" sz="1600" dirty="0"/>
          </a:p>
          <a:p>
            <a:pPr lvl="1"/>
            <a:endParaRPr lang="en-CA" altLang="en-US" dirty="0"/>
          </a:p>
          <a:p>
            <a:pPr lvl="1"/>
            <a:endParaRPr lang="en-CA" altLang="en-US" dirty="0"/>
          </a:p>
        </p:txBody>
      </p:sp>
      <p:pic>
        <p:nvPicPr>
          <p:cNvPr id="2" name="Picture 1"/>
          <p:cNvPicPr>
            <a:picLocks noChangeAspect="1"/>
          </p:cNvPicPr>
          <p:nvPr/>
        </p:nvPicPr>
        <p:blipFill>
          <a:blip r:embed="rId3"/>
          <a:stretch>
            <a:fillRect/>
          </a:stretch>
        </p:blipFill>
        <p:spPr>
          <a:xfrm>
            <a:off x="87549" y="798945"/>
            <a:ext cx="4796178" cy="3852094"/>
          </a:xfrm>
          <a:prstGeom prst="rect">
            <a:avLst/>
          </a:prstGeom>
        </p:spPr>
      </p:pic>
    </p:spTree>
    <p:extLst>
      <p:ext uri="{BB962C8B-B14F-4D97-AF65-F5344CB8AC3E}">
        <p14:creationId xmlns:p14="http://schemas.microsoft.com/office/powerpoint/2010/main" val="4155330622"/>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9144000" cy="757551"/>
          </a:xfrm>
        </p:spPr>
        <p:txBody>
          <a:bodyPr/>
          <a:lstStyle/>
          <a:p>
            <a:r xmlns:a="http://schemas.openxmlformats.org/drawingml/2006/main">
              <a:rPr lang="id" altLang="en-US" sz="1600" dirty="0"/>
              <a:t>Tren Jaringan </a:t>
            </a:r>
            <a:br xmlns:a="http://schemas.openxmlformats.org/drawingml/2006/main">
              <a:rPr lang="en-US" altLang="en-US" dirty="0"/>
            </a:br>
            <a:r xmlns:a="http://schemas.openxmlformats.org/drawingml/2006/main">
              <a:rPr lang="id" altLang="en-US" dirty="0"/>
              <a:t>Jaringan Powerline</a:t>
            </a:r>
            <a:endParaRPr xmlns:a="http://schemas.openxmlformats.org/drawingml/2006/main" lang="en-CA" altLang="en-US" dirty="0"/>
          </a:p>
        </p:txBody>
      </p:sp>
      <p:sp>
        <p:nvSpPr>
          <p:cNvPr id="13315" name="Content Placeholder 2"/>
          <p:cNvSpPr>
            <a:spLocks noGrp="1"/>
          </p:cNvSpPr>
          <p:nvPr>
            <p:ph idx="1"/>
          </p:nvPr>
        </p:nvSpPr>
        <p:spPr>
          <a:xfrm>
            <a:off x="5442012" y="130779"/>
            <a:ext cx="3307538" cy="3524481"/>
          </a:xfrm>
        </p:spPr>
        <p:txBody>
          <a:bodyPr/>
          <a:lstStyle/>
          <a:p>
            <a:pPr xmlns:a="http://schemas.openxmlformats.org/drawingml/2006/main" lvl="1"/>
            <a:r xmlns:a="http://schemas.openxmlformats.org/drawingml/2006/main">
              <a:rPr lang="id" altLang="en-US" sz="1600" dirty="0"/>
              <a:t>Jaringan Powerline dapat memungkinkan perangkat untuk terhubung ke LAN di mana kabel jaringan data atau komunikasi nirkabel bukanlah pilihan yang tepat.</a:t>
            </a:r>
          </a:p>
          <a:p>
            <a:pPr xmlns:a="http://schemas.openxmlformats.org/drawingml/2006/main" lvl="1"/>
            <a:r xmlns:a="http://schemas.openxmlformats.org/drawingml/2006/main">
              <a:rPr lang="id" altLang="en-US" sz="1600" dirty="0"/>
              <a:t>Dengan menggunakan adaptor saluran listrik standar, perangkat dapat terhubung ke LAN dimanapun terdapat outlet listrik dengan mengirimkan data pada frekuensi tertentu.</a:t>
            </a:r>
          </a:p>
          <a:p>
            <a:pPr xmlns:a="http://schemas.openxmlformats.org/drawingml/2006/main" lvl="1"/>
            <a:r xmlns:a="http://schemas.openxmlformats.org/drawingml/2006/main">
              <a:rPr lang="id" sz="1600" dirty="0"/>
              <a:t>Jaringan Powerline sangat berguna ketika titik akses nirkabel tidak dapat menjangkau semua perangkat di rumah.</a:t>
            </a:r>
            <a:endParaRPr xmlns:a="http://schemas.openxmlformats.org/drawingml/2006/main" lang="en-CA" altLang="en-US" sz="1600" dirty="0"/>
          </a:p>
        </p:txBody>
      </p:sp>
      <p:pic>
        <p:nvPicPr>
          <p:cNvPr id="2" name="Picture 1"/>
          <p:cNvPicPr>
            <a:picLocks noChangeAspect="1"/>
          </p:cNvPicPr>
          <p:nvPr/>
        </p:nvPicPr>
        <p:blipFill>
          <a:blip r:embed="rId3"/>
          <a:stretch>
            <a:fillRect/>
          </a:stretch>
        </p:blipFill>
        <p:spPr>
          <a:xfrm>
            <a:off x="87549" y="798944"/>
            <a:ext cx="5354463" cy="2844772"/>
          </a:xfrm>
          <a:prstGeom prst="rect">
            <a:avLst/>
          </a:prstGeom>
        </p:spPr>
      </p:pic>
    </p:spTree>
    <p:extLst>
      <p:ext uri="{BB962C8B-B14F-4D97-AF65-F5344CB8AC3E}">
        <p14:creationId xmlns:p14="http://schemas.microsoft.com/office/powerpoint/2010/main" val="4223060623"/>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875536" cy="757551"/>
          </a:xfrm>
        </p:spPr>
        <p:txBody>
          <a:bodyPr/>
          <a:lstStyle/>
          <a:p>
            <a:r xmlns:a="http://schemas.openxmlformats.org/drawingml/2006/main">
              <a:rPr lang="id" altLang="en-US" sz="1600" dirty="0"/>
              <a:t>Tren Jaringan </a:t>
            </a:r>
            <a:br xmlns:a="http://schemas.openxmlformats.org/drawingml/2006/main">
              <a:rPr lang="en-US" altLang="en-US" dirty="0"/>
            </a:br>
            <a:r xmlns:a="http://schemas.openxmlformats.org/drawingml/2006/main">
              <a:rPr lang="id" altLang="en-US" dirty="0"/>
              <a:t>Broadband Nirkabel</a:t>
            </a:r>
            <a:endParaRPr xmlns:a="http://schemas.openxmlformats.org/drawingml/2006/main" lang="en-CA" altLang="en-US" dirty="0"/>
          </a:p>
        </p:txBody>
      </p:sp>
      <p:sp>
        <p:nvSpPr>
          <p:cNvPr id="13315" name="Content Placeholder 2"/>
          <p:cNvSpPr>
            <a:spLocks noGrp="1"/>
          </p:cNvSpPr>
          <p:nvPr>
            <p:ph idx="1"/>
          </p:nvPr>
        </p:nvSpPr>
        <p:spPr>
          <a:xfrm>
            <a:off x="5227352" y="798944"/>
            <a:ext cx="3673429" cy="3528980"/>
          </a:xfrm>
        </p:spPr>
        <p:txBody>
          <a:bodyPr/>
          <a:lstStyle/>
          <a:p>
            <a:pPr xmlns:a="http://schemas.openxmlformats.org/drawingml/2006/main" marL="142875" lvl="1" indent="0">
              <a:buNone/>
            </a:pPr>
            <a:r xmlns:a="http://schemas.openxmlformats.org/drawingml/2006/main">
              <a:rPr lang="id" altLang="en-US" dirty="0"/>
              <a:t>Selain DSL dan kabel, nirkabel adalah pilihan lain yang digunakan untuk menghubungkan rumah dan usaha kecil ke internet.</a:t>
            </a:r>
          </a:p>
          <a:p>
            <a:pPr xmlns:a="http://schemas.openxmlformats.org/drawingml/2006/main" lvl="2">
              <a:buFont typeface="Arial" panose="020B0604020202020204" pitchFamily="34" charset="0"/>
              <a:buChar char="•"/>
            </a:pPr>
            <a:r xmlns:a="http://schemas.openxmlformats.org/drawingml/2006/main">
              <a:rPr lang="id" altLang="en-US" dirty="0"/>
              <a:t>Lebih umum ditemukan di lingkungan pedesaan, Penyedia Layanan Internet Nirkabel (WISP) adalah ISP yang menghubungkan pelanggan ke titik akses atau hotspot yang ditunjuk.</a:t>
            </a:r>
          </a:p>
          <a:p>
            <a:pPr xmlns:a="http://schemas.openxmlformats.org/drawingml/2006/main" lvl="2">
              <a:buFont typeface="Arial" panose="020B0604020202020204" pitchFamily="34" charset="0"/>
              <a:buChar char="•"/>
            </a:pPr>
            <a:r xmlns:a="http://schemas.openxmlformats.org/drawingml/2006/main">
              <a:rPr lang="id" altLang="en-US" dirty="0"/>
              <a:t>Broadband nirkabel adalah solusi lain untuk rumah dan usaha kecil.</a:t>
            </a:r>
          </a:p>
          <a:p>
            <a:pPr xmlns:a="http://schemas.openxmlformats.org/drawingml/2006/main" lvl="3">
              <a:buFont typeface="Arial" panose="020B0604020202020204" pitchFamily="34" charset="0"/>
              <a:buChar char="•"/>
            </a:pPr>
            <a:r xmlns:a="http://schemas.openxmlformats.org/drawingml/2006/main">
              <a:rPr lang="id" altLang="en-US" dirty="0"/>
              <a:t>Menggunakan teknologi seluler yang sama dengan yang digunakan oleh ponsel pintar.</a:t>
            </a:r>
          </a:p>
          <a:p>
            <a:pPr xmlns:a="http://schemas.openxmlformats.org/drawingml/2006/main" lvl="3">
              <a:buFont typeface="Arial" panose="020B0604020202020204" pitchFamily="34" charset="0"/>
              <a:buChar char="•"/>
            </a:pPr>
            <a:r xmlns:a="http://schemas.openxmlformats.org/drawingml/2006/main">
              <a:rPr lang="id" altLang="en-US" dirty="0"/>
              <a:t>Antena dipasang di luar rumah yang menyediakan konektivitas nirkabel atau kabel untuk perangkat di rumah.</a:t>
            </a:r>
          </a:p>
        </p:txBody>
      </p:sp>
      <p:pic>
        <p:nvPicPr>
          <p:cNvPr id="2" name="Picture 1"/>
          <p:cNvPicPr>
            <a:picLocks noChangeAspect="1"/>
          </p:cNvPicPr>
          <p:nvPr/>
        </p:nvPicPr>
        <p:blipFill>
          <a:blip r:embed="rId3"/>
          <a:stretch>
            <a:fillRect/>
          </a:stretch>
        </p:blipFill>
        <p:spPr>
          <a:xfrm>
            <a:off x="200585" y="798944"/>
            <a:ext cx="4762500" cy="3562350"/>
          </a:xfrm>
          <a:prstGeom prst="rect">
            <a:avLst/>
          </a:prstGeom>
        </p:spPr>
      </p:pic>
    </p:spTree>
    <p:extLst>
      <p:ext uri="{BB962C8B-B14F-4D97-AF65-F5344CB8AC3E}">
        <p14:creationId xmlns:p14="http://schemas.microsoft.com/office/powerpoint/2010/main" val="1366611454"/>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xmlns:a="http://schemas.openxmlformats.org/drawingml/2006/main">
              <a:rPr lang="id" sz="4000" dirty="0">
                <a:solidFill>
                  <a:schemeClr val="accent5">
                    <a:lumMod val="40000"/>
                    <a:lumOff val="60000"/>
                  </a:schemeClr>
                </a:solidFill>
              </a:rPr>
              <a:t>1.8 Keamanan Jaringan</a:t>
            </a:r>
          </a:p>
        </p:txBody>
      </p:sp>
    </p:spTree>
    <p:custDataLst>
      <p:tags r:id="rId1"/>
    </p:custDataLst>
    <p:extLst>
      <p:ext uri="{BB962C8B-B14F-4D97-AF65-F5344CB8AC3E}">
        <p14:creationId xmlns:p14="http://schemas.microsoft.com/office/powerpoint/2010/main" val="2299959220"/>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123043" cy="757551"/>
          </a:xfrm>
        </p:spPr>
        <p:txBody>
          <a:bodyPr/>
          <a:lstStyle/>
          <a:p>
            <a:r xmlns:a="http://schemas.openxmlformats.org/drawingml/2006/main">
              <a:rPr lang="id" altLang="en-US" dirty="0"/>
              <a:t>Ancaman Keamanan </a:t>
            </a:r>
            <a:endParaRPr xmlns:a="http://schemas.openxmlformats.org/drawingml/2006/main" lang="en-CA" altLang="en-US" dirty="0"/>
            <a:r xmlns:a="http://schemas.openxmlformats.org/drawingml/2006/main">
              <a:rPr lang="id" altLang="en-US" sz="1600" dirty="0"/>
              <a:t>Jaringan</a:t>
            </a:r>
            <a:br xmlns:a="http://schemas.openxmlformats.org/drawingml/2006/main">
              <a:rPr lang="en-US" altLang="en-US" dirty="0"/>
            </a:br>
          </a:p>
        </p:txBody>
      </p:sp>
      <p:sp>
        <p:nvSpPr>
          <p:cNvPr id="13315" name="Content Placeholder 2"/>
          <p:cNvSpPr>
            <a:spLocks noGrp="1"/>
          </p:cNvSpPr>
          <p:nvPr>
            <p:ph idx="1"/>
          </p:nvPr>
        </p:nvSpPr>
        <p:spPr>
          <a:xfrm>
            <a:off x="5286792" y="361277"/>
            <a:ext cx="3673429" cy="3811173"/>
          </a:xfrm>
        </p:spPr>
        <p:txBody>
          <a:bodyPr/>
          <a:lstStyle/>
          <a:p>
            <a:pPr xmlns:a="http://schemas.openxmlformats.org/drawingml/2006/main" lvl="1"/>
            <a:r xmlns:a="http://schemas.openxmlformats.org/drawingml/2006/main">
              <a:rPr lang="id" altLang="en-US" sz="1600" dirty="0"/>
              <a:t>Keamanan jaringan merupakan bagian integral dari jaringan terlepas dari ukuran jaringan.</a:t>
            </a:r>
          </a:p>
          <a:p>
            <a:pPr xmlns:a="http://schemas.openxmlformats.org/drawingml/2006/main" lvl="1"/>
            <a:r xmlns:a="http://schemas.openxmlformats.org/drawingml/2006/main">
              <a:rPr lang="id" altLang="en-US" sz="1600" dirty="0"/>
              <a:t>Keamanan jaringan yang diterapkan harus memperhatikan lingkungan dalam mengamankan data, namun tetap memperhatikan kualitas layanan yang diharapkan dari jaringan.</a:t>
            </a:r>
          </a:p>
          <a:p>
            <a:pPr xmlns:a="http://schemas.openxmlformats.org/drawingml/2006/main" lvl="1"/>
            <a:r xmlns:a="http://schemas.openxmlformats.org/drawingml/2006/main">
              <a:rPr lang="id" altLang="en-US" sz="1600" dirty="0"/>
              <a:t>Mengamankan jaringan melibatkan banyak protokol, teknologi, perangkat, alat, dan teknik untuk mengamankan data dan mengurangi ancaman.</a:t>
            </a:r>
          </a:p>
          <a:p>
            <a:pPr xmlns:a="http://schemas.openxmlformats.org/drawingml/2006/main" lvl="1"/>
            <a:r xmlns:a="http://schemas.openxmlformats.org/drawingml/2006/main">
              <a:rPr lang="id" altLang="en-US" sz="1600" dirty="0"/>
              <a:t>Vektor ancaman mungkin bersifat eksternal atau internal.</a:t>
            </a:r>
          </a:p>
        </p:txBody>
      </p:sp>
      <p:pic>
        <p:nvPicPr>
          <p:cNvPr id="2" name="Picture 1"/>
          <p:cNvPicPr>
            <a:picLocks noChangeAspect="1"/>
          </p:cNvPicPr>
          <p:nvPr/>
        </p:nvPicPr>
        <p:blipFill>
          <a:blip r:embed="rId3"/>
          <a:stretch>
            <a:fillRect/>
          </a:stretch>
        </p:blipFill>
        <p:spPr>
          <a:xfrm>
            <a:off x="346163" y="1322721"/>
            <a:ext cx="4864429" cy="2982203"/>
          </a:xfrm>
          <a:prstGeom prst="rect">
            <a:avLst/>
          </a:prstGeom>
        </p:spPr>
      </p:pic>
    </p:spTree>
    <p:extLst>
      <p:ext uri="{BB962C8B-B14F-4D97-AF65-F5344CB8AC3E}">
        <p14:creationId xmlns:p14="http://schemas.microsoft.com/office/powerpoint/2010/main" val="1433560089"/>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123043" cy="757551"/>
          </a:xfrm>
        </p:spPr>
        <p:txBody>
          <a:bodyPr/>
          <a:lstStyle/>
          <a:p>
            <a:r xmlns:a="http://schemas.openxmlformats.org/drawingml/2006/main">
              <a:rPr lang="id" altLang="en-US" dirty="0" err="1"/>
              <a:t>Keamanan </a:t>
            </a:r>
            <a:r xmlns:a="http://schemas.openxmlformats.org/drawingml/2006/main">
              <a:rPr lang="id" altLang="en-US" sz="1600" dirty="0"/>
              <a:t>Jaringan </a:t>
            </a:r>
            <a:br xmlns:a="http://schemas.openxmlformats.org/drawingml/2006/main">
              <a:rPr lang="en-US" altLang="en-US" dirty="0"/>
            </a:br>
            <a:r xmlns:a="http://schemas.openxmlformats.org/drawingml/2006/main">
              <a:rPr lang="id" altLang="en-US" dirty="0"/>
              <a:t>(Lanjutan)</a:t>
            </a:r>
            <a:endParaRPr xmlns:a="http://schemas.openxmlformats.org/drawingml/2006/main" lang="en-CA" altLang="en-US" dirty="0"/>
          </a:p>
        </p:txBody>
      </p:sp>
      <p:sp>
        <p:nvSpPr>
          <p:cNvPr id="13315" name="Content Placeholder 2"/>
          <p:cNvSpPr>
            <a:spLocks noGrp="1"/>
          </p:cNvSpPr>
          <p:nvPr>
            <p:ph idx="1"/>
          </p:nvPr>
        </p:nvSpPr>
        <p:spPr>
          <a:xfrm>
            <a:off x="5210592" y="277856"/>
            <a:ext cx="3673429" cy="4344944"/>
          </a:xfrm>
        </p:spPr>
        <p:txBody>
          <a:bodyPr/>
          <a:lstStyle/>
          <a:p>
            <a:pPr xmlns:a="http://schemas.openxmlformats.org/drawingml/2006/main" marL="142875" lvl="1" indent="0">
              <a:buNone/>
            </a:pPr>
            <a:r xmlns:a="http://schemas.openxmlformats.org/drawingml/2006/main">
              <a:rPr lang="id" altLang="en-US" sz="1600" dirty="0"/>
              <a:t>Ancaman Eksternal:</a:t>
            </a:r>
          </a:p>
          <a:p>
            <a:pPr xmlns:a="http://schemas.openxmlformats.org/drawingml/2006/main" lvl="2"/>
            <a:r xmlns:a="http://schemas.openxmlformats.org/drawingml/2006/main">
              <a:rPr lang="id" sz="1600" dirty="0"/>
              <a:t>Virus, worm, dan trojan horse</a:t>
            </a:r>
          </a:p>
          <a:p>
            <a:pPr xmlns:a="http://schemas.openxmlformats.org/drawingml/2006/main" lvl="2"/>
            <a:r xmlns:a="http://schemas.openxmlformats.org/drawingml/2006/main">
              <a:rPr lang="id" sz="1600" dirty="0"/>
              <a:t>Spyware dan adware</a:t>
            </a:r>
          </a:p>
          <a:p>
            <a:pPr xmlns:a="http://schemas.openxmlformats.org/drawingml/2006/main" lvl="2"/>
            <a:r xmlns:a="http://schemas.openxmlformats.org/drawingml/2006/main">
              <a:rPr lang="id" sz="1600" dirty="0"/>
              <a:t>Serangan zero-day</a:t>
            </a:r>
          </a:p>
          <a:p>
            <a:pPr xmlns:a="http://schemas.openxmlformats.org/drawingml/2006/main" lvl="2"/>
            <a:r xmlns:a="http://schemas.openxmlformats.org/drawingml/2006/main">
              <a:rPr lang="id" sz="1600" dirty="0"/>
              <a:t>Serangan Aktor Ancaman</a:t>
            </a:r>
          </a:p>
          <a:p>
            <a:pPr xmlns:a="http://schemas.openxmlformats.org/drawingml/2006/main" lvl="2"/>
            <a:r xmlns:a="http://schemas.openxmlformats.org/drawingml/2006/main">
              <a:rPr lang="id" sz="1600" dirty="0"/>
              <a:t>Penolakan serangan layanan</a:t>
            </a:r>
          </a:p>
          <a:p>
            <a:pPr xmlns:a="http://schemas.openxmlformats.org/drawingml/2006/main" lvl="2"/>
            <a:r xmlns:a="http://schemas.openxmlformats.org/drawingml/2006/main">
              <a:rPr lang="id" sz="1600" dirty="0"/>
              <a:t>Intersepsi dan pencurian data</a:t>
            </a:r>
          </a:p>
          <a:p>
            <a:pPr xmlns:a="http://schemas.openxmlformats.org/drawingml/2006/main" lvl="2"/>
            <a:r xmlns:a="http://schemas.openxmlformats.org/drawingml/2006/main">
              <a:rPr lang="id" sz="1600" dirty="0"/>
              <a:t>Pencurian identitas</a:t>
            </a:r>
          </a:p>
          <a:p>
            <a:pPr lvl="1"/>
            <a:endParaRPr lang="en-CA" altLang="en-US" sz="1600" dirty="0"/>
          </a:p>
          <a:p>
            <a:pPr xmlns:a="http://schemas.openxmlformats.org/drawingml/2006/main" marL="142875" lvl="1" indent="0">
              <a:buNone/>
            </a:pPr>
            <a:r xmlns:a="http://schemas.openxmlformats.org/drawingml/2006/main">
              <a:rPr lang="id" altLang="en-US" sz="1600" dirty="0"/>
              <a:t>Ancaman dari Dalam:</a:t>
            </a:r>
          </a:p>
          <a:p>
            <a:pPr xmlns:a="http://schemas.openxmlformats.org/drawingml/2006/main" lvl="2"/>
            <a:r xmlns:a="http://schemas.openxmlformats.org/drawingml/2006/main">
              <a:rPr lang="id" sz="1600" dirty="0"/>
              <a:t>perangkat yang hilang atau dicuri</a:t>
            </a:r>
          </a:p>
          <a:p>
            <a:pPr xmlns:a="http://schemas.openxmlformats.org/drawingml/2006/main" lvl="2"/>
            <a:r xmlns:a="http://schemas.openxmlformats.org/drawingml/2006/main">
              <a:rPr lang="id" sz="1600" dirty="0"/>
              <a:t>penyalahgunaan yang tidak disengaja oleh karyawan</a:t>
            </a:r>
          </a:p>
          <a:p>
            <a:pPr xmlns:a="http://schemas.openxmlformats.org/drawingml/2006/main" lvl="2"/>
            <a:r xmlns:a="http://schemas.openxmlformats.org/drawingml/2006/main">
              <a:rPr lang="id" sz="1600" dirty="0"/>
              <a:t>karyawan jahat</a:t>
            </a:r>
            <a:endParaRPr xmlns:a="http://schemas.openxmlformats.org/drawingml/2006/main" lang="en-US" sz="1600" b="1" dirty="0"/>
          </a:p>
        </p:txBody>
      </p:sp>
      <p:pic>
        <p:nvPicPr>
          <p:cNvPr id="2" name="Picture 1"/>
          <p:cNvPicPr>
            <a:picLocks noChangeAspect="1"/>
          </p:cNvPicPr>
          <p:nvPr/>
        </p:nvPicPr>
        <p:blipFill>
          <a:blip r:embed="rId3"/>
          <a:stretch>
            <a:fillRect/>
          </a:stretch>
        </p:blipFill>
        <p:spPr>
          <a:xfrm>
            <a:off x="346163" y="1322721"/>
            <a:ext cx="4864429" cy="2982203"/>
          </a:xfrm>
          <a:prstGeom prst="rect">
            <a:avLst/>
          </a:prstGeom>
        </p:spPr>
      </p:pic>
    </p:spTree>
    <p:extLst>
      <p:ext uri="{BB962C8B-B14F-4D97-AF65-F5344CB8AC3E}">
        <p14:creationId xmlns:p14="http://schemas.microsoft.com/office/powerpoint/2010/main" val="421638414"/>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261426" cy="757551"/>
          </a:xfrm>
        </p:spPr>
        <p:txBody>
          <a:bodyPr/>
          <a:lstStyle/>
          <a:p>
            <a:r xmlns:a="http://schemas.openxmlformats.org/drawingml/2006/main">
              <a:rPr lang="id" altLang="en-US" dirty="0"/>
              <a:t>Solusi Keamanan </a:t>
            </a:r>
            <a:endParaRPr xmlns:a="http://schemas.openxmlformats.org/drawingml/2006/main" lang="en-CA" altLang="en-US" dirty="0"/>
            <a:r xmlns:a="http://schemas.openxmlformats.org/drawingml/2006/main">
              <a:rPr lang="id" altLang="en-US" sz="1600" dirty="0"/>
              <a:t>Keamanan Jaringan</a:t>
            </a:r>
            <a:br xmlns:a="http://schemas.openxmlformats.org/drawingml/2006/main">
              <a:rPr lang="en-US" altLang="en-US" dirty="0"/>
            </a:br>
          </a:p>
        </p:txBody>
      </p:sp>
      <p:sp>
        <p:nvSpPr>
          <p:cNvPr id="13315" name="Content Placeholder 2"/>
          <p:cNvSpPr>
            <a:spLocks noGrp="1"/>
          </p:cNvSpPr>
          <p:nvPr>
            <p:ph idx="1"/>
          </p:nvPr>
        </p:nvSpPr>
        <p:spPr>
          <a:xfrm>
            <a:off x="4572000" y="917690"/>
            <a:ext cx="4410247" cy="3114446"/>
          </a:xfrm>
        </p:spPr>
        <p:txBody>
          <a:bodyPr/>
          <a:lstStyle/>
          <a:p>
            <a:pPr xmlns:a="http://schemas.openxmlformats.org/drawingml/2006/main" marL="0" indent="0">
              <a:buNone/>
            </a:pPr>
            <a:r xmlns:a="http://schemas.openxmlformats.org/drawingml/2006/main">
              <a:rPr lang="id" altLang="en-US" sz="1600" dirty="0"/>
              <a:t>Keamanan harus diterapkan dalam beberapa lapisan menggunakan lebih dari satu solusi keamanan.</a:t>
            </a:r>
          </a:p>
          <a:p>
            <a:pPr xmlns:a="http://schemas.openxmlformats.org/drawingml/2006/main" marL="0" indent="0">
              <a:buNone/>
            </a:pPr>
            <a:r xmlns:a="http://schemas.openxmlformats.org/drawingml/2006/main">
              <a:rPr lang="id" altLang="en-US" sz="1600" dirty="0"/>
              <a:t>Komponen keamanan jaringan untuk jaringan rumah atau kantor kecil:</a:t>
            </a:r>
          </a:p>
          <a:p>
            <a:pPr xmlns:a="http://schemas.openxmlformats.org/drawingml/2006/main" lvl="2"/>
            <a:r xmlns:a="http://schemas.openxmlformats.org/drawingml/2006/main">
              <a:rPr lang="id" altLang="en-US" sz="1600" dirty="0"/>
              <a:t>Perangkat lunak antivirus dan antispyware harus diinstal pada perangkat akhir.</a:t>
            </a:r>
          </a:p>
          <a:p>
            <a:pPr xmlns:a="http://schemas.openxmlformats.org/drawingml/2006/main" lvl="2"/>
            <a:r xmlns:a="http://schemas.openxmlformats.org/drawingml/2006/main">
              <a:rPr lang="id" altLang="en-US" sz="1600" dirty="0"/>
              <a:t>Pemfilteran firewall digunakan untuk memblokir akses tidak sah ke jaringan.</a:t>
            </a:r>
          </a:p>
          <a:p>
            <a:pPr marL="142875" lvl="1" indent="0">
              <a:buNone/>
            </a:pPr>
            <a:endParaRPr lang="en-CA" altLang="en-US" sz="1600" dirty="0"/>
          </a:p>
          <a:p>
            <a:pPr marL="261937" lvl="2" indent="0">
              <a:buNone/>
            </a:pPr>
            <a:endParaRPr lang="en-CA" altLang="en-US" dirty="0"/>
          </a:p>
        </p:txBody>
      </p:sp>
      <p:pic>
        <p:nvPicPr>
          <p:cNvPr id="3" name="Picture 2"/>
          <p:cNvPicPr>
            <a:picLocks noChangeAspect="1"/>
          </p:cNvPicPr>
          <p:nvPr/>
        </p:nvPicPr>
        <p:blipFill>
          <a:blip r:embed="rId3"/>
          <a:stretch>
            <a:fillRect/>
          </a:stretch>
        </p:blipFill>
        <p:spPr>
          <a:xfrm>
            <a:off x="87548" y="880746"/>
            <a:ext cx="4261427" cy="3514682"/>
          </a:xfrm>
          <a:prstGeom prst="rect">
            <a:avLst/>
          </a:prstGeom>
        </p:spPr>
      </p:pic>
    </p:spTree>
    <p:extLst>
      <p:ext uri="{BB962C8B-B14F-4D97-AF65-F5344CB8AC3E}">
        <p14:creationId xmlns:p14="http://schemas.microsoft.com/office/powerpoint/2010/main" val="3135378583"/>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3641769" cy="757551"/>
          </a:xfrm>
        </p:spPr>
        <p:txBody>
          <a:bodyPr/>
          <a:lstStyle/>
          <a:p>
            <a:r xmlns:a="http://schemas.openxmlformats.org/drawingml/2006/main">
              <a:rPr lang="id" altLang="en-US" dirty="0" err="1"/>
              <a:t>Keamanan </a:t>
            </a:r>
            <a:r xmlns:a="http://schemas.openxmlformats.org/drawingml/2006/main">
              <a:rPr lang="id" altLang="en-US" sz="1600" dirty="0"/>
              <a:t>Keamanan Jaringan </a:t>
            </a:r>
            <a:br xmlns:a="http://schemas.openxmlformats.org/drawingml/2006/main">
              <a:rPr lang="en-US" altLang="en-US" dirty="0"/>
            </a:br>
            <a:r xmlns:a="http://schemas.openxmlformats.org/drawingml/2006/main">
              <a:rPr lang="id" altLang="en-US" dirty="0"/>
              <a:t>(Lanjutan)</a:t>
            </a:r>
            <a:endParaRPr xmlns:a="http://schemas.openxmlformats.org/drawingml/2006/main" lang="en-CA" altLang="en-US" dirty="0"/>
          </a:p>
        </p:txBody>
      </p:sp>
      <p:sp>
        <p:nvSpPr>
          <p:cNvPr id="13315" name="Content Placeholder 2"/>
          <p:cNvSpPr>
            <a:spLocks noGrp="1"/>
          </p:cNvSpPr>
          <p:nvPr>
            <p:ph idx="1"/>
          </p:nvPr>
        </p:nvSpPr>
        <p:spPr>
          <a:xfrm>
            <a:off x="4311537" y="1032933"/>
            <a:ext cx="4744914" cy="3166997"/>
          </a:xfrm>
        </p:spPr>
        <p:txBody>
          <a:bodyPr/>
          <a:lstStyle/>
          <a:p>
            <a:pPr xmlns:a="http://schemas.openxmlformats.org/drawingml/2006/main" marL="142875" lvl="1" indent="0">
              <a:buNone/>
            </a:pPr>
            <a:r xmlns:a="http://schemas.openxmlformats.org/drawingml/2006/main">
              <a:rPr lang="id" altLang="en-US" sz="1600" dirty="0"/>
              <a:t>Jaringan yang lebih besar memiliki persyaratan keamanan tambahan:</a:t>
            </a:r>
          </a:p>
          <a:p>
            <a:pPr xmlns:a="http://schemas.openxmlformats.org/drawingml/2006/main" lvl="2"/>
            <a:r xmlns:a="http://schemas.openxmlformats.org/drawingml/2006/main">
              <a:rPr lang="id" altLang="en-US" sz="1600" dirty="0"/>
              <a:t>Sistem firewall khusus</a:t>
            </a:r>
          </a:p>
          <a:p>
            <a:pPr xmlns:a="http://schemas.openxmlformats.org/drawingml/2006/main" lvl="2"/>
            <a:r xmlns:a="http://schemas.openxmlformats.org/drawingml/2006/main">
              <a:rPr lang="id" altLang="en-US" sz="1600" dirty="0"/>
              <a:t>Daftar kontrol akses (ACL)</a:t>
            </a:r>
          </a:p>
          <a:p>
            <a:pPr xmlns:a="http://schemas.openxmlformats.org/drawingml/2006/main" lvl="2"/>
            <a:r xmlns:a="http://schemas.openxmlformats.org/drawingml/2006/main">
              <a:rPr lang="id" altLang="en-US" sz="1600" dirty="0"/>
              <a:t>Sistem pencegahan intrusi (IPS)</a:t>
            </a:r>
          </a:p>
          <a:p>
            <a:pPr xmlns:a="http://schemas.openxmlformats.org/drawingml/2006/main" lvl="2"/>
            <a:r xmlns:a="http://schemas.openxmlformats.org/drawingml/2006/main">
              <a:rPr lang="id" altLang="en-US" sz="1600" dirty="0"/>
              <a:t>Jaringan pribadi virtual (VPN)</a:t>
            </a:r>
          </a:p>
          <a:p>
            <a:pPr xmlns:a="http://schemas.openxmlformats.org/drawingml/2006/main" marL="142875" lvl="1" indent="0">
              <a:buNone/>
            </a:pPr>
            <a:r xmlns:a="http://schemas.openxmlformats.org/drawingml/2006/main">
              <a:rPr lang="id" sz="1600" dirty="0"/>
              <a:t>Studi tentang keamanan jaringan dimulai dengan pemahaman yang jelas tentang infrastruktur switching dan routing yang mendasarinya.</a:t>
            </a:r>
            <a:endParaRPr xmlns:a="http://schemas.openxmlformats.org/drawingml/2006/main" lang="en-CA" altLang="en-US" sz="1600" dirty="0"/>
          </a:p>
          <a:p>
            <a:pPr marL="261937" lvl="2" indent="0">
              <a:buNone/>
            </a:pPr>
            <a:endParaRPr lang="en-CA" altLang="en-US" dirty="0"/>
          </a:p>
        </p:txBody>
      </p:sp>
      <p:pic>
        <p:nvPicPr>
          <p:cNvPr id="3" name="Picture 2"/>
          <p:cNvPicPr>
            <a:picLocks noChangeAspect="1"/>
          </p:cNvPicPr>
          <p:nvPr/>
        </p:nvPicPr>
        <p:blipFill>
          <a:blip r:embed="rId3"/>
          <a:stretch>
            <a:fillRect/>
          </a:stretch>
        </p:blipFill>
        <p:spPr>
          <a:xfrm>
            <a:off x="87549" y="943570"/>
            <a:ext cx="4223989" cy="3483804"/>
          </a:xfrm>
          <a:prstGeom prst="rect">
            <a:avLst/>
          </a:prstGeom>
        </p:spPr>
      </p:pic>
    </p:spTree>
    <p:extLst>
      <p:ext uri="{BB962C8B-B14F-4D97-AF65-F5344CB8AC3E}">
        <p14:creationId xmlns:p14="http://schemas.microsoft.com/office/powerpoint/2010/main" val="2564547440"/>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8231464" cy="1802391"/>
          </a:xfrm>
        </p:spPr>
        <p:txBody>
          <a:bodyPr/>
          <a:lstStyle/>
          <a:p>
            <a:r xmlns:a="http://schemas.openxmlformats.org/drawingml/2006/main">
              <a:rPr lang="id" sz="4000" dirty="0">
                <a:solidFill>
                  <a:schemeClr val="accent5">
                    <a:lumMod val="40000"/>
                    <a:lumOff val="60000"/>
                  </a:schemeClr>
                </a:solidFill>
              </a:rPr>
              <a:t>1.9 Profesional TI</a:t>
            </a:r>
          </a:p>
        </p:txBody>
      </p:sp>
    </p:spTree>
    <p:custDataLst>
      <p:tags r:id="rId1"/>
    </p:custDataLst>
    <p:extLst>
      <p:ext uri="{BB962C8B-B14F-4D97-AF65-F5344CB8AC3E}">
        <p14:creationId xmlns:p14="http://schemas.microsoft.com/office/powerpoint/2010/main" val="2033095686"/>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5371956" cy="965772"/>
          </a:xfrm>
        </p:spPr>
        <p:txBody>
          <a:bodyPr/>
          <a:lstStyle/>
          <a:p>
            <a:r xmlns:a="http://schemas.openxmlformats.org/drawingml/2006/main">
              <a:rPr lang="id" altLang="en-US" dirty="0"/>
              <a:t>CCNA </a:t>
            </a:r>
            <a:endParaRPr xmlns:a="http://schemas.openxmlformats.org/drawingml/2006/main" lang="en-CA" altLang="en-US" dirty="0"/>
            <a:r xmlns:a="http://schemas.openxmlformats.org/drawingml/2006/main">
              <a:rPr lang="id" altLang="en-US" sz="1600" dirty="0"/>
              <a:t>Profesional TI</a:t>
            </a:r>
            <a:br xmlns:a="http://schemas.openxmlformats.org/drawingml/2006/main">
              <a:rPr lang="en-US" altLang="en-US" dirty="0"/>
            </a:br>
          </a:p>
        </p:txBody>
      </p:sp>
      <p:sp>
        <p:nvSpPr>
          <p:cNvPr id="13315" name="Content Placeholder 2"/>
          <p:cNvSpPr>
            <a:spLocks noGrp="1"/>
          </p:cNvSpPr>
          <p:nvPr>
            <p:ph idx="1"/>
          </p:nvPr>
        </p:nvSpPr>
        <p:spPr>
          <a:xfrm>
            <a:off x="5459505" y="366990"/>
            <a:ext cx="3684495" cy="4272700"/>
          </a:xfrm>
        </p:spPr>
        <p:txBody>
          <a:bodyPr/>
          <a:lstStyle/>
          <a:p>
            <a:pPr xmlns:a="http://schemas.openxmlformats.org/drawingml/2006/main" marL="142875" lvl="1" indent="0">
              <a:buNone/>
            </a:pPr>
            <a:r xmlns:a="http://schemas.openxmlformats.org/drawingml/2006/main">
              <a:rPr lang="id" dirty="0"/>
              <a:t>Sertifikasi Cisco Certified Network Associate (CCNA):</a:t>
            </a:r>
          </a:p>
          <a:p>
            <a:pPr xmlns:a="http://schemas.openxmlformats.org/drawingml/2006/main" lvl="2">
              <a:buFont typeface="Arial" panose="020B0604020202020204" pitchFamily="34" charset="0"/>
              <a:buChar char="•"/>
            </a:pPr>
            <a:r xmlns:a="http://schemas.openxmlformats.org/drawingml/2006/main">
              <a:rPr lang="id" dirty="0"/>
              <a:t>menunjukkan bahwa Anda memiliki pengetahuan tentang teknologi dasar</a:t>
            </a:r>
          </a:p>
          <a:p>
            <a:pPr xmlns:a="http://schemas.openxmlformats.org/drawingml/2006/main" lvl="2">
              <a:buFont typeface="Arial" panose="020B0604020202020204" pitchFamily="34" charset="0"/>
              <a:buChar char="•"/>
            </a:pPr>
            <a:r xmlns:a="http://schemas.openxmlformats.org/drawingml/2006/main">
              <a:rPr lang="id" dirty="0"/>
              <a:t>memastikan Anda tetap relevan dengan keterampilan yang dibutuhkan untuk penerapan teknologi generasi berikutnya.</a:t>
            </a:r>
          </a:p>
          <a:p>
            <a:pPr xmlns:a="http://schemas.openxmlformats.org/drawingml/2006/main" marL="142875" lvl="1" indent="0">
              <a:buNone/>
            </a:pPr>
            <a:r xmlns:a="http://schemas.openxmlformats.org/drawingml/2006/main">
              <a:rPr lang="id" dirty="0"/>
              <a:t>Fokus CCNA yang baru:</a:t>
            </a:r>
          </a:p>
          <a:p>
            <a:pPr xmlns:a="http://schemas.openxmlformats.org/drawingml/2006/main" lvl="2">
              <a:buFont typeface="Arial" panose="020B0604020202020204" pitchFamily="34" charset="0"/>
              <a:buChar char="•"/>
            </a:pPr>
            <a:r xmlns:a="http://schemas.openxmlformats.org/drawingml/2006/main">
              <a:rPr lang="id" dirty="0"/>
              <a:t>Landasan IP dan topik keamanan</a:t>
            </a:r>
          </a:p>
          <a:p>
            <a:pPr xmlns:a="http://schemas.openxmlformats.org/drawingml/2006/main" lvl="2">
              <a:buFont typeface="Arial" panose="020B0604020202020204" pitchFamily="34" charset="0"/>
              <a:buChar char="•"/>
            </a:pPr>
            <a:r xmlns:a="http://schemas.openxmlformats.org/drawingml/2006/main">
              <a:rPr lang="id" dirty="0"/>
              <a:t>Nirkabel, virtualisasi, otomatisasi, dan kemampuan program jaringan.</a:t>
            </a:r>
            <a:r xmlns:a="http://schemas.openxmlformats.org/drawingml/2006/main">
              <a:rPr lang="id" altLang="en-US" dirty="0"/>
              <a:t> </a:t>
            </a:r>
          </a:p>
          <a:p>
            <a:pPr xmlns:a="http://schemas.openxmlformats.org/drawingml/2006/main" marL="142875" lvl="1" indent="0">
              <a:buNone/>
            </a:pPr>
            <a:r xmlns:a="http://schemas.openxmlformats.org/drawingml/2006/main">
              <a:rPr lang="id" dirty="0" err="1"/>
              <a:t>DevNet </a:t>
            </a:r>
            <a:r xmlns:a="http://schemas.openxmlformats.org/drawingml/2006/main">
              <a:rPr lang="id" dirty="0"/>
              <a:t>baru </a:t>
            </a:r>
            <a:r xmlns:a="http://schemas.openxmlformats.org/drawingml/2006/main">
              <a:rPr lang="id" dirty="0"/>
              <a:t>di tingkat rekanan, spesialis, dan profesional, untuk memvalidasi keterampilan pengembangan perangkat lunak Anda.</a:t>
            </a:r>
          </a:p>
          <a:p>
            <a:pPr xmlns:a="http://schemas.openxmlformats.org/drawingml/2006/main" marL="142875" lvl="1" indent="0">
              <a:buNone/>
            </a:pPr>
            <a:r xmlns:a="http://schemas.openxmlformats.org/drawingml/2006/main">
              <a:rPr lang="id" dirty="0"/>
              <a:t>Sertifikasi spesialis memvalidasi keterampilan Anda sesuai dengan peran dan minat pekerjaan Anda.</a:t>
            </a:r>
            <a:endParaRPr xmlns:a="http://schemas.openxmlformats.org/drawingml/2006/main" lang="en-CA" altLang="en-US" dirty="0"/>
          </a:p>
        </p:txBody>
      </p:sp>
      <p:pic>
        <p:nvPicPr>
          <p:cNvPr id="2" name="Picture 1"/>
          <p:cNvPicPr>
            <a:picLocks noChangeAspect="1"/>
          </p:cNvPicPr>
          <p:nvPr/>
        </p:nvPicPr>
        <p:blipFill>
          <a:blip r:embed="rId4"/>
          <a:stretch>
            <a:fillRect/>
          </a:stretch>
        </p:blipFill>
        <p:spPr>
          <a:xfrm>
            <a:off x="87549" y="1277993"/>
            <a:ext cx="5371956" cy="2450694"/>
          </a:xfrm>
          <a:prstGeom prst="rect">
            <a:avLst/>
          </a:prstGeom>
        </p:spPr>
      </p:pic>
    </p:spTree>
    <p:custDataLst>
      <p:tags r:id="rId1"/>
    </p:custDataLst>
    <p:extLst>
      <p:ext uri="{BB962C8B-B14F-4D97-AF65-F5344CB8AC3E}">
        <p14:creationId xmlns:p14="http://schemas.microsoft.com/office/powerpoint/2010/main" val="650265221"/>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556169" cy="926016"/>
          </a:xfrm>
        </p:spPr>
        <p:txBody>
          <a:bodyPr/>
          <a:lstStyle/>
          <a:p>
            <a:r xmlns:a="http://schemas.openxmlformats.org/drawingml/2006/main">
              <a:rPr lang="id" altLang="en-US" dirty="0"/>
              <a:t>Pekerjaan Jaringan </a:t>
            </a:r>
            <a:endParaRPr xmlns:a="http://schemas.openxmlformats.org/drawingml/2006/main" lang="en-CA" altLang="en-US" dirty="0"/>
            <a:r xmlns:a="http://schemas.openxmlformats.org/drawingml/2006/main">
              <a:rPr lang="id" altLang="en-US" sz="1600" dirty="0"/>
              <a:t>Profesional TI</a:t>
            </a:r>
            <a:br xmlns:a="http://schemas.openxmlformats.org/drawingml/2006/main">
              <a:rPr lang="en-US" altLang="en-US" dirty="0"/>
            </a:br>
          </a:p>
        </p:txBody>
      </p:sp>
      <p:sp>
        <p:nvSpPr>
          <p:cNvPr id="13315" name="Content Placeholder 2"/>
          <p:cNvSpPr>
            <a:spLocks noGrp="1"/>
          </p:cNvSpPr>
          <p:nvPr>
            <p:ph idx="1"/>
          </p:nvPr>
        </p:nvSpPr>
        <p:spPr>
          <a:xfrm>
            <a:off x="4773596" y="1238214"/>
            <a:ext cx="4043083" cy="2626311"/>
          </a:xfrm>
        </p:spPr>
        <p:txBody>
          <a:bodyPr/>
          <a:lstStyle/>
          <a:p>
            <a:pPr xmlns:a="http://schemas.openxmlformats.org/drawingml/2006/main" marL="0" indent="0">
              <a:buNone/>
            </a:pPr>
            <a:r xmlns:a="http://schemas.openxmlformats.org/drawingml/2006/main">
              <a:rPr lang="id" dirty="0"/>
              <a:t>Di </a:t>
            </a:r>
            <a:r xmlns:a="http://schemas.openxmlformats.org/drawingml/2006/main" xmlns:r="http://schemas.openxmlformats.org/officeDocument/2006/relationships">
              <a:rPr lang="id" dirty="0">
                <a:hlinkClick r:id="rId3"/>
              </a:rPr>
              <a:t>www.netacad.com </a:t>
            </a:r>
            <a:r xmlns:a="http://schemas.openxmlformats.org/drawingml/2006/main">
              <a:rPr lang="id" dirty="0"/>
              <a:t>Anda dapat mengklik menu Karir dan kemudian memilih Peluang Kerja.</a:t>
            </a:r>
          </a:p>
          <a:p>
            <a:pPr xmlns:a="http://schemas.openxmlformats.org/drawingml/2006/main" lvl="1"/>
            <a:r xmlns:a="http://schemas.openxmlformats.org/drawingml/2006/main">
              <a:rPr lang="id" sz="1600" dirty="0"/>
              <a:t>Temukan peluang kerja dengan menggunakan Talent Bridge Matching Engine.</a:t>
            </a:r>
          </a:p>
          <a:p>
            <a:pPr xmlns:a="http://schemas.openxmlformats.org/drawingml/2006/main" lvl="1"/>
            <a:r xmlns:a="http://schemas.openxmlformats.org/drawingml/2006/main">
              <a:rPr lang="id" sz="1600" dirty="0"/>
              <a:t>Cari pekerjaan dengan Cisco, mitra dan distributor Cisco yang mencari mahasiswa dan alumni Cisco Networking Academy.</a:t>
            </a:r>
            <a:endParaRPr xmlns:a="http://schemas.openxmlformats.org/drawingml/2006/main" lang="en-CA" altLang="en-US" sz="1600" dirty="0">
              <a:solidFill>
                <a:srgbClr val="000000"/>
              </a:solidFill>
            </a:endParaRPr>
          </a:p>
        </p:txBody>
      </p:sp>
      <p:pic>
        <p:nvPicPr>
          <p:cNvPr id="4" name="Picture 3"/>
          <p:cNvPicPr>
            <a:picLocks noChangeAspect="1"/>
          </p:cNvPicPr>
          <p:nvPr/>
        </p:nvPicPr>
        <p:blipFill>
          <a:blip r:embed="rId4"/>
          <a:stretch>
            <a:fillRect/>
          </a:stretch>
        </p:blipFill>
        <p:spPr>
          <a:xfrm>
            <a:off x="44114" y="1238214"/>
            <a:ext cx="4643037" cy="2937314"/>
          </a:xfrm>
          <a:prstGeom prst="rect">
            <a:avLst/>
          </a:prstGeom>
        </p:spPr>
      </p:pic>
    </p:spTree>
    <p:extLst>
      <p:ext uri="{BB962C8B-B14F-4D97-AF65-F5344CB8AC3E}">
        <p14:creationId xmlns:p14="http://schemas.microsoft.com/office/powerpoint/2010/main" val="1923481346"/>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8479523" cy="1022595"/>
          </a:xfrm>
        </p:spPr>
        <p:txBody>
          <a:bodyPr/>
          <a:lstStyle/>
          <a:p>
            <a:r xmlns:a="http://schemas.openxmlformats.org/drawingml/2006/main">
              <a:rPr lang="id" altLang="en-US" sz="1600" dirty="0"/>
              <a:t>Profesional TI </a:t>
            </a:r>
            <a:br xmlns:a="http://schemas.openxmlformats.org/drawingml/2006/main">
              <a:rPr lang="en-US" altLang="en-US" dirty="0"/>
            </a:br>
            <a:r xmlns:a="http://schemas.openxmlformats.org/drawingml/2006/main">
              <a:rPr lang="id" altLang="en-US" dirty="0"/>
              <a:t>– Meneliti Peluang Kerja TI dan Jaringan</a:t>
            </a:r>
            <a:endParaRPr xmlns:a="http://schemas.openxmlformats.org/drawingml/2006/main" lang="en-CA" altLang="en-US" dirty="0"/>
          </a:p>
        </p:txBody>
      </p:sp>
      <p:sp>
        <p:nvSpPr>
          <p:cNvPr id="2" name="Content Placeholder 1"/>
          <p:cNvSpPr>
            <a:spLocks noGrp="1"/>
          </p:cNvSpPr>
          <p:nvPr>
            <p:ph idx="1"/>
          </p:nvPr>
        </p:nvSpPr>
        <p:spPr>
          <a:xfrm>
            <a:off x="87549" y="914401"/>
            <a:ext cx="8853286" cy="1657350"/>
          </a:xfrm>
        </p:spPr>
        <p:txBody>
          <a:bodyPr/>
          <a:lstStyle/>
          <a:p>
            <a:pPr marL="0" indent="0">
              <a:buNone/>
            </a:pPr>
            <a:endParaRPr lang="en-US" dirty="0"/>
          </a:p>
          <a:p>
            <a:pPr xmlns:a="http://schemas.openxmlformats.org/drawingml/2006/main" marL="0" indent="0">
              <a:buNone/>
            </a:pPr>
            <a:r xmlns:a="http://schemas.openxmlformats.org/drawingml/2006/main">
              <a:rPr lang="id" dirty="0"/>
              <a:t>Di lab ini, Anda akan menyelesaikan tujuan berikut:</a:t>
            </a:r>
          </a:p>
          <a:p>
            <a:pPr xmlns:a="http://schemas.openxmlformats.org/drawingml/2006/main" lvl="1"/>
            <a:r xmlns:a="http://schemas.openxmlformats.org/drawingml/2006/main">
              <a:rPr lang="id" dirty="0"/>
              <a:t>Meneliti Peluang Kerja</a:t>
            </a:r>
          </a:p>
          <a:p>
            <a:pPr xmlns:a="http://schemas.openxmlformats.org/drawingml/2006/main" lvl="1"/>
            <a:r xmlns:a="http://schemas.openxmlformats.org/drawingml/2006/main">
              <a:rPr lang="id" dirty="0"/>
              <a:t>Renungkan Penelitian</a:t>
            </a:r>
          </a:p>
        </p:txBody>
      </p:sp>
    </p:spTree>
    <p:extLst>
      <p:ext uri="{BB962C8B-B14F-4D97-AF65-F5344CB8AC3E}">
        <p14:creationId xmlns:p14="http://schemas.microsoft.com/office/powerpoint/2010/main" val="1874002778"/>
      </p:ext>
    </p:extLst>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915409"/>
            <a:ext cx="7598042" cy="1802391"/>
          </a:xfrm>
        </p:spPr>
        <p:txBody>
          <a:bodyPr/>
          <a:lstStyle/>
          <a:p>
            <a:r xmlns:a="http://schemas.openxmlformats.org/drawingml/2006/main">
              <a:rPr lang="id" dirty="0">
                <a:solidFill>
                  <a:schemeClr val="accent5">
                    <a:lumMod val="40000"/>
                    <a:lumOff val="60000"/>
                  </a:schemeClr>
                </a:solidFill>
              </a:rPr>
              <a:t>1.10 Modul Latihan dan Kuis</a:t>
            </a:r>
          </a:p>
        </p:txBody>
      </p:sp>
    </p:spTree>
    <p:custDataLst>
      <p:tags r:id="rId1"/>
    </p:custDataLst>
    <p:extLst>
      <p:ext uri="{BB962C8B-B14F-4D97-AF65-F5344CB8AC3E}">
        <p14:creationId xmlns:p14="http://schemas.microsoft.com/office/powerpoint/2010/main" val="2923092166"/>
      </p:ext>
    </p:extLst>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41393"/>
            <a:ext cx="4556169" cy="757551"/>
          </a:xfrm>
        </p:spPr>
        <p:txBody>
          <a:bodyPr/>
          <a:lstStyle/>
          <a:p>
            <a:r xmlns:a="http://schemas.openxmlformats.org/drawingml/2006/main">
              <a:rPr lang="id" altLang="en-US" sz="1600" dirty="0"/>
              <a:t>Latihan Modul dan Kuis </a:t>
            </a:r>
            <a:br xmlns:a="http://schemas.openxmlformats.org/drawingml/2006/main">
              <a:rPr lang="en-US" altLang="en-US" dirty="0"/>
            </a:br>
            <a:r xmlns:a="http://schemas.openxmlformats.org/drawingml/2006/main">
              <a:rPr lang="id" altLang="en-US" dirty="0"/>
              <a:t>Apa yang saya pelajari dalam modul ini?</a:t>
            </a:r>
            <a:endParaRPr xmlns:a="http://schemas.openxmlformats.org/drawingml/2006/main" lang="en-CA" altLang="en-US" dirty="0"/>
          </a:p>
        </p:txBody>
      </p:sp>
      <p:sp>
        <p:nvSpPr>
          <p:cNvPr id="13315" name="Content Placeholder 2"/>
          <p:cNvSpPr>
            <a:spLocks noGrp="1"/>
          </p:cNvSpPr>
          <p:nvPr>
            <p:ph idx="1"/>
          </p:nvPr>
        </p:nvSpPr>
        <p:spPr>
          <a:xfrm>
            <a:off x="0" y="801475"/>
            <a:ext cx="8840141" cy="3576411"/>
          </a:xfrm>
        </p:spPr>
        <p:txBody>
          <a:bodyPr/>
          <a:lstStyle/>
          <a:p>
            <a:pPr xmlns:a="http://schemas.openxmlformats.org/drawingml/2006/main" lvl="2"/>
            <a:r xmlns:a="http://schemas.openxmlformats.org/drawingml/2006/main">
              <a:rPr lang="id" sz="1600" dirty="0"/>
              <a:t>Melalui penggunaan jaringan, kita terhubung dengan cara yang belum pernah ada sebelumnya.</a:t>
            </a:r>
            <a:endParaRPr xmlns:a="http://schemas.openxmlformats.org/drawingml/2006/main" lang="en-US" sz="1600" b="1" dirty="0"/>
          </a:p>
          <a:p>
            <a:pPr xmlns:a="http://schemas.openxmlformats.org/drawingml/2006/main" lvl="2"/>
            <a:r xmlns:a="http://schemas.openxmlformats.org/drawingml/2006/main">
              <a:rPr lang="id" sz="1600" dirty="0"/>
              <a:t>Semua komputer yang terhubung ke jaringan dan berpartisipasi langsung dalam komunikasi jaringan diklasifikasikan sebagai host.</a:t>
            </a:r>
            <a:endParaRPr xmlns:a="http://schemas.openxmlformats.org/drawingml/2006/main" lang="en-US" sz="1600" b="1" dirty="0"/>
          </a:p>
          <a:p>
            <a:pPr xmlns:a="http://schemas.openxmlformats.org/drawingml/2006/main" lvl="2"/>
            <a:r xmlns:a="http://schemas.openxmlformats.org/drawingml/2006/main">
              <a:rPr lang="id" sz="1600" dirty="0"/>
              <a:t>Diagram jaringan sering kali menggunakan simbol untuk mewakili berbagai perangkat dan koneksi yang membentuk suatu jaringan.</a:t>
            </a:r>
          </a:p>
          <a:p>
            <a:pPr xmlns:a="http://schemas.openxmlformats.org/drawingml/2006/main" lvl="2"/>
            <a:r xmlns:a="http://schemas.openxmlformats.org/drawingml/2006/main">
              <a:rPr lang="id" sz="1600" dirty="0"/>
              <a:t>Diagram memberikan cara mudah untuk memahami bagaimana perangkat terhubung dalam jaringan besar.</a:t>
            </a:r>
            <a:endParaRPr xmlns:a="http://schemas.openxmlformats.org/drawingml/2006/main" lang="en-US" sz="1600" b="1" dirty="0"/>
          </a:p>
          <a:p>
            <a:pPr xmlns:a="http://schemas.openxmlformats.org/drawingml/2006/main" lvl="2"/>
            <a:r xmlns:a="http://schemas.openxmlformats.org/drawingml/2006/main">
              <a:rPr lang="id" sz="1600" dirty="0"/>
              <a:t>Dua jenis infrastruktur jaringan adalah Local Area Network (LAN), dan Wide Area Network (WAN).</a:t>
            </a:r>
            <a:endParaRPr xmlns:a="http://schemas.openxmlformats.org/drawingml/2006/main" lang="en-US" sz="1600" b="1" dirty="0"/>
          </a:p>
          <a:p>
            <a:pPr xmlns:a="http://schemas.openxmlformats.org/drawingml/2006/main" lvl="2"/>
            <a:r xmlns:a="http://schemas.openxmlformats.org/drawingml/2006/main">
              <a:rPr lang="id" sz="1600" dirty="0"/>
              <a:t>Koneksi internet SOHO meliputi kabel, DSL, Seluler, Satelit, dan telepon Dial-up.</a:t>
            </a:r>
          </a:p>
          <a:p>
            <a:pPr xmlns:a="http://schemas.openxmlformats.org/drawingml/2006/main" lvl="2"/>
            <a:r xmlns:a="http://schemas.openxmlformats.org/drawingml/2006/main">
              <a:rPr lang="id" sz="1600" dirty="0"/>
              <a:t>Koneksi internet bisnis mencakup Dedicated Leased Line, Metro Ethernet, Business DSL, dan Satelit.</a:t>
            </a:r>
            <a:endParaRPr xmlns:a="http://schemas.openxmlformats.org/drawingml/2006/main" lang="en-US" sz="1600" b="1" dirty="0"/>
          </a:p>
        </p:txBody>
      </p:sp>
    </p:spTree>
    <p:extLst>
      <p:ext uri="{BB962C8B-B14F-4D97-AF65-F5344CB8AC3E}">
        <p14:creationId xmlns:p14="http://schemas.microsoft.com/office/powerpoint/2010/main" val="3792951178"/>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87549" y="1"/>
            <a:ext cx="9056451" cy="688258"/>
          </a:xfrm>
        </p:spPr>
        <p:txBody>
          <a:bodyPr/>
          <a:lstStyle/>
          <a:p>
            <a:r xmlns:a="http://schemas.openxmlformats.org/drawingml/2006/main">
              <a:rPr lang="id" altLang="en-US" sz="1600" dirty="0"/>
              <a:t>Latihan Modul dan Kuis </a:t>
            </a:r>
            <a:br xmlns:a="http://schemas.openxmlformats.org/drawingml/2006/main">
              <a:rPr lang="en-US" altLang="en-US" dirty="0"/>
            </a:br>
            <a:r xmlns:a="http://schemas.openxmlformats.org/drawingml/2006/main">
              <a:rPr lang="id" altLang="en-US" dirty="0"/>
              <a:t>Apa yang saya pelajari dalam modul ini? (Lanjutan)</a:t>
            </a:r>
            <a:endParaRPr xmlns:a="http://schemas.openxmlformats.org/drawingml/2006/main" lang="en-CA" altLang="en-US" dirty="0"/>
          </a:p>
        </p:txBody>
      </p:sp>
      <p:sp>
        <p:nvSpPr>
          <p:cNvPr id="13315" name="Content Placeholder 2"/>
          <p:cNvSpPr>
            <a:spLocks noGrp="1"/>
          </p:cNvSpPr>
          <p:nvPr>
            <p:ph idx="1"/>
          </p:nvPr>
        </p:nvSpPr>
        <p:spPr>
          <a:xfrm>
            <a:off x="87549" y="688260"/>
            <a:ext cx="9056451" cy="3891556"/>
          </a:xfrm>
        </p:spPr>
        <p:txBody>
          <a:bodyPr/>
          <a:lstStyle/>
          <a:p>
            <a:pPr xmlns:a="http://schemas.openxmlformats.org/drawingml/2006/main" lvl="2"/>
            <a:r xmlns:a="http://schemas.openxmlformats.org/drawingml/2006/main">
              <a:rPr lang="id" sz="1600" dirty="0"/>
              <a:t>Arsitektur jaringan mengacu pada teknologi yang mendukung infrastruktur dan layanan terprogram serta aturan, atau protokol, yang memindahkan data melalui jaringan.</a:t>
            </a:r>
          </a:p>
          <a:p>
            <a:pPr xmlns:a="http://schemas.openxmlformats.org/drawingml/2006/main" lvl="2"/>
            <a:r xmlns:a="http://schemas.openxmlformats.org/drawingml/2006/main">
              <a:rPr lang="id" sz="1600" dirty="0"/>
              <a:t>Ada empat karakteristik dasar arsitektur jaringan: Toleransi Kesalahan, Skalabilitas, Kualitas Layanan (QoS), dan Keamanan.</a:t>
            </a:r>
            <a:endParaRPr xmlns:a="http://schemas.openxmlformats.org/drawingml/2006/main" lang="en-US" sz="1600" b="1" dirty="0"/>
          </a:p>
          <a:p>
            <a:pPr xmlns:a="http://schemas.openxmlformats.org/drawingml/2006/main" lvl="2"/>
            <a:r xmlns:a="http://schemas.openxmlformats.org/drawingml/2006/main">
              <a:rPr lang="id" sz="1600" dirty="0"/>
              <a:t>Tren jaringan terkini yang memengaruhi organisasi dan konsumen: Bawa Perangkat Anda Sendiri (BYOD), kolaborasi online, komunikasi video, dan komputasi awan.</a:t>
            </a:r>
            <a:endParaRPr xmlns:a="http://schemas.openxmlformats.org/drawingml/2006/main" lang="en-US" sz="1600" b="1" dirty="0"/>
          </a:p>
          <a:p>
            <a:pPr xmlns:a="http://schemas.openxmlformats.org/drawingml/2006/main" lvl="2"/>
            <a:r xmlns:a="http://schemas.openxmlformats.org/drawingml/2006/main">
              <a:rPr lang="id" sz="1600" dirty="0"/>
              <a:t>Ada beberapa ancaman eksternal dan internal yang umum terhadap jaringan.</a:t>
            </a:r>
          </a:p>
          <a:p>
            <a:pPr xmlns:a="http://schemas.openxmlformats.org/drawingml/2006/main" lvl="2"/>
            <a:r xmlns:a="http://schemas.openxmlformats.org/drawingml/2006/main">
              <a:rPr lang="id" sz="1600" dirty="0"/>
              <a:t>Jaringan yang lebih besar dan jaringan perusahaan menggunakan penyaringan antivirus, antispyware, dan firewall, namun mereka juga memiliki persyaratan keamanan lainnya: Sistem firewall khusus, Daftar kontrol akses (ACL), Sistem pencegahan intrusi (IPS), dan Jaringan pribadi virtual (VPN)</a:t>
            </a:r>
            <a:endParaRPr xmlns:a="http://schemas.openxmlformats.org/drawingml/2006/main" lang="en-US" sz="1600" b="1" dirty="0"/>
          </a:p>
          <a:p>
            <a:pPr xmlns:a="http://schemas.openxmlformats.org/drawingml/2006/main" lvl="2"/>
            <a:r xmlns:a="http://schemas.openxmlformats.org/drawingml/2006/main">
              <a:rPr lang="id" sz="1600" dirty="0"/>
              <a:t>Sertifikasi Cisco Certified Network Associate (CCNA) menunjukkan pengetahuan Anda tentang teknologi dasar.</a:t>
            </a:r>
            <a:endParaRPr xmlns:a="http://schemas.openxmlformats.org/drawingml/2006/main" lang="en-CA" altLang="en-US" sz="1600" dirty="0">
              <a:solidFill>
                <a:srgbClr val="000000"/>
              </a:solidFill>
            </a:endParaRPr>
          </a:p>
        </p:txBody>
      </p:sp>
    </p:spTree>
    <p:extLst>
      <p:ext uri="{BB962C8B-B14F-4D97-AF65-F5344CB8AC3E}">
        <p14:creationId xmlns:p14="http://schemas.microsoft.com/office/powerpoint/2010/main" val="3548445255"/>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p:txBody>
          <a:bodyPr/>
          <a:lstStyle/>
          <a:p>
            <a:pPr xmlns:a="http://schemas.openxmlformats.org/drawingml/2006/main" eaLnBrk="1" hangingPunct="1"/>
            <a:r xmlns:a="http://schemas.openxmlformats.org/drawingml/2006/main">
              <a:rPr lang="id" sz="1400" dirty="0">
                <a:latin typeface="Arial" charset="0"/>
              </a:rPr>
              <a:t>Modul 1 </a:t>
            </a:r>
            <a:br xmlns:a="http://schemas.openxmlformats.org/drawingml/2006/main">
              <a:rPr lang="en-US" dirty="0">
                <a:latin typeface="Arial" charset="0"/>
              </a:rPr>
            </a:br>
            <a:r xmlns:a="http://schemas.openxmlformats.org/drawingml/2006/main">
              <a:rPr lang="id" dirty="0">
                <a:latin typeface="Arial" charset="0"/>
              </a:rPr>
              <a:t>Syarat dan Perintah Baru</a:t>
            </a:r>
          </a:p>
        </p:txBody>
      </p:sp>
      <p:graphicFrame>
        <p:nvGraphicFramePr>
          <p:cNvPr id="3" name="Content Placeholder 2"/>
          <p:cNvGraphicFramePr>
            <a:graphicFrameLocks noGrp="1"/>
          </p:cNvGraphicFramePr>
          <p:nvPr>
            <p:ph idx="1"/>
            <p:extLst/>
          </p:nvPr>
        </p:nvGraphicFramePr>
        <p:xfrm>
          <a:off x="144463" y="798513"/>
          <a:ext cx="8853486" cy="3926840"/>
        </p:xfrm>
        <a:graphic>
          <a:graphicData uri="http://schemas.openxmlformats.org/drawingml/2006/table">
            <a:tbl>
              <a:tblPr firstRow="1" bandRow="1">
                <a:tableStyleId>{F5AB1C69-6EDB-4FF4-983F-18BD219EF322}</a:tableStyleId>
              </a:tblPr>
              <a:tblGrid>
                <a:gridCol w="2951162">
                  <a:extLst>
                    <a:ext uri="{9D8B030D-6E8A-4147-A177-3AD203B41FA5}">
                      <a16:colId xmlns:a16="http://schemas.microsoft.com/office/drawing/2014/main" val="2731093094"/>
                    </a:ext>
                  </a:extLst>
                </a:gridCol>
                <a:gridCol w="2951162">
                  <a:extLst>
                    <a:ext uri="{9D8B030D-6E8A-4147-A177-3AD203B41FA5}">
                      <a16:colId xmlns:a16="http://schemas.microsoft.com/office/drawing/2014/main" val="2353496225"/>
                    </a:ext>
                  </a:extLst>
                </a:gridCol>
                <a:gridCol w="2951162">
                  <a:extLst>
                    <a:ext uri="{9D8B030D-6E8A-4147-A177-3AD203B41FA5}">
                      <a16:colId xmlns:a16="http://schemas.microsoft.com/office/drawing/2014/main" val="281959122"/>
                    </a:ext>
                  </a:extLst>
                </a:gridCol>
              </a:tblGrid>
              <a:tr h="370840">
                <a:tc>
                  <a:txBody>
                    <a:bodyPr/>
                    <a:lstStyle/>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Berbagi File </a:t>
                      </a:r>
                      <a:r xmlns:a="http://schemas.openxmlformats.org/drawingml/2006/main">
                        <a:rPr lang="id" b="0" dirty="0">
                          <a:solidFill>
                            <a:schemeClr val="tx1"/>
                          </a:solidFill>
                          <a:latin typeface="+mn-lt"/>
                        </a:rPr>
                        <a:t>Peer-to-Peer</a:t>
                      </a:r>
                    </a:p>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Kantor Kecil/Kantor Rumah atau SOHO</a:t>
                      </a:r>
                    </a:p>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Jaringan menengah hingga besar</a:t>
                      </a:r>
                    </a:p>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pelayan</a:t>
                      </a:r>
                    </a:p>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Klien</a:t>
                      </a:r>
                    </a:p>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Jaringan peer-to-peer</a:t>
                      </a:r>
                    </a:p>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Perangkat akhir</a:t>
                      </a:r>
                    </a:p>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Perangkat perantara</a:t>
                      </a:r>
                    </a:p>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Sedang</a:t>
                      </a:r>
                    </a:p>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Kartu Antarmuka Jaringan (NIC)</a:t>
                      </a:r>
                    </a:p>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Pelabuhan Fisik</a:t>
                      </a:r>
                    </a:p>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Antarmuka</a:t>
                      </a:r>
                    </a:p>
                    <a:p>
                      <a:pPr xmlns:a="http://schemas.openxmlformats.org/drawingml/2006/main" marL="173038" indent="-173038">
                        <a:spcBef>
                          <a:spcPts val="200"/>
                        </a:spcBef>
                        <a:spcAft>
                          <a:spcPts val="200"/>
                        </a:spcAft>
                        <a:buFont typeface="Arial" panose="020B0604020202020204" pitchFamily="34" charset="0"/>
                        <a:buChar char="•"/>
                      </a:pPr>
                      <a:r xmlns:a="http://schemas.openxmlformats.org/drawingml/2006/main">
                        <a:rPr lang="id" b="0" baseline="0" dirty="0">
                          <a:solidFill>
                            <a:schemeClr val="tx1"/>
                          </a:solidFill>
                          <a:latin typeface="+mn-lt"/>
                        </a:rPr>
                        <a:t>Diagram topologi fisik</a:t>
                      </a:r>
                      <a:endParaRPr xmlns:a="http://schemas.openxmlformats.org/drawingml/2006/main" lang="en-US" b="0" dirty="0">
                        <a:solidFill>
                          <a:schemeClr val="tx1"/>
                        </a:solidFill>
                        <a:latin typeface="+mn-l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dirty="0">
                          <a:solidFill>
                            <a:schemeClr val="tx1"/>
                          </a:solidFill>
                          <a:latin typeface="+mn-lt"/>
                          <a:ea typeface="+mn-ea"/>
                          <a:cs typeface="+mn-cs"/>
                        </a:rPr>
                        <a:t>Diagram topologi logis</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dirty="0">
                          <a:solidFill>
                            <a:schemeClr val="tx1"/>
                          </a:solidFill>
                          <a:latin typeface="+mn-lt"/>
                          <a:ea typeface="+mn-ea"/>
                          <a:cs typeface="+mn-cs"/>
                        </a:rPr>
                        <a:t>Jaringan Area Lokal (LAN)</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dirty="0">
                          <a:solidFill>
                            <a:schemeClr val="tx1"/>
                          </a:solidFill>
                          <a:latin typeface="+mn-lt"/>
                          <a:ea typeface="+mn-ea"/>
                          <a:cs typeface="+mn-cs"/>
                        </a:rPr>
                        <a:t>Jaringan Area Luas (WAN)</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dirty="0">
                          <a:solidFill>
                            <a:schemeClr val="tx1"/>
                          </a:solidFill>
                          <a:latin typeface="+mn-lt"/>
                          <a:ea typeface="+mn-ea"/>
                          <a:cs typeface="+mn-cs"/>
                        </a:rPr>
                        <a:t>Internet</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dirty="0">
                          <a:solidFill>
                            <a:schemeClr val="tx1"/>
                          </a:solidFill>
                          <a:latin typeface="+mn-lt"/>
                          <a:ea typeface="+mn-ea"/>
                          <a:cs typeface="+mn-cs"/>
                        </a:rPr>
                        <a:t>Intranet</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dirty="0">
                          <a:solidFill>
                            <a:schemeClr val="tx1"/>
                          </a:solidFill>
                          <a:latin typeface="+mn-lt"/>
                          <a:ea typeface="+mn-ea"/>
                          <a:cs typeface="+mn-cs"/>
                        </a:rPr>
                        <a:t>ekstranet</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dirty="0">
                          <a:solidFill>
                            <a:schemeClr val="tx1"/>
                          </a:solidFill>
                          <a:latin typeface="+mn-lt"/>
                          <a:ea typeface="+mn-ea"/>
                          <a:cs typeface="+mn-cs"/>
                        </a:rPr>
                        <a:t>Internet </a:t>
                      </a:r>
                      <a:r xmlns:a="http://schemas.openxmlformats.org/drawingml/2006/main">
                        <a:rPr lang="id" sz="1400" b="0" kern="1200" baseline="0" dirty="0">
                          <a:solidFill>
                            <a:schemeClr val="tx1"/>
                          </a:solidFill>
                          <a:latin typeface="+mn-lt"/>
                          <a:ea typeface="+mn-ea"/>
                          <a:cs typeface="+mn-cs"/>
                        </a:rPr>
                        <a:t>(ISP)</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Jaringan terkonvergensi</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Arsitektur jaringan</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Jaringan yang toleran terhadap kesalahan</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Jaringan packet-switched</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Jaringan sirkuit-switched</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Jaringan yang dapat diskalakan</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Kualitas Pelayanan ( </a:t>
                      </a:r>
                      <a:r xmlns:a="http://schemas.openxmlformats.org/drawingml/2006/main">
                        <a:rPr lang="id" sz="1400" b="0" kern="1200" baseline="0" dirty="0" err="1">
                          <a:solidFill>
                            <a:schemeClr val="tx1"/>
                          </a:solidFill>
                          <a:latin typeface="+mn-lt"/>
                          <a:ea typeface="+mn-ea"/>
                          <a:cs typeface="+mn-cs"/>
                        </a:rPr>
                        <a:t>Qos </a:t>
                      </a:r>
                      <a:r xmlns:a="http://schemas.openxmlformats.org/drawingml/2006/main">
                        <a:rPr lang="id" sz="1400" b="0" kern="1200" baseline="0" dirty="0">
                          <a:solidFill>
                            <a:schemeClr val="tx1"/>
                          </a:solidFill>
                          <a:latin typeface="+mn-lt"/>
                          <a:ea typeface="+mn-ea"/>
                          <a:cs typeface="+mn-cs"/>
                        </a:rPr>
                        <a:t>)</a:t>
                      </a:r>
                      <a:endParaRPr xmlns:a="http://schemas.openxmlformats.org/drawingml/2006/main" lang="en-US" sz="1400" b="0"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dirty="0">
                          <a:solidFill>
                            <a:schemeClr val="tx1"/>
                          </a:solidFill>
                          <a:latin typeface="+mn-lt"/>
                          <a:ea typeface="+mn-ea"/>
                          <a:cs typeface="+mn-cs"/>
                        </a:rPr>
                        <a:t>Bandwidth jaringan</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dirty="0">
                          <a:solidFill>
                            <a:schemeClr val="tx1"/>
                          </a:solidFill>
                          <a:latin typeface="+mn-lt"/>
                          <a:ea typeface="+mn-ea"/>
                          <a:cs typeface="+mn-cs"/>
                        </a:rPr>
                        <a:t>Bawa </a:t>
                      </a:r>
                      <a:r xmlns:a="http://schemas.openxmlformats.org/drawingml/2006/main">
                        <a:rPr lang="id" sz="1400" b="0" kern="1200" baseline="0" dirty="0">
                          <a:solidFill>
                            <a:schemeClr val="tx1"/>
                          </a:solidFill>
                          <a:latin typeface="+mn-lt"/>
                          <a:ea typeface="+mn-ea"/>
                          <a:cs typeface="+mn-cs"/>
                        </a:rPr>
                        <a:t>Perangkat Anda Sendiri (BYOD)</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Kolaborasi</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Komputasi awan</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Awan pribadi</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Awan hibrida</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Awan publik</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Awan khusus</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Pusat Data</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Teknologi rumah pintar</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Jaringan saluran listrik</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Penyedia Layanan Internet Nirkabel (WISP)</a:t>
                      </a:r>
                    </a:p>
                    <a:p>
                      <a:pPr xmlns:a="http://schemas.openxmlformats.org/drawingml/2006/main" marL="173038" indent="-173038" algn="l" defTabSz="685777" rtl="0" eaLnBrk="1" latinLnBrk="0" hangingPunct="1">
                        <a:spcBef>
                          <a:spcPts val="200"/>
                        </a:spcBef>
                        <a:spcAft>
                          <a:spcPts val="200"/>
                        </a:spcAft>
                        <a:buFont typeface="Arial" panose="020B0604020202020204" pitchFamily="34" charset="0"/>
                        <a:buChar char="•"/>
                      </a:pPr>
                      <a:r xmlns:a="http://schemas.openxmlformats.org/drawingml/2006/main">
                        <a:rPr lang="id" sz="1400" b="0" kern="1200" baseline="0" dirty="0">
                          <a:solidFill>
                            <a:schemeClr val="tx1"/>
                          </a:solidFill>
                          <a:latin typeface="+mn-lt"/>
                          <a:ea typeface="+mn-ea"/>
                          <a:cs typeface="+mn-cs"/>
                        </a:rPr>
                        <a:t>Arsitektur jaringan</a:t>
                      </a:r>
                      <a:endParaRPr xmlns:a="http://schemas.openxmlformats.org/drawingml/2006/main" lang="en-US" sz="1400" b="0" kern="1200" dirty="0">
                        <a:solidFill>
                          <a:schemeClr val="tx1"/>
                        </a:solidFill>
                        <a:latin typeface="+mn-lt"/>
                        <a:ea typeface="+mn-ea"/>
                        <a:cs typeface="+mn-cs"/>
                      </a:endParaRPr>
                    </a:p>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3399497809"/>
      </p:ext>
    </p:extLst>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15982</TotalTime>
  <Words>5331</Words>
  <Application>Microsoft Office PowerPoint</Application>
  <PresentationFormat>On-screen Show (16:9)</PresentationFormat>
  <Paragraphs>860</Paragraphs>
  <Slides>72</Slides>
  <Notes>69</Notes>
  <HiddenSlides>11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72</vt:i4>
      </vt:variant>
    </vt:vector>
  </HeadingPairs>
  <TitlesOfParts>
    <vt:vector size="78" baseType="lpstr">
      <vt:lpstr>Arial</vt:lpstr>
      <vt:lpstr>Calibri</vt:lpstr>
      <vt:lpstr>CiscoSans</vt:lpstr>
      <vt:lpstr>CiscoSans ExtraLight</vt:lpstr>
      <vt:lpstr>Wingdings</vt:lpstr>
      <vt:lpstr>Default Theme</vt:lpstr>
      <vt:lpstr>Module 1: Networking Today</vt:lpstr>
      <vt:lpstr>Instructor Materials – Module 1 Planning Guide</vt:lpstr>
      <vt:lpstr>What to Expect in this Module</vt:lpstr>
      <vt:lpstr>What to Expect in this Module (Cont.)</vt:lpstr>
      <vt:lpstr>Check Your Understanding</vt:lpstr>
      <vt:lpstr>Module 1: Activities</vt:lpstr>
      <vt:lpstr>Module 1: Best Practices</vt:lpstr>
      <vt:lpstr>Module 1: Best Practices (Cont.)</vt:lpstr>
      <vt:lpstr>Module 1: Best Practices (Cont.)</vt:lpstr>
      <vt:lpstr>Module 1: Best Practices (Cont.)</vt:lpstr>
      <vt:lpstr>Module 1: Best Practices (Cont.)</vt:lpstr>
      <vt:lpstr>Module 1: Networking Today</vt:lpstr>
      <vt:lpstr>Module Objectives</vt:lpstr>
      <vt:lpstr>1.1 Networks Affect Our Lives</vt:lpstr>
      <vt:lpstr>PowerPoint Presentation</vt:lpstr>
      <vt:lpstr>Video – The Cisco Networking Academy Learning Experience</vt:lpstr>
      <vt:lpstr>Networking Today No Boundaries</vt:lpstr>
      <vt:lpstr>1.2 Network Components</vt:lpstr>
      <vt:lpstr>Network Components Host Roles</vt:lpstr>
      <vt:lpstr>Network Components Peer-to-Peer</vt:lpstr>
      <vt:lpstr>Network Components End Devices</vt:lpstr>
      <vt:lpstr>Network Components Intermediary Network Devices</vt:lpstr>
      <vt:lpstr>Network Components Network Media</vt:lpstr>
      <vt:lpstr>1.3 Network Representations and Topologies</vt:lpstr>
      <vt:lpstr>Network Representations and Topologies Network Representations</vt:lpstr>
      <vt:lpstr>Network Representations and Topologies Topology Diagrams</vt:lpstr>
      <vt:lpstr>1.4 Common Types of Networks</vt:lpstr>
      <vt:lpstr>Common Types of Networks Networks of Many Sizes</vt:lpstr>
      <vt:lpstr>Common Types of Networks LANs and WANs</vt:lpstr>
      <vt:lpstr>Common Types of Networks  LANs and WANs (cont.)</vt:lpstr>
      <vt:lpstr>Common Types of Networks The Internet</vt:lpstr>
      <vt:lpstr>Common Types of Networks Intranets and Extranets</vt:lpstr>
      <vt:lpstr>1.5 Internet Connections</vt:lpstr>
      <vt:lpstr>Internet Connections Internet Access Technologies</vt:lpstr>
      <vt:lpstr>Internet Connections Home and Small Office Internet Connections</vt:lpstr>
      <vt:lpstr>Internet Connections Businesses Internet Connections</vt:lpstr>
      <vt:lpstr>Internet Connections The Converging Network</vt:lpstr>
      <vt:lpstr>Internet Connections The Converging Network (Cont.)</vt:lpstr>
      <vt:lpstr>Internet Connections Video – Download and Install Packet Tracer</vt:lpstr>
      <vt:lpstr>Internet Connections Video – Getting Started in Cisco Packet Tracer</vt:lpstr>
      <vt:lpstr>Internet Connections Packet Tracer – Network Representation</vt:lpstr>
      <vt:lpstr>1.6 Reliable Networks</vt:lpstr>
      <vt:lpstr>Reliable Network Network Architecture</vt:lpstr>
      <vt:lpstr>Reliable Network Fault Tolerance</vt:lpstr>
      <vt:lpstr>Reliable Network Scalability</vt:lpstr>
      <vt:lpstr>Reliable Network Quality of Service</vt:lpstr>
      <vt:lpstr>Reliable Network Network Security</vt:lpstr>
      <vt:lpstr>1.7 Network Trends</vt:lpstr>
      <vt:lpstr>Network Trends Recent Trends</vt:lpstr>
      <vt:lpstr>Network Trends Bring Your Own Device</vt:lpstr>
      <vt:lpstr>Network Trends Online Collaboration</vt:lpstr>
      <vt:lpstr>Network Trends Video Communication</vt:lpstr>
      <vt:lpstr>Network Trends Video – Cisco WebEx for Huddles</vt:lpstr>
      <vt:lpstr>Network Trends Cloud Computing</vt:lpstr>
      <vt:lpstr>Network Trends Cloud Computing (Cont.)</vt:lpstr>
      <vt:lpstr>Network Trends Technology Trends in the Home</vt:lpstr>
      <vt:lpstr>Network Trends Powerline Networking</vt:lpstr>
      <vt:lpstr>Network Trends Wireless Broadband</vt:lpstr>
      <vt:lpstr>1.8 Network Security</vt:lpstr>
      <vt:lpstr>Network Security Security Threats</vt:lpstr>
      <vt:lpstr>Network Security Security Threats (Cont.)</vt:lpstr>
      <vt:lpstr>Network Security Security Solutions</vt:lpstr>
      <vt:lpstr>Network Security Security Solutions (Cont.)</vt:lpstr>
      <vt:lpstr>1.9 The IT Professional</vt:lpstr>
      <vt:lpstr>The IT Professional CCNA</vt:lpstr>
      <vt:lpstr>The IT Professional Networking Jobs</vt:lpstr>
      <vt:lpstr>The IT Professional Lab – Researching IT and Networking Job Opportunities </vt:lpstr>
      <vt:lpstr>1.10 Module Practice and Quiz </vt:lpstr>
      <vt:lpstr>Module Practice and Quiz What did I learn in this module?</vt:lpstr>
      <vt:lpstr>Module Practice and Quiz What did I learn in this module? (Cont.)</vt:lpstr>
      <vt:lpstr>Module 1 New Terms and Commands</vt:lpstr>
      <vt:lpstr>PowerPoint Presentation</vt:lpstr>
    </vt:vector>
  </TitlesOfParts>
  <Company>Cisco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bvachon@cisco.com</dc:creator>
  <cp:lastModifiedBy>Sue Livingston -X (suliving - UNICON INC at Cisco)</cp:lastModifiedBy>
  <cp:revision>823</cp:revision>
  <dcterms:created xsi:type="dcterms:W3CDTF">2016-08-22T22:27:36Z</dcterms:created>
  <dcterms:modified xsi:type="dcterms:W3CDTF">2019-12-06T15:42:35Z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