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Bebas Neue Cyrillic" panose="020B0604020202020204" charset="0"/>
      <p:regular r:id="rId17"/>
    </p:embeddedFont>
    <p:embeddedFont>
      <p:font typeface="Open Sans" panose="020B0606030504020204" pitchFamily="34" charset="0"/>
      <p:regular r:id="rId18"/>
    </p:embeddedFont>
    <p:embeddedFont>
      <p:font typeface="Open Sans Bold" panose="020B0806030504020204" charset="0"/>
      <p:regular r:id="rId19"/>
    </p:embeddedFont>
    <p:embeddedFont>
      <p:font typeface="Open Sans Italics"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6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21-May-24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21-May-24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21-May-24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21-May-24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21-May-24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21-May-24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2.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4.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6.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7.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svg"/><Relationship Id="rId7"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2E5862"/>
            </a:soli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2E5862"/>
            </a:soli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7690482" y="8660782"/>
            <a:ext cx="597518" cy="597518"/>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2E5862"/>
            </a:solidFill>
          </p:spPr>
        </p:sp>
        <p:sp>
          <p:nvSpPr>
            <p:cNvPr id="11" name="TextBox 11"/>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7887442" y="2058006"/>
            <a:ext cx="2513117" cy="2550211"/>
          </a:xfrm>
          <a:custGeom>
            <a:avLst/>
            <a:gdLst/>
            <a:ahLst/>
            <a:cxnLst/>
            <a:rect l="l" t="t" r="r" b="b"/>
            <a:pathLst>
              <a:path w="2513117" h="2550211">
                <a:moveTo>
                  <a:pt x="0" y="0"/>
                </a:moveTo>
                <a:lnTo>
                  <a:pt x="2513116" y="0"/>
                </a:lnTo>
                <a:lnTo>
                  <a:pt x="2513116" y="2550210"/>
                </a:lnTo>
                <a:lnTo>
                  <a:pt x="0" y="25502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8779686" y="2704313"/>
            <a:ext cx="728628" cy="987058"/>
          </a:xfrm>
          <a:custGeom>
            <a:avLst/>
            <a:gdLst/>
            <a:ahLst/>
            <a:cxnLst/>
            <a:rect l="l" t="t" r="r" b="b"/>
            <a:pathLst>
              <a:path w="728628" h="987058">
                <a:moveTo>
                  <a:pt x="0" y="0"/>
                </a:moveTo>
                <a:lnTo>
                  <a:pt x="728628" y="0"/>
                </a:lnTo>
                <a:lnTo>
                  <a:pt x="728628" y="987057"/>
                </a:lnTo>
                <a:lnTo>
                  <a:pt x="0" y="9870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1039108" y="517674"/>
            <a:ext cx="2762930"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Bold"/>
              </a:rPr>
              <a:t>D4 Teknik Telekomunikasi Nirkabel</a:t>
            </a:r>
          </a:p>
        </p:txBody>
      </p:sp>
      <p:sp>
        <p:nvSpPr>
          <p:cNvPr id="15" name="TextBox 15"/>
          <p:cNvSpPr txBox="1"/>
          <p:nvPr/>
        </p:nvSpPr>
        <p:spPr>
          <a:xfrm>
            <a:off x="17857396" y="8851031"/>
            <a:ext cx="263689" cy="198468"/>
          </a:xfrm>
          <a:prstGeom prst="rect">
            <a:avLst/>
          </a:prstGeom>
        </p:spPr>
        <p:txBody>
          <a:bodyPr lIns="0" tIns="0" rIns="0" bIns="0" rtlCol="0" anchor="t">
            <a:spAutoFit/>
          </a:bodyPr>
          <a:lstStyle/>
          <a:p>
            <a:pPr algn="ctr">
              <a:lnSpc>
                <a:spcPts val="1659"/>
              </a:lnSpc>
              <a:spcBef>
                <a:spcPct val="0"/>
              </a:spcBef>
            </a:pPr>
            <a:r>
              <a:rPr lang="en-US" sz="1185">
                <a:solidFill>
                  <a:srgbClr val="FFFFFF"/>
                </a:solidFill>
                <a:latin typeface="Open Sans Bold"/>
              </a:rPr>
              <a:t>01</a:t>
            </a:r>
          </a:p>
        </p:txBody>
      </p:sp>
      <p:sp>
        <p:nvSpPr>
          <p:cNvPr id="16" name="TextBox 16"/>
          <p:cNvSpPr txBox="1"/>
          <p:nvPr/>
        </p:nvSpPr>
        <p:spPr>
          <a:xfrm>
            <a:off x="1039108" y="4517968"/>
            <a:ext cx="16452691" cy="2939946"/>
          </a:xfrm>
          <a:prstGeom prst="rect">
            <a:avLst/>
          </a:prstGeom>
        </p:spPr>
        <p:txBody>
          <a:bodyPr lIns="0" tIns="0" rIns="0" bIns="0" rtlCol="0" anchor="t">
            <a:spAutoFit/>
          </a:bodyPr>
          <a:lstStyle/>
          <a:p>
            <a:pPr algn="ctr">
              <a:lnSpc>
                <a:spcPts val="11719"/>
              </a:lnSpc>
              <a:spcBef>
                <a:spcPct val="0"/>
              </a:spcBef>
            </a:pPr>
            <a:r>
              <a:rPr lang="en-US" sz="8371">
                <a:solidFill>
                  <a:srgbClr val="FFFFFF"/>
                </a:solidFill>
                <a:latin typeface="Bebas Neue Cyrillic"/>
              </a:rPr>
              <a:t>KEAMANAN DATA KARTU RFID DARI SERANGAN TRACKING, CLONING, DAN MANIPULASI DATA</a:t>
            </a:r>
          </a:p>
        </p:txBody>
      </p:sp>
      <p:sp>
        <p:nvSpPr>
          <p:cNvPr id="17" name="TextBox 17"/>
          <p:cNvSpPr txBox="1"/>
          <p:nvPr/>
        </p:nvSpPr>
        <p:spPr>
          <a:xfrm>
            <a:off x="3355505" y="7505540"/>
            <a:ext cx="11819897" cy="701609"/>
          </a:xfrm>
          <a:prstGeom prst="rect">
            <a:avLst/>
          </a:prstGeom>
        </p:spPr>
        <p:txBody>
          <a:bodyPr lIns="0" tIns="0" rIns="0" bIns="0" rtlCol="0" anchor="t">
            <a:spAutoFit/>
          </a:bodyPr>
          <a:lstStyle/>
          <a:p>
            <a:pPr algn="ctr">
              <a:lnSpc>
                <a:spcPts val="2800"/>
              </a:lnSpc>
            </a:pPr>
            <a:r>
              <a:rPr lang="en-US" sz="2000">
                <a:solidFill>
                  <a:srgbClr val="FFFFFF"/>
                </a:solidFill>
                <a:latin typeface="Open Sans Bold"/>
              </a:rPr>
              <a:t>Alfarizi Iba Firgiawan(211344003) </a:t>
            </a:r>
          </a:p>
          <a:p>
            <a:pPr algn="ctr">
              <a:lnSpc>
                <a:spcPts val="2800"/>
              </a:lnSpc>
              <a:spcBef>
                <a:spcPct val="0"/>
              </a:spcBef>
            </a:pPr>
            <a:r>
              <a:rPr lang="en-US" sz="2000">
                <a:solidFill>
                  <a:srgbClr val="FFFFFF"/>
                </a:solidFill>
                <a:latin typeface="Open Sans Bold"/>
              </a:rPr>
              <a:t>Dyelvio Wijaya(211344012)</a:t>
            </a:r>
          </a:p>
        </p:txBody>
      </p:sp>
      <p:sp>
        <p:nvSpPr>
          <p:cNvPr id="18" name="Freeform 18"/>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039108" y="517674"/>
            <a:ext cx="2616921"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02</a:t>
            </a:r>
          </a:p>
        </p:txBody>
      </p:sp>
      <p:sp>
        <p:nvSpPr>
          <p:cNvPr id="13" name="Freeform 13"/>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a:off x="12600863" y="6007827"/>
            <a:ext cx="4243184" cy="3646486"/>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7" name="TextBox 17"/>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43953" y="6007827"/>
            <a:ext cx="4243184" cy="3646486"/>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0" name="TextBox 20"/>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876051" y="5375140"/>
            <a:ext cx="14535897" cy="4911860"/>
            <a:chOff x="0" y="0"/>
            <a:chExt cx="2067104" cy="698500"/>
          </a:xfrm>
        </p:grpSpPr>
        <p:sp>
          <p:nvSpPr>
            <p:cNvPr id="22" name="Freeform 22"/>
            <p:cNvSpPr/>
            <p:nvPr/>
          </p:nvSpPr>
          <p:spPr>
            <a:xfrm>
              <a:off x="0" y="0"/>
              <a:ext cx="2067104" cy="698500"/>
            </a:xfrm>
            <a:custGeom>
              <a:avLst/>
              <a:gdLst/>
              <a:ahLst/>
              <a:cxnLst/>
              <a:rect l="l" t="t" r="r" b="b"/>
              <a:pathLst>
                <a:path w="2067104" h="698500">
                  <a:moveTo>
                    <a:pt x="2067104" y="349250"/>
                  </a:moveTo>
                  <a:lnTo>
                    <a:pt x="1863904" y="698500"/>
                  </a:lnTo>
                  <a:lnTo>
                    <a:pt x="203200" y="698500"/>
                  </a:lnTo>
                  <a:lnTo>
                    <a:pt x="0" y="349250"/>
                  </a:lnTo>
                  <a:lnTo>
                    <a:pt x="203200" y="0"/>
                  </a:lnTo>
                  <a:lnTo>
                    <a:pt x="1863904" y="0"/>
                  </a:lnTo>
                  <a:lnTo>
                    <a:pt x="2067104" y="349250"/>
                  </a:lnTo>
                  <a:close/>
                </a:path>
              </a:pathLst>
            </a:custGeom>
            <a:blipFill>
              <a:blip r:embed="rId6"/>
              <a:stretch>
                <a:fillRect t="-30648" b="-35814"/>
              </a:stretch>
            </a:blipFill>
          </p:spPr>
        </p:sp>
      </p:grpSp>
      <p:sp>
        <p:nvSpPr>
          <p:cNvPr id="23" name="TextBox 23"/>
          <p:cNvSpPr txBox="1"/>
          <p:nvPr/>
        </p:nvSpPr>
        <p:spPr>
          <a:xfrm>
            <a:off x="1039108" y="1765623"/>
            <a:ext cx="4569056" cy="1127378"/>
          </a:xfrm>
          <a:prstGeom prst="rect">
            <a:avLst/>
          </a:prstGeom>
        </p:spPr>
        <p:txBody>
          <a:bodyPr lIns="0" tIns="0" rIns="0" bIns="0" rtlCol="0" anchor="t">
            <a:spAutoFit/>
          </a:bodyPr>
          <a:lstStyle/>
          <a:p>
            <a:pPr algn="l">
              <a:lnSpc>
                <a:spcPts val="8657"/>
              </a:lnSpc>
            </a:pPr>
            <a:r>
              <a:rPr lang="en-US" sz="7799">
                <a:solidFill>
                  <a:srgbClr val="63F1F9"/>
                </a:solidFill>
                <a:latin typeface="Bebas Neue Cyrillic"/>
              </a:rPr>
              <a:t>PENDAHULUAN</a:t>
            </a:r>
          </a:p>
        </p:txBody>
      </p:sp>
      <p:sp>
        <p:nvSpPr>
          <p:cNvPr id="24" name="TextBox 24"/>
          <p:cNvSpPr txBox="1"/>
          <p:nvPr/>
        </p:nvSpPr>
        <p:spPr>
          <a:xfrm>
            <a:off x="6409888" y="2053129"/>
            <a:ext cx="10002060" cy="2990237"/>
          </a:xfrm>
          <a:prstGeom prst="rect">
            <a:avLst/>
          </a:prstGeom>
        </p:spPr>
        <p:txBody>
          <a:bodyPr lIns="0" tIns="0" rIns="0" bIns="0" rtlCol="0" anchor="t">
            <a:spAutoFit/>
          </a:bodyPr>
          <a:lstStyle/>
          <a:p>
            <a:pPr algn="just">
              <a:lnSpc>
                <a:spcPts val="2658"/>
              </a:lnSpc>
              <a:spcBef>
                <a:spcPct val="0"/>
              </a:spcBef>
            </a:pPr>
            <a:r>
              <a:rPr lang="en-US" sz="1899">
                <a:solidFill>
                  <a:srgbClr val="FFFFFF"/>
                </a:solidFill>
                <a:latin typeface="Open Sans"/>
              </a:rPr>
              <a:t>Kartu RFID telah menjadi bagian dari kehidupan sehari-hari dengan berbagai aplikasi yang meliputi transportasi, akses kontrol, pembayaran, dan identifikasi personal. Namun, meningkatnya penggunaan teknologi ini juga membawa risiko keamanan yang signifikan, termasuk serangan seperti pelacakan, pemalsuan, dan manipulasi data. Untuk melindungi keamanan data yang tersimpan dalam kartu RFID, langkah-langkah proaktif perlu diambil, seperti mematikan kartu saat tidak digunakan, enkripsi data, dan penggunaan metode otentikasi dua faktor. Dengan demikian, dengan memperkuat kontrol akses dan keamanan data, pengguna dan penyedia layanan dapat mengurangi risiko yang terkait dengan penggunaan kartu RFID dalam berbagai aplikasi.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8189196" y="3762045"/>
            <a:ext cx="597723" cy="597723"/>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189196" y="5997473"/>
            <a:ext cx="597723" cy="597723"/>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418009" y="2903811"/>
            <a:ext cx="5550087" cy="4948090"/>
            <a:chOff x="0" y="0"/>
            <a:chExt cx="7400116" cy="6597454"/>
          </a:xfrm>
        </p:grpSpPr>
        <p:grpSp>
          <p:nvGrpSpPr>
            <p:cNvPr id="20" name="Group 20"/>
            <p:cNvGrpSpPr/>
            <p:nvPr/>
          </p:nvGrpSpPr>
          <p:grpSpPr>
            <a:xfrm>
              <a:off x="1632546" y="0"/>
              <a:ext cx="2031055" cy="1745438"/>
              <a:chOff x="0" y="0"/>
              <a:chExt cx="812800" cy="698500"/>
            </a:xfrm>
          </p:grpSpPr>
          <p:sp>
            <p:nvSpPr>
              <p:cNvPr id="21" name="Freeform 2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2" name="TextBox 22"/>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0" y="2652865"/>
              <a:ext cx="2031055" cy="1745438"/>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5" name="TextBox 2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5369061" y="2199151"/>
              <a:ext cx="2031055" cy="1745438"/>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8" name="TextBox 2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3736515" y="4852016"/>
              <a:ext cx="2031055" cy="1745438"/>
              <a:chOff x="0" y="0"/>
              <a:chExt cx="812800" cy="698500"/>
            </a:xfrm>
          </p:grpSpPr>
          <p:sp>
            <p:nvSpPr>
              <p:cNvPr id="30" name="Freeform 3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31" name="TextBox 31"/>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sp>
        <p:nvSpPr>
          <p:cNvPr id="32" name="TextBox 32"/>
          <p:cNvSpPr txBox="1"/>
          <p:nvPr/>
        </p:nvSpPr>
        <p:spPr>
          <a:xfrm>
            <a:off x="1039108" y="517674"/>
            <a:ext cx="3354965"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3" name="TextBox 33"/>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03</a:t>
            </a:r>
          </a:p>
        </p:txBody>
      </p:sp>
      <p:sp>
        <p:nvSpPr>
          <p:cNvPr id="34" name="TextBox 34"/>
          <p:cNvSpPr txBox="1"/>
          <p:nvPr/>
        </p:nvSpPr>
        <p:spPr>
          <a:xfrm>
            <a:off x="11573794" y="1839775"/>
            <a:ext cx="3862224" cy="941016"/>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DASAR TEORI</a:t>
            </a:r>
          </a:p>
        </p:txBody>
      </p:sp>
      <p:sp>
        <p:nvSpPr>
          <p:cNvPr id="35" name="TextBox 35"/>
          <p:cNvSpPr txBox="1"/>
          <p:nvPr/>
        </p:nvSpPr>
        <p:spPr>
          <a:xfrm>
            <a:off x="9211989" y="3733470"/>
            <a:ext cx="7707314" cy="1230769"/>
          </a:xfrm>
          <a:prstGeom prst="rect">
            <a:avLst/>
          </a:prstGeom>
        </p:spPr>
        <p:txBody>
          <a:bodyPr lIns="0" tIns="0" rIns="0" bIns="0" rtlCol="0" anchor="t">
            <a:spAutoFit/>
          </a:bodyPr>
          <a:lstStyle/>
          <a:p>
            <a:pPr algn="just">
              <a:lnSpc>
                <a:spcPts val="1960"/>
              </a:lnSpc>
              <a:spcBef>
                <a:spcPct val="0"/>
              </a:spcBef>
            </a:pPr>
            <a:r>
              <a:rPr lang="en-US" sz="1400">
                <a:solidFill>
                  <a:srgbClr val="FFFFFF"/>
                </a:solidFill>
                <a:latin typeface="Open Sans"/>
              </a:rPr>
              <a:t>RFID, singkatan dari Radio Frequency Identification, adalah teknologi non-kontak yang menggunakan gelombang radio untuk mengidentifikasi objek atau individu secara otomatis. Ini melibatkan penyimpanan nomor seri dalam sebuah microchip yang terhubung dengan antena, yang dikenal sebagai RFID transponder atau tag, yang berinteraksi dengan pembaca RFID. Teknologi ini fleksibel dan cocok untuk operasi otomatis.</a:t>
            </a:r>
          </a:p>
        </p:txBody>
      </p:sp>
      <p:sp>
        <p:nvSpPr>
          <p:cNvPr id="36" name="TextBox 36"/>
          <p:cNvSpPr txBox="1"/>
          <p:nvPr/>
        </p:nvSpPr>
        <p:spPr>
          <a:xfrm>
            <a:off x="8317708" y="3942841"/>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01</a:t>
            </a:r>
          </a:p>
        </p:txBody>
      </p:sp>
      <p:sp>
        <p:nvSpPr>
          <p:cNvPr id="37" name="TextBox 37"/>
          <p:cNvSpPr txBox="1"/>
          <p:nvPr/>
        </p:nvSpPr>
        <p:spPr>
          <a:xfrm>
            <a:off x="9211989" y="5968898"/>
            <a:ext cx="7707314" cy="1478590"/>
          </a:xfrm>
          <a:prstGeom prst="rect">
            <a:avLst/>
          </a:prstGeom>
        </p:spPr>
        <p:txBody>
          <a:bodyPr lIns="0" tIns="0" rIns="0" bIns="0" rtlCol="0" anchor="t">
            <a:spAutoFit/>
          </a:bodyPr>
          <a:lstStyle/>
          <a:p>
            <a:pPr algn="just">
              <a:lnSpc>
                <a:spcPts val="1960"/>
              </a:lnSpc>
            </a:pPr>
            <a:r>
              <a:rPr lang="en-US" sz="1400">
                <a:solidFill>
                  <a:srgbClr val="FFFFFF"/>
                </a:solidFill>
                <a:latin typeface="Open Sans"/>
              </a:rPr>
              <a:t>Kriptografi, yang berasal dari kata Yunani yang berarti "menyembunyikan tulisan", adalah ilmu yang mempelajari teknik-teknik matematika untuk menjaga keamanan informasi, termasuk autentikasi, kerahasiaan, dan integritas data. Dengan prinsip dasar enkripsi dan dekripsi, kriptografi memainkan peran penting dalam menjaga kerahasiaan dan keotentikan pesan.</a:t>
            </a:r>
          </a:p>
          <a:p>
            <a:pPr algn="just">
              <a:lnSpc>
                <a:spcPts val="1960"/>
              </a:lnSpc>
              <a:spcBef>
                <a:spcPct val="0"/>
              </a:spcBef>
            </a:pPr>
            <a:endParaRPr lang="en-US" sz="1400">
              <a:solidFill>
                <a:srgbClr val="FFFFFF"/>
              </a:solidFill>
              <a:latin typeface="Open Sans"/>
            </a:endParaRPr>
          </a:p>
        </p:txBody>
      </p:sp>
      <p:sp>
        <p:nvSpPr>
          <p:cNvPr id="38" name="TextBox 38"/>
          <p:cNvSpPr txBox="1"/>
          <p:nvPr/>
        </p:nvSpPr>
        <p:spPr>
          <a:xfrm>
            <a:off x="8317708" y="6178269"/>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02</a:t>
            </a:r>
          </a:p>
        </p:txBody>
      </p:sp>
      <p:grpSp>
        <p:nvGrpSpPr>
          <p:cNvPr id="39" name="Group 39"/>
          <p:cNvGrpSpPr/>
          <p:nvPr/>
        </p:nvGrpSpPr>
        <p:grpSpPr>
          <a:xfrm>
            <a:off x="1058158" y="3011659"/>
            <a:ext cx="3566647" cy="3065087"/>
            <a:chOff x="0" y="0"/>
            <a:chExt cx="812800" cy="698500"/>
          </a:xfrm>
        </p:grpSpPr>
        <p:sp>
          <p:nvSpPr>
            <p:cNvPr id="40" name="Freeform 4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67268" r="-31431"/>
              </a:stretch>
            </a:blipFill>
          </p:spPr>
        </p:sp>
      </p:grpSp>
      <p:grpSp>
        <p:nvGrpSpPr>
          <p:cNvPr id="41" name="Group 41"/>
          <p:cNvGrpSpPr/>
          <p:nvPr/>
        </p:nvGrpSpPr>
        <p:grpSpPr>
          <a:xfrm>
            <a:off x="3786785" y="4654883"/>
            <a:ext cx="3611835" cy="3103921"/>
            <a:chOff x="0" y="0"/>
            <a:chExt cx="812800" cy="698500"/>
          </a:xfrm>
        </p:grpSpPr>
        <p:sp>
          <p:nvSpPr>
            <p:cNvPr id="42" name="Freeform 4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18612" r="-18612"/>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8189196" y="3762045"/>
            <a:ext cx="597723" cy="597723"/>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189196" y="5997473"/>
            <a:ext cx="597723" cy="597723"/>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39108" y="2903811"/>
            <a:ext cx="6307889" cy="4948090"/>
            <a:chOff x="0" y="0"/>
            <a:chExt cx="8410519" cy="6597454"/>
          </a:xfrm>
        </p:grpSpPr>
        <p:grpSp>
          <p:nvGrpSpPr>
            <p:cNvPr id="20" name="Group 20"/>
            <p:cNvGrpSpPr/>
            <p:nvPr/>
          </p:nvGrpSpPr>
          <p:grpSpPr>
            <a:xfrm>
              <a:off x="2137748" y="0"/>
              <a:ext cx="2031055" cy="1745438"/>
              <a:chOff x="0" y="0"/>
              <a:chExt cx="812800" cy="698500"/>
            </a:xfrm>
          </p:grpSpPr>
          <p:sp>
            <p:nvSpPr>
              <p:cNvPr id="21" name="Freeform 2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2" name="TextBox 22"/>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505201" y="2652865"/>
              <a:ext cx="2031055" cy="1745438"/>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5" name="TextBox 2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0" y="190790"/>
              <a:ext cx="4674004" cy="4016722"/>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r="-28986"/>
                </a:stretch>
              </a:blipFill>
            </p:spPr>
          </p:sp>
        </p:grpSp>
        <p:grpSp>
          <p:nvGrpSpPr>
            <p:cNvPr id="28" name="Group 28"/>
            <p:cNvGrpSpPr/>
            <p:nvPr/>
          </p:nvGrpSpPr>
          <p:grpSpPr>
            <a:xfrm>
              <a:off x="5874263" y="2199151"/>
              <a:ext cx="2031055" cy="1745438"/>
              <a:chOff x="0" y="0"/>
              <a:chExt cx="812800" cy="698500"/>
            </a:xfrm>
          </p:grpSpPr>
          <p:sp>
            <p:nvSpPr>
              <p:cNvPr id="29" name="Freeform 2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30" name="TextBox 30"/>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4241716" y="4852016"/>
              <a:ext cx="2031055" cy="1745438"/>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33" name="TextBox 33"/>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3736515" y="2389942"/>
              <a:ext cx="4674004" cy="4016722"/>
              <a:chOff x="0" y="0"/>
              <a:chExt cx="812800" cy="698500"/>
            </a:xfrm>
          </p:grpSpPr>
          <p:sp>
            <p:nvSpPr>
              <p:cNvPr id="35" name="Freeform 3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3321" r="-102516"/>
                </a:stretch>
              </a:blipFill>
            </p:spPr>
          </p:sp>
        </p:grpSp>
      </p:grpSp>
      <p:sp>
        <p:nvSpPr>
          <p:cNvPr id="36" name="TextBox 36"/>
          <p:cNvSpPr txBox="1"/>
          <p:nvPr/>
        </p:nvSpPr>
        <p:spPr>
          <a:xfrm>
            <a:off x="1039108" y="517674"/>
            <a:ext cx="2702432"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7" name="TextBox 37"/>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04</a:t>
            </a:r>
          </a:p>
        </p:txBody>
      </p:sp>
      <p:sp>
        <p:nvSpPr>
          <p:cNvPr id="38" name="TextBox 38"/>
          <p:cNvSpPr txBox="1"/>
          <p:nvPr/>
        </p:nvSpPr>
        <p:spPr>
          <a:xfrm>
            <a:off x="11573794" y="1839775"/>
            <a:ext cx="3862224" cy="941016"/>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DASAR TEORI</a:t>
            </a:r>
          </a:p>
        </p:txBody>
      </p:sp>
      <p:sp>
        <p:nvSpPr>
          <p:cNvPr id="39" name="TextBox 39"/>
          <p:cNvSpPr txBox="1"/>
          <p:nvPr/>
        </p:nvSpPr>
        <p:spPr>
          <a:xfrm>
            <a:off x="9211989" y="3733470"/>
            <a:ext cx="7707314" cy="1230994"/>
          </a:xfrm>
          <a:prstGeom prst="rect">
            <a:avLst/>
          </a:prstGeom>
        </p:spPr>
        <p:txBody>
          <a:bodyPr lIns="0" tIns="0" rIns="0" bIns="0" rtlCol="0" anchor="t">
            <a:spAutoFit/>
          </a:bodyPr>
          <a:lstStyle/>
          <a:p>
            <a:pPr algn="just">
              <a:lnSpc>
                <a:spcPts val="1960"/>
              </a:lnSpc>
              <a:spcBef>
                <a:spcPct val="0"/>
              </a:spcBef>
            </a:pPr>
            <a:r>
              <a:rPr lang="en-US" sz="1400">
                <a:solidFill>
                  <a:srgbClr val="FFFFFF"/>
                </a:solidFill>
                <a:latin typeface="Open Sans"/>
              </a:rPr>
              <a:t>Tracking adalah proses pendeteksian objek virtual dengan objek nyata melalui penanda tertentu, yang dapat dilakukan melalui berbagai perangkat seperti sensor optik, GPS, dan kamera. Tracking juga dapat diartikan sebagai suatu pemberian informasi seperti pemberian kode-kode, identitas kode bisa menjadi suatu layanan nomor atau kode spesifik pengiriman, dan nomor pesanan pelanggan.</a:t>
            </a:r>
          </a:p>
        </p:txBody>
      </p:sp>
      <p:sp>
        <p:nvSpPr>
          <p:cNvPr id="40" name="TextBox 40"/>
          <p:cNvSpPr txBox="1"/>
          <p:nvPr/>
        </p:nvSpPr>
        <p:spPr>
          <a:xfrm>
            <a:off x="8327233" y="3942841"/>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03</a:t>
            </a:r>
          </a:p>
        </p:txBody>
      </p:sp>
      <p:sp>
        <p:nvSpPr>
          <p:cNvPr id="41" name="TextBox 41"/>
          <p:cNvSpPr txBox="1"/>
          <p:nvPr/>
        </p:nvSpPr>
        <p:spPr>
          <a:xfrm>
            <a:off x="9211989" y="5744770"/>
            <a:ext cx="7707314" cy="1973782"/>
          </a:xfrm>
          <a:prstGeom prst="rect">
            <a:avLst/>
          </a:prstGeom>
        </p:spPr>
        <p:txBody>
          <a:bodyPr lIns="0" tIns="0" rIns="0" bIns="0" rtlCol="0" anchor="t">
            <a:spAutoFit/>
          </a:bodyPr>
          <a:lstStyle/>
          <a:p>
            <a:pPr algn="just">
              <a:lnSpc>
                <a:spcPts val="1960"/>
              </a:lnSpc>
              <a:spcBef>
                <a:spcPct val="0"/>
              </a:spcBef>
            </a:pPr>
            <a:r>
              <a:rPr lang="en-US" sz="1400">
                <a:solidFill>
                  <a:srgbClr val="FFFFFF"/>
                </a:solidFill>
                <a:latin typeface="Open Sans"/>
              </a:rPr>
              <a:t>Kloning kartu RFID adalah kejahatan digital yang melibatkan pembuatan salinan identik dari kartu RFID asli dengan mencuri informasi sensitif seperti nomor kartu dan nama pemilik. Proses ini memungkinkan pelaku kejahatan untuk melakukan transaksi ilegal dan mengakses data pribadi korban tanpa izin. Kloning dapat dilakukan dengan menggunakan perangkat elektronik atau perangkat kloning khusus yang mengambil dan mereplikasi informasi dari kartu asli. Ini dapat menyebabkan kerugian finansial dan reputasi bagi korban serta menimbulkan masalah keamanan dan privasi serius. Oleh karena itu, langkah-langkah keamanan yang kuat diperlukan untuk mencegah tindakan kloning kartu RFID.</a:t>
            </a:r>
          </a:p>
        </p:txBody>
      </p:sp>
      <p:sp>
        <p:nvSpPr>
          <p:cNvPr id="42" name="TextBox 42"/>
          <p:cNvSpPr txBox="1"/>
          <p:nvPr/>
        </p:nvSpPr>
        <p:spPr>
          <a:xfrm>
            <a:off x="8317708" y="6178269"/>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05</a:t>
            </a:r>
          </a:p>
        </p:txBody>
      </p:sp>
      <p:sp>
        <p:nvSpPr>
          <p:cNvPr id="12" name="Freeform 12"/>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240396" y="893694"/>
            <a:ext cx="12819971" cy="185536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KASUS NYATA DAN LATAR BELAKANG TERJADINYA PENYERANGAN</a:t>
            </a:r>
          </a:p>
        </p:txBody>
      </p:sp>
      <p:grpSp>
        <p:nvGrpSpPr>
          <p:cNvPr id="15" name="Group 15"/>
          <p:cNvGrpSpPr/>
          <p:nvPr/>
        </p:nvGrpSpPr>
        <p:grpSpPr>
          <a:xfrm>
            <a:off x="13157955" y="1565354"/>
            <a:ext cx="2060445" cy="1770695"/>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7" name="TextBox 17"/>
            <p:cNvSpPr txBox="1"/>
            <p:nvPr/>
          </p:nvSpPr>
          <p:spPr>
            <a:xfrm>
              <a:off x="114300" y="-38100"/>
              <a:ext cx="584200" cy="736600"/>
            </a:xfrm>
            <a:prstGeom prst="rect">
              <a:avLst/>
            </a:prstGeom>
          </p:spPr>
          <p:txBody>
            <a:bodyPr lIns="44933" tIns="44933" rIns="44933" bIns="44933" rtlCol="0" anchor="ctr"/>
            <a:lstStyle/>
            <a:p>
              <a:pPr algn="ctr">
                <a:lnSpc>
                  <a:spcPts val="2659"/>
                </a:lnSpc>
              </a:pPr>
              <a:endParaRPr/>
            </a:p>
          </p:txBody>
        </p:sp>
      </p:grpSp>
      <p:grpSp>
        <p:nvGrpSpPr>
          <p:cNvPr id="18" name="Group 18"/>
          <p:cNvGrpSpPr/>
          <p:nvPr/>
        </p:nvGrpSpPr>
        <p:grpSpPr>
          <a:xfrm>
            <a:off x="11501785" y="4256607"/>
            <a:ext cx="2060445" cy="1770695"/>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0" name="TextBox 20"/>
            <p:cNvSpPr txBox="1"/>
            <p:nvPr/>
          </p:nvSpPr>
          <p:spPr>
            <a:xfrm>
              <a:off x="114300" y="-38100"/>
              <a:ext cx="584200" cy="736600"/>
            </a:xfrm>
            <a:prstGeom prst="rect">
              <a:avLst/>
            </a:prstGeom>
          </p:spPr>
          <p:txBody>
            <a:bodyPr lIns="44933" tIns="44933" rIns="44933" bIns="44933" rtlCol="0" anchor="ctr"/>
            <a:lstStyle/>
            <a:p>
              <a:pPr algn="ctr">
                <a:lnSpc>
                  <a:spcPts val="2659"/>
                </a:lnSpc>
              </a:pPr>
              <a:endParaRPr/>
            </a:p>
          </p:txBody>
        </p:sp>
      </p:grpSp>
      <p:grpSp>
        <p:nvGrpSpPr>
          <p:cNvPr id="21" name="Group 21"/>
          <p:cNvGrpSpPr/>
          <p:nvPr/>
        </p:nvGrpSpPr>
        <p:grpSpPr>
          <a:xfrm>
            <a:off x="4229824" y="2472830"/>
            <a:ext cx="2060445" cy="1770695"/>
            <a:chOff x="0" y="0"/>
            <a:chExt cx="812800" cy="698500"/>
          </a:xfrm>
        </p:grpSpPr>
        <p:sp>
          <p:nvSpPr>
            <p:cNvPr id="22" name="Freeform 2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3" name="TextBox 23"/>
            <p:cNvSpPr txBox="1"/>
            <p:nvPr/>
          </p:nvSpPr>
          <p:spPr>
            <a:xfrm>
              <a:off x="114300" y="-38100"/>
              <a:ext cx="584200" cy="736600"/>
            </a:xfrm>
            <a:prstGeom prst="rect">
              <a:avLst/>
            </a:prstGeom>
          </p:spPr>
          <p:txBody>
            <a:bodyPr lIns="44933" tIns="44933" rIns="44933" bIns="44933" rtlCol="0" anchor="ctr"/>
            <a:lstStyle/>
            <a:p>
              <a:pPr algn="ctr">
                <a:lnSpc>
                  <a:spcPts val="2659"/>
                </a:lnSpc>
              </a:pPr>
              <a:endParaRPr/>
            </a:p>
          </p:txBody>
        </p:sp>
      </p:grpSp>
      <p:grpSp>
        <p:nvGrpSpPr>
          <p:cNvPr id="24" name="Group 24"/>
          <p:cNvGrpSpPr/>
          <p:nvPr/>
        </p:nvGrpSpPr>
        <p:grpSpPr>
          <a:xfrm>
            <a:off x="2573654" y="5164083"/>
            <a:ext cx="2060445" cy="1770695"/>
            <a:chOff x="0" y="0"/>
            <a:chExt cx="812800" cy="698500"/>
          </a:xfrm>
        </p:grpSpPr>
        <p:sp>
          <p:nvSpPr>
            <p:cNvPr id="25" name="Freeform 2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26" name="TextBox 26"/>
            <p:cNvSpPr txBox="1"/>
            <p:nvPr/>
          </p:nvSpPr>
          <p:spPr>
            <a:xfrm>
              <a:off x="114300" y="-38100"/>
              <a:ext cx="584200" cy="736600"/>
            </a:xfrm>
            <a:prstGeom prst="rect">
              <a:avLst/>
            </a:prstGeom>
          </p:spPr>
          <p:txBody>
            <a:bodyPr lIns="44933" tIns="44933" rIns="44933" bIns="44933" rtlCol="0" anchor="ctr"/>
            <a:lstStyle/>
            <a:p>
              <a:pPr algn="ctr">
                <a:lnSpc>
                  <a:spcPts val="2659"/>
                </a:lnSpc>
              </a:pPr>
              <a:endParaRPr/>
            </a:p>
          </p:txBody>
        </p:sp>
      </p:grpSp>
      <p:sp>
        <p:nvSpPr>
          <p:cNvPr id="27" name="TextBox 27"/>
          <p:cNvSpPr txBox="1"/>
          <p:nvPr/>
        </p:nvSpPr>
        <p:spPr>
          <a:xfrm>
            <a:off x="9793431" y="7167945"/>
            <a:ext cx="6729049" cy="1791654"/>
          </a:xfrm>
          <a:prstGeom prst="rect">
            <a:avLst/>
          </a:prstGeom>
        </p:spPr>
        <p:txBody>
          <a:bodyPr lIns="0" tIns="0" rIns="0" bIns="0" rtlCol="0" anchor="t">
            <a:spAutoFit/>
          </a:bodyPr>
          <a:lstStyle/>
          <a:p>
            <a:pPr algn="just">
              <a:lnSpc>
                <a:spcPts val="1485"/>
              </a:lnSpc>
            </a:pPr>
            <a:r>
              <a:rPr lang="en-US" sz="1061">
                <a:solidFill>
                  <a:srgbClr val="FFFFFF"/>
                </a:solidFill>
                <a:latin typeface="Open Sans"/>
              </a:rPr>
              <a:t>Unsaflok flaw can let hackers unlock millions of hotel doors</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Ditemukan kelemahan pada kartu akses kontrol RFID pada pintu hotel di Las Vegas dan di seluruh dunia dengan mudah membuka kunci pintu mana pun di sebuah hotel dengan memalsukan kartu kunci. Kartu kunci palsu dapat dibuat menggunakan kartu apapun dan alat apa pun yang tersedia secara komersial yang mampu menulis data ke kartu ini, termasuk proxmark3, Flipper Zero, dan ponsel pintar android berkemampuan NFC.</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https://www.bleepingcomputer.com</a:t>
            </a:r>
          </a:p>
          <a:p>
            <a:pPr algn="just">
              <a:lnSpc>
                <a:spcPts val="1485"/>
              </a:lnSpc>
              <a:spcBef>
                <a:spcPct val="0"/>
              </a:spcBef>
            </a:pPr>
            <a:endParaRPr lang="en-US" sz="1061">
              <a:solidFill>
                <a:srgbClr val="FFFFFF"/>
              </a:solidFill>
              <a:latin typeface="Open Sans"/>
            </a:endParaRPr>
          </a:p>
        </p:txBody>
      </p:sp>
      <p:grpSp>
        <p:nvGrpSpPr>
          <p:cNvPr id="28" name="Group 28"/>
          <p:cNvGrpSpPr/>
          <p:nvPr/>
        </p:nvGrpSpPr>
        <p:grpSpPr>
          <a:xfrm>
            <a:off x="2135542" y="2749055"/>
            <a:ext cx="4562465" cy="3920868"/>
            <a:chOff x="0" y="0"/>
            <a:chExt cx="812800" cy="698500"/>
          </a:xfrm>
        </p:grpSpPr>
        <p:sp>
          <p:nvSpPr>
            <p:cNvPr id="29" name="Freeform 2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4453" r="-14453"/>
              </a:stretch>
            </a:blipFill>
          </p:spPr>
        </p:sp>
      </p:grpSp>
      <p:grpSp>
        <p:nvGrpSpPr>
          <p:cNvPr id="30" name="Group 30"/>
          <p:cNvGrpSpPr/>
          <p:nvPr/>
        </p:nvGrpSpPr>
        <p:grpSpPr>
          <a:xfrm>
            <a:off x="11206163" y="1892812"/>
            <a:ext cx="4399462" cy="3780788"/>
            <a:chOff x="0" y="0"/>
            <a:chExt cx="812800" cy="698500"/>
          </a:xfrm>
        </p:grpSpPr>
        <p:sp>
          <p:nvSpPr>
            <p:cNvPr id="31" name="Freeform 3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26388" r="-26388"/>
              </a:stretch>
            </a:blipFill>
          </p:spPr>
        </p:sp>
      </p:grpSp>
      <p:sp>
        <p:nvSpPr>
          <p:cNvPr id="32" name="TextBox 32"/>
          <p:cNvSpPr txBox="1"/>
          <p:nvPr/>
        </p:nvSpPr>
        <p:spPr>
          <a:xfrm>
            <a:off x="1039108" y="517674"/>
            <a:ext cx="2990314"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3" name="TextBox 33"/>
          <p:cNvSpPr txBox="1"/>
          <p:nvPr/>
        </p:nvSpPr>
        <p:spPr>
          <a:xfrm>
            <a:off x="1039108" y="7343281"/>
            <a:ext cx="6729049" cy="1791654"/>
          </a:xfrm>
          <a:prstGeom prst="rect">
            <a:avLst/>
          </a:prstGeom>
        </p:spPr>
        <p:txBody>
          <a:bodyPr lIns="0" tIns="0" rIns="0" bIns="0" rtlCol="0" anchor="t">
            <a:spAutoFit/>
          </a:bodyPr>
          <a:lstStyle/>
          <a:p>
            <a:pPr algn="just">
              <a:lnSpc>
                <a:spcPts val="1485"/>
              </a:lnSpc>
            </a:pPr>
            <a:r>
              <a:rPr lang="en-US" sz="1061">
                <a:solidFill>
                  <a:srgbClr val="FFFFFF"/>
                </a:solidFill>
                <a:latin typeface="Open Sans"/>
              </a:rPr>
              <a:t>Hacker's Demo Shows How Easily Credit Cards Can Be Read Through Clothes And Wallets </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Demo penipuan yang dilakukan di Washington DC dan Shmoocon memperlihatkan bahwa serangan tersebut tidak memerlukan bug tersembunyi dalam sistem, melainkan masalah yang lebih mendasar. Pembaca RFID yang tersedia secara komersial dapat membaca data dari kartu nirsentuh semudah perangkat tempat penjualan di toko.</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https://www.forbes.com</a:t>
            </a:r>
          </a:p>
          <a:p>
            <a:pPr algn="just">
              <a:lnSpc>
                <a:spcPts val="1485"/>
              </a:lnSpc>
            </a:pPr>
            <a:endParaRPr lang="en-US" sz="1061">
              <a:solidFill>
                <a:srgbClr val="FFFFFF"/>
              </a:solidFill>
              <a:latin typeface="Open Sans"/>
            </a:endParaRPr>
          </a:p>
          <a:p>
            <a:pPr algn="just">
              <a:lnSpc>
                <a:spcPts val="1485"/>
              </a:lnSpc>
              <a:spcBef>
                <a:spcPct val="0"/>
              </a:spcBef>
            </a:pPr>
            <a:endParaRPr lang="en-US" sz="1061">
              <a:solidFill>
                <a:srgbClr val="FFFFFF"/>
              </a:solidFill>
              <a:latin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3653565" y="3594161"/>
            <a:ext cx="3605735" cy="3098679"/>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904416" y="3809736"/>
            <a:ext cx="3104032" cy="266752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8750" r="-18750"/>
              </a:stretch>
            </a:blipFill>
          </p:spPr>
        </p:sp>
      </p:grpSp>
      <p:grpSp>
        <p:nvGrpSpPr>
          <p:cNvPr id="18" name="Group 18"/>
          <p:cNvGrpSpPr/>
          <p:nvPr/>
        </p:nvGrpSpPr>
        <p:grpSpPr>
          <a:xfrm>
            <a:off x="8354486" y="2091882"/>
            <a:ext cx="7101947" cy="6103235"/>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26534" r="-26534"/>
              </a:stretch>
            </a:blipFill>
          </p:spPr>
        </p:sp>
      </p:grpSp>
      <p:grpSp>
        <p:nvGrpSpPr>
          <p:cNvPr id="20" name="Group 20"/>
          <p:cNvGrpSpPr/>
          <p:nvPr/>
        </p:nvGrpSpPr>
        <p:grpSpPr>
          <a:xfrm>
            <a:off x="2095323" y="4043837"/>
            <a:ext cx="597723" cy="597723"/>
            <a:chOff x="0" y="0"/>
            <a:chExt cx="812800" cy="812800"/>
          </a:xfrm>
        </p:grpSpPr>
        <p:sp>
          <p:nvSpPr>
            <p:cNvPr id="21" name="Freeform 2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22" name="TextBox 2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2095323" y="5740553"/>
            <a:ext cx="597723" cy="597723"/>
            <a:chOff x="0" y="0"/>
            <a:chExt cx="812800" cy="812800"/>
          </a:xfrm>
        </p:grpSpPr>
        <p:sp>
          <p:nvSpPr>
            <p:cNvPr id="24" name="Freeform 2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25" name="TextBox 2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2095323" y="7597394"/>
            <a:ext cx="597723" cy="597723"/>
            <a:chOff x="0" y="0"/>
            <a:chExt cx="812800" cy="812800"/>
          </a:xfrm>
        </p:grpSpPr>
        <p:sp>
          <p:nvSpPr>
            <p:cNvPr id="27" name="Freeform 2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28" name="TextBox 2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039108" y="517674"/>
            <a:ext cx="2736383"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0" name="TextBox 30"/>
          <p:cNvSpPr txBox="1"/>
          <p:nvPr/>
        </p:nvSpPr>
        <p:spPr>
          <a:xfrm>
            <a:off x="17857396" y="8851031"/>
            <a:ext cx="263689" cy="197971"/>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06</a:t>
            </a:r>
          </a:p>
        </p:txBody>
      </p:sp>
      <p:sp>
        <p:nvSpPr>
          <p:cNvPr id="31" name="TextBox 31"/>
          <p:cNvSpPr txBox="1"/>
          <p:nvPr/>
        </p:nvSpPr>
        <p:spPr>
          <a:xfrm>
            <a:off x="1670617" y="1738889"/>
            <a:ext cx="6808193" cy="185536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METODE  UNTUK MENINDAK LANJUTI PENYERANGAN</a:t>
            </a:r>
          </a:p>
        </p:txBody>
      </p:sp>
      <p:sp>
        <p:nvSpPr>
          <p:cNvPr id="32" name="TextBox 32"/>
          <p:cNvSpPr txBox="1"/>
          <p:nvPr/>
        </p:nvSpPr>
        <p:spPr>
          <a:xfrm>
            <a:off x="3118116" y="3956976"/>
            <a:ext cx="4675996" cy="761919"/>
          </a:xfrm>
          <a:prstGeom prst="rect">
            <a:avLst/>
          </a:prstGeom>
        </p:spPr>
        <p:txBody>
          <a:bodyPr lIns="0" tIns="0" rIns="0" bIns="0" rtlCol="0" anchor="t">
            <a:spAutoFit/>
          </a:bodyPr>
          <a:lstStyle/>
          <a:p>
            <a:pPr algn="just">
              <a:lnSpc>
                <a:spcPts val="2086"/>
              </a:lnSpc>
              <a:spcBef>
                <a:spcPct val="0"/>
              </a:spcBef>
            </a:pPr>
            <a:r>
              <a:rPr lang="en-US" sz="1490">
                <a:solidFill>
                  <a:srgbClr val="FFFFFF"/>
                </a:solidFill>
                <a:latin typeface="Open Sans"/>
              </a:rPr>
              <a:t>Melaporkan serangan ke pihak berwenang seperti kepolisian atau lembaga yang menangani kejahatan cyber untuk investigasi dan penanganan hukum.</a:t>
            </a:r>
          </a:p>
        </p:txBody>
      </p:sp>
      <p:sp>
        <p:nvSpPr>
          <p:cNvPr id="33" name="TextBox 33"/>
          <p:cNvSpPr txBox="1"/>
          <p:nvPr/>
        </p:nvSpPr>
        <p:spPr>
          <a:xfrm>
            <a:off x="2223836" y="423415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01</a:t>
            </a:r>
          </a:p>
        </p:txBody>
      </p:sp>
      <p:sp>
        <p:nvSpPr>
          <p:cNvPr id="34" name="TextBox 34"/>
          <p:cNvSpPr txBox="1"/>
          <p:nvPr/>
        </p:nvSpPr>
        <p:spPr>
          <a:xfrm>
            <a:off x="3118116" y="5644167"/>
            <a:ext cx="4675996" cy="761919"/>
          </a:xfrm>
          <a:prstGeom prst="rect">
            <a:avLst/>
          </a:prstGeom>
        </p:spPr>
        <p:txBody>
          <a:bodyPr lIns="0" tIns="0" rIns="0" bIns="0" rtlCol="0" anchor="t">
            <a:spAutoFit/>
          </a:bodyPr>
          <a:lstStyle/>
          <a:p>
            <a:pPr algn="just">
              <a:lnSpc>
                <a:spcPts val="2086"/>
              </a:lnSpc>
              <a:spcBef>
                <a:spcPct val="0"/>
              </a:spcBef>
            </a:pPr>
            <a:r>
              <a:rPr lang="en-US" sz="1490">
                <a:solidFill>
                  <a:srgbClr val="FFFFFF"/>
                </a:solidFill>
                <a:latin typeface="Open Sans"/>
              </a:rPr>
              <a:t>Hubungi penyedia atau pembuat kartu untuk memblokir kartu yang disalahgunakan dan memberikan bantuan keamanan</a:t>
            </a:r>
          </a:p>
        </p:txBody>
      </p:sp>
      <p:sp>
        <p:nvSpPr>
          <p:cNvPr id="35" name="TextBox 35"/>
          <p:cNvSpPr txBox="1"/>
          <p:nvPr/>
        </p:nvSpPr>
        <p:spPr>
          <a:xfrm>
            <a:off x="2223836" y="589966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02</a:t>
            </a:r>
          </a:p>
        </p:txBody>
      </p:sp>
      <p:sp>
        <p:nvSpPr>
          <p:cNvPr id="36" name="TextBox 36"/>
          <p:cNvSpPr txBox="1"/>
          <p:nvPr/>
        </p:nvSpPr>
        <p:spPr>
          <a:xfrm>
            <a:off x="3185768" y="7578344"/>
            <a:ext cx="4675996" cy="510970"/>
          </a:xfrm>
          <a:prstGeom prst="rect">
            <a:avLst/>
          </a:prstGeom>
        </p:spPr>
        <p:txBody>
          <a:bodyPr lIns="0" tIns="0" rIns="0" bIns="0" rtlCol="0" anchor="t">
            <a:spAutoFit/>
          </a:bodyPr>
          <a:lstStyle/>
          <a:p>
            <a:pPr algn="l">
              <a:lnSpc>
                <a:spcPts val="2086"/>
              </a:lnSpc>
              <a:spcBef>
                <a:spcPct val="0"/>
              </a:spcBef>
            </a:pPr>
            <a:r>
              <a:rPr lang="en-US" sz="1490">
                <a:solidFill>
                  <a:srgbClr val="FFFFFF"/>
                </a:solidFill>
                <a:latin typeface="Open Sans"/>
              </a:rPr>
              <a:t>Ganti kartu yang disalahgunakan dengan kartu yang lebih aman untuk melindungi informasi keuangan.</a:t>
            </a:r>
          </a:p>
        </p:txBody>
      </p:sp>
      <p:sp>
        <p:nvSpPr>
          <p:cNvPr id="37" name="TextBox 37"/>
          <p:cNvSpPr txBox="1"/>
          <p:nvPr/>
        </p:nvSpPr>
        <p:spPr>
          <a:xfrm>
            <a:off x="2223836" y="778413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039108" y="517674"/>
            <a:ext cx="2736383"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07</a:t>
            </a:r>
          </a:p>
        </p:txBody>
      </p:sp>
      <p:sp>
        <p:nvSpPr>
          <p:cNvPr id="13" name="Freeform 13"/>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a:off x="8354486" y="2091882"/>
            <a:ext cx="7101947" cy="6103235"/>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9852" r="-9134"/>
              </a:stretch>
            </a:blipFill>
          </p:spPr>
        </p:sp>
      </p:grpSp>
      <p:grpSp>
        <p:nvGrpSpPr>
          <p:cNvPr id="17" name="Group 17"/>
          <p:cNvGrpSpPr/>
          <p:nvPr/>
        </p:nvGrpSpPr>
        <p:grpSpPr>
          <a:xfrm>
            <a:off x="13653565" y="3594161"/>
            <a:ext cx="3605735" cy="309867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9" name="TextBox 19"/>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3904416" y="3809736"/>
            <a:ext cx="3104032" cy="2667527"/>
            <a:chOff x="0" y="0"/>
            <a:chExt cx="812800" cy="698500"/>
          </a:xfrm>
        </p:grpSpPr>
        <p:sp>
          <p:nvSpPr>
            <p:cNvPr id="21" name="Freeform 2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18750" r="-18750"/>
              </a:stretch>
            </a:blipFill>
          </p:spPr>
        </p:sp>
      </p:grpSp>
      <p:sp>
        <p:nvSpPr>
          <p:cNvPr id="22" name="TextBox 22"/>
          <p:cNvSpPr txBox="1"/>
          <p:nvPr/>
        </p:nvSpPr>
        <p:spPr>
          <a:xfrm>
            <a:off x="1670617" y="1738889"/>
            <a:ext cx="6808193"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METODE  UNTUK MENCEGAH PENYERANGAN</a:t>
            </a:r>
          </a:p>
        </p:txBody>
      </p:sp>
      <p:sp>
        <p:nvSpPr>
          <p:cNvPr id="23" name="TextBox 23"/>
          <p:cNvSpPr txBox="1"/>
          <p:nvPr/>
        </p:nvSpPr>
        <p:spPr>
          <a:xfrm>
            <a:off x="3118116" y="3771995"/>
            <a:ext cx="4675996" cy="1276053"/>
          </a:xfrm>
          <a:prstGeom prst="rect">
            <a:avLst/>
          </a:prstGeom>
        </p:spPr>
        <p:txBody>
          <a:bodyPr lIns="0" tIns="0" rIns="0" bIns="0" rtlCol="0" anchor="t">
            <a:spAutoFit/>
          </a:bodyPr>
          <a:lstStyle/>
          <a:p>
            <a:pPr algn="just">
              <a:lnSpc>
                <a:spcPts val="2086"/>
              </a:lnSpc>
            </a:pPr>
            <a:r>
              <a:rPr lang="en-US" sz="1490">
                <a:solidFill>
                  <a:srgbClr val="FFFFFF"/>
                </a:solidFill>
                <a:latin typeface="Open Sans Italics"/>
              </a:rPr>
              <a:t>Kill-Sleep Command</a:t>
            </a:r>
          </a:p>
          <a:p>
            <a:pPr algn="just">
              <a:lnSpc>
                <a:spcPts val="2086"/>
              </a:lnSpc>
              <a:spcBef>
                <a:spcPct val="0"/>
              </a:spcBef>
            </a:pPr>
            <a:r>
              <a:rPr lang="en-US" sz="1490">
                <a:solidFill>
                  <a:srgbClr val="FFFFFF"/>
                </a:solidFill>
                <a:latin typeface="Open Sans"/>
              </a:rPr>
              <a:t>Metode ini memanfaatkan sebuah program yang membuat sebuah kartu RFID bekerja disaat menerima sebuah sinyal yang berupa pin untuk kartu RFID, sehingga RFID dapat dinonaktifkan.</a:t>
            </a:r>
          </a:p>
        </p:txBody>
      </p:sp>
      <p:grpSp>
        <p:nvGrpSpPr>
          <p:cNvPr id="24" name="Group 24"/>
          <p:cNvGrpSpPr/>
          <p:nvPr/>
        </p:nvGrpSpPr>
        <p:grpSpPr>
          <a:xfrm>
            <a:off x="2095323" y="4043837"/>
            <a:ext cx="597723" cy="597723"/>
            <a:chOff x="0" y="0"/>
            <a:chExt cx="812800" cy="812800"/>
          </a:xfrm>
        </p:grpSpPr>
        <p:sp>
          <p:nvSpPr>
            <p:cNvPr id="25"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26" name="TextBox 26"/>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2223836" y="423415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01</a:t>
            </a:r>
          </a:p>
        </p:txBody>
      </p:sp>
      <p:sp>
        <p:nvSpPr>
          <p:cNvPr id="28" name="TextBox 28"/>
          <p:cNvSpPr txBox="1"/>
          <p:nvPr/>
        </p:nvSpPr>
        <p:spPr>
          <a:xfrm>
            <a:off x="3118116" y="5290271"/>
            <a:ext cx="4675996" cy="1790186"/>
          </a:xfrm>
          <a:prstGeom prst="rect">
            <a:avLst/>
          </a:prstGeom>
        </p:spPr>
        <p:txBody>
          <a:bodyPr lIns="0" tIns="0" rIns="0" bIns="0" rtlCol="0" anchor="t">
            <a:spAutoFit/>
          </a:bodyPr>
          <a:lstStyle/>
          <a:p>
            <a:pPr algn="just">
              <a:lnSpc>
                <a:spcPts val="2086"/>
              </a:lnSpc>
            </a:pPr>
            <a:r>
              <a:rPr lang="en-US" sz="1490">
                <a:solidFill>
                  <a:srgbClr val="FFFFFF"/>
                </a:solidFill>
                <a:latin typeface="Open Sans"/>
              </a:rPr>
              <a:t>Caesar Cipher</a:t>
            </a:r>
          </a:p>
          <a:p>
            <a:pPr algn="just">
              <a:lnSpc>
                <a:spcPts val="2086"/>
              </a:lnSpc>
              <a:spcBef>
                <a:spcPct val="0"/>
              </a:spcBef>
            </a:pPr>
            <a:r>
              <a:rPr lang="en-US" sz="1490">
                <a:solidFill>
                  <a:srgbClr val="FFFFFF"/>
                </a:solidFill>
                <a:latin typeface="Open Sans"/>
              </a:rPr>
              <a:t>proses enkripsi dilakukan dengan proses penambahan setiap angka yang diubah terlebih dahulu menjadi sebuah bilangan nilai desimal menurut tabel ascii, setelah itu maka akan dijumlahkan dengan k, k ini berfungsi sebagai key dan proses dekripsinya adalah kebalikannya</a:t>
            </a:r>
          </a:p>
        </p:txBody>
      </p:sp>
      <p:grpSp>
        <p:nvGrpSpPr>
          <p:cNvPr id="29" name="Group 29"/>
          <p:cNvGrpSpPr/>
          <p:nvPr/>
        </p:nvGrpSpPr>
        <p:grpSpPr>
          <a:xfrm>
            <a:off x="2095323" y="5612961"/>
            <a:ext cx="597723" cy="597723"/>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31" name="TextBox 31"/>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2223836" y="5803282"/>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02</a:t>
            </a:r>
          </a:p>
        </p:txBody>
      </p:sp>
      <p:sp>
        <p:nvSpPr>
          <p:cNvPr id="33" name="TextBox 33"/>
          <p:cNvSpPr txBox="1"/>
          <p:nvPr/>
        </p:nvSpPr>
        <p:spPr>
          <a:xfrm>
            <a:off x="3185768" y="7366171"/>
            <a:ext cx="4675996" cy="1018986"/>
          </a:xfrm>
          <a:prstGeom prst="rect">
            <a:avLst/>
          </a:prstGeom>
        </p:spPr>
        <p:txBody>
          <a:bodyPr lIns="0" tIns="0" rIns="0" bIns="0" rtlCol="0" anchor="t">
            <a:spAutoFit/>
          </a:bodyPr>
          <a:lstStyle/>
          <a:p>
            <a:pPr algn="just">
              <a:lnSpc>
                <a:spcPts val="2086"/>
              </a:lnSpc>
            </a:pPr>
            <a:r>
              <a:rPr lang="en-US" sz="1490">
                <a:solidFill>
                  <a:srgbClr val="FFFFFF"/>
                </a:solidFill>
                <a:latin typeface="Open Sans"/>
              </a:rPr>
              <a:t>Two Factor Authentication (2FA)</a:t>
            </a:r>
          </a:p>
          <a:p>
            <a:pPr algn="just">
              <a:lnSpc>
                <a:spcPts val="2086"/>
              </a:lnSpc>
              <a:spcBef>
                <a:spcPct val="0"/>
              </a:spcBef>
            </a:pPr>
            <a:r>
              <a:rPr lang="en-US" sz="1490">
                <a:solidFill>
                  <a:srgbClr val="FFFFFF"/>
                </a:solidFill>
                <a:latin typeface="Open Sans"/>
              </a:rPr>
              <a:t>Metode ini adalah sebuah proses pengamanan agar kartu rfid yang digunakan hanya dapat digunakan oleh pihak yang berwenang saja atau pemilik aslinya.</a:t>
            </a:r>
          </a:p>
        </p:txBody>
      </p:sp>
      <p:grpSp>
        <p:nvGrpSpPr>
          <p:cNvPr id="34" name="Group 34"/>
          <p:cNvGrpSpPr/>
          <p:nvPr/>
        </p:nvGrpSpPr>
        <p:grpSpPr>
          <a:xfrm>
            <a:off x="2095323" y="7597394"/>
            <a:ext cx="597723" cy="597723"/>
            <a:chOff x="0" y="0"/>
            <a:chExt cx="812800" cy="812800"/>
          </a:xfrm>
        </p:grpSpPr>
        <p:sp>
          <p:nvSpPr>
            <p:cNvPr id="35" name="Freeform 3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36" name="TextBox 36"/>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2223836" y="778413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2576341" y="1801985"/>
            <a:ext cx="3086100" cy="2652117"/>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095757" y="5832898"/>
            <a:ext cx="3086100" cy="265211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328126" y="2091882"/>
            <a:ext cx="7101947" cy="6103235"/>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28274" r="-712"/>
              </a:stretch>
            </a:blipFill>
          </p:spPr>
        </p:sp>
      </p:grpSp>
      <p:sp>
        <p:nvSpPr>
          <p:cNvPr id="21" name="TextBox 21"/>
          <p:cNvSpPr txBox="1"/>
          <p:nvPr/>
        </p:nvSpPr>
        <p:spPr>
          <a:xfrm>
            <a:off x="1039108" y="517674"/>
            <a:ext cx="2926889"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2" name="TextBox 2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08</a:t>
            </a:r>
          </a:p>
        </p:txBody>
      </p:sp>
      <p:sp>
        <p:nvSpPr>
          <p:cNvPr id="23" name="TextBox 23"/>
          <p:cNvSpPr txBox="1"/>
          <p:nvPr/>
        </p:nvSpPr>
        <p:spPr>
          <a:xfrm>
            <a:off x="1843882" y="1398159"/>
            <a:ext cx="6387532"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4" name="TextBox 24"/>
          <p:cNvSpPr txBox="1"/>
          <p:nvPr/>
        </p:nvSpPr>
        <p:spPr>
          <a:xfrm>
            <a:off x="1843882" y="3656323"/>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Kill-Sleep Command</a:t>
            </a:r>
          </a:p>
        </p:txBody>
      </p:sp>
      <p:sp>
        <p:nvSpPr>
          <p:cNvPr id="25" name="TextBox 25"/>
          <p:cNvSpPr txBox="1"/>
          <p:nvPr/>
        </p:nvSpPr>
        <p:spPr>
          <a:xfrm>
            <a:off x="1843882" y="4416002"/>
            <a:ext cx="6919885" cy="3538233"/>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Dalam pengujian menunjukkan bahwa kartu RFID yang ditanamkan dengan program "kill-sleep command" merespons dengan baik terhadap perintah yang diterima dari pembaca RFID, asalkan pin yang dikirimkan sesuai dengan pin unik yang dimiliki kartu RFID. Percobaan dengan pengiriman pin 8-bit dan 16-bit gagal karena ketidaksesuaian dengan pin yang dimiliki kartu RFID. Namun, pada percobaan ketiga dengan pengiriman pin 32-bit, kartu RFID merespons dengan baik dan dapat dinonaktifkan atau dinonaktifkan sementara sesuai perintah yang diterima. Metode ini efektif dalam mengatasi penggunaan yang tidak sah dari kartu RFID, seperti akses kontrol, transaksi, dan identitas, karena memungkinkan pengguna untuk mengontrol akses kartu RFID sesuai kebutuhan.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2576341" y="1801985"/>
            <a:ext cx="3086100" cy="2652117"/>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095757" y="5832898"/>
            <a:ext cx="3086100" cy="265211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328126" y="2091882"/>
            <a:ext cx="7101947" cy="6103235"/>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4412" r="-14412"/>
              </a:stretch>
            </a:blipFill>
          </p:spPr>
        </p:sp>
      </p:grpSp>
      <p:sp>
        <p:nvSpPr>
          <p:cNvPr id="21" name="TextBox 21"/>
          <p:cNvSpPr txBox="1"/>
          <p:nvPr/>
        </p:nvSpPr>
        <p:spPr>
          <a:xfrm>
            <a:off x="1039108" y="517674"/>
            <a:ext cx="2955826"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2" name="TextBox 2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09</a:t>
            </a:r>
          </a:p>
        </p:txBody>
      </p:sp>
      <p:sp>
        <p:nvSpPr>
          <p:cNvPr id="23" name="TextBox 23"/>
          <p:cNvSpPr txBox="1"/>
          <p:nvPr/>
        </p:nvSpPr>
        <p:spPr>
          <a:xfrm>
            <a:off x="1843882" y="1398159"/>
            <a:ext cx="6387532"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4" name="TextBox 24"/>
          <p:cNvSpPr txBox="1"/>
          <p:nvPr/>
        </p:nvSpPr>
        <p:spPr>
          <a:xfrm>
            <a:off x="1843882" y="3656323"/>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
        <p:nvSpPr>
          <p:cNvPr id="25" name="TextBox 25"/>
          <p:cNvSpPr txBox="1"/>
          <p:nvPr/>
        </p:nvSpPr>
        <p:spPr>
          <a:xfrm>
            <a:off x="1843882" y="4416002"/>
            <a:ext cx="6919885" cy="2947340"/>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Metode kriptografi sederhana seperti Caesar cipher dapat digunakan untuk mengamankan data keuangan dan proses transaksi menggunakan kartu RFID. Dengan mengenkripsi nominal uang yang tersimpan dalam RFID, metode ini dapat melindungi informasi dari pencurian atau pelacakan, karena data yang dicuri akan menjadi tidak dapat dimengerti tanpa kunci dekripsi yang tepat. Sistem transaksi menggunakan kartu RFID dapat mencakup tiga proses utama: cek saldo, isi saldo, dan pembayaran. Dengan menerapkan Caesar cipher, data keuangan dalam kartu RFID dapat diamankan dan transaksi dapat dilakukan dengan lebih aman.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6314346" y="4187907"/>
            <a:ext cx="3086100" cy="2652117"/>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90658" y="8036307"/>
            <a:ext cx="3086100" cy="265211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4632461" y="3016497"/>
            <a:ext cx="8826182" cy="6241803"/>
          </a:xfrm>
          <a:custGeom>
            <a:avLst/>
            <a:gdLst/>
            <a:ahLst/>
            <a:cxnLst/>
            <a:rect l="l" t="t" r="r" b="b"/>
            <a:pathLst>
              <a:path w="8826182" h="6241803">
                <a:moveTo>
                  <a:pt x="0" y="0"/>
                </a:moveTo>
                <a:lnTo>
                  <a:pt x="8826182" y="0"/>
                </a:lnTo>
                <a:lnTo>
                  <a:pt x="8826182" y="6241803"/>
                </a:lnTo>
                <a:lnTo>
                  <a:pt x="0" y="6241803"/>
                </a:lnTo>
                <a:lnTo>
                  <a:pt x="0" y="0"/>
                </a:lnTo>
                <a:close/>
              </a:path>
            </a:pathLst>
          </a:custGeom>
          <a:blipFill>
            <a:blip r:embed="rId6"/>
            <a:stretch>
              <a:fillRect/>
            </a:stretch>
          </a:blipFill>
        </p:spPr>
      </p:sp>
      <p:sp>
        <p:nvSpPr>
          <p:cNvPr id="20" name="TextBox 20"/>
          <p:cNvSpPr txBox="1"/>
          <p:nvPr/>
        </p:nvSpPr>
        <p:spPr>
          <a:xfrm>
            <a:off x="1039108" y="517674"/>
            <a:ext cx="2753268"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1" name="TextBox 21"/>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10</a:t>
            </a:r>
          </a:p>
        </p:txBody>
      </p:sp>
      <p:sp>
        <p:nvSpPr>
          <p:cNvPr id="22" name="TextBox 22"/>
          <p:cNvSpPr txBox="1"/>
          <p:nvPr/>
        </p:nvSpPr>
        <p:spPr>
          <a:xfrm>
            <a:off x="1843882" y="1398159"/>
            <a:ext cx="8644035" cy="940971"/>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3" name="TextBox 23"/>
          <p:cNvSpPr txBox="1"/>
          <p:nvPr/>
        </p:nvSpPr>
        <p:spPr>
          <a:xfrm>
            <a:off x="1843882" y="2301030"/>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6314346" y="4187907"/>
            <a:ext cx="3086100" cy="2652117"/>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90658" y="8036307"/>
            <a:ext cx="3086100" cy="265211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073218" y="2900195"/>
            <a:ext cx="5239437" cy="4771844"/>
          </a:xfrm>
          <a:custGeom>
            <a:avLst/>
            <a:gdLst/>
            <a:ahLst/>
            <a:cxnLst/>
            <a:rect l="l" t="t" r="r" b="b"/>
            <a:pathLst>
              <a:path w="5239437" h="4771844">
                <a:moveTo>
                  <a:pt x="0" y="0"/>
                </a:moveTo>
                <a:lnTo>
                  <a:pt x="5239437" y="0"/>
                </a:lnTo>
                <a:lnTo>
                  <a:pt x="5239437" y="4771845"/>
                </a:lnTo>
                <a:lnTo>
                  <a:pt x="0" y="4771845"/>
                </a:lnTo>
                <a:lnTo>
                  <a:pt x="0" y="0"/>
                </a:lnTo>
                <a:close/>
              </a:path>
            </a:pathLst>
          </a:custGeom>
          <a:blipFill>
            <a:blip r:embed="rId6"/>
            <a:stretch>
              <a:fillRect/>
            </a:stretch>
          </a:blipFill>
        </p:spPr>
      </p:sp>
      <p:sp>
        <p:nvSpPr>
          <p:cNvPr id="20" name="Freeform 20"/>
          <p:cNvSpPr/>
          <p:nvPr/>
        </p:nvSpPr>
        <p:spPr>
          <a:xfrm>
            <a:off x="7255630" y="2900195"/>
            <a:ext cx="2372511" cy="5479370"/>
          </a:xfrm>
          <a:custGeom>
            <a:avLst/>
            <a:gdLst/>
            <a:ahLst/>
            <a:cxnLst/>
            <a:rect l="l" t="t" r="r" b="b"/>
            <a:pathLst>
              <a:path w="2372511" h="5479370">
                <a:moveTo>
                  <a:pt x="0" y="0"/>
                </a:moveTo>
                <a:lnTo>
                  <a:pt x="2372511" y="0"/>
                </a:lnTo>
                <a:lnTo>
                  <a:pt x="2372511" y="5479371"/>
                </a:lnTo>
                <a:lnTo>
                  <a:pt x="0" y="5479371"/>
                </a:lnTo>
                <a:lnTo>
                  <a:pt x="0" y="0"/>
                </a:lnTo>
                <a:close/>
              </a:path>
            </a:pathLst>
          </a:custGeom>
          <a:blipFill>
            <a:blip r:embed="rId7"/>
            <a:stretch>
              <a:fillRect/>
            </a:stretch>
          </a:blipFill>
        </p:spPr>
      </p:sp>
      <p:sp>
        <p:nvSpPr>
          <p:cNvPr id="21" name="Freeform 21"/>
          <p:cNvSpPr/>
          <p:nvPr/>
        </p:nvSpPr>
        <p:spPr>
          <a:xfrm>
            <a:off x="10571116" y="2900195"/>
            <a:ext cx="2201399" cy="6462170"/>
          </a:xfrm>
          <a:custGeom>
            <a:avLst/>
            <a:gdLst/>
            <a:ahLst/>
            <a:cxnLst/>
            <a:rect l="l" t="t" r="r" b="b"/>
            <a:pathLst>
              <a:path w="2201399" h="6462170">
                <a:moveTo>
                  <a:pt x="0" y="0"/>
                </a:moveTo>
                <a:lnTo>
                  <a:pt x="2201398" y="0"/>
                </a:lnTo>
                <a:lnTo>
                  <a:pt x="2201398" y="6462171"/>
                </a:lnTo>
                <a:lnTo>
                  <a:pt x="0" y="6462171"/>
                </a:lnTo>
                <a:lnTo>
                  <a:pt x="0" y="0"/>
                </a:lnTo>
                <a:close/>
              </a:path>
            </a:pathLst>
          </a:custGeom>
          <a:blipFill>
            <a:blip r:embed="rId8"/>
            <a:stretch>
              <a:fillRect/>
            </a:stretch>
          </a:blipFill>
        </p:spPr>
      </p:sp>
      <p:sp>
        <p:nvSpPr>
          <p:cNvPr id="22" name="TextBox 22"/>
          <p:cNvSpPr txBox="1"/>
          <p:nvPr/>
        </p:nvSpPr>
        <p:spPr>
          <a:xfrm>
            <a:off x="1039108" y="517674"/>
            <a:ext cx="2630471"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3" name="TextBox 23"/>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11</a:t>
            </a:r>
          </a:p>
        </p:txBody>
      </p:sp>
      <p:sp>
        <p:nvSpPr>
          <p:cNvPr id="24" name="TextBox 24"/>
          <p:cNvSpPr txBox="1"/>
          <p:nvPr/>
        </p:nvSpPr>
        <p:spPr>
          <a:xfrm>
            <a:off x="1843882" y="1398159"/>
            <a:ext cx="8644035" cy="940971"/>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5" name="TextBox 25"/>
          <p:cNvSpPr txBox="1"/>
          <p:nvPr/>
        </p:nvSpPr>
        <p:spPr>
          <a:xfrm>
            <a:off x="1843882" y="2301030"/>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
        <p:nvSpPr>
          <p:cNvPr id="26" name="Freeform 26"/>
          <p:cNvSpPr/>
          <p:nvPr/>
        </p:nvSpPr>
        <p:spPr>
          <a:xfrm>
            <a:off x="13712232" y="2900195"/>
            <a:ext cx="1957951" cy="6561220"/>
          </a:xfrm>
          <a:custGeom>
            <a:avLst/>
            <a:gdLst/>
            <a:ahLst/>
            <a:cxnLst/>
            <a:rect l="l" t="t" r="r" b="b"/>
            <a:pathLst>
              <a:path w="1957951" h="6561220">
                <a:moveTo>
                  <a:pt x="0" y="0"/>
                </a:moveTo>
                <a:lnTo>
                  <a:pt x="1957952" y="0"/>
                </a:lnTo>
                <a:lnTo>
                  <a:pt x="1957952" y="6561221"/>
                </a:lnTo>
                <a:lnTo>
                  <a:pt x="0" y="6561221"/>
                </a:lnTo>
                <a:lnTo>
                  <a:pt x="0" y="0"/>
                </a:lnTo>
                <a:close/>
              </a:path>
            </a:pathLst>
          </a:custGeom>
          <a:blipFill>
            <a:blip r:embed="rId9"/>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8002928" y="-1834624"/>
            <a:ext cx="3086100" cy="2652117"/>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951547" y="8870081"/>
            <a:ext cx="3086100" cy="265211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39108" y="517674"/>
            <a:ext cx="2782205"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0" name="TextBox 20"/>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12</a:t>
            </a:r>
          </a:p>
        </p:txBody>
      </p:sp>
      <p:sp>
        <p:nvSpPr>
          <p:cNvPr id="21" name="TextBox 21"/>
          <p:cNvSpPr txBox="1"/>
          <p:nvPr/>
        </p:nvSpPr>
        <p:spPr>
          <a:xfrm>
            <a:off x="1843882" y="1398159"/>
            <a:ext cx="8750223" cy="940971"/>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2" name="TextBox 22"/>
          <p:cNvSpPr txBox="1"/>
          <p:nvPr/>
        </p:nvSpPr>
        <p:spPr>
          <a:xfrm>
            <a:off x="1843882" y="2382062"/>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
        <p:nvSpPr>
          <p:cNvPr id="23" name="TextBox 23"/>
          <p:cNvSpPr txBox="1"/>
          <p:nvPr/>
        </p:nvSpPr>
        <p:spPr>
          <a:xfrm>
            <a:off x="1843882" y="3168288"/>
            <a:ext cx="6919885" cy="2061813"/>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Dalam pengujian ini langkah pertama terdapat 3 kartu RFID yang akan dijadikan sebagai kartu yang dikenali sistem, dan 2 kartu ilegal. Pada ketiga kartu yang legal ini akan disimpan sebuah saldo awalnya yaitu Rp 100.000. Lalu digunakan sebuah kunci yang digunakan untuk menggeser nilai-nilai karakter dari plaintext(Px), dan digunakan untuk kuncinya adalah 10. Maka untuk ciphertext (Cx) yang nantinya akan dituliskan dalam tag RFID</a:t>
            </a:r>
          </a:p>
        </p:txBody>
      </p:sp>
      <p:sp>
        <p:nvSpPr>
          <p:cNvPr id="24" name="TextBox 24"/>
          <p:cNvSpPr txBox="1"/>
          <p:nvPr/>
        </p:nvSpPr>
        <p:spPr>
          <a:xfrm>
            <a:off x="10062075" y="3360432"/>
            <a:ext cx="6919885" cy="1471461"/>
          </a:xfrm>
          <a:prstGeom prst="rect">
            <a:avLst/>
          </a:prstGeom>
        </p:spPr>
        <p:txBody>
          <a:bodyPr lIns="0" tIns="0" rIns="0" bIns="0" rtlCol="0" anchor="t">
            <a:spAutoFit/>
          </a:bodyPr>
          <a:lstStyle/>
          <a:p>
            <a:pPr algn="l">
              <a:lnSpc>
                <a:spcPts val="2343"/>
              </a:lnSpc>
            </a:pPr>
            <a:r>
              <a:rPr lang="en-US" sz="1673">
                <a:solidFill>
                  <a:srgbClr val="FFFFFF"/>
                </a:solidFill>
                <a:latin typeface="Open Sans"/>
              </a:rPr>
              <a:t>(Cx) = (Px) + k </a:t>
            </a:r>
          </a:p>
          <a:p>
            <a:pPr algn="l">
              <a:lnSpc>
                <a:spcPts val="2343"/>
              </a:lnSpc>
            </a:pPr>
            <a:r>
              <a:rPr lang="en-US" sz="1673">
                <a:solidFill>
                  <a:srgbClr val="FFFFFF"/>
                </a:solidFill>
                <a:latin typeface="Open Sans"/>
              </a:rPr>
              <a:t>(Cx) = (100000) + 10</a:t>
            </a:r>
          </a:p>
          <a:p>
            <a:pPr algn="l">
              <a:lnSpc>
                <a:spcPts val="2343"/>
              </a:lnSpc>
            </a:pPr>
            <a:r>
              <a:rPr lang="en-US" sz="1673">
                <a:solidFill>
                  <a:srgbClr val="FFFFFF"/>
                </a:solidFill>
                <a:latin typeface="Open Sans"/>
              </a:rPr>
              <a:t>(Cx) = (49)+10, (48)+10,  (48)+10,  (48)+10, (48)+10, (48)+10</a:t>
            </a:r>
          </a:p>
          <a:p>
            <a:pPr algn="l">
              <a:lnSpc>
                <a:spcPts val="2343"/>
              </a:lnSpc>
            </a:pPr>
            <a:r>
              <a:rPr lang="en-US" sz="1673">
                <a:solidFill>
                  <a:srgbClr val="FFFFFF"/>
                </a:solidFill>
                <a:latin typeface="Open Sans"/>
              </a:rPr>
              <a:t>(Cx) = (59),(58),(58),(58),(58),(58)</a:t>
            </a:r>
          </a:p>
          <a:p>
            <a:pPr algn="l">
              <a:lnSpc>
                <a:spcPts val="2343"/>
              </a:lnSpc>
              <a:spcBef>
                <a:spcPct val="0"/>
              </a:spcBef>
            </a:pPr>
            <a:r>
              <a:rPr lang="en-US" sz="1673">
                <a:solidFill>
                  <a:srgbClr val="FFFFFF"/>
                </a:solidFill>
                <a:latin typeface="Open Sans"/>
              </a:rPr>
              <a:t>(Cx) = ;:::::</a:t>
            </a:r>
          </a:p>
        </p:txBody>
      </p:sp>
      <p:sp>
        <p:nvSpPr>
          <p:cNvPr id="25" name="TextBox 25"/>
          <p:cNvSpPr txBox="1"/>
          <p:nvPr/>
        </p:nvSpPr>
        <p:spPr>
          <a:xfrm>
            <a:off x="1843882" y="6000135"/>
            <a:ext cx="6919885" cy="2062128"/>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Kemudian dilakukan proses penyalinan data dari 3 kartu rfid legal terhadap 2 kartu rfid ilegal. Kemudian akan dilakukan proses penambahan saldo dengan menginputkan sejumlah uang dengan tipe data int, yaitu Rp 200.000. Sehingga disaat proses penambahan saldo ini data akan tetap masuk ke dalam kartu rfid ilegal. Namun saat dilakukan proses pembayaran akan ditolak dikarenakan akan ada proses dekripsi untuk proses transaksinya.</a:t>
            </a:r>
          </a:p>
        </p:txBody>
      </p:sp>
      <p:sp>
        <p:nvSpPr>
          <p:cNvPr id="26" name="TextBox 26"/>
          <p:cNvSpPr txBox="1"/>
          <p:nvPr/>
        </p:nvSpPr>
        <p:spPr>
          <a:xfrm>
            <a:off x="9999417" y="6167541"/>
            <a:ext cx="6919885" cy="1471461"/>
          </a:xfrm>
          <a:prstGeom prst="rect">
            <a:avLst/>
          </a:prstGeom>
        </p:spPr>
        <p:txBody>
          <a:bodyPr lIns="0" tIns="0" rIns="0" bIns="0" rtlCol="0" anchor="t">
            <a:spAutoFit/>
          </a:bodyPr>
          <a:lstStyle/>
          <a:p>
            <a:pPr algn="l">
              <a:lnSpc>
                <a:spcPts val="2343"/>
              </a:lnSpc>
            </a:pPr>
            <a:r>
              <a:rPr lang="en-US" sz="1673">
                <a:solidFill>
                  <a:srgbClr val="FFFFFF"/>
                </a:solidFill>
                <a:latin typeface="Open Sans"/>
              </a:rPr>
              <a:t>(Px) = (Cx) - k </a:t>
            </a:r>
          </a:p>
          <a:p>
            <a:pPr algn="l">
              <a:lnSpc>
                <a:spcPts val="2343"/>
              </a:lnSpc>
            </a:pPr>
            <a:r>
              <a:rPr lang="en-US" sz="1673">
                <a:solidFill>
                  <a:srgbClr val="FFFFFF"/>
                </a:solidFill>
                <a:latin typeface="Open Sans"/>
              </a:rPr>
              <a:t>(Cx) = (200000) -10</a:t>
            </a:r>
          </a:p>
          <a:p>
            <a:pPr algn="l">
              <a:lnSpc>
                <a:spcPts val="2343"/>
              </a:lnSpc>
            </a:pPr>
            <a:r>
              <a:rPr lang="en-US" sz="1673">
                <a:solidFill>
                  <a:srgbClr val="FFFFFF"/>
                </a:solidFill>
                <a:latin typeface="Open Sans"/>
              </a:rPr>
              <a:t>(Cx) = (50)-10, (48)-10,  (48)-10,  (48)-10, (48)-10, (48)-10</a:t>
            </a:r>
          </a:p>
          <a:p>
            <a:pPr algn="l">
              <a:lnSpc>
                <a:spcPts val="2343"/>
              </a:lnSpc>
            </a:pPr>
            <a:r>
              <a:rPr lang="en-US" sz="1673">
                <a:solidFill>
                  <a:srgbClr val="FFFFFF"/>
                </a:solidFill>
                <a:latin typeface="Open Sans"/>
              </a:rPr>
              <a:t>(Cx) = (40),(38),(38),(38),(38),(38)</a:t>
            </a:r>
          </a:p>
          <a:p>
            <a:pPr algn="l">
              <a:lnSpc>
                <a:spcPts val="2343"/>
              </a:lnSpc>
              <a:spcBef>
                <a:spcPct val="0"/>
              </a:spcBef>
            </a:pPr>
            <a:r>
              <a:rPr lang="en-US" sz="1673">
                <a:solidFill>
                  <a:srgbClr val="FFFFFF"/>
                </a:solidFill>
                <a:latin typeface="Open Sans"/>
              </a:rPr>
              <a:t>(Cx) = (&amp;&amp;&amp;&amp;&amp;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2576341" y="1801985"/>
            <a:ext cx="3086100" cy="2652117"/>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095757" y="5832898"/>
            <a:ext cx="3086100" cy="2652117"/>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328126" y="2091882"/>
            <a:ext cx="7101947" cy="6103235"/>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4453" r="-14453"/>
              </a:stretch>
            </a:blipFill>
          </p:spPr>
        </p:sp>
      </p:grpSp>
      <p:sp>
        <p:nvSpPr>
          <p:cNvPr id="21" name="TextBox 21"/>
          <p:cNvSpPr txBox="1"/>
          <p:nvPr/>
        </p:nvSpPr>
        <p:spPr>
          <a:xfrm>
            <a:off x="1039108" y="517674"/>
            <a:ext cx="2651989"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2" name="TextBox 2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13</a:t>
            </a:r>
          </a:p>
        </p:txBody>
      </p:sp>
      <p:sp>
        <p:nvSpPr>
          <p:cNvPr id="23" name="TextBox 23"/>
          <p:cNvSpPr txBox="1"/>
          <p:nvPr/>
        </p:nvSpPr>
        <p:spPr>
          <a:xfrm>
            <a:off x="1843882" y="1398159"/>
            <a:ext cx="6387532"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4" name="TextBox 24"/>
          <p:cNvSpPr txBox="1"/>
          <p:nvPr/>
        </p:nvSpPr>
        <p:spPr>
          <a:xfrm>
            <a:off x="1843882" y="3656323"/>
            <a:ext cx="4739826"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Two Factor Authentication (2FA)</a:t>
            </a:r>
          </a:p>
        </p:txBody>
      </p:sp>
      <p:sp>
        <p:nvSpPr>
          <p:cNvPr id="25" name="TextBox 25"/>
          <p:cNvSpPr txBox="1"/>
          <p:nvPr/>
        </p:nvSpPr>
        <p:spPr>
          <a:xfrm>
            <a:off x="1843882" y="4416002"/>
            <a:ext cx="6919885" cy="2652570"/>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Dalam sistem keamanan kartu RFID, penggunaan proses otentikasi sidik jari memperkuat perlindungan terhadap kloning kartu. Organisasi kriminal atau individu yang mencoba melacak dan mengkloning kartu RFID tidak akan berhasil menggunakan kartu hasil kloning tersebut tanpa proses autentikasi sidik jari pemilik asli kartu. Dengan demikian, sistem otentikasi sidik jari memberikan lapisan keamanan tambahan yang membuat kartu RFID sulit untuk disalahgunakan, mengurangi risiko penyalahgunaan dan pencurian identitas.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039108" y="517674"/>
            <a:ext cx="2780857"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14</a:t>
            </a:r>
          </a:p>
        </p:txBody>
      </p:sp>
      <p:sp>
        <p:nvSpPr>
          <p:cNvPr id="13" name="Freeform 13"/>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rot="-2700000">
            <a:off x="4142033" y="1878179"/>
            <a:ext cx="4658241" cy="4003176"/>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sp>
        <p:sp>
          <p:nvSpPr>
            <p:cNvPr id="17" name="TextBox 17"/>
            <p:cNvSpPr txBox="1"/>
            <p:nvPr/>
          </p:nvSpPr>
          <p:spPr>
            <a:xfrm>
              <a:off x="114300" y="-38100"/>
              <a:ext cx="584200" cy="7366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2700000">
            <a:off x="-1691784" y="3435906"/>
            <a:ext cx="11023498" cy="6103235"/>
            <a:chOff x="0" y="0"/>
            <a:chExt cx="1261612" cy="698500"/>
          </a:xfrm>
        </p:grpSpPr>
        <p:sp>
          <p:nvSpPr>
            <p:cNvPr id="19" name="Freeform 19"/>
            <p:cNvSpPr/>
            <p:nvPr/>
          </p:nvSpPr>
          <p:spPr>
            <a:xfrm>
              <a:off x="0" y="0"/>
              <a:ext cx="1261612" cy="698500"/>
            </a:xfrm>
            <a:custGeom>
              <a:avLst/>
              <a:gdLst/>
              <a:ahLst/>
              <a:cxnLst/>
              <a:rect l="l" t="t" r="r" b="b"/>
              <a:pathLst>
                <a:path w="1261612" h="698500">
                  <a:moveTo>
                    <a:pt x="1261612" y="349250"/>
                  </a:moveTo>
                  <a:lnTo>
                    <a:pt x="1058412" y="698500"/>
                  </a:lnTo>
                  <a:lnTo>
                    <a:pt x="203200" y="698500"/>
                  </a:lnTo>
                  <a:lnTo>
                    <a:pt x="0" y="349250"/>
                  </a:lnTo>
                  <a:lnTo>
                    <a:pt x="203200" y="0"/>
                  </a:lnTo>
                  <a:lnTo>
                    <a:pt x="1058412" y="0"/>
                  </a:lnTo>
                  <a:lnTo>
                    <a:pt x="1261612" y="349250"/>
                  </a:lnTo>
                  <a:close/>
                </a:path>
              </a:pathLst>
            </a:custGeom>
            <a:blipFill>
              <a:blip r:embed="rId6"/>
              <a:stretch>
                <a:fillRect t="-4185" b="-4185"/>
              </a:stretch>
            </a:blipFill>
          </p:spPr>
        </p:sp>
      </p:grpSp>
      <p:sp>
        <p:nvSpPr>
          <p:cNvPr id="20" name="TextBox 20"/>
          <p:cNvSpPr txBox="1"/>
          <p:nvPr/>
        </p:nvSpPr>
        <p:spPr>
          <a:xfrm>
            <a:off x="9533427" y="2771563"/>
            <a:ext cx="4569056" cy="941070"/>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KESIMPULAN</a:t>
            </a:r>
          </a:p>
        </p:txBody>
      </p:sp>
      <p:sp>
        <p:nvSpPr>
          <p:cNvPr id="21" name="TextBox 21"/>
          <p:cNvSpPr txBox="1"/>
          <p:nvPr/>
        </p:nvSpPr>
        <p:spPr>
          <a:xfrm>
            <a:off x="9533427" y="3851192"/>
            <a:ext cx="7958372" cy="4790588"/>
          </a:xfrm>
          <a:prstGeom prst="rect">
            <a:avLst/>
          </a:prstGeom>
        </p:spPr>
        <p:txBody>
          <a:bodyPr lIns="0" tIns="0" rIns="0" bIns="0" rtlCol="0" anchor="t">
            <a:spAutoFit/>
          </a:bodyPr>
          <a:lstStyle/>
          <a:p>
            <a:pPr algn="just">
              <a:lnSpc>
                <a:spcPts val="2100"/>
              </a:lnSpc>
            </a:pPr>
            <a:r>
              <a:rPr lang="en-US" sz="1500">
                <a:solidFill>
                  <a:srgbClr val="FFFFFF"/>
                </a:solidFill>
                <a:latin typeface="Open Sans"/>
              </a:rPr>
              <a:t>Dari analisa yang dilakukan dapat disimpulkan bahwa penyerangan pada kartu kredit berbasis RFID dapat terjadi melalui beberapa metode seperti tracking, kloning, dan manipulasi data. Tracking melibatkan pengumpulan data lokasi kartu secara nirkontak, kloning mencakup pembuatan kartu palsu, sementara manipulasi data melibatkan pengubahan informasi dalam kartu.</a:t>
            </a:r>
          </a:p>
          <a:p>
            <a:pPr algn="just">
              <a:lnSpc>
                <a:spcPts val="2100"/>
              </a:lnSpc>
            </a:pPr>
            <a:r>
              <a:rPr lang="en-US" sz="1500">
                <a:solidFill>
                  <a:srgbClr val="FFFFFF"/>
                </a:solidFill>
                <a:latin typeface="Open Sans"/>
              </a:rPr>
              <a:t>Metode untuk menindaklanjuti penyerangan tersebut dapat dilakukan tindakan responsif meliputi pelaporan kepada pihak berwenang, pemantauan transaksi yang mencurigakan, menghubungi penyedia kartu untuk pemblokiran dan pemantauan, serta penggantian kartu yang disalahgunakan.</a:t>
            </a:r>
          </a:p>
          <a:p>
            <a:pPr algn="just">
              <a:lnSpc>
                <a:spcPts val="2100"/>
              </a:lnSpc>
            </a:pPr>
            <a:r>
              <a:rPr lang="en-US" sz="1500">
                <a:solidFill>
                  <a:srgbClr val="FFFFFF"/>
                </a:solidFill>
                <a:latin typeface="Open Sans"/>
              </a:rPr>
              <a:t>Kemudian metode untuk mencegah penyerangan tersebut dengan langkah-langkah pencegahan mencakup program kill-sleep command untuk menonaktifkan kartu RFID, enkripsi data menggunakan metode Caesar Cipher, dan penggunaan metode otentikasi 2-faktor (2FA) untuk akses kartu.</a:t>
            </a:r>
          </a:p>
          <a:p>
            <a:pPr algn="just">
              <a:lnSpc>
                <a:spcPts val="2100"/>
              </a:lnSpc>
            </a:pPr>
            <a:r>
              <a:rPr lang="en-US" sz="1500">
                <a:solidFill>
                  <a:srgbClr val="FFFFFF"/>
                </a:solidFill>
                <a:latin typeface="Open Sans"/>
              </a:rPr>
              <a:t>Lalu untuk implementasi metode dilakukan melalui pengujian, dengan hasil pembuktian efektivitas setiap metode. Program kill-sleep command berhasil menonaktifkan kartu RFID, enkripsi data dengan Caesar Cipher melindungi informasi finansial, dan metode otentikasi 2-faktor memberikan lapisan keamanan tambahan.</a:t>
            </a:r>
          </a:p>
          <a:p>
            <a:pPr algn="just">
              <a:lnSpc>
                <a:spcPts val="2100"/>
              </a:lnSpc>
              <a:spcBef>
                <a:spcPct val="0"/>
              </a:spcBef>
            </a:pPr>
            <a:endParaRPr lang="en-US" sz="1500">
              <a:solidFill>
                <a:srgbClr val="FFFFFF"/>
              </a:solidFill>
              <a:latin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924">
                <a:alpha val="100000"/>
              </a:srgbClr>
            </a:gs>
            <a:gs pos="100000">
              <a:srgbClr val="0504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690482" y="8660782"/>
            <a:ext cx="597518" cy="597518"/>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039108" y="517674"/>
            <a:ext cx="2894353"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6"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15</a:t>
            </a:r>
          </a:p>
        </p:txBody>
      </p:sp>
      <p:sp>
        <p:nvSpPr>
          <p:cNvPr id="13" name="Freeform 13"/>
          <p:cNvSpPr/>
          <p:nvPr/>
        </p:nvSpPr>
        <p:spPr>
          <a:xfrm>
            <a:off x="552392" y="453924"/>
            <a:ext cx="358281" cy="363569"/>
          </a:xfrm>
          <a:custGeom>
            <a:avLst/>
            <a:gdLst/>
            <a:ahLst/>
            <a:cxnLst/>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679594" y="546065"/>
            <a:ext cx="103876" cy="140719"/>
          </a:xfrm>
          <a:custGeom>
            <a:avLst/>
            <a:gdLst/>
            <a:ahLst/>
            <a:cxnLst/>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2570709" y="2565941"/>
            <a:ext cx="13146582" cy="4128079"/>
          </a:xfrm>
          <a:prstGeom prst="rect">
            <a:avLst/>
          </a:prstGeom>
        </p:spPr>
        <p:txBody>
          <a:bodyPr lIns="0" tIns="0" rIns="0" bIns="0" rtlCol="0" anchor="t">
            <a:spAutoFit/>
          </a:bodyPr>
          <a:lstStyle/>
          <a:p>
            <a:pPr algn="ctr">
              <a:lnSpc>
                <a:spcPts val="33581"/>
              </a:lnSpc>
              <a:spcBef>
                <a:spcPct val="0"/>
              </a:spcBef>
            </a:pPr>
            <a:r>
              <a:rPr lang="en-US" sz="23987">
                <a:solidFill>
                  <a:srgbClr val="63F1F9"/>
                </a:solidFill>
                <a:latin typeface="Bebas Neue Cyrillic"/>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1563</Words>
  <Application>Microsoft Office PowerPoint</Application>
  <PresentationFormat>Custom</PresentationFormat>
  <Paragraphs>106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Bebas Neue Cyrillic</vt:lpstr>
      <vt:lpstr>Open Sans Bold</vt:lpstr>
      <vt:lpstr>Calibri</vt:lpstr>
      <vt:lpstr>Arial</vt:lpstr>
      <vt:lpstr>Open Sans</vt:lpstr>
      <vt:lpstr>Open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Keamanan Data dan Jaringan</dc:title>
  <dc:creator>Wijaya Dylan</dc:creator>
  <cp:lastModifiedBy>Dylan Wijaya</cp:lastModifiedBy>
  <cp:revision>1</cp:revision>
  <dcterms:created xsi:type="dcterms:W3CDTF">2006-08-16T00:00:00Z</dcterms:created>
  <dcterms:modified xsi:type="dcterms:W3CDTF">2024-05-21T10:49:57Z</dcterms:modified>
  <dc:identifier>DAGEK8y-XqQ</dc:identifier>
</cp:coreProperties>
</file>