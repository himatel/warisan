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283" y="8407075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0" y="0"/>
                </a:moveTo>
                <a:lnTo>
                  <a:pt x="1776717" y="0"/>
                </a:lnTo>
                <a:lnTo>
                  <a:pt x="1776717" y="1819730"/>
                </a:lnTo>
                <a:lnTo>
                  <a:pt x="0" y="181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74605" y="-480817"/>
            <a:ext cx="3780600" cy="3753105"/>
          </a:xfrm>
          <a:custGeom>
            <a:avLst/>
            <a:gdLst/>
            <a:ahLst/>
            <a:cxnLst/>
            <a:rect r="r" b="b" t="t" l="l"/>
            <a:pathLst>
              <a:path h="3753105" w="3780600">
                <a:moveTo>
                  <a:pt x="0" y="0"/>
                </a:moveTo>
                <a:lnTo>
                  <a:pt x="3780600" y="0"/>
                </a:lnTo>
                <a:lnTo>
                  <a:pt x="3780600" y="3753105"/>
                </a:lnTo>
                <a:lnTo>
                  <a:pt x="0" y="3753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511283" y="0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0" y="1819729"/>
                </a:moveTo>
                <a:lnTo>
                  <a:pt x="1776717" y="1819729"/>
                </a:lnTo>
                <a:lnTo>
                  <a:pt x="1776717" y="0"/>
                </a:lnTo>
                <a:lnTo>
                  <a:pt x="0" y="0"/>
                </a:lnTo>
                <a:lnTo>
                  <a:pt x="0" y="18197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84679" y="542407"/>
            <a:ext cx="4077571" cy="486293"/>
            <a:chOff x="0" y="0"/>
            <a:chExt cx="1566732" cy="186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6732" cy="186849"/>
            </a:xfrm>
            <a:custGeom>
              <a:avLst/>
              <a:gdLst/>
              <a:ahLst/>
              <a:cxnLst/>
              <a:rect r="r" b="b" t="t" l="l"/>
              <a:pathLst>
                <a:path h="186849" w="1566732">
                  <a:moveTo>
                    <a:pt x="93424" y="0"/>
                  </a:moveTo>
                  <a:lnTo>
                    <a:pt x="1473307" y="0"/>
                  </a:lnTo>
                  <a:cubicBezTo>
                    <a:pt x="1498085" y="0"/>
                    <a:pt x="1521848" y="9843"/>
                    <a:pt x="1539369" y="27363"/>
                  </a:cubicBezTo>
                  <a:cubicBezTo>
                    <a:pt x="1556889" y="44884"/>
                    <a:pt x="1566732" y="68647"/>
                    <a:pt x="1566732" y="93424"/>
                  </a:cubicBezTo>
                  <a:lnTo>
                    <a:pt x="1566732" y="93424"/>
                  </a:lnTo>
                  <a:cubicBezTo>
                    <a:pt x="1566732" y="118202"/>
                    <a:pt x="1556889" y="141965"/>
                    <a:pt x="1539369" y="159486"/>
                  </a:cubicBezTo>
                  <a:cubicBezTo>
                    <a:pt x="1521848" y="177006"/>
                    <a:pt x="1498085" y="186849"/>
                    <a:pt x="1473307" y="186849"/>
                  </a:cubicBezTo>
                  <a:lnTo>
                    <a:pt x="93424" y="186849"/>
                  </a:lnTo>
                  <a:cubicBezTo>
                    <a:pt x="68647" y="186849"/>
                    <a:pt x="44884" y="177006"/>
                    <a:pt x="27363" y="159486"/>
                  </a:cubicBezTo>
                  <a:cubicBezTo>
                    <a:pt x="9843" y="141965"/>
                    <a:pt x="0" y="118202"/>
                    <a:pt x="0" y="93424"/>
                  </a:cubicBezTo>
                  <a:lnTo>
                    <a:pt x="0" y="93424"/>
                  </a:lnTo>
                  <a:cubicBezTo>
                    <a:pt x="0" y="68647"/>
                    <a:pt x="9843" y="44884"/>
                    <a:pt x="27363" y="27363"/>
                  </a:cubicBezTo>
                  <a:cubicBezTo>
                    <a:pt x="44884" y="9843"/>
                    <a:pt x="68647" y="0"/>
                    <a:pt x="93424" y="0"/>
                  </a:cubicBezTo>
                  <a:close/>
                </a:path>
              </a:pathLst>
            </a:custGeom>
            <a:solidFill>
              <a:srgbClr val="EF81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66732" cy="224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0" y="0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1776717" y="1819729"/>
                </a:moveTo>
                <a:lnTo>
                  <a:pt x="0" y="1819729"/>
                </a:lnTo>
                <a:lnTo>
                  <a:pt x="0" y="0"/>
                </a:lnTo>
                <a:lnTo>
                  <a:pt x="1776717" y="0"/>
                </a:lnTo>
                <a:lnTo>
                  <a:pt x="1776717" y="18197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-429105" y="6828898"/>
            <a:ext cx="3950064" cy="3921336"/>
          </a:xfrm>
          <a:custGeom>
            <a:avLst/>
            <a:gdLst/>
            <a:ahLst/>
            <a:cxnLst/>
            <a:rect r="r" b="b" t="t" l="l"/>
            <a:pathLst>
              <a:path h="3921336" w="3950064">
                <a:moveTo>
                  <a:pt x="0" y="3921336"/>
                </a:moveTo>
                <a:lnTo>
                  <a:pt x="3950064" y="3921336"/>
                </a:lnTo>
                <a:lnTo>
                  <a:pt x="3950064" y="0"/>
                </a:lnTo>
                <a:lnTo>
                  <a:pt x="0" y="0"/>
                </a:lnTo>
                <a:lnTo>
                  <a:pt x="0" y="392133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0" y="8467271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1776717" y="0"/>
                </a:moveTo>
                <a:lnTo>
                  <a:pt x="0" y="0"/>
                </a:lnTo>
                <a:lnTo>
                  <a:pt x="0" y="1819729"/>
                </a:lnTo>
                <a:lnTo>
                  <a:pt x="1776717" y="1819729"/>
                </a:lnTo>
                <a:lnTo>
                  <a:pt x="17767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35834" y="877855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2420115" y="-843658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1" y="2363091"/>
                </a:lnTo>
                <a:lnTo>
                  <a:pt x="3484451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6717" y="3465099"/>
            <a:ext cx="14799260" cy="358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35"/>
              </a:lnSpc>
            </a:pPr>
            <a:r>
              <a:rPr lang="en-US" b="true" sz="145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PAKET D</a:t>
            </a:r>
          </a:p>
          <a:p>
            <a:pPr algn="ctr">
              <a:lnSpc>
                <a:spcPts val="4532"/>
              </a:lnSpc>
            </a:pPr>
          </a:p>
          <a:p>
            <a:pPr algn="ctr">
              <a:lnSpc>
                <a:spcPts val="4532"/>
              </a:lnSpc>
            </a:pPr>
            <a:r>
              <a:rPr lang="en-US" b="true" sz="44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MEMBANGUN BACKHAUL ETHERNET </a:t>
            </a:r>
          </a:p>
          <a:p>
            <a:pPr algn="ctr">
              <a:lnSpc>
                <a:spcPts val="4532"/>
              </a:lnSpc>
            </a:pPr>
            <a:r>
              <a:rPr lang="en-US" b="true" sz="44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DAN SISTEM JARINGAN  WLAN IEEE 802.11 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5888" y="1028700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84702" y="1775098"/>
            <a:ext cx="491859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kelas 3B-TNK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83381" y="7630886"/>
            <a:ext cx="6321239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Fauzan Azka Nugraha             (221344042)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Febryan Adi Putra                    (221344043)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Fitri Ayu                                     (221344044)</a:t>
            </a: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Ghany Fauzan Hidayat            (221344045)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025750" y="337887"/>
            <a:ext cx="4236500" cy="593284"/>
            <a:chOff x="0" y="0"/>
            <a:chExt cx="5648667" cy="79104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648667" cy="791045"/>
              <a:chOff x="0" y="0"/>
              <a:chExt cx="1627798" cy="22795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27798" cy="227958"/>
              </a:xfrm>
              <a:custGeom>
                <a:avLst/>
                <a:gdLst/>
                <a:ahLst/>
                <a:cxnLst/>
                <a:rect r="r" b="b" t="t" l="l"/>
                <a:pathLst>
                  <a:path h="227958" w="1627798">
                    <a:moveTo>
                      <a:pt x="113979" y="0"/>
                    </a:moveTo>
                    <a:lnTo>
                      <a:pt x="1513818" y="0"/>
                    </a:lnTo>
                    <a:cubicBezTo>
                      <a:pt x="1544048" y="0"/>
                      <a:pt x="1573039" y="12008"/>
                      <a:pt x="1594414" y="33384"/>
                    </a:cubicBezTo>
                    <a:cubicBezTo>
                      <a:pt x="1615789" y="54759"/>
                      <a:pt x="1627798" y="83750"/>
                      <a:pt x="1627798" y="113979"/>
                    </a:cubicBezTo>
                    <a:lnTo>
                      <a:pt x="1627798" y="113979"/>
                    </a:lnTo>
                    <a:cubicBezTo>
                      <a:pt x="1627798" y="176928"/>
                      <a:pt x="1576767" y="227958"/>
                      <a:pt x="1513818" y="227958"/>
                    </a:cubicBezTo>
                    <a:lnTo>
                      <a:pt x="113979" y="227958"/>
                    </a:lnTo>
                    <a:cubicBezTo>
                      <a:pt x="51030" y="227958"/>
                      <a:pt x="0" y="176928"/>
                      <a:pt x="0" y="113979"/>
                    </a:cubicBezTo>
                    <a:lnTo>
                      <a:pt x="0" y="113979"/>
                    </a:lnTo>
                    <a:cubicBezTo>
                      <a:pt x="0" y="51030"/>
                      <a:pt x="51030" y="0"/>
                      <a:pt x="113979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627798" cy="2660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350349" y="161217"/>
              <a:ext cx="611916" cy="469506"/>
            </a:xfrm>
            <a:custGeom>
              <a:avLst/>
              <a:gdLst/>
              <a:ahLst/>
              <a:cxnLst/>
              <a:rect r="r" b="b" t="t" l="l"/>
              <a:pathLst>
                <a:path h="469506" w="611916">
                  <a:moveTo>
                    <a:pt x="0" y="0"/>
                  </a:moveTo>
                  <a:lnTo>
                    <a:pt x="611916" y="0"/>
                  </a:lnTo>
                  <a:lnTo>
                    <a:pt x="611916" y="469507"/>
                  </a:lnTo>
                  <a:lnTo>
                    <a:pt x="0" y="469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945212" y="200577"/>
              <a:ext cx="4597502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POLITEKNIK NEGERI BANDUNG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true" flipV="true" rot="0">
            <a:off x="16361662" y="6590719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6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6" y="0"/>
                </a:lnTo>
                <a:lnTo>
                  <a:pt x="1795276" y="260528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087" y="1296669"/>
            <a:ext cx="12095826" cy="115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5"/>
              </a:lnSpc>
            </a:pPr>
            <a:r>
              <a:rPr lang="en-US" b="true" sz="85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TEORI PENDAHULUAN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6164" y="3401395"/>
            <a:ext cx="14734513" cy="431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Praktikum ini mengkaji jaringan hybrid berbasis WLAN IEEE 802.11g yang bekerja pada frekuensi 2,4 GHz dengan modulasi OFDM (kecepatan hingga 54 Mbps). Topo</a:t>
            </a: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logi yang digunakan adalah mesh, terdiri dari satu router root terhubung ke internet via Ethernet dan dua node lainnya t</a:t>
            </a: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erhubung secara nirkabel. 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Evaluasi dilakukan dengan Chariot, mengukur: (1) throughput, (2) transaction time, dan (3) response time, untuk mengetahui kinerja dan potensi bottl</a:t>
            </a: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eneck jaringan.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087" y="1315719"/>
            <a:ext cx="12095826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TUJUAN PRATIKUM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6164" y="3262653"/>
            <a:ext cx="17397783" cy="431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AutoNum type="arabicPeriod" startAt="1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Mengukur End to End perfomance tanpa router dan dengan router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Throughput (Mbps)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      J</a:t>
            </a: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umlah data atau transaksi yang diproses dalam waktu tertentu 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Response Time (ms, s)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      Waktu yang dibutuhkan paket untuk pergi dari sumber ke tujuan dan kembali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Transaction Time (ms, s)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      Jumlah Transaksi yang dapat diproses dalam satuan waktu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  2. </a:t>
            </a:r>
            <a:r>
              <a:rPr lang="en-US" sz="30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Membangun jaringan mesh WLAN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287607" y="736322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16133133" y="560680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0" y="2363091"/>
                </a:lnTo>
                <a:lnTo>
                  <a:pt x="3484450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84959" y="2852595"/>
            <a:ext cx="10553237" cy="1263711"/>
            <a:chOff x="0" y="0"/>
            <a:chExt cx="4054888" cy="4855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4887" cy="485558"/>
            </a:xfrm>
            <a:custGeom>
              <a:avLst/>
              <a:gdLst/>
              <a:ahLst/>
              <a:cxnLst/>
              <a:rect r="r" b="b" t="t" l="l"/>
              <a:pathLst>
                <a:path h="485558" w="4054887">
                  <a:moveTo>
                    <a:pt x="49885" y="0"/>
                  </a:moveTo>
                  <a:lnTo>
                    <a:pt x="4005002" y="0"/>
                  </a:lnTo>
                  <a:cubicBezTo>
                    <a:pt x="4032553" y="0"/>
                    <a:pt x="4054887" y="22334"/>
                    <a:pt x="4054887" y="49885"/>
                  </a:cubicBezTo>
                  <a:lnTo>
                    <a:pt x="4054887" y="435673"/>
                  </a:lnTo>
                  <a:cubicBezTo>
                    <a:pt x="4054887" y="448903"/>
                    <a:pt x="4049631" y="461592"/>
                    <a:pt x="4040276" y="470947"/>
                  </a:cubicBezTo>
                  <a:cubicBezTo>
                    <a:pt x="4030921" y="480302"/>
                    <a:pt x="4018233" y="485558"/>
                    <a:pt x="4005002" y="485558"/>
                  </a:cubicBezTo>
                  <a:lnTo>
                    <a:pt x="49885" y="485558"/>
                  </a:lnTo>
                  <a:cubicBezTo>
                    <a:pt x="22334" y="485558"/>
                    <a:pt x="0" y="463223"/>
                    <a:pt x="0" y="435673"/>
                  </a:cubicBezTo>
                  <a:lnTo>
                    <a:pt x="0" y="49885"/>
                  </a:lnTo>
                  <a:cubicBezTo>
                    <a:pt x="0" y="22334"/>
                    <a:pt x="22334" y="0"/>
                    <a:pt x="49885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54888" cy="523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96223" y="3400336"/>
            <a:ext cx="168230" cy="168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21569" y="1182280"/>
            <a:ext cx="12106106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ALAT DAN BAHAN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1342" y="3160918"/>
            <a:ext cx="95668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SDH (Syncronous Digital Hierarchy), Multiplex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557551" y="-234573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384959" y="4583031"/>
            <a:ext cx="10553237" cy="1263711"/>
            <a:chOff x="0" y="0"/>
            <a:chExt cx="4054888" cy="4855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54887" cy="485558"/>
            </a:xfrm>
            <a:custGeom>
              <a:avLst/>
              <a:gdLst/>
              <a:ahLst/>
              <a:cxnLst/>
              <a:rect r="r" b="b" t="t" l="l"/>
              <a:pathLst>
                <a:path h="485558" w="4054887">
                  <a:moveTo>
                    <a:pt x="49885" y="0"/>
                  </a:moveTo>
                  <a:lnTo>
                    <a:pt x="4005002" y="0"/>
                  </a:lnTo>
                  <a:cubicBezTo>
                    <a:pt x="4032553" y="0"/>
                    <a:pt x="4054887" y="22334"/>
                    <a:pt x="4054887" y="49885"/>
                  </a:cubicBezTo>
                  <a:lnTo>
                    <a:pt x="4054887" y="435673"/>
                  </a:lnTo>
                  <a:cubicBezTo>
                    <a:pt x="4054887" y="448903"/>
                    <a:pt x="4049631" y="461592"/>
                    <a:pt x="4040276" y="470947"/>
                  </a:cubicBezTo>
                  <a:cubicBezTo>
                    <a:pt x="4030921" y="480302"/>
                    <a:pt x="4018233" y="485558"/>
                    <a:pt x="4005002" y="485558"/>
                  </a:cubicBezTo>
                  <a:lnTo>
                    <a:pt x="49885" y="485558"/>
                  </a:lnTo>
                  <a:cubicBezTo>
                    <a:pt x="22334" y="485558"/>
                    <a:pt x="0" y="463223"/>
                    <a:pt x="0" y="435673"/>
                  </a:cubicBezTo>
                  <a:lnTo>
                    <a:pt x="0" y="49885"/>
                  </a:lnTo>
                  <a:cubicBezTo>
                    <a:pt x="0" y="22334"/>
                    <a:pt x="22334" y="0"/>
                    <a:pt x="49885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54888" cy="523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96223" y="5130772"/>
            <a:ext cx="168230" cy="16823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371342" y="4891354"/>
            <a:ext cx="95668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Komputer / Laptop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84959" y="6313467"/>
            <a:ext cx="10553237" cy="1263711"/>
            <a:chOff x="0" y="0"/>
            <a:chExt cx="4054888" cy="4855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54887" cy="485558"/>
            </a:xfrm>
            <a:custGeom>
              <a:avLst/>
              <a:gdLst/>
              <a:ahLst/>
              <a:cxnLst/>
              <a:rect r="r" b="b" t="t" l="l"/>
              <a:pathLst>
                <a:path h="485558" w="4054887">
                  <a:moveTo>
                    <a:pt x="49885" y="0"/>
                  </a:moveTo>
                  <a:lnTo>
                    <a:pt x="4005002" y="0"/>
                  </a:lnTo>
                  <a:cubicBezTo>
                    <a:pt x="4032553" y="0"/>
                    <a:pt x="4054887" y="22334"/>
                    <a:pt x="4054887" y="49885"/>
                  </a:cubicBezTo>
                  <a:lnTo>
                    <a:pt x="4054887" y="435673"/>
                  </a:lnTo>
                  <a:cubicBezTo>
                    <a:pt x="4054887" y="448903"/>
                    <a:pt x="4049631" y="461592"/>
                    <a:pt x="4040276" y="470947"/>
                  </a:cubicBezTo>
                  <a:cubicBezTo>
                    <a:pt x="4030921" y="480302"/>
                    <a:pt x="4018233" y="485558"/>
                    <a:pt x="4005002" y="485558"/>
                  </a:cubicBezTo>
                  <a:lnTo>
                    <a:pt x="49885" y="485558"/>
                  </a:lnTo>
                  <a:cubicBezTo>
                    <a:pt x="22334" y="485558"/>
                    <a:pt x="0" y="463223"/>
                    <a:pt x="0" y="435673"/>
                  </a:cubicBezTo>
                  <a:lnTo>
                    <a:pt x="0" y="49885"/>
                  </a:lnTo>
                  <a:cubicBezTo>
                    <a:pt x="0" y="22334"/>
                    <a:pt x="22334" y="0"/>
                    <a:pt x="49885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54888" cy="523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96223" y="6861208"/>
            <a:ext cx="168230" cy="16823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371342" y="6621791"/>
            <a:ext cx="95668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Router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384959" y="7994589"/>
            <a:ext cx="10553237" cy="1263711"/>
            <a:chOff x="0" y="0"/>
            <a:chExt cx="4054888" cy="4855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54887" cy="485558"/>
            </a:xfrm>
            <a:custGeom>
              <a:avLst/>
              <a:gdLst/>
              <a:ahLst/>
              <a:cxnLst/>
              <a:rect r="r" b="b" t="t" l="l"/>
              <a:pathLst>
                <a:path h="485558" w="4054887">
                  <a:moveTo>
                    <a:pt x="49885" y="0"/>
                  </a:moveTo>
                  <a:lnTo>
                    <a:pt x="4005002" y="0"/>
                  </a:lnTo>
                  <a:cubicBezTo>
                    <a:pt x="4032553" y="0"/>
                    <a:pt x="4054887" y="22334"/>
                    <a:pt x="4054887" y="49885"/>
                  </a:cubicBezTo>
                  <a:lnTo>
                    <a:pt x="4054887" y="435673"/>
                  </a:lnTo>
                  <a:cubicBezTo>
                    <a:pt x="4054887" y="448903"/>
                    <a:pt x="4049631" y="461592"/>
                    <a:pt x="4040276" y="470947"/>
                  </a:cubicBezTo>
                  <a:cubicBezTo>
                    <a:pt x="4030921" y="480302"/>
                    <a:pt x="4018233" y="485558"/>
                    <a:pt x="4005002" y="485558"/>
                  </a:cubicBezTo>
                  <a:lnTo>
                    <a:pt x="49885" y="485558"/>
                  </a:lnTo>
                  <a:cubicBezTo>
                    <a:pt x="22334" y="485558"/>
                    <a:pt x="0" y="463223"/>
                    <a:pt x="0" y="435673"/>
                  </a:cubicBezTo>
                  <a:lnTo>
                    <a:pt x="0" y="49885"/>
                  </a:lnTo>
                  <a:cubicBezTo>
                    <a:pt x="0" y="22334"/>
                    <a:pt x="22334" y="0"/>
                    <a:pt x="49885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54888" cy="523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96223" y="8542329"/>
            <a:ext cx="168230" cy="16823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371342" y="8302912"/>
            <a:ext cx="95668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Kabel Ethernet RJ45 Male to Male LAN Tester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087" y="1315719"/>
            <a:ext cx="12095826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LINGKUP PEKERJAAN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16082" y="3457593"/>
            <a:ext cx="12816495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Membangun backhaul sistem komunikasi SDH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Menguji konektivitas link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Menguji konektivitas internet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  2. </a:t>
            </a: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Membangun konektivitas Ethernet melalui WLAN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Mengkonfigurasi router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Mengukur throughput via wireless WLAN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Menguji akses internet via wireless WLAN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91894"/>
            <a:ext cx="16230600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SETUP PENGUKURAN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6267" y="2479999"/>
            <a:ext cx="15057649" cy="1212621"/>
            <a:chOff x="0" y="0"/>
            <a:chExt cx="5785625" cy="465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85625" cy="465927"/>
            </a:xfrm>
            <a:custGeom>
              <a:avLst/>
              <a:gdLst/>
              <a:ahLst/>
              <a:cxnLst/>
              <a:rect r="r" b="b" t="t" l="l"/>
              <a:pathLst>
                <a:path h="465927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430965"/>
                  </a:lnTo>
                  <a:cubicBezTo>
                    <a:pt x="5785625" y="450274"/>
                    <a:pt x="5769972" y="465927"/>
                    <a:pt x="5750663" y="465927"/>
                  </a:cubicBezTo>
                  <a:lnTo>
                    <a:pt x="34962" y="465927"/>
                  </a:lnTo>
                  <a:cubicBezTo>
                    <a:pt x="25690" y="465927"/>
                    <a:pt x="16797" y="462244"/>
                    <a:pt x="10240" y="455687"/>
                  </a:cubicBezTo>
                  <a:cubicBezTo>
                    <a:pt x="3684" y="449130"/>
                    <a:pt x="0" y="440238"/>
                    <a:pt x="0" y="430965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85625" cy="5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45241" y="2808814"/>
            <a:ext cx="1845600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Membangun Backhaul Sistem Komunikasi SDH (Synchronous Digital Hierarchy)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880221" y="3778345"/>
            <a:ext cx="12609739" cy="5737431"/>
          </a:xfrm>
          <a:custGeom>
            <a:avLst/>
            <a:gdLst/>
            <a:ahLst/>
            <a:cxnLst/>
            <a:rect r="r" b="b" t="t" l="l"/>
            <a:pathLst>
              <a:path h="5737431" w="12609739">
                <a:moveTo>
                  <a:pt x="0" y="0"/>
                </a:moveTo>
                <a:lnTo>
                  <a:pt x="12609740" y="0"/>
                </a:lnTo>
                <a:lnTo>
                  <a:pt x="12609740" y="5737431"/>
                </a:lnTo>
                <a:lnTo>
                  <a:pt x="0" y="57374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91894"/>
            <a:ext cx="16230600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SETUP PENGUKURAN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6267" y="2479999"/>
            <a:ext cx="15057649" cy="1212621"/>
            <a:chOff x="0" y="0"/>
            <a:chExt cx="5785625" cy="465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85625" cy="465927"/>
            </a:xfrm>
            <a:custGeom>
              <a:avLst/>
              <a:gdLst/>
              <a:ahLst/>
              <a:cxnLst/>
              <a:rect r="r" b="b" t="t" l="l"/>
              <a:pathLst>
                <a:path h="465927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430965"/>
                  </a:lnTo>
                  <a:cubicBezTo>
                    <a:pt x="5785625" y="450274"/>
                    <a:pt x="5769972" y="465927"/>
                    <a:pt x="5750663" y="465927"/>
                  </a:cubicBezTo>
                  <a:lnTo>
                    <a:pt x="34962" y="465927"/>
                  </a:lnTo>
                  <a:cubicBezTo>
                    <a:pt x="25690" y="465927"/>
                    <a:pt x="16797" y="462244"/>
                    <a:pt x="10240" y="455687"/>
                  </a:cubicBezTo>
                  <a:cubicBezTo>
                    <a:pt x="3684" y="449130"/>
                    <a:pt x="0" y="440238"/>
                    <a:pt x="0" y="430965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85625" cy="5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80221" y="2808525"/>
            <a:ext cx="1845600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Setup Pengukuran Pengukuran End to End Performance antar SDH 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58115" y="3778345"/>
            <a:ext cx="12771770" cy="5571685"/>
          </a:xfrm>
          <a:custGeom>
            <a:avLst/>
            <a:gdLst/>
            <a:ahLst/>
            <a:cxnLst/>
            <a:rect r="r" b="b" t="t" l="l"/>
            <a:pathLst>
              <a:path h="5571685" w="12771770">
                <a:moveTo>
                  <a:pt x="0" y="0"/>
                </a:moveTo>
                <a:lnTo>
                  <a:pt x="12771770" y="0"/>
                </a:lnTo>
                <a:lnTo>
                  <a:pt x="12771770" y="5571684"/>
                </a:lnTo>
                <a:lnTo>
                  <a:pt x="0" y="55716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91894"/>
            <a:ext cx="16230600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SETUP PENGUKURAN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6267" y="2479999"/>
            <a:ext cx="15057649" cy="1212621"/>
            <a:chOff x="0" y="0"/>
            <a:chExt cx="5785625" cy="465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85625" cy="465927"/>
            </a:xfrm>
            <a:custGeom>
              <a:avLst/>
              <a:gdLst/>
              <a:ahLst/>
              <a:cxnLst/>
              <a:rect r="r" b="b" t="t" l="l"/>
              <a:pathLst>
                <a:path h="465927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430965"/>
                  </a:lnTo>
                  <a:cubicBezTo>
                    <a:pt x="5785625" y="450274"/>
                    <a:pt x="5769972" y="465927"/>
                    <a:pt x="5750663" y="465927"/>
                  </a:cubicBezTo>
                  <a:lnTo>
                    <a:pt x="34962" y="465927"/>
                  </a:lnTo>
                  <a:cubicBezTo>
                    <a:pt x="25690" y="465927"/>
                    <a:pt x="16797" y="462244"/>
                    <a:pt x="10240" y="455687"/>
                  </a:cubicBezTo>
                  <a:cubicBezTo>
                    <a:pt x="3684" y="449130"/>
                    <a:pt x="0" y="440238"/>
                    <a:pt x="0" y="430965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85625" cy="5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402944" y="2808525"/>
            <a:ext cx="1845600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Setup Pengukuran Throughput Router 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13749" y="3778345"/>
            <a:ext cx="11860502" cy="6004379"/>
          </a:xfrm>
          <a:custGeom>
            <a:avLst/>
            <a:gdLst/>
            <a:ahLst/>
            <a:cxnLst/>
            <a:rect r="r" b="b" t="t" l="l"/>
            <a:pathLst>
              <a:path h="6004379" w="11860502">
                <a:moveTo>
                  <a:pt x="0" y="0"/>
                </a:moveTo>
                <a:lnTo>
                  <a:pt x="11860502" y="0"/>
                </a:lnTo>
                <a:lnTo>
                  <a:pt x="11860502" y="6004379"/>
                </a:lnTo>
                <a:lnTo>
                  <a:pt x="0" y="60043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91894"/>
            <a:ext cx="16230600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SETUP PENGUKURAN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6267" y="2479999"/>
            <a:ext cx="15057649" cy="1212621"/>
            <a:chOff x="0" y="0"/>
            <a:chExt cx="5785625" cy="465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85625" cy="465927"/>
            </a:xfrm>
            <a:custGeom>
              <a:avLst/>
              <a:gdLst/>
              <a:ahLst/>
              <a:cxnLst/>
              <a:rect r="r" b="b" t="t" l="l"/>
              <a:pathLst>
                <a:path h="465927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430965"/>
                  </a:lnTo>
                  <a:cubicBezTo>
                    <a:pt x="5785625" y="450274"/>
                    <a:pt x="5769972" y="465927"/>
                    <a:pt x="5750663" y="465927"/>
                  </a:cubicBezTo>
                  <a:lnTo>
                    <a:pt x="34962" y="465927"/>
                  </a:lnTo>
                  <a:cubicBezTo>
                    <a:pt x="25690" y="465927"/>
                    <a:pt x="16797" y="462244"/>
                    <a:pt x="10240" y="455687"/>
                  </a:cubicBezTo>
                  <a:cubicBezTo>
                    <a:pt x="3684" y="449130"/>
                    <a:pt x="0" y="440238"/>
                    <a:pt x="0" y="430965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85625" cy="504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473803" y="2808814"/>
            <a:ext cx="18456006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Setup Pengukuran End-to-End Performance via Wireless WLAN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645040" y="3778345"/>
            <a:ext cx="8056766" cy="6278000"/>
          </a:xfrm>
          <a:custGeom>
            <a:avLst/>
            <a:gdLst/>
            <a:ahLst/>
            <a:cxnLst/>
            <a:rect r="r" b="b" t="t" l="l"/>
            <a:pathLst>
              <a:path h="6278000" w="8056766">
                <a:moveTo>
                  <a:pt x="0" y="0"/>
                </a:moveTo>
                <a:lnTo>
                  <a:pt x="8056766" y="0"/>
                </a:lnTo>
                <a:lnTo>
                  <a:pt x="8056766" y="6277999"/>
                </a:lnTo>
                <a:lnTo>
                  <a:pt x="0" y="62779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6164" y="721725"/>
            <a:ext cx="15057649" cy="225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4"/>
              </a:lnSpc>
            </a:pPr>
            <a:r>
              <a:rPr lang="en-US" b="true" sz="8499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MENGUJI KONEKTIVITAS  LINK DAN INTERNET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09076" y="4482923"/>
            <a:ext cx="13841806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Menyetel IP Address pada PC sesuai yang terdapat pada setup ( IP PC , IP Gateway)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Melakukan PING pada Command Prompt (CMD) adapun tahapannya : PING pada PC - PING pada Gateway - PING pada DNS Google ( 8.8.8.8 )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Membuka Browser untuk memastikan sudah terhubung ke internet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9076" y="3070310"/>
            <a:ext cx="14315864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Untuk menguji konektivitas link dan internet yang harus dilakukan yaitu :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1803" y="473982"/>
            <a:ext cx="13832518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MENGUKUR THROUGHPUT, TRANSACTION RATE, RESPONSE TIME PADA PENGIRIM DAN PENERIMA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35953" y="3367863"/>
            <a:ext cx="1485310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Untuk menguji Throughtput, Transaction Rate, Response Time yang harus dilakukan yaitu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5953" y="4010721"/>
            <a:ext cx="1384180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Buka aplikasi software chariot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 Sesuaikan Endpoint 1 dan Endpoint 2 Network Address pada Add Pair dengan PC yang digunakan (TX dan RX)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Mengatur Run Option menjadi 5 menit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Run 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Akan muncul nilai minimum, average dan maksimum throughtput, transaction rate dan response time beserta grafiknya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970"/>
            <a:ext cx="16230600" cy="190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6"/>
              </a:lnSpc>
            </a:pPr>
            <a:r>
              <a:rPr lang="en-US" b="true" sz="72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MEMBANGUN KONEKTIVITAS INTERNET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5371" y="3469431"/>
            <a:ext cx="6252904" cy="4225901"/>
            <a:chOff x="0" y="0"/>
            <a:chExt cx="8337206" cy="563453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91118"/>
              <a:ext cx="8162690" cy="5443416"/>
              <a:chOff x="0" y="0"/>
              <a:chExt cx="2676925" cy="178514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676925" cy="1785149"/>
              </a:xfrm>
              <a:custGeom>
                <a:avLst/>
                <a:gdLst/>
                <a:ahLst/>
                <a:cxnLst/>
                <a:rect r="r" b="b" t="t" l="l"/>
                <a:pathLst>
                  <a:path h="1785149" w="2676925">
                    <a:moveTo>
                      <a:pt x="75564" y="0"/>
                    </a:moveTo>
                    <a:lnTo>
                      <a:pt x="2601361" y="0"/>
                    </a:lnTo>
                    <a:cubicBezTo>
                      <a:pt x="2643094" y="0"/>
                      <a:pt x="2676925" y="33831"/>
                      <a:pt x="2676925" y="75564"/>
                    </a:cubicBezTo>
                    <a:lnTo>
                      <a:pt x="2676925" y="1709585"/>
                    </a:lnTo>
                    <a:cubicBezTo>
                      <a:pt x="2676925" y="1751318"/>
                      <a:pt x="2643094" y="1785149"/>
                      <a:pt x="2601361" y="1785149"/>
                    </a:cubicBezTo>
                    <a:lnTo>
                      <a:pt x="75564" y="1785149"/>
                    </a:lnTo>
                    <a:cubicBezTo>
                      <a:pt x="33831" y="1785149"/>
                      <a:pt x="0" y="1751318"/>
                      <a:pt x="0" y="1709585"/>
                    </a:cubicBezTo>
                    <a:lnTo>
                      <a:pt x="0" y="75564"/>
                    </a:lnTo>
                    <a:cubicBezTo>
                      <a:pt x="0" y="33831"/>
                      <a:pt x="33831" y="0"/>
                      <a:pt x="75564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676925" cy="1823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3903" y="0"/>
              <a:ext cx="8133303" cy="5434956"/>
              <a:chOff x="0" y="0"/>
              <a:chExt cx="2667288" cy="17823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67288" cy="1782375"/>
              </a:xfrm>
              <a:custGeom>
                <a:avLst/>
                <a:gdLst/>
                <a:ahLst/>
                <a:cxnLst/>
                <a:rect r="r" b="b" t="t" l="l"/>
                <a:pathLst>
                  <a:path h="1782375" w="2667288">
                    <a:moveTo>
                      <a:pt x="75837" y="0"/>
                    </a:moveTo>
                    <a:lnTo>
                      <a:pt x="2591451" y="0"/>
                    </a:lnTo>
                    <a:cubicBezTo>
                      <a:pt x="2633335" y="0"/>
                      <a:pt x="2667288" y="33953"/>
                      <a:pt x="2667288" y="75837"/>
                    </a:cubicBezTo>
                    <a:lnTo>
                      <a:pt x="2667288" y="1706538"/>
                    </a:lnTo>
                    <a:cubicBezTo>
                      <a:pt x="2667288" y="1748421"/>
                      <a:pt x="2633335" y="1782375"/>
                      <a:pt x="2591451" y="1782375"/>
                    </a:cubicBezTo>
                    <a:lnTo>
                      <a:pt x="75837" y="1782375"/>
                    </a:lnTo>
                    <a:cubicBezTo>
                      <a:pt x="55724" y="1782375"/>
                      <a:pt x="36434" y="1774385"/>
                      <a:pt x="22212" y="1760163"/>
                    </a:cubicBezTo>
                    <a:cubicBezTo>
                      <a:pt x="7990" y="1745940"/>
                      <a:pt x="0" y="1726651"/>
                      <a:pt x="0" y="1706538"/>
                    </a:cubicBezTo>
                    <a:lnTo>
                      <a:pt x="0" y="75837"/>
                    </a:lnTo>
                    <a:cubicBezTo>
                      <a:pt x="0" y="33953"/>
                      <a:pt x="33953" y="0"/>
                      <a:pt x="75837" y="0"/>
                    </a:cubicBezTo>
                    <a:close/>
                  </a:path>
                </a:pathLst>
              </a:custGeom>
              <a:solidFill>
                <a:srgbClr val="29455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667288" cy="1820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063051" y="2393695"/>
            <a:ext cx="8936336" cy="828085"/>
            <a:chOff x="0" y="0"/>
            <a:chExt cx="3433623" cy="3181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33623" cy="318177"/>
            </a:xfrm>
            <a:custGeom>
              <a:avLst/>
              <a:gdLst/>
              <a:ahLst/>
              <a:cxnLst/>
              <a:rect r="r" b="b" t="t" l="l"/>
              <a:pathLst>
                <a:path h="318177" w="3433623">
                  <a:moveTo>
                    <a:pt x="58911" y="0"/>
                  </a:moveTo>
                  <a:lnTo>
                    <a:pt x="3374712" y="0"/>
                  </a:lnTo>
                  <a:cubicBezTo>
                    <a:pt x="3390336" y="0"/>
                    <a:pt x="3405321" y="6207"/>
                    <a:pt x="3416369" y="17255"/>
                  </a:cubicBezTo>
                  <a:cubicBezTo>
                    <a:pt x="3427417" y="28303"/>
                    <a:pt x="3433623" y="43287"/>
                    <a:pt x="3433623" y="58911"/>
                  </a:cubicBezTo>
                  <a:lnTo>
                    <a:pt x="3433623" y="259265"/>
                  </a:lnTo>
                  <a:cubicBezTo>
                    <a:pt x="3433623" y="274890"/>
                    <a:pt x="3427417" y="289874"/>
                    <a:pt x="3416369" y="300922"/>
                  </a:cubicBezTo>
                  <a:cubicBezTo>
                    <a:pt x="3405321" y="311970"/>
                    <a:pt x="3390336" y="318177"/>
                    <a:pt x="3374712" y="318177"/>
                  </a:cubicBezTo>
                  <a:lnTo>
                    <a:pt x="58911" y="318177"/>
                  </a:lnTo>
                  <a:cubicBezTo>
                    <a:pt x="43287" y="318177"/>
                    <a:pt x="28303" y="311970"/>
                    <a:pt x="17255" y="300922"/>
                  </a:cubicBezTo>
                  <a:cubicBezTo>
                    <a:pt x="6207" y="289874"/>
                    <a:pt x="0" y="274890"/>
                    <a:pt x="0" y="259265"/>
                  </a:cubicBezTo>
                  <a:lnTo>
                    <a:pt x="0" y="58911"/>
                  </a:lnTo>
                  <a:cubicBezTo>
                    <a:pt x="0" y="43287"/>
                    <a:pt x="6207" y="28303"/>
                    <a:pt x="17255" y="17255"/>
                  </a:cubicBezTo>
                  <a:cubicBezTo>
                    <a:pt x="28303" y="6207"/>
                    <a:pt x="43287" y="0"/>
                    <a:pt x="58911" y="0"/>
                  </a:cubicBezTo>
                  <a:close/>
                </a:path>
              </a:pathLst>
            </a:custGeom>
            <a:solidFill>
              <a:srgbClr val="EF812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33623" cy="356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39383" y="3759236"/>
            <a:ext cx="5343396" cy="3512941"/>
          </a:xfrm>
          <a:custGeom>
            <a:avLst/>
            <a:gdLst/>
            <a:ahLst/>
            <a:cxnLst/>
            <a:rect r="r" b="b" t="t" l="l"/>
            <a:pathLst>
              <a:path h="3512941" w="5343396">
                <a:moveTo>
                  <a:pt x="0" y="0"/>
                </a:moveTo>
                <a:lnTo>
                  <a:pt x="5343396" y="0"/>
                </a:lnTo>
                <a:lnTo>
                  <a:pt x="5343396" y="3512940"/>
                </a:lnTo>
                <a:lnTo>
                  <a:pt x="0" y="35129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5472" r="0" b="-94937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687572" y="3402756"/>
            <a:ext cx="6252904" cy="4225901"/>
            <a:chOff x="0" y="0"/>
            <a:chExt cx="8337206" cy="563453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191118"/>
              <a:ext cx="8162690" cy="5443416"/>
              <a:chOff x="0" y="0"/>
              <a:chExt cx="2676925" cy="178514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676925" cy="1785149"/>
              </a:xfrm>
              <a:custGeom>
                <a:avLst/>
                <a:gdLst/>
                <a:ahLst/>
                <a:cxnLst/>
                <a:rect r="r" b="b" t="t" l="l"/>
                <a:pathLst>
                  <a:path h="1785149" w="2676925">
                    <a:moveTo>
                      <a:pt x="75564" y="0"/>
                    </a:moveTo>
                    <a:lnTo>
                      <a:pt x="2601361" y="0"/>
                    </a:lnTo>
                    <a:cubicBezTo>
                      <a:pt x="2643094" y="0"/>
                      <a:pt x="2676925" y="33831"/>
                      <a:pt x="2676925" y="75564"/>
                    </a:cubicBezTo>
                    <a:lnTo>
                      <a:pt x="2676925" y="1709585"/>
                    </a:lnTo>
                    <a:cubicBezTo>
                      <a:pt x="2676925" y="1751318"/>
                      <a:pt x="2643094" y="1785149"/>
                      <a:pt x="2601361" y="1785149"/>
                    </a:cubicBezTo>
                    <a:lnTo>
                      <a:pt x="75564" y="1785149"/>
                    </a:lnTo>
                    <a:cubicBezTo>
                      <a:pt x="33831" y="1785149"/>
                      <a:pt x="0" y="1751318"/>
                      <a:pt x="0" y="1709585"/>
                    </a:cubicBezTo>
                    <a:lnTo>
                      <a:pt x="0" y="75564"/>
                    </a:lnTo>
                    <a:cubicBezTo>
                      <a:pt x="0" y="33831"/>
                      <a:pt x="33831" y="0"/>
                      <a:pt x="75564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676925" cy="1823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03903" y="0"/>
              <a:ext cx="8133303" cy="5434956"/>
              <a:chOff x="0" y="0"/>
              <a:chExt cx="2667288" cy="178237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667288" cy="1782375"/>
              </a:xfrm>
              <a:custGeom>
                <a:avLst/>
                <a:gdLst/>
                <a:ahLst/>
                <a:cxnLst/>
                <a:rect r="r" b="b" t="t" l="l"/>
                <a:pathLst>
                  <a:path h="1782375" w="2667288">
                    <a:moveTo>
                      <a:pt x="75837" y="0"/>
                    </a:moveTo>
                    <a:lnTo>
                      <a:pt x="2591451" y="0"/>
                    </a:lnTo>
                    <a:cubicBezTo>
                      <a:pt x="2633335" y="0"/>
                      <a:pt x="2667288" y="33953"/>
                      <a:pt x="2667288" y="75837"/>
                    </a:cubicBezTo>
                    <a:lnTo>
                      <a:pt x="2667288" y="1706538"/>
                    </a:lnTo>
                    <a:cubicBezTo>
                      <a:pt x="2667288" y="1748421"/>
                      <a:pt x="2633335" y="1782375"/>
                      <a:pt x="2591451" y="1782375"/>
                    </a:cubicBezTo>
                    <a:lnTo>
                      <a:pt x="75837" y="1782375"/>
                    </a:lnTo>
                    <a:cubicBezTo>
                      <a:pt x="55724" y="1782375"/>
                      <a:pt x="36434" y="1774385"/>
                      <a:pt x="22212" y="1760163"/>
                    </a:cubicBezTo>
                    <a:cubicBezTo>
                      <a:pt x="7990" y="1745940"/>
                      <a:pt x="0" y="1726651"/>
                      <a:pt x="0" y="1706538"/>
                    </a:cubicBezTo>
                    <a:lnTo>
                      <a:pt x="0" y="75837"/>
                    </a:lnTo>
                    <a:cubicBezTo>
                      <a:pt x="0" y="33953"/>
                      <a:pt x="33953" y="0"/>
                      <a:pt x="75837" y="0"/>
                    </a:cubicBezTo>
                    <a:close/>
                  </a:path>
                </a:pathLst>
              </a:custGeom>
              <a:solidFill>
                <a:srgbClr val="29455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667288" cy="1820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5841928" y="6061099"/>
            <a:ext cx="6252904" cy="4225901"/>
            <a:chOff x="0" y="0"/>
            <a:chExt cx="8337206" cy="563453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191118"/>
              <a:ext cx="8162690" cy="5443416"/>
              <a:chOff x="0" y="0"/>
              <a:chExt cx="2676925" cy="178514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676925" cy="1785149"/>
              </a:xfrm>
              <a:custGeom>
                <a:avLst/>
                <a:gdLst/>
                <a:ahLst/>
                <a:cxnLst/>
                <a:rect r="r" b="b" t="t" l="l"/>
                <a:pathLst>
                  <a:path h="1785149" w="2676925">
                    <a:moveTo>
                      <a:pt x="75564" y="0"/>
                    </a:moveTo>
                    <a:lnTo>
                      <a:pt x="2601361" y="0"/>
                    </a:lnTo>
                    <a:cubicBezTo>
                      <a:pt x="2643094" y="0"/>
                      <a:pt x="2676925" y="33831"/>
                      <a:pt x="2676925" y="75564"/>
                    </a:cubicBezTo>
                    <a:lnTo>
                      <a:pt x="2676925" y="1709585"/>
                    </a:lnTo>
                    <a:cubicBezTo>
                      <a:pt x="2676925" y="1751318"/>
                      <a:pt x="2643094" y="1785149"/>
                      <a:pt x="2601361" y="1785149"/>
                    </a:cubicBezTo>
                    <a:lnTo>
                      <a:pt x="75564" y="1785149"/>
                    </a:lnTo>
                    <a:cubicBezTo>
                      <a:pt x="33831" y="1785149"/>
                      <a:pt x="0" y="1751318"/>
                      <a:pt x="0" y="1709585"/>
                    </a:cubicBezTo>
                    <a:lnTo>
                      <a:pt x="0" y="75564"/>
                    </a:lnTo>
                    <a:cubicBezTo>
                      <a:pt x="0" y="33831"/>
                      <a:pt x="33831" y="0"/>
                      <a:pt x="75564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676925" cy="1823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03903" y="0"/>
              <a:ext cx="8133303" cy="5434956"/>
              <a:chOff x="0" y="0"/>
              <a:chExt cx="2667288" cy="178237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667288" cy="1782375"/>
              </a:xfrm>
              <a:custGeom>
                <a:avLst/>
                <a:gdLst/>
                <a:ahLst/>
                <a:cxnLst/>
                <a:rect r="r" b="b" t="t" l="l"/>
                <a:pathLst>
                  <a:path h="1782375" w="2667288">
                    <a:moveTo>
                      <a:pt x="75837" y="0"/>
                    </a:moveTo>
                    <a:lnTo>
                      <a:pt x="2591451" y="0"/>
                    </a:lnTo>
                    <a:cubicBezTo>
                      <a:pt x="2633335" y="0"/>
                      <a:pt x="2667288" y="33953"/>
                      <a:pt x="2667288" y="75837"/>
                    </a:cubicBezTo>
                    <a:lnTo>
                      <a:pt x="2667288" y="1706538"/>
                    </a:lnTo>
                    <a:cubicBezTo>
                      <a:pt x="2667288" y="1748421"/>
                      <a:pt x="2633335" y="1782375"/>
                      <a:pt x="2591451" y="1782375"/>
                    </a:cubicBezTo>
                    <a:lnTo>
                      <a:pt x="75837" y="1782375"/>
                    </a:lnTo>
                    <a:cubicBezTo>
                      <a:pt x="55724" y="1782375"/>
                      <a:pt x="36434" y="1774385"/>
                      <a:pt x="22212" y="1760163"/>
                    </a:cubicBezTo>
                    <a:cubicBezTo>
                      <a:pt x="7990" y="1745940"/>
                      <a:pt x="0" y="1726651"/>
                      <a:pt x="0" y="1706538"/>
                    </a:cubicBezTo>
                    <a:lnTo>
                      <a:pt x="0" y="75837"/>
                    </a:lnTo>
                    <a:cubicBezTo>
                      <a:pt x="0" y="33953"/>
                      <a:pt x="33953" y="0"/>
                      <a:pt x="75837" y="0"/>
                    </a:cubicBezTo>
                    <a:close/>
                  </a:path>
                </a:pathLst>
              </a:custGeom>
              <a:solidFill>
                <a:srgbClr val="29455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667288" cy="1820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6426249" y="6299003"/>
            <a:ext cx="4972608" cy="3750093"/>
          </a:xfrm>
          <a:custGeom>
            <a:avLst/>
            <a:gdLst/>
            <a:ahLst/>
            <a:cxnLst/>
            <a:rect r="r" b="b" t="t" l="l"/>
            <a:pathLst>
              <a:path h="3750093" w="4972608">
                <a:moveTo>
                  <a:pt x="0" y="0"/>
                </a:moveTo>
                <a:lnTo>
                  <a:pt x="4972607" y="0"/>
                </a:lnTo>
                <a:lnTo>
                  <a:pt x="4972607" y="3750093"/>
                </a:lnTo>
                <a:lnTo>
                  <a:pt x="0" y="3750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711" t="-97682" r="0" b="-65658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501744" y="3616823"/>
            <a:ext cx="4873189" cy="3655354"/>
          </a:xfrm>
          <a:custGeom>
            <a:avLst/>
            <a:gdLst/>
            <a:ahLst/>
            <a:cxnLst/>
            <a:rect r="r" b="b" t="t" l="l"/>
            <a:pathLst>
              <a:path h="3655354" w="4873189">
                <a:moveTo>
                  <a:pt x="0" y="0"/>
                </a:moveTo>
                <a:lnTo>
                  <a:pt x="4873189" y="0"/>
                </a:lnTo>
                <a:lnTo>
                  <a:pt x="4873189" y="3655353"/>
                </a:lnTo>
                <a:lnTo>
                  <a:pt x="0" y="36553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6149" r="0" b="-80857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841928" y="2394314"/>
            <a:ext cx="5378582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Mengkonfigurasi Router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970"/>
            <a:ext cx="16230600" cy="190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6"/>
              </a:lnSpc>
            </a:pPr>
            <a:r>
              <a:rPr lang="en-US" b="true" sz="72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MEMBANGUN KONEKTIVITAS INTERNET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3799308"/>
            <a:ext cx="6966957" cy="4646023"/>
            <a:chOff x="0" y="0"/>
            <a:chExt cx="2676925" cy="17851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6925" cy="1785149"/>
            </a:xfrm>
            <a:custGeom>
              <a:avLst/>
              <a:gdLst/>
              <a:ahLst/>
              <a:cxnLst/>
              <a:rect r="r" b="b" t="t" l="l"/>
              <a:pathLst>
                <a:path h="1785149" w="2676925">
                  <a:moveTo>
                    <a:pt x="75564" y="0"/>
                  </a:moveTo>
                  <a:lnTo>
                    <a:pt x="2601361" y="0"/>
                  </a:lnTo>
                  <a:cubicBezTo>
                    <a:pt x="2643094" y="0"/>
                    <a:pt x="2676925" y="33831"/>
                    <a:pt x="2676925" y="75564"/>
                  </a:cubicBezTo>
                  <a:lnTo>
                    <a:pt x="2676925" y="1709585"/>
                  </a:lnTo>
                  <a:cubicBezTo>
                    <a:pt x="2676925" y="1751318"/>
                    <a:pt x="2643094" y="1785149"/>
                    <a:pt x="2601361" y="1785149"/>
                  </a:cubicBezTo>
                  <a:lnTo>
                    <a:pt x="75564" y="1785149"/>
                  </a:lnTo>
                  <a:cubicBezTo>
                    <a:pt x="33831" y="1785149"/>
                    <a:pt x="0" y="1751318"/>
                    <a:pt x="0" y="1709585"/>
                  </a:cubicBezTo>
                  <a:lnTo>
                    <a:pt x="0" y="75564"/>
                  </a:lnTo>
                  <a:cubicBezTo>
                    <a:pt x="0" y="33831"/>
                    <a:pt x="33831" y="0"/>
                    <a:pt x="75564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76925" cy="1823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19275" y="3636186"/>
            <a:ext cx="6941875" cy="4638802"/>
            <a:chOff x="0" y="0"/>
            <a:chExt cx="2667288" cy="17823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7288" cy="1782375"/>
            </a:xfrm>
            <a:custGeom>
              <a:avLst/>
              <a:gdLst/>
              <a:ahLst/>
              <a:cxnLst/>
              <a:rect r="r" b="b" t="t" l="l"/>
              <a:pathLst>
                <a:path h="1782375" w="2667288">
                  <a:moveTo>
                    <a:pt x="75837" y="0"/>
                  </a:moveTo>
                  <a:lnTo>
                    <a:pt x="2591451" y="0"/>
                  </a:lnTo>
                  <a:cubicBezTo>
                    <a:pt x="2633335" y="0"/>
                    <a:pt x="2667288" y="33953"/>
                    <a:pt x="2667288" y="75837"/>
                  </a:cubicBezTo>
                  <a:lnTo>
                    <a:pt x="2667288" y="1706538"/>
                  </a:lnTo>
                  <a:cubicBezTo>
                    <a:pt x="2667288" y="1748421"/>
                    <a:pt x="2633335" y="1782375"/>
                    <a:pt x="2591451" y="1782375"/>
                  </a:cubicBezTo>
                  <a:lnTo>
                    <a:pt x="75837" y="1782375"/>
                  </a:lnTo>
                  <a:cubicBezTo>
                    <a:pt x="55724" y="1782375"/>
                    <a:pt x="36434" y="1774385"/>
                    <a:pt x="22212" y="1760163"/>
                  </a:cubicBezTo>
                  <a:cubicBezTo>
                    <a:pt x="7990" y="1745940"/>
                    <a:pt x="0" y="1726651"/>
                    <a:pt x="0" y="1706538"/>
                  </a:cubicBezTo>
                  <a:lnTo>
                    <a:pt x="0" y="75837"/>
                  </a:lnTo>
                  <a:cubicBezTo>
                    <a:pt x="0" y="33953"/>
                    <a:pt x="33953" y="0"/>
                    <a:pt x="75837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67288" cy="182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99275" y="3799308"/>
            <a:ext cx="6966957" cy="4646023"/>
            <a:chOff x="0" y="0"/>
            <a:chExt cx="2676925" cy="17851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76925" cy="1785149"/>
            </a:xfrm>
            <a:custGeom>
              <a:avLst/>
              <a:gdLst/>
              <a:ahLst/>
              <a:cxnLst/>
              <a:rect r="r" b="b" t="t" l="l"/>
              <a:pathLst>
                <a:path h="1785149" w="2676925">
                  <a:moveTo>
                    <a:pt x="75564" y="0"/>
                  </a:moveTo>
                  <a:lnTo>
                    <a:pt x="2601361" y="0"/>
                  </a:lnTo>
                  <a:cubicBezTo>
                    <a:pt x="2643094" y="0"/>
                    <a:pt x="2676925" y="33831"/>
                    <a:pt x="2676925" y="75564"/>
                  </a:cubicBezTo>
                  <a:lnTo>
                    <a:pt x="2676925" y="1709585"/>
                  </a:lnTo>
                  <a:cubicBezTo>
                    <a:pt x="2676925" y="1751318"/>
                    <a:pt x="2643094" y="1785149"/>
                    <a:pt x="2601361" y="1785149"/>
                  </a:cubicBezTo>
                  <a:lnTo>
                    <a:pt x="75564" y="1785149"/>
                  </a:lnTo>
                  <a:cubicBezTo>
                    <a:pt x="33831" y="1785149"/>
                    <a:pt x="0" y="1751318"/>
                    <a:pt x="0" y="1709585"/>
                  </a:cubicBezTo>
                  <a:lnTo>
                    <a:pt x="0" y="75564"/>
                  </a:lnTo>
                  <a:cubicBezTo>
                    <a:pt x="0" y="33831"/>
                    <a:pt x="33831" y="0"/>
                    <a:pt x="75564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76925" cy="1823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73308" y="3636186"/>
            <a:ext cx="6941875" cy="4638802"/>
            <a:chOff x="0" y="0"/>
            <a:chExt cx="2667288" cy="17823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67288" cy="1782375"/>
            </a:xfrm>
            <a:custGeom>
              <a:avLst/>
              <a:gdLst/>
              <a:ahLst/>
              <a:cxnLst/>
              <a:rect r="r" b="b" t="t" l="l"/>
              <a:pathLst>
                <a:path h="1782375" w="2667288">
                  <a:moveTo>
                    <a:pt x="75837" y="0"/>
                  </a:moveTo>
                  <a:lnTo>
                    <a:pt x="2591451" y="0"/>
                  </a:lnTo>
                  <a:cubicBezTo>
                    <a:pt x="2633335" y="0"/>
                    <a:pt x="2667288" y="33953"/>
                    <a:pt x="2667288" y="75837"/>
                  </a:cubicBezTo>
                  <a:lnTo>
                    <a:pt x="2667288" y="1706538"/>
                  </a:lnTo>
                  <a:cubicBezTo>
                    <a:pt x="2667288" y="1748421"/>
                    <a:pt x="2633335" y="1782375"/>
                    <a:pt x="2591451" y="1782375"/>
                  </a:cubicBezTo>
                  <a:lnTo>
                    <a:pt x="75837" y="1782375"/>
                  </a:lnTo>
                  <a:cubicBezTo>
                    <a:pt x="55724" y="1782375"/>
                    <a:pt x="36434" y="1774385"/>
                    <a:pt x="22212" y="1760163"/>
                  </a:cubicBezTo>
                  <a:cubicBezTo>
                    <a:pt x="7990" y="1745940"/>
                    <a:pt x="0" y="1726651"/>
                    <a:pt x="0" y="1706538"/>
                  </a:cubicBezTo>
                  <a:lnTo>
                    <a:pt x="0" y="75837"/>
                  </a:lnTo>
                  <a:cubicBezTo>
                    <a:pt x="0" y="33953"/>
                    <a:pt x="33953" y="0"/>
                    <a:pt x="75837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667288" cy="182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063051" y="2393695"/>
            <a:ext cx="8936336" cy="828085"/>
            <a:chOff x="0" y="0"/>
            <a:chExt cx="3433623" cy="3181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3623" cy="318177"/>
            </a:xfrm>
            <a:custGeom>
              <a:avLst/>
              <a:gdLst/>
              <a:ahLst/>
              <a:cxnLst/>
              <a:rect r="r" b="b" t="t" l="l"/>
              <a:pathLst>
                <a:path h="318177" w="3433623">
                  <a:moveTo>
                    <a:pt x="58911" y="0"/>
                  </a:moveTo>
                  <a:lnTo>
                    <a:pt x="3374712" y="0"/>
                  </a:lnTo>
                  <a:cubicBezTo>
                    <a:pt x="3390336" y="0"/>
                    <a:pt x="3405321" y="6207"/>
                    <a:pt x="3416369" y="17255"/>
                  </a:cubicBezTo>
                  <a:cubicBezTo>
                    <a:pt x="3427417" y="28303"/>
                    <a:pt x="3433623" y="43287"/>
                    <a:pt x="3433623" y="58911"/>
                  </a:cubicBezTo>
                  <a:lnTo>
                    <a:pt x="3433623" y="259265"/>
                  </a:lnTo>
                  <a:cubicBezTo>
                    <a:pt x="3433623" y="274890"/>
                    <a:pt x="3427417" y="289874"/>
                    <a:pt x="3416369" y="300922"/>
                  </a:cubicBezTo>
                  <a:cubicBezTo>
                    <a:pt x="3405321" y="311970"/>
                    <a:pt x="3390336" y="318177"/>
                    <a:pt x="3374712" y="318177"/>
                  </a:cubicBezTo>
                  <a:lnTo>
                    <a:pt x="58911" y="318177"/>
                  </a:lnTo>
                  <a:cubicBezTo>
                    <a:pt x="43287" y="318177"/>
                    <a:pt x="28303" y="311970"/>
                    <a:pt x="17255" y="300922"/>
                  </a:cubicBezTo>
                  <a:cubicBezTo>
                    <a:pt x="6207" y="289874"/>
                    <a:pt x="0" y="274890"/>
                    <a:pt x="0" y="259265"/>
                  </a:cubicBezTo>
                  <a:lnTo>
                    <a:pt x="0" y="58911"/>
                  </a:lnTo>
                  <a:cubicBezTo>
                    <a:pt x="0" y="43287"/>
                    <a:pt x="6207" y="28303"/>
                    <a:pt x="17255" y="17255"/>
                  </a:cubicBezTo>
                  <a:cubicBezTo>
                    <a:pt x="28303" y="6207"/>
                    <a:pt x="43287" y="0"/>
                    <a:pt x="58911" y="0"/>
                  </a:cubicBezTo>
                  <a:close/>
                </a:path>
              </a:pathLst>
            </a:custGeom>
            <a:solidFill>
              <a:srgbClr val="EF812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33623" cy="356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337117" y="3799308"/>
            <a:ext cx="6370167" cy="4103655"/>
          </a:xfrm>
          <a:custGeom>
            <a:avLst/>
            <a:gdLst/>
            <a:ahLst/>
            <a:cxnLst/>
            <a:rect r="r" b="b" t="t" l="l"/>
            <a:pathLst>
              <a:path h="4103655" w="6370167">
                <a:moveTo>
                  <a:pt x="0" y="0"/>
                </a:moveTo>
                <a:lnTo>
                  <a:pt x="6370167" y="0"/>
                </a:lnTo>
                <a:lnTo>
                  <a:pt x="6370167" y="4103655"/>
                </a:lnTo>
                <a:lnTo>
                  <a:pt x="0" y="41036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95516" r="0" b="-8045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510219" y="3907220"/>
            <a:ext cx="4868053" cy="4096734"/>
          </a:xfrm>
          <a:custGeom>
            <a:avLst/>
            <a:gdLst/>
            <a:ahLst/>
            <a:cxnLst/>
            <a:rect r="r" b="b" t="t" l="l"/>
            <a:pathLst>
              <a:path h="4096734" w="4868053">
                <a:moveTo>
                  <a:pt x="0" y="0"/>
                </a:moveTo>
                <a:lnTo>
                  <a:pt x="4868053" y="0"/>
                </a:lnTo>
                <a:lnTo>
                  <a:pt x="4868053" y="4096734"/>
                </a:lnTo>
                <a:lnTo>
                  <a:pt x="0" y="4096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297" t="-83813" r="0" b="-61864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149016" y="2528020"/>
            <a:ext cx="4764405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Mengkonfigurasi Router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970"/>
            <a:ext cx="16230600" cy="190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6"/>
              </a:lnSpc>
            </a:pPr>
            <a:r>
              <a:rPr lang="en-US" b="true" sz="72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MEMBANGUN KONEKTIVITAS INTERNET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8112" y="3703698"/>
            <a:ext cx="16911777" cy="4809145"/>
            <a:chOff x="0" y="0"/>
            <a:chExt cx="22549035" cy="641219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17495"/>
              <a:ext cx="22077036" cy="6194698"/>
              <a:chOff x="0" y="0"/>
              <a:chExt cx="6362022" cy="178514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62022" cy="1785149"/>
              </a:xfrm>
              <a:custGeom>
                <a:avLst/>
                <a:gdLst/>
                <a:ahLst/>
                <a:cxnLst/>
                <a:rect r="r" b="b" t="t" l="l"/>
                <a:pathLst>
                  <a:path h="1785149" w="6362022">
                    <a:moveTo>
                      <a:pt x="31795" y="0"/>
                    </a:moveTo>
                    <a:lnTo>
                      <a:pt x="6330227" y="0"/>
                    </a:lnTo>
                    <a:cubicBezTo>
                      <a:pt x="6338660" y="0"/>
                      <a:pt x="6346747" y="3350"/>
                      <a:pt x="6352709" y="9312"/>
                    </a:cubicBezTo>
                    <a:cubicBezTo>
                      <a:pt x="6358672" y="15275"/>
                      <a:pt x="6362022" y="23362"/>
                      <a:pt x="6362022" y="31795"/>
                    </a:cubicBezTo>
                    <a:lnTo>
                      <a:pt x="6362022" y="1753354"/>
                    </a:lnTo>
                    <a:cubicBezTo>
                      <a:pt x="6362022" y="1761787"/>
                      <a:pt x="6358672" y="1769874"/>
                      <a:pt x="6352709" y="1775837"/>
                    </a:cubicBezTo>
                    <a:cubicBezTo>
                      <a:pt x="6346747" y="1781799"/>
                      <a:pt x="6338660" y="1785149"/>
                      <a:pt x="6330227" y="1785149"/>
                    </a:cubicBezTo>
                    <a:lnTo>
                      <a:pt x="31795" y="1785149"/>
                    </a:lnTo>
                    <a:cubicBezTo>
                      <a:pt x="14235" y="1785149"/>
                      <a:pt x="0" y="1770914"/>
                      <a:pt x="0" y="1753354"/>
                    </a:cubicBezTo>
                    <a:lnTo>
                      <a:pt x="0" y="31795"/>
                    </a:lnTo>
                    <a:cubicBezTo>
                      <a:pt x="0" y="14235"/>
                      <a:pt x="14235" y="0"/>
                      <a:pt x="31795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62022" cy="1823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551480" y="0"/>
              <a:ext cx="21997555" cy="6185070"/>
              <a:chOff x="0" y="0"/>
              <a:chExt cx="6339118" cy="17823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39118" cy="1782375"/>
              </a:xfrm>
              <a:custGeom>
                <a:avLst/>
                <a:gdLst/>
                <a:ahLst/>
                <a:cxnLst/>
                <a:rect r="r" b="b" t="t" l="l"/>
                <a:pathLst>
                  <a:path h="1782375" w="6339118">
                    <a:moveTo>
                      <a:pt x="31910" y="0"/>
                    </a:moveTo>
                    <a:lnTo>
                      <a:pt x="6307208" y="0"/>
                    </a:lnTo>
                    <a:cubicBezTo>
                      <a:pt x="6324831" y="0"/>
                      <a:pt x="6339118" y="14286"/>
                      <a:pt x="6339118" y="31910"/>
                    </a:cubicBezTo>
                    <a:lnTo>
                      <a:pt x="6339118" y="1750465"/>
                    </a:lnTo>
                    <a:cubicBezTo>
                      <a:pt x="6339118" y="1768088"/>
                      <a:pt x="6324831" y="1782375"/>
                      <a:pt x="6307208" y="1782375"/>
                    </a:cubicBezTo>
                    <a:lnTo>
                      <a:pt x="31910" y="1782375"/>
                    </a:lnTo>
                    <a:cubicBezTo>
                      <a:pt x="14286" y="1782375"/>
                      <a:pt x="0" y="1768088"/>
                      <a:pt x="0" y="1750465"/>
                    </a:cubicBezTo>
                    <a:lnTo>
                      <a:pt x="0" y="31910"/>
                    </a:lnTo>
                    <a:cubicBezTo>
                      <a:pt x="0" y="14286"/>
                      <a:pt x="14286" y="0"/>
                      <a:pt x="31910" y="0"/>
                    </a:cubicBezTo>
                    <a:close/>
                  </a:path>
                </a:pathLst>
              </a:custGeom>
              <a:solidFill>
                <a:srgbClr val="29455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339118" cy="1820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063051" y="2393695"/>
            <a:ext cx="8936336" cy="828085"/>
            <a:chOff x="0" y="0"/>
            <a:chExt cx="3433623" cy="3181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33623" cy="318177"/>
            </a:xfrm>
            <a:custGeom>
              <a:avLst/>
              <a:gdLst/>
              <a:ahLst/>
              <a:cxnLst/>
              <a:rect r="r" b="b" t="t" l="l"/>
              <a:pathLst>
                <a:path h="318177" w="3433623">
                  <a:moveTo>
                    <a:pt x="58911" y="0"/>
                  </a:moveTo>
                  <a:lnTo>
                    <a:pt x="3374712" y="0"/>
                  </a:lnTo>
                  <a:cubicBezTo>
                    <a:pt x="3390336" y="0"/>
                    <a:pt x="3405321" y="6207"/>
                    <a:pt x="3416369" y="17255"/>
                  </a:cubicBezTo>
                  <a:cubicBezTo>
                    <a:pt x="3427417" y="28303"/>
                    <a:pt x="3433623" y="43287"/>
                    <a:pt x="3433623" y="58911"/>
                  </a:cubicBezTo>
                  <a:lnTo>
                    <a:pt x="3433623" y="259265"/>
                  </a:lnTo>
                  <a:cubicBezTo>
                    <a:pt x="3433623" y="274890"/>
                    <a:pt x="3427417" y="289874"/>
                    <a:pt x="3416369" y="300922"/>
                  </a:cubicBezTo>
                  <a:cubicBezTo>
                    <a:pt x="3405321" y="311970"/>
                    <a:pt x="3390336" y="318177"/>
                    <a:pt x="3374712" y="318177"/>
                  </a:cubicBezTo>
                  <a:lnTo>
                    <a:pt x="58911" y="318177"/>
                  </a:lnTo>
                  <a:cubicBezTo>
                    <a:pt x="43287" y="318177"/>
                    <a:pt x="28303" y="311970"/>
                    <a:pt x="17255" y="300922"/>
                  </a:cubicBezTo>
                  <a:cubicBezTo>
                    <a:pt x="6207" y="289874"/>
                    <a:pt x="0" y="274890"/>
                    <a:pt x="0" y="259265"/>
                  </a:cubicBezTo>
                  <a:lnTo>
                    <a:pt x="0" y="58911"/>
                  </a:lnTo>
                  <a:cubicBezTo>
                    <a:pt x="0" y="43287"/>
                    <a:pt x="6207" y="28303"/>
                    <a:pt x="17255" y="17255"/>
                  </a:cubicBezTo>
                  <a:cubicBezTo>
                    <a:pt x="28303" y="6207"/>
                    <a:pt x="43287" y="0"/>
                    <a:pt x="58911" y="0"/>
                  </a:cubicBezTo>
                  <a:close/>
                </a:path>
              </a:pathLst>
            </a:custGeom>
            <a:solidFill>
              <a:srgbClr val="EF812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33623" cy="356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417833" y="2528020"/>
            <a:ext cx="8226772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Mengukur Throughput Via Wireless WLAN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8115" y="3814812"/>
            <a:ext cx="15919950" cy="511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Mempersiapkan dua router:</a:t>
            </a:r>
          </a:p>
          <a:p>
            <a:pPr algn="l" marL="420247" indent="-210124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 utama dihubungkan ke PC di POLBAN A sebagai RX (receiver).</a:t>
            </a:r>
          </a:p>
          <a:p>
            <a:pPr algn="l" marL="420247" indent="-210124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Router anak pertama dihubungkan ke PC di POLBAN B sebagai TX (transmitter).</a:t>
            </a:r>
          </a:p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Sambungkan kabel Eth</a:t>
            </a: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ernet dari masing-masing router ke port Internet yang terhubung ke perangkat SDH.</a:t>
            </a:r>
          </a:p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Buka aplikasi Chariot di kedua PC (PC POLBAN A dan PC POLBAN B).</a:t>
            </a:r>
          </a:p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Lakukan pengukuran Throughput dengan langkah yang sama seperti saat pengukuran tanpa menggunakan router, dengan penyesuaian berikut:</a:t>
            </a:r>
          </a:p>
          <a:p>
            <a:pPr algn="l" marL="420247" indent="-210124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Sesuaikan Endpoint 1 Network Address dan Endpoint 2 Network Address berdasarkan konfigurasi jaringan yang digunakan saat ini.</a:t>
            </a:r>
          </a:p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Setelah konfigurasi endpoint selesai, klik RUN.</a:t>
            </a:r>
          </a:p>
          <a:p>
            <a:pPr algn="l" marL="420247" indent="-210124" lvl="1">
              <a:lnSpc>
                <a:spcPts val="2725"/>
              </a:lnSpc>
              <a:buAutoNum type="arabicPeriod" startAt="1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Aplikasi Chariot akan menampilkan hasil pengukuran berupa:</a:t>
            </a:r>
          </a:p>
          <a:p>
            <a:pPr algn="l" marL="420247" indent="-210124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Throughput</a:t>
            </a:r>
          </a:p>
          <a:p>
            <a:pPr algn="l" marL="420247" indent="-210124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Transaction Rate</a:t>
            </a:r>
          </a:p>
          <a:p>
            <a:pPr algn="l" marL="420247" indent="-210124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Response Time</a:t>
            </a:r>
          </a:p>
          <a:p>
            <a:pPr algn="l">
              <a:lnSpc>
                <a:spcPts val="2725"/>
              </a:lnSpc>
              <a:spcBef>
                <a:spcPct val="0"/>
              </a:spcBef>
            </a:pPr>
          </a:p>
          <a:p>
            <a:pPr algn="l">
              <a:lnSpc>
                <a:spcPts val="27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970"/>
            <a:ext cx="16230600" cy="1908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6"/>
              </a:lnSpc>
            </a:pPr>
            <a:r>
              <a:rPr lang="en-US" b="true" sz="72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MEMBANGUN KONEKTIVITAS INTERNET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357193" y="3593256"/>
            <a:ext cx="10909719" cy="5706937"/>
            <a:chOff x="0" y="0"/>
            <a:chExt cx="14546293" cy="760925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58098"/>
              <a:ext cx="14241807" cy="7351151"/>
              <a:chOff x="0" y="0"/>
              <a:chExt cx="3458472" cy="178514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458472" cy="1785149"/>
              </a:xfrm>
              <a:custGeom>
                <a:avLst/>
                <a:gdLst/>
                <a:ahLst/>
                <a:cxnLst/>
                <a:rect r="r" b="b" t="t" l="l"/>
                <a:pathLst>
                  <a:path h="1785149" w="3458472">
                    <a:moveTo>
                      <a:pt x="58488" y="0"/>
                    </a:moveTo>
                    <a:lnTo>
                      <a:pt x="3399984" y="0"/>
                    </a:lnTo>
                    <a:cubicBezTo>
                      <a:pt x="3415496" y="0"/>
                      <a:pt x="3430373" y="6162"/>
                      <a:pt x="3441341" y="17131"/>
                    </a:cubicBezTo>
                    <a:cubicBezTo>
                      <a:pt x="3452310" y="28099"/>
                      <a:pt x="3458472" y="42976"/>
                      <a:pt x="3458472" y="58488"/>
                    </a:cubicBezTo>
                    <a:lnTo>
                      <a:pt x="3458472" y="1726661"/>
                    </a:lnTo>
                    <a:cubicBezTo>
                      <a:pt x="3458472" y="1742173"/>
                      <a:pt x="3452310" y="1757050"/>
                      <a:pt x="3441341" y="1768018"/>
                    </a:cubicBezTo>
                    <a:cubicBezTo>
                      <a:pt x="3430373" y="1778987"/>
                      <a:pt x="3415496" y="1785149"/>
                      <a:pt x="3399984" y="1785149"/>
                    </a:cubicBezTo>
                    <a:lnTo>
                      <a:pt x="58488" y="1785149"/>
                    </a:lnTo>
                    <a:cubicBezTo>
                      <a:pt x="42976" y="1785149"/>
                      <a:pt x="28099" y="1778987"/>
                      <a:pt x="17131" y="1768018"/>
                    </a:cubicBezTo>
                    <a:cubicBezTo>
                      <a:pt x="6162" y="1757050"/>
                      <a:pt x="0" y="1742173"/>
                      <a:pt x="0" y="1726661"/>
                    </a:cubicBezTo>
                    <a:lnTo>
                      <a:pt x="0" y="58488"/>
                    </a:lnTo>
                    <a:cubicBezTo>
                      <a:pt x="0" y="42976"/>
                      <a:pt x="6162" y="28099"/>
                      <a:pt x="17131" y="17131"/>
                    </a:cubicBezTo>
                    <a:cubicBezTo>
                      <a:pt x="28099" y="6162"/>
                      <a:pt x="42976" y="0"/>
                      <a:pt x="58488" y="0"/>
                    </a:cubicBezTo>
                    <a:close/>
                  </a:path>
                </a:pathLst>
              </a:custGeom>
              <a:solidFill>
                <a:srgbClr val="FCB50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458472" cy="1823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55758" y="0"/>
              <a:ext cx="14190535" cy="7339726"/>
              <a:chOff x="0" y="0"/>
              <a:chExt cx="3446021" cy="17823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446021" cy="1782375"/>
              </a:xfrm>
              <a:custGeom>
                <a:avLst/>
                <a:gdLst/>
                <a:ahLst/>
                <a:cxnLst/>
                <a:rect r="r" b="b" t="t" l="l"/>
                <a:pathLst>
                  <a:path h="1782375" w="3446021">
                    <a:moveTo>
                      <a:pt x="58699" y="0"/>
                    </a:moveTo>
                    <a:lnTo>
                      <a:pt x="3387322" y="0"/>
                    </a:lnTo>
                    <a:cubicBezTo>
                      <a:pt x="3419740" y="0"/>
                      <a:pt x="3446021" y="26281"/>
                      <a:pt x="3446021" y="58699"/>
                    </a:cubicBezTo>
                    <a:lnTo>
                      <a:pt x="3446021" y="1723675"/>
                    </a:lnTo>
                    <a:cubicBezTo>
                      <a:pt x="3446021" y="1756094"/>
                      <a:pt x="3419740" y="1782375"/>
                      <a:pt x="3387322" y="1782375"/>
                    </a:cubicBezTo>
                    <a:lnTo>
                      <a:pt x="58699" y="1782375"/>
                    </a:lnTo>
                    <a:cubicBezTo>
                      <a:pt x="26281" y="1782375"/>
                      <a:pt x="0" y="1756094"/>
                      <a:pt x="0" y="1723675"/>
                    </a:cubicBezTo>
                    <a:lnTo>
                      <a:pt x="0" y="58699"/>
                    </a:lnTo>
                    <a:cubicBezTo>
                      <a:pt x="0" y="26281"/>
                      <a:pt x="26281" y="0"/>
                      <a:pt x="58699" y="0"/>
                    </a:cubicBezTo>
                    <a:close/>
                  </a:path>
                </a:pathLst>
              </a:custGeom>
              <a:solidFill>
                <a:srgbClr val="29455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446021" cy="1820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063051" y="2393695"/>
            <a:ext cx="8936336" cy="828085"/>
            <a:chOff x="0" y="0"/>
            <a:chExt cx="3433623" cy="3181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33623" cy="318177"/>
            </a:xfrm>
            <a:custGeom>
              <a:avLst/>
              <a:gdLst/>
              <a:ahLst/>
              <a:cxnLst/>
              <a:rect r="r" b="b" t="t" l="l"/>
              <a:pathLst>
                <a:path h="318177" w="3433623">
                  <a:moveTo>
                    <a:pt x="58911" y="0"/>
                  </a:moveTo>
                  <a:lnTo>
                    <a:pt x="3374712" y="0"/>
                  </a:lnTo>
                  <a:cubicBezTo>
                    <a:pt x="3390336" y="0"/>
                    <a:pt x="3405321" y="6207"/>
                    <a:pt x="3416369" y="17255"/>
                  </a:cubicBezTo>
                  <a:cubicBezTo>
                    <a:pt x="3427417" y="28303"/>
                    <a:pt x="3433623" y="43287"/>
                    <a:pt x="3433623" y="58911"/>
                  </a:cubicBezTo>
                  <a:lnTo>
                    <a:pt x="3433623" y="259265"/>
                  </a:lnTo>
                  <a:cubicBezTo>
                    <a:pt x="3433623" y="274890"/>
                    <a:pt x="3427417" y="289874"/>
                    <a:pt x="3416369" y="300922"/>
                  </a:cubicBezTo>
                  <a:cubicBezTo>
                    <a:pt x="3405321" y="311970"/>
                    <a:pt x="3390336" y="318177"/>
                    <a:pt x="3374712" y="318177"/>
                  </a:cubicBezTo>
                  <a:lnTo>
                    <a:pt x="58911" y="318177"/>
                  </a:lnTo>
                  <a:cubicBezTo>
                    <a:pt x="43287" y="318177"/>
                    <a:pt x="28303" y="311970"/>
                    <a:pt x="17255" y="300922"/>
                  </a:cubicBezTo>
                  <a:cubicBezTo>
                    <a:pt x="6207" y="289874"/>
                    <a:pt x="0" y="274890"/>
                    <a:pt x="0" y="259265"/>
                  </a:cubicBezTo>
                  <a:lnTo>
                    <a:pt x="0" y="58911"/>
                  </a:lnTo>
                  <a:cubicBezTo>
                    <a:pt x="0" y="43287"/>
                    <a:pt x="6207" y="28303"/>
                    <a:pt x="17255" y="17255"/>
                  </a:cubicBezTo>
                  <a:cubicBezTo>
                    <a:pt x="28303" y="6207"/>
                    <a:pt x="43287" y="0"/>
                    <a:pt x="58911" y="0"/>
                  </a:cubicBezTo>
                  <a:close/>
                </a:path>
              </a:pathLst>
            </a:custGeom>
            <a:solidFill>
              <a:srgbClr val="EF812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33623" cy="356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417833" y="2528020"/>
            <a:ext cx="8226772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Mengukur Throughput Via Wireless WLAN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517729" y="3809036"/>
            <a:ext cx="8588647" cy="4973606"/>
          </a:xfrm>
          <a:custGeom>
            <a:avLst/>
            <a:gdLst/>
            <a:ahLst/>
            <a:cxnLst/>
            <a:rect r="r" b="b" t="t" l="l"/>
            <a:pathLst>
              <a:path h="4973606" w="8588647">
                <a:moveTo>
                  <a:pt x="0" y="0"/>
                </a:moveTo>
                <a:lnTo>
                  <a:pt x="8588647" y="0"/>
                </a:lnTo>
                <a:lnTo>
                  <a:pt x="8588647" y="4973606"/>
                </a:lnTo>
                <a:lnTo>
                  <a:pt x="0" y="49736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97" t="0" r="-15283" b="-1596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600" y="3530413"/>
            <a:ext cx="16306800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34"/>
              </a:lnSpc>
            </a:pPr>
            <a:r>
              <a:rPr lang="en-US" b="true" sz="14499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TERIMAKASIH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287607" y="736322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6133133" y="560680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0" y="2363091"/>
                </a:lnTo>
                <a:lnTo>
                  <a:pt x="3484450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557551" y="-234573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4246" y="5681521"/>
            <a:ext cx="10543308" cy="75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8"/>
              </a:lnSpc>
            </a:pPr>
            <a:r>
              <a:rPr lang="en-US" b="true" sz="56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ATAS PERHATIANNYA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5143975" y="6631100"/>
            <a:ext cx="8000049" cy="3810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143975" y="6745400"/>
            <a:ext cx="8000049" cy="3810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DAGnUsuyk8I</dc:identifier>
  <dcterms:modified xsi:type="dcterms:W3CDTF">2011-08-01T06:04:30Z</dcterms:modified>
  <cp:revision>1</cp:revision>
  <dc:title>PAKET D Kelompok 3</dc:title>
</cp:coreProperties>
</file>