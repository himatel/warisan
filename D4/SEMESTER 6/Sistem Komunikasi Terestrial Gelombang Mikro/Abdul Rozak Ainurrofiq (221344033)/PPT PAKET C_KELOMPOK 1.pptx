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TS Damas Sans" charset="1" panose="00000500000000000000"/>
      <p:regular r:id="rId26"/>
    </p:embeddedFont>
    <p:embeddedFont>
      <p:font typeface="Ruda Bold" charset="1" panose="02000000000000000000"/>
      <p:regular r:id="rId27"/>
    </p:embeddedFont>
    <p:embeddedFont>
      <p:font typeface="Ruda" charset="1" panose="0200000000000000000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6.png" Type="http://schemas.openxmlformats.org/officeDocument/2006/relationships/image"/><Relationship Id="rId6" Target="../media/image1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6.png" Type="http://schemas.openxmlformats.org/officeDocument/2006/relationships/image"/><Relationship Id="rId6" Target="../media/image1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6.png" Type="http://schemas.openxmlformats.org/officeDocument/2006/relationships/image"/><Relationship Id="rId6" Target="../media/image1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6.png" Type="http://schemas.openxmlformats.org/officeDocument/2006/relationships/image"/><Relationship Id="rId6" Target="../media/image1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6.png" Type="http://schemas.openxmlformats.org/officeDocument/2006/relationships/image"/><Relationship Id="rId6" Target="../media/image1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6.png" Type="http://schemas.openxmlformats.org/officeDocument/2006/relationships/image"/><Relationship Id="rId6" Target="../media/image17.png" Type="http://schemas.openxmlformats.org/officeDocument/2006/relationships/image"/><Relationship Id="rId7" Target="../media/image18.png" Type="http://schemas.openxmlformats.org/officeDocument/2006/relationships/image"/><Relationship Id="rId8" Target="../media/image1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6.png" Type="http://schemas.openxmlformats.org/officeDocument/2006/relationships/image"/><Relationship Id="rId6" Target="../media/image20.png" Type="http://schemas.openxmlformats.org/officeDocument/2006/relationships/image"/><Relationship Id="rId7" Target="../media/image21.png" Type="http://schemas.openxmlformats.org/officeDocument/2006/relationships/image"/><Relationship Id="rId8" Target="../media/image2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6.png" Type="http://schemas.openxmlformats.org/officeDocument/2006/relationships/image"/><Relationship Id="rId6" Target="../media/image2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6.png" Type="http://schemas.openxmlformats.org/officeDocument/2006/relationships/image"/><Relationship Id="rId6" Target="../media/image24.png" Type="http://schemas.openxmlformats.org/officeDocument/2006/relationships/image"/><Relationship Id="rId7" Target="../media/image25.png" Type="http://schemas.openxmlformats.org/officeDocument/2006/relationships/image"/><Relationship Id="rId8" Target="../media/image2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6.png" Type="http://schemas.openxmlformats.org/officeDocument/2006/relationships/image"/><Relationship Id="rId6" Target="../media/image27.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28.png" Type="http://schemas.openxmlformats.org/officeDocument/2006/relationships/image"/><Relationship Id="rId6" Target="../media/image29.svg" Type="http://schemas.openxmlformats.org/officeDocument/2006/relationships/image"/><Relationship Id="rId7" Target="../media/image6.png" Type="http://schemas.openxmlformats.org/officeDocument/2006/relationships/image"/><Relationship Id="rId8" Target="../media/image30.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28.png" Type="http://schemas.openxmlformats.org/officeDocument/2006/relationships/image"/><Relationship Id="rId6" Target="../media/image29.svg" Type="http://schemas.openxmlformats.org/officeDocument/2006/relationships/image"/><Relationship Id="rId7" Target="../media/image6.png" Type="http://schemas.openxmlformats.org/officeDocument/2006/relationships/image"/><Relationship Id="rId8" Target="../media/image3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28.png" Type="http://schemas.openxmlformats.org/officeDocument/2006/relationships/image"/><Relationship Id="rId6" Target="../media/image29.svg" Type="http://schemas.openxmlformats.org/officeDocument/2006/relationships/image"/><Relationship Id="rId7" Target="../media/image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28.png" Type="http://schemas.openxmlformats.org/officeDocument/2006/relationships/image"/><Relationship Id="rId6" Target="../media/image29.svg" Type="http://schemas.openxmlformats.org/officeDocument/2006/relationships/image"/><Relationship Id="rId7" Target="../media/image6.png" Type="http://schemas.openxmlformats.org/officeDocument/2006/relationships/image"/><Relationship Id="rId8" Target="../media/image31.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10957770" y="8096179"/>
            <a:ext cx="6602933" cy="1808068"/>
            <a:chOff x="0" y="0"/>
            <a:chExt cx="1739044" cy="476199"/>
          </a:xfrm>
        </p:grpSpPr>
        <p:sp>
          <p:nvSpPr>
            <p:cNvPr name="Freeform 4" id="4"/>
            <p:cNvSpPr/>
            <p:nvPr/>
          </p:nvSpPr>
          <p:spPr>
            <a:xfrm flipH="false" flipV="false" rot="0">
              <a:off x="0" y="0"/>
              <a:ext cx="1739044" cy="476199"/>
            </a:xfrm>
            <a:custGeom>
              <a:avLst/>
              <a:gdLst/>
              <a:ahLst/>
              <a:cxnLst/>
              <a:rect r="r" b="b" t="t" l="l"/>
              <a:pathLst>
                <a:path h="476199" w="1739044">
                  <a:moveTo>
                    <a:pt x="59797" y="0"/>
                  </a:moveTo>
                  <a:lnTo>
                    <a:pt x="1679247" y="0"/>
                  </a:lnTo>
                  <a:cubicBezTo>
                    <a:pt x="1695106" y="0"/>
                    <a:pt x="1710316" y="6300"/>
                    <a:pt x="1721530" y="17514"/>
                  </a:cubicBezTo>
                  <a:cubicBezTo>
                    <a:pt x="1732744" y="28728"/>
                    <a:pt x="1739044" y="43938"/>
                    <a:pt x="1739044" y="59797"/>
                  </a:cubicBezTo>
                  <a:lnTo>
                    <a:pt x="1739044" y="416401"/>
                  </a:lnTo>
                  <a:cubicBezTo>
                    <a:pt x="1739044" y="449427"/>
                    <a:pt x="1712272" y="476199"/>
                    <a:pt x="1679247" y="476199"/>
                  </a:cubicBezTo>
                  <a:lnTo>
                    <a:pt x="59797" y="476199"/>
                  </a:lnTo>
                  <a:cubicBezTo>
                    <a:pt x="26772" y="476199"/>
                    <a:pt x="0" y="449427"/>
                    <a:pt x="0" y="416401"/>
                  </a:cubicBezTo>
                  <a:lnTo>
                    <a:pt x="0" y="59797"/>
                  </a:lnTo>
                  <a:cubicBezTo>
                    <a:pt x="0" y="26772"/>
                    <a:pt x="26772" y="0"/>
                    <a:pt x="59797" y="0"/>
                  </a:cubicBezTo>
                  <a:close/>
                </a:path>
              </a:pathLst>
            </a:custGeom>
            <a:solidFill>
              <a:srgbClr val="B2D0EC"/>
            </a:solidFill>
          </p:spPr>
        </p:sp>
        <p:sp>
          <p:nvSpPr>
            <p:cNvPr name="TextBox 5" id="5"/>
            <p:cNvSpPr txBox="true"/>
            <p:nvPr/>
          </p:nvSpPr>
          <p:spPr>
            <a:xfrm>
              <a:off x="0" y="-57150"/>
              <a:ext cx="1739044" cy="533349"/>
            </a:xfrm>
            <a:prstGeom prst="rect">
              <a:avLst/>
            </a:prstGeom>
          </p:spPr>
          <p:txBody>
            <a:bodyPr anchor="ctr" rtlCol="false" tIns="50800" lIns="50800" bIns="50800" rIns="50800"/>
            <a:lstStyle/>
            <a:p>
              <a:pPr algn="ctr">
                <a:lnSpc>
                  <a:spcPts val="2900"/>
                </a:lnSpc>
              </a:pPr>
            </a:p>
          </p:txBody>
        </p:sp>
      </p:grpSp>
      <p:grpSp>
        <p:nvGrpSpPr>
          <p:cNvPr name="Group 6" id="6"/>
          <p:cNvGrpSpPr/>
          <p:nvPr/>
        </p:nvGrpSpPr>
        <p:grpSpPr>
          <a:xfrm rot="0">
            <a:off x="6492286" y="3746442"/>
            <a:ext cx="4054512" cy="730237"/>
            <a:chOff x="0" y="0"/>
            <a:chExt cx="1067855" cy="192326"/>
          </a:xfrm>
        </p:grpSpPr>
        <p:sp>
          <p:nvSpPr>
            <p:cNvPr name="Freeform 7" id="7"/>
            <p:cNvSpPr/>
            <p:nvPr/>
          </p:nvSpPr>
          <p:spPr>
            <a:xfrm flipH="false" flipV="false" rot="0">
              <a:off x="0" y="0"/>
              <a:ext cx="1067855" cy="192326"/>
            </a:xfrm>
            <a:custGeom>
              <a:avLst/>
              <a:gdLst/>
              <a:ahLst/>
              <a:cxnLst/>
              <a:rect r="r" b="b" t="t" l="l"/>
              <a:pathLst>
                <a:path h="192326" w="1067855">
                  <a:moveTo>
                    <a:pt x="96163" y="0"/>
                  </a:moveTo>
                  <a:lnTo>
                    <a:pt x="971692" y="0"/>
                  </a:lnTo>
                  <a:cubicBezTo>
                    <a:pt x="997196" y="0"/>
                    <a:pt x="1021656" y="10131"/>
                    <a:pt x="1039690" y="28165"/>
                  </a:cubicBezTo>
                  <a:cubicBezTo>
                    <a:pt x="1057724" y="46199"/>
                    <a:pt x="1067855" y="70659"/>
                    <a:pt x="1067855" y="96163"/>
                  </a:cubicBezTo>
                  <a:lnTo>
                    <a:pt x="1067855" y="96163"/>
                  </a:lnTo>
                  <a:cubicBezTo>
                    <a:pt x="1067855" y="121667"/>
                    <a:pt x="1057724" y="146126"/>
                    <a:pt x="1039690" y="164160"/>
                  </a:cubicBezTo>
                  <a:cubicBezTo>
                    <a:pt x="1021656" y="182194"/>
                    <a:pt x="997196" y="192326"/>
                    <a:pt x="971692" y="192326"/>
                  </a:cubicBezTo>
                  <a:lnTo>
                    <a:pt x="96163" y="192326"/>
                  </a:lnTo>
                  <a:cubicBezTo>
                    <a:pt x="70659" y="192326"/>
                    <a:pt x="46199" y="182194"/>
                    <a:pt x="28165" y="164160"/>
                  </a:cubicBezTo>
                  <a:cubicBezTo>
                    <a:pt x="10131" y="146126"/>
                    <a:pt x="0" y="121667"/>
                    <a:pt x="0" y="96163"/>
                  </a:cubicBezTo>
                  <a:lnTo>
                    <a:pt x="0" y="96163"/>
                  </a:lnTo>
                  <a:cubicBezTo>
                    <a:pt x="0" y="70659"/>
                    <a:pt x="10131" y="46199"/>
                    <a:pt x="28165" y="28165"/>
                  </a:cubicBezTo>
                  <a:cubicBezTo>
                    <a:pt x="46199" y="10131"/>
                    <a:pt x="70659" y="0"/>
                    <a:pt x="96163" y="0"/>
                  </a:cubicBezTo>
                  <a:close/>
                </a:path>
              </a:pathLst>
            </a:custGeom>
            <a:solidFill>
              <a:srgbClr val="B2D0EC"/>
            </a:solidFill>
          </p:spPr>
        </p:sp>
        <p:sp>
          <p:nvSpPr>
            <p:cNvPr name="TextBox 8" id="8"/>
            <p:cNvSpPr txBox="true"/>
            <p:nvPr/>
          </p:nvSpPr>
          <p:spPr>
            <a:xfrm>
              <a:off x="0" y="-57150"/>
              <a:ext cx="1067855" cy="249476"/>
            </a:xfrm>
            <a:prstGeom prst="rect">
              <a:avLst/>
            </a:prstGeom>
          </p:spPr>
          <p:txBody>
            <a:bodyPr anchor="ctr" rtlCol="false" tIns="50800" lIns="50800" bIns="50800" rIns="50800"/>
            <a:lstStyle/>
            <a:p>
              <a:pPr algn="ctr">
                <a:lnSpc>
                  <a:spcPts val="2900"/>
                </a:lnSpc>
              </a:pPr>
            </a:p>
          </p:txBody>
        </p:sp>
      </p:grpSp>
      <p:sp>
        <p:nvSpPr>
          <p:cNvPr name="Freeform 9" id="9"/>
          <p:cNvSpPr/>
          <p:nvPr/>
        </p:nvSpPr>
        <p:spPr>
          <a:xfrm flipH="false" flipV="false" rot="0">
            <a:off x="-1536499" y="6528729"/>
            <a:ext cx="5655398" cy="5408617"/>
          </a:xfrm>
          <a:custGeom>
            <a:avLst/>
            <a:gdLst/>
            <a:ahLst/>
            <a:cxnLst/>
            <a:rect r="r" b="b" t="t" l="l"/>
            <a:pathLst>
              <a:path h="5408617" w="5655398">
                <a:moveTo>
                  <a:pt x="0" y="0"/>
                </a:moveTo>
                <a:lnTo>
                  <a:pt x="5655398" y="0"/>
                </a:lnTo>
                <a:lnTo>
                  <a:pt x="5655398" y="5408617"/>
                </a:lnTo>
                <a:lnTo>
                  <a:pt x="0" y="54086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6289496" y="314340"/>
            <a:ext cx="6642316" cy="1473387"/>
          </a:xfrm>
          <a:custGeom>
            <a:avLst/>
            <a:gdLst/>
            <a:ahLst/>
            <a:cxnLst/>
            <a:rect r="r" b="b" t="t" l="l"/>
            <a:pathLst>
              <a:path h="1473387" w="6642316">
                <a:moveTo>
                  <a:pt x="0" y="0"/>
                </a:moveTo>
                <a:lnTo>
                  <a:pt x="6642316" y="0"/>
                </a:lnTo>
                <a:lnTo>
                  <a:pt x="6642316" y="1473387"/>
                </a:lnTo>
                <a:lnTo>
                  <a:pt x="0" y="147338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1393708" y="2013707"/>
            <a:ext cx="15106293" cy="1333500"/>
          </a:xfrm>
          <a:prstGeom prst="rect">
            <a:avLst/>
          </a:prstGeom>
        </p:spPr>
        <p:txBody>
          <a:bodyPr anchor="t" rtlCol="false" tIns="0" lIns="0" bIns="0" rIns="0">
            <a:spAutoFit/>
          </a:bodyPr>
          <a:lstStyle/>
          <a:p>
            <a:pPr algn="ctr">
              <a:lnSpc>
                <a:spcPts val="10349"/>
              </a:lnSpc>
            </a:pPr>
            <a:r>
              <a:rPr lang="en-US" sz="9000">
                <a:solidFill>
                  <a:srgbClr val="FFFFFF"/>
                </a:solidFill>
                <a:latin typeface="TS Damas Sans"/>
                <a:ea typeface="TS Damas Sans"/>
                <a:cs typeface="TS Damas Sans"/>
                <a:sym typeface="TS Damas Sans"/>
              </a:rPr>
              <a:t>SISTEM RADIO TRANSCEIVER VHF-FM </a:t>
            </a:r>
          </a:p>
        </p:txBody>
      </p:sp>
      <p:sp>
        <p:nvSpPr>
          <p:cNvPr name="TextBox 12" id="12"/>
          <p:cNvSpPr txBox="true"/>
          <p:nvPr/>
        </p:nvSpPr>
        <p:spPr>
          <a:xfrm rot="0">
            <a:off x="11220700" y="8311635"/>
            <a:ext cx="7067300" cy="1492876"/>
          </a:xfrm>
          <a:prstGeom prst="rect">
            <a:avLst/>
          </a:prstGeom>
        </p:spPr>
        <p:txBody>
          <a:bodyPr anchor="t" rtlCol="false" tIns="0" lIns="0" bIns="0" rIns="0">
            <a:spAutoFit/>
          </a:bodyPr>
          <a:lstStyle/>
          <a:p>
            <a:pPr algn="l">
              <a:lnSpc>
                <a:spcPts val="4031"/>
              </a:lnSpc>
            </a:pPr>
            <a:r>
              <a:rPr lang="en-US" sz="2780" spc="139" b="true">
                <a:solidFill>
                  <a:srgbClr val="0B5298"/>
                </a:solidFill>
                <a:latin typeface="Ruda Bold"/>
                <a:ea typeface="Ruda Bold"/>
                <a:cs typeface="Ruda Bold"/>
                <a:sym typeface="Ruda Bold"/>
              </a:rPr>
              <a:t>Dosen : Vitrasia, ST., MT</a:t>
            </a:r>
          </a:p>
          <a:p>
            <a:pPr algn="l">
              <a:lnSpc>
                <a:spcPts val="4031"/>
              </a:lnSpc>
            </a:pPr>
            <a:r>
              <a:rPr lang="en-US" sz="2780" spc="139" b="true">
                <a:solidFill>
                  <a:srgbClr val="0B5298"/>
                </a:solidFill>
                <a:latin typeface="Ruda Bold"/>
                <a:ea typeface="Ruda Bold"/>
                <a:cs typeface="Ruda Bold"/>
                <a:sym typeface="Ruda Bold"/>
              </a:rPr>
              <a:t>               Hanny Madiawati,SST.,MT</a:t>
            </a:r>
          </a:p>
          <a:p>
            <a:pPr algn="ctr">
              <a:lnSpc>
                <a:spcPts val="4031"/>
              </a:lnSpc>
            </a:pPr>
          </a:p>
        </p:txBody>
      </p:sp>
      <p:sp>
        <p:nvSpPr>
          <p:cNvPr name="TextBox 13" id="13"/>
          <p:cNvSpPr txBox="true"/>
          <p:nvPr/>
        </p:nvSpPr>
        <p:spPr>
          <a:xfrm rot="0">
            <a:off x="6597953" y="3806760"/>
            <a:ext cx="3843178" cy="533400"/>
          </a:xfrm>
          <a:prstGeom prst="rect">
            <a:avLst/>
          </a:prstGeom>
        </p:spPr>
        <p:txBody>
          <a:bodyPr anchor="t" rtlCol="false" tIns="0" lIns="0" bIns="0" rIns="0">
            <a:spAutoFit/>
          </a:bodyPr>
          <a:lstStyle/>
          <a:p>
            <a:pPr algn="ctr">
              <a:lnSpc>
                <a:spcPts val="4350"/>
              </a:lnSpc>
            </a:pPr>
            <a:r>
              <a:rPr lang="en-US" b="true" sz="3000" spc="150">
                <a:solidFill>
                  <a:srgbClr val="0B5298"/>
                </a:solidFill>
                <a:latin typeface="Ruda Bold"/>
                <a:ea typeface="Ruda Bold"/>
                <a:cs typeface="Ruda Bold"/>
                <a:sym typeface="Ruda Bold"/>
              </a:rPr>
              <a:t>Disusun Oleh:</a:t>
            </a:r>
          </a:p>
        </p:txBody>
      </p:sp>
      <p:sp>
        <p:nvSpPr>
          <p:cNvPr name="TextBox 14" id="14"/>
          <p:cNvSpPr txBox="true"/>
          <p:nvPr/>
        </p:nvSpPr>
        <p:spPr>
          <a:xfrm rot="0">
            <a:off x="16500001" y="675267"/>
            <a:ext cx="1031784" cy="701675"/>
          </a:xfrm>
          <a:prstGeom prst="rect">
            <a:avLst/>
          </a:prstGeom>
        </p:spPr>
        <p:txBody>
          <a:bodyPr anchor="t" rtlCol="false" tIns="0" lIns="0" bIns="0" rIns="0">
            <a:spAutoFit/>
          </a:bodyPr>
          <a:lstStyle/>
          <a:p>
            <a:pPr algn="ctr">
              <a:lnSpc>
                <a:spcPts val="5799"/>
              </a:lnSpc>
            </a:pPr>
            <a:r>
              <a:rPr lang="en-US" b="true" sz="3999" spc="199">
                <a:solidFill>
                  <a:srgbClr val="0B5298"/>
                </a:solidFill>
                <a:latin typeface="Ruda Bold"/>
                <a:ea typeface="Ruda Bold"/>
                <a:cs typeface="Ruda Bold"/>
                <a:sym typeface="Ruda Bold"/>
              </a:rPr>
              <a:t>01</a:t>
            </a:r>
          </a:p>
        </p:txBody>
      </p:sp>
      <p:grpSp>
        <p:nvGrpSpPr>
          <p:cNvPr name="Group 15" id="15"/>
          <p:cNvGrpSpPr/>
          <p:nvPr/>
        </p:nvGrpSpPr>
        <p:grpSpPr>
          <a:xfrm rot="0">
            <a:off x="920352" y="463565"/>
            <a:ext cx="6397268" cy="1359730"/>
            <a:chOff x="0" y="0"/>
            <a:chExt cx="8529691" cy="1812973"/>
          </a:xfrm>
        </p:grpSpPr>
        <p:grpSp>
          <p:nvGrpSpPr>
            <p:cNvPr name="Group 16" id="16"/>
            <p:cNvGrpSpPr/>
            <p:nvPr/>
          </p:nvGrpSpPr>
          <p:grpSpPr>
            <a:xfrm rot="0">
              <a:off x="1957668" y="321092"/>
              <a:ext cx="5471577" cy="772857"/>
              <a:chOff x="0" y="0"/>
              <a:chExt cx="1080805" cy="152663"/>
            </a:xfrm>
          </p:grpSpPr>
          <p:sp>
            <p:nvSpPr>
              <p:cNvPr name="Freeform 17" id="17"/>
              <p:cNvSpPr/>
              <p:nvPr/>
            </p:nvSpPr>
            <p:spPr>
              <a:xfrm flipH="false" flipV="false" rot="0">
                <a:off x="0" y="0"/>
                <a:ext cx="1080805" cy="152663"/>
              </a:xfrm>
              <a:custGeom>
                <a:avLst/>
                <a:gdLst/>
                <a:ahLst/>
                <a:cxnLst/>
                <a:rect r="r" b="b" t="t" l="l"/>
                <a:pathLst>
                  <a:path h="152663" w="1080805">
                    <a:moveTo>
                      <a:pt x="76332" y="0"/>
                    </a:moveTo>
                    <a:lnTo>
                      <a:pt x="1004474" y="0"/>
                    </a:lnTo>
                    <a:cubicBezTo>
                      <a:pt x="1046630" y="0"/>
                      <a:pt x="1080805" y="34175"/>
                      <a:pt x="1080805" y="76332"/>
                    </a:cubicBezTo>
                    <a:lnTo>
                      <a:pt x="1080805" y="76332"/>
                    </a:lnTo>
                    <a:cubicBezTo>
                      <a:pt x="1080805" y="96576"/>
                      <a:pt x="1072763" y="115991"/>
                      <a:pt x="1058448" y="130306"/>
                    </a:cubicBezTo>
                    <a:cubicBezTo>
                      <a:pt x="1044133" y="144621"/>
                      <a:pt x="1024718" y="152663"/>
                      <a:pt x="1004474" y="152663"/>
                    </a:cubicBezTo>
                    <a:lnTo>
                      <a:pt x="76332" y="152663"/>
                    </a:lnTo>
                    <a:cubicBezTo>
                      <a:pt x="34175" y="152663"/>
                      <a:pt x="0" y="118488"/>
                      <a:pt x="0" y="76332"/>
                    </a:cubicBezTo>
                    <a:lnTo>
                      <a:pt x="0" y="76332"/>
                    </a:lnTo>
                    <a:cubicBezTo>
                      <a:pt x="0" y="34175"/>
                      <a:pt x="34175" y="0"/>
                      <a:pt x="76332" y="0"/>
                    </a:cubicBezTo>
                    <a:close/>
                  </a:path>
                </a:pathLst>
              </a:custGeom>
              <a:solidFill>
                <a:srgbClr val="B2D0EC"/>
              </a:solidFill>
            </p:spPr>
          </p:sp>
          <p:sp>
            <p:nvSpPr>
              <p:cNvPr name="TextBox 18" id="18"/>
              <p:cNvSpPr txBox="true"/>
              <p:nvPr/>
            </p:nvSpPr>
            <p:spPr>
              <a:xfrm>
                <a:off x="0" y="-57150"/>
                <a:ext cx="1080805" cy="209813"/>
              </a:xfrm>
              <a:prstGeom prst="rect">
                <a:avLst/>
              </a:prstGeom>
            </p:spPr>
            <p:txBody>
              <a:bodyPr anchor="ctr" rtlCol="false" tIns="50800" lIns="50800" bIns="50800" rIns="50800"/>
              <a:lstStyle/>
              <a:p>
                <a:pPr algn="ctr">
                  <a:lnSpc>
                    <a:spcPts val="2900"/>
                  </a:lnSpc>
                </a:pPr>
              </a:p>
            </p:txBody>
          </p:sp>
        </p:grpSp>
        <p:sp>
          <p:nvSpPr>
            <p:cNvPr name="TextBox 19" id="19"/>
            <p:cNvSpPr txBox="true"/>
            <p:nvPr/>
          </p:nvSpPr>
          <p:spPr>
            <a:xfrm rot="0">
              <a:off x="631141" y="451403"/>
              <a:ext cx="7898550" cy="455083"/>
            </a:xfrm>
            <a:prstGeom prst="rect">
              <a:avLst/>
            </a:prstGeom>
          </p:spPr>
          <p:txBody>
            <a:bodyPr anchor="t" rtlCol="false" tIns="0" lIns="0" bIns="0" rIns="0">
              <a:spAutoFit/>
            </a:bodyPr>
            <a:lstStyle/>
            <a:p>
              <a:pPr algn="ctr">
                <a:lnSpc>
                  <a:spcPts val="2900"/>
                </a:lnSpc>
              </a:pPr>
              <a:r>
                <a:rPr lang="en-US" b="true" sz="2000" spc="100">
                  <a:solidFill>
                    <a:srgbClr val="0B5298"/>
                  </a:solidFill>
                  <a:latin typeface="Ruda Bold"/>
                  <a:ea typeface="Ruda Bold"/>
                  <a:cs typeface="Ruda Bold"/>
                  <a:sym typeface="Ruda Bold"/>
                </a:rPr>
                <a:t>Siskom terestrial gel.mikro</a:t>
              </a:r>
            </a:p>
          </p:txBody>
        </p:sp>
        <p:sp>
          <p:nvSpPr>
            <p:cNvPr name="Freeform 20" id="20"/>
            <p:cNvSpPr/>
            <p:nvPr/>
          </p:nvSpPr>
          <p:spPr>
            <a:xfrm flipH="false" flipV="false" rot="0">
              <a:off x="0" y="0"/>
              <a:ext cx="1262283" cy="1812973"/>
            </a:xfrm>
            <a:custGeom>
              <a:avLst/>
              <a:gdLst/>
              <a:ahLst/>
              <a:cxnLst/>
              <a:rect r="r" b="b" t="t" l="l"/>
              <a:pathLst>
                <a:path h="1812973" w="1262283">
                  <a:moveTo>
                    <a:pt x="0" y="0"/>
                  </a:moveTo>
                  <a:lnTo>
                    <a:pt x="1262283" y="0"/>
                  </a:lnTo>
                  <a:lnTo>
                    <a:pt x="1262283" y="1812973"/>
                  </a:lnTo>
                  <a:lnTo>
                    <a:pt x="0" y="1812973"/>
                  </a:lnTo>
                  <a:lnTo>
                    <a:pt x="0" y="0"/>
                  </a:lnTo>
                  <a:close/>
                </a:path>
              </a:pathLst>
            </a:custGeom>
            <a:blipFill>
              <a:blip r:embed="rId7"/>
              <a:stretch>
                <a:fillRect l="0" t="0" r="0" b="0"/>
              </a:stretch>
            </a:blipFill>
          </p:spPr>
        </p:sp>
      </p:grpSp>
      <p:sp>
        <p:nvSpPr>
          <p:cNvPr name="TextBox 21" id="21"/>
          <p:cNvSpPr txBox="true"/>
          <p:nvPr/>
        </p:nvSpPr>
        <p:spPr>
          <a:xfrm rot="0">
            <a:off x="5299737" y="4800529"/>
            <a:ext cx="6439609" cy="3295650"/>
          </a:xfrm>
          <a:prstGeom prst="rect">
            <a:avLst/>
          </a:prstGeom>
        </p:spPr>
        <p:txBody>
          <a:bodyPr anchor="t" rtlCol="false" tIns="0" lIns="0" bIns="0" rIns="0">
            <a:spAutoFit/>
          </a:bodyPr>
          <a:lstStyle/>
          <a:p>
            <a:pPr algn="ctr">
              <a:lnSpc>
                <a:spcPts val="4350"/>
              </a:lnSpc>
            </a:pPr>
            <a:r>
              <a:rPr lang="en-US" b="true" sz="3000" spc="150">
                <a:solidFill>
                  <a:srgbClr val="EBEBE9"/>
                </a:solidFill>
                <a:latin typeface="Ruda Bold"/>
                <a:ea typeface="Ruda Bold"/>
                <a:cs typeface="Ruda Bold"/>
                <a:sym typeface="Ruda Bold"/>
              </a:rPr>
              <a:t>Kelompok 1/3B-TNK</a:t>
            </a:r>
          </a:p>
          <a:p>
            <a:pPr algn="ctr">
              <a:lnSpc>
                <a:spcPts val="4350"/>
              </a:lnSpc>
            </a:pPr>
            <a:r>
              <a:rPr lang="en-US" b="true" sz="3000" spc="150">
                <a:solidFill>
                  <a:srgbClr val="EBEBE9"/>
                </a:solidFill>
                <a:latin typeface="Ruda Bold"/>
                <a:ea typeface="Ruda Bold"/>
                <a:cs typeface="Ruda Bold"/>
                <a:sym typeface="Ruda Bold"/>
              </a:rPr>
              <a:t>Abdul Rozak A (221344033)</a:t>
            </a:r>
          </a:p>
          <a:p>
            <a:pPr algn="ctr">
              <a:lnSpc>
                <a:spcPts val="4350"/>
              </a:lnSpc>
            </a:pPr>
            <a:r>
              <a:rPr lang="en-US" b="true" sz="3000" spc="150">
                <a:solidFill>
                  <a:srgbClr val="EBEBE9"/>
                </a:solidFill>
                <a:latin typeface="Ruda Bold"/>
                <a:ea typeface="Ruda Bold"/>
                <a:cs typeface="Ruda Bold"/>
                <a:sym typeface="Ruda Bold"/>
              </a:rPr>
              <a:t>Adelia Puspita (221344034</a:t>
            </a:r>
          </a:p>
          <a:p>
            <a:pPr algn="ctr">
              <a:lnSpc>
                <a:spcPts val="4350"/>
              </a:lnSpc>
            </a:pPr>
            <a:r>
              <a:rPr lang="en-US" b="true" sz="3000" spc="150">
                <a:solidFill>
                  <a:srgbClr val="EBEBE9"/>
                </a:solidFill>
                <a:latin typeface="Ruda Bold"/>
                <a:ea typeface="Ruda Bold"/>
                <a:cs typeface="Ruda Bold"/>
                <a:sym typeface="Ruda Bold"/>
              </a:rPr>
              <a:t>Aldizan Putra S (221344035)</a:t>
            </a:r>
          </a:p>
          <a:p>
            <a:pPr algn="ctr">
              <a:lnSpc>
                <a:spcPts val="4350"/>
              </a:lnSpc>
            </a:pPr>
            <a:r>
              <a:rPr lang="en-US" b="true" sz="3000" spc="150">
                <a:solidFill>
                  <a:srgbClr val="EBEBE9"/>
                </a:solidFill>
                <a:latin typeface="Ruda Bold"/>
                <a:ea typeface="Ruda Bold"/>
                <a:cs typeface="Ruda Bold"/>
                <a:sym typeface="Ruda Bold"/>
              </a:rPr>
              <a:t>Annisa Juliani D (221344036)</a:t>
            </a:r>
          </a:p>
          <a:p>
            <a:pPr algn="ctr">
              <a:lnSpc>
                <a:spcPts val="4350"/>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3630921" y="3212024"/>
            <a:ext cx="11170198" cy="790776"/>
            <a:chOff x="0" y="0"/>
            <a:chExt cx="2941945" cy="208270"/>
          </a:xfrm>
        </p:grpSpPr>
        <p:sp>
          <p:nvSpPr>
            <p:cNvPr name="Freeform 4" id="4"/>
            <p:cNvSpPr/>
            <p:nvPr/>
          </p:nvSpPr>
          <p:spPr>
            <a:xfrm flipH="false" flipV="false" rot="0">
              <a:off x="0" y="0"/>
              <a:ext cx="2941945" cy="208270"/>
            </a:xfrm>
            <a:custGeom>
              <a:avLst/>
              <a:gdLst/>
              <a:ahLst/>
              <a:cxnLst/>
              <a:rect r="r" b="b" t="t" l="l"/>
              <a:pathLst>
                <a:path h="208270" w="2941945">
                  <a:moveTo>
                    <a:pt x="35347" y="0"/>
                  </a:moveTo>
                  <a:lnTo>
                    <a:pt x="2906598" y="0"/>
                  </a:lnTo>
                  <a:cubicBezTo>
                    <a:pt x="2915972" y="0"/>
                    <a:pt x="2924963" y="3724"/>
                    <a:pt x="2931592" y="10353"/>
                  </a:cubicBezTo>
                  <a:cubicBezTo>
                    <a:pt x="2938221" y="16982"/>
                    <a:pt x="2941945" y="25973"/>
                    <a:pt x="2941945" y="35347"/>
                  </a:cubicBezTo>
                  <a:lnTo>
                    <a:pt x="2941945" y="172923"/>
                  </a:lnTo>
                  <a:cubicBezTo>
                    <a:pt x="2941945" y="182298"/>
                    <a:pt x="2938221" y="191288"/>
                    <a:pt x="2931592" y="197917"/>
                  </a:cubicBezTo>
                  <a:cubicBezTo>
                    <a:pt x="2924963" y="204546"/>
                    <a:pt x="2915972" y="208270"/>
                    <a:pt x="2906598" y="208270"/>
                  </a:cubicBezTo>
                  <a:lnTo>
                    <a:pt x="35347" y="208270"/>
                  </a:lnTo>
                  <a:cubicBezTo>
                    <a:pt x="15826" y="208270"/>
                    <a:pt x="0" y="192445"/>
                    <a:pt x="0" y="172923"/>
                  </a:cubicBezTo>
                  <a:lnTo>
                    <a:pt x="0" y="35347"/>
                  </a:lnTo>
                  <a:cubicBezTo>
                    <a:pt x="0" y="25973"/>
                    <a:pt x="3724" y="16982"/>
                    <a:pt x="10353" y="10353"/>
                  </a:cubicBezTo>
                  <a:cubicBezTo>
                    <a:pt x="16982" y="3724"/>
                    <a:pt x="25973" y="0"/>
                    <a:pt x="35347" y="0"/>
                  </a:cubicBezTo>
                  <a:close/>
                </a:path>
              </a:pathLst>
            </a:custGeom>
            <a:solidFill>
              <a:srgbClr val="B2D0EC"/>
            </a:solidFill>
          </p:spPr>
        </p:sp>
        <p:sp>
          <p:nvSpPr>
            <p:cNvPr name="TextBox 5" id="5"/>
            <p:cNvSpPr txBox="true"/>
            <p:nvPr/>
          </p:nvSpPr>
          <p:spPr>
            <a:xfrm>
              <a:off x="0" y="-57150"/>
              <a:ext cx="2941945" cy="265420"/>
            </a:xfrm>
            <a:prstGeom prst="rect">
              <a:avLst/>
            </a:prstGeom>
          </p:spPr>
          <p:txBody>
            <a:bodyPr anchor="ctr" rtlCol="false" tIns="50800" lIns="50800" bIns="50800" rIns="50800"/>
            <a:lstStyle/>
            <a:p>
              <a:pPr algn="ctr">
                <a:lnSpc>
                  <a:spcPts val="2900"/>
                </a:lnSpc>
              </a:pPr>
            </a:p>
          </p:txBody>
        </p:sp>
      </p:grpSp>
      <p:sp>
        <p:nvSpPr>
          <p:cNvPr name="Freeform 6" id="6"/>
          <p:cNvSpPr/>
          <p:nvPr/>
        </p:nvSpPr>
        <p:spPr>
          <a:xfrm flipH="false" flipV="false" rot="0">
            <a:off x="-1536499" y="6528729"/>
            <a:ext cx="5655398" cy="5408617"/>
          </a:xfrm>
          <a:custGeom>
            <a:avLst/>
            <a:gdLst/>
            <a:ahLst/>
            <a:cxnLst/>
            <a:rect r="r" b="b" t="t" l="l"/>
            <a:pathLst>
              <a:path h="5408617" w="5655398">
                <a:moveTo>
                  <a:pt x="0" y="0"/>
                </a:moveTo>
                <a:lnTo>
                  <a:pt x="5655398" y="0"/>
                </a:lnTo>
                <a:lnTo>
                  <a:pt x="5655398" y="5408617"/>
                </a:lnTo>
                <a:lnTo>
                  <a:pt x="0" y="54086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6289496" y="314340"/>
            <a:ext cx="6642316" cy="1473387"/>
          </a:xfrm>
          <a:custGeom>
            <a:avLst/>
            <a:gdLst/>
            <a:ahLst/>
            <a:cxnLst/>
            <a:rect r="r" b="b" t="t" l="l"/>
            <a:pathLst>
              <a:path h="1473387" w="6642316">
                <a:moveTo>
                  <a:pt x="0" y="0"/>
                </a:moveTo>
                <a:lnTo>
                  <a:pt x="6642316" y="0"/>
                </a:lnTo>
                <a:lnTo>
                  <a:pt x="6642316" y="1473387"/>
                </a:lnTo>
                <a:lnTo>
                  <a:pt x="0" y="147338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967000" y="2201820"/>
            <a:ext cx="1138683" cy="873680"/>
          </a:xfrm>
          <a:custGeom>
            <a:avLst/>
            <a:gdLst/>
            <a:ahLst/>
            <a:cxnLst/>
            <a:rect r="r" b="b" t="t" l="l"/>
            <a:pathLst>
              <a:path h="873680" w="1138683">
                <a:moveTo>
                  <a:pt x="0" y="0"/>
                </a:moveTo>
                <a:lnTo>
                  <a:pt x="1138683" y="0"/>
                </a:lnTo>
                <a:lnTo>
                  <a:pt x="1138683" y="873680"/>
                </a:lnTo>
                <a:lnTo>
                  <a:pt x="0" y="87368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5361319" y="7689177"/>
            <a:ext cx="1138683" cy="873680"/>
          </a:xfrm>
          <a:custGeom>
            <a:avLst/>
            <a:gdLst/>
            <a:ahLst/>
            <a:cxnLst/>
            <a:rect r="r" b="b" t="t" l="l"/>
            <a:pathLst>
              <a:path h="873680" w="1138683">
                <a:moveTo>
                  <a:pt x="0" y="0"/>
                </a:moveTo>
                <a:lnTo>
                  <a:pt x="1138682" y="0"/>
                </a:lnTo>
                <a:lnTo>
                  <a:pt x="1138682" y="873680"/>
                </a:lnTo>
                <a:lnTo>
                  <a:pt x="0" y="87368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0" id="10"/>
          <p:cNvSpPr txBox="true"/>
          <p:nvPr/>
        </p:nvSpPr>
        <p:spPr>
          <a:xfrm rot="0">
            <a:off x="3105683" y="1952160"/>
            <a:ext cx="12076634" cy="1035050"/>
          </a:xfrm>
          <a:prstGeom prst="rect">
            <a:avLst/>
          </a:prstGeom>
        </p:spPr>
        <p:txBody>
          <a:bodyPr anchor="t" rtlCol="false" tIns="0" lIns="0" bIns="0" rIns="0">
            <a:spAutoFit/>
          </a:bodyPr>
          <a:lstStyle/>
          <a:p>
            <a:pPr algn="ctr">
              <a:lnSpc>
                <a:spcPts val="8049"/>
              </a:lnSpc>
            </a:pPr>
            <a:r>
              <a:rPr lang="en-US" sz="6999">
                <a:solidFill>
                  <a:srgbClr val="FFFFFF"/>
                </a:solidFill>
                <a:latin typeface="TS Damas Sans"/>
                <a:ea typeface="TS Damas Sans"/>
                <a:cs typeface="TS Damas Sans"/>
                <a:sym typeface="TS Damas Sans"/>
              </a:rPr>
              <a:t>TUJUAN</a:t>
            </a:r>
          </a:p>
        </p:txBody>
      </p:sp>
      <p:sp>
        <p:nvSpPr>
          <p:cNvPr name="TextBox 11" id="11"/>
          <p:cNvSpPr txBox="true"/>
          <p:nvPr/>
        </p:nvSpPr>
        <p:spPr>
          <a:xfrm rot="0">
            <a:off x="16500001" y="675267"/>
            <a:ext cx="1031784" cy="701675"/>
          </a:xfrm>
          <a:prstGeom prst="rect">
            <a:avLst/>
          </a:prstGeom>
        </p:spPr>
        <p:txBody>
          <a:bodyPr anchor="t" rtlCol="false" tIns="0" lIns="0" bIns="0" rIns="0">
            <a:spAutoFit/>
          </a:bodyPr>
          <a:lstStyle/>
          <a:p>
            <a:pPr algn="ctr">
              <a:lnSpc>
                <a:spcPts val="5799"/>
              </a:lnSpc>
            </a:pPr>
            <a:r>
              <a:rPr lang="en-US" b="true" sz="3999" spc="199">
                <a:solidFill>
                  <a:srgbClr val="0B5298"/>
                </a:solidFill>
                <a:latin typeface="Ruda Bold"/>
                <a:ea typeface="Ruda Bold"/>
                <a:cs typeface="Ruda Bold"/>
                <a:sym typeface="Ruda Bold"/>
              </a:rPr>
              <a:t>02</a:t>
            </a:r>
          </a:p>
        </p:txBody>
      </p:sp>
      <p:grpSp>
        <p:nvGrpSpPr>
          <p:cNvPr name="Group 12" id="12"/>
          <p:cNvGrpSpPr/>
          <p:nvPr/>
        </p:nvGrpSpPr>
        <p:grpSpPr>
          <a:xfrm rot="0">
            <a:off x="3630921" y="4136150"/>
            <a:ext cx="11170198" cy="868736"/>
            <a:chOff x="0" y="0"/>
            <a:chExt cx="2941945" cy="228803"/>
          </a:xfrm>
        </p:grpSpPr>
        <p:sp>
          <p:nvSpPr>
            <p:cNvPr name="Freeform 13" id="13"/>
            <p:cNvSpPr/>
            <p:nvPr/>
          </p:nvSpPr>
          <p:spPr>
            <a:xfrm flipH="false" flipV="false" rot="0">
              <a:off x="0" y="0"/>
              <a:ext cx="2941945" cy="228803"/>
            </a:xfrm>
            <a:custGeom>
              <a:avLst/>
              <a:gdLst/>
              <a:ahLst/>
              <a:cxnLst/>
              <a:rect r="r" b="b" t="t" l="l"/>
              <a:pathLst>
                <a:path h="228803" w="2941945">
                  <a:moveTo>
                    <a:pt x="35347" y="0"/>
                  </a:moveTo>
                  <a:lnTo>
                    <a:pt x="2906598" y="0"/>
                  </a:lnTo>
                  <a:cubicBezTo>
                    <a:pt x="2915972" y="0"/>
                    <a:pt x="2924963" y="3724"/>
                    <a:pt x="2931592" y="10353"/>
                  </a:cubicBezTo>
                  <a:cubicBezTo>
                    <a:pt x="2938221" y="16982"/>
                    <a:pt x="2941945" y="25973"/>
                    <a:pt x="2941945" y="35347"/>
                  </a:cubicBezTo>
                  <a:lnTo>
                    <a:pt x="2941945" y="193456"/>
                  </a:lnTo>
                  <a:cubicBezTo>
                    <a:pt x="2941945" y="212977"/>
                    <a:pt x="2926119" y="228803"/>
                    <a:pt x="2906598" y="228803"/>
                  </a:cubicBezTo>
                  <a:lnTo>
                    <a:pt x="35347" y="228803"/>
                  </a:lnTo>
                  <a:cubicBezTo>
                    <a:pt x="25973" y="228803"/>
                    <a:pt x="16982" y="225079"/>
                    <a:pt x="10353" y="218450"/>
                  </a:cubicBezTo>
                  <a:cubicBezTo>
                    <a:pt x="3724" y="211821"/>
                    <a:pt x="0" y="202830"/>
                    <a:pt x="0" y="193456"/>
                  </a:cubicBezTo>
                  <a:lnTo>
                    <a:pt x="0" y="35347"/>
                  </a:lnTo>
                  <a:cubicBezTo>
                    <a:pt x="0" y="25973"/>
                    <a:pt x="3724" y="16982"/>
                    <a:pt x="10353" y="10353"/>
                  </a:cubicBezTo>
                  <a:cubicBezTo>
                    <a:pt x="16982" y="3724"/>
                    <a:pt x="25973" y="0"/>
                    <a:pt x="35347" y="0"/>
                  </a:cubicBezTo>
                  <a:close/>
                </a:path>
              </a:pathLst>
            </a:custGeom>
            <a:solidFill>
              <a:srgbClr val="B2D0EC"/>
            </a:solidFill>
          </p:spPr>
        </p:sp>
        <p:sp>
          <p:nvSpPr>
            <p:cNvPr name="TextBox 14" id="14"/>
            <p:cNvSpPr txBox="true"/>
            <p:nvPr/>
          </p:nvSpPr>
          <p:spPr>
            <a:xfrm>
              <a:off x="0" y="-57150"/>
              <a:ext cx="2941945" cy="285953"/>
            </a:xfrm>
            <a:prstGeom prst="rect">
              <a:avLst/>
            </a:prstGeom>
          </p:spPr>
          <p:txBody>
            <a:bodyPr anchor="ctr" rtlCol="false" tIns="50800" lIns="50800" bIns="50800" rIns="50800"/>
            <a:lstStyle/>
            <a:p>
              <a:pPr algn="ctr">
                <a:lnSpc>
                  <a:spcPts val="2900"/>
                </a:lnSpc>
              </a:pPr>
            </a:p>
          </p:txBody>
        </p:sp>
      </p:grpSp>
      <p:grpSp>
        <p:nvGrpSpPr>
          <p:cNvPr name="Group 15" id="15"/>
          <p:cNvGrpSpPr/>
          <p:nvPr/>
        </p:nvGrpSpPr>
        <p:grpSpPr>
          <a:xfrm rot="0">
            <a:off x="2247710" y="5138236"/>
            <a:ext cx="14322495" cy="867048"/>
            <a:chOff x="0" y="0"/>
            <a:chExt cx="3772180" cy="228358"/>
          </a:xfrm>
        </p:grpSpPr>
        <p:sp>
          <p:nvSpPr>
            <p:cNvPr name="Freeform 16" id="16"/>
            <p:cNvSpPr/>
            <p:nvPr/>
          </p:nvSpPr>
          <p:spPr>
            <a:xfrm flipH="false" flipV="false" rot="0">
              <a:off x="0" y="0"/>
              <a:ext cx="3772180" cy="228358"/>
            </a:xfrm>
            <a:custGeom>
              <a:avLst/>
              <a:gdLst/>
              <a:ahLst/>
              <a:cxnLst/>
              <a:rect r="r" b="b" t="t" l="l"/>
              <a:pathLst>
                <a:path h="228358" w="3772180">
                  <a:moveTo>
                    <a:pt x="27568" y="0"/>
                  </a:moveTo>
                  <a:lnTo>
                    <a:pt x="3744612" y="0"/>
                  </a:lnTo>
                  <a:cubicBezTo>
                    <a:pt x="3759837" y="0"/>
                    <a:pt x="3772180" y="12342"/>
                    <a:pt x="3772180" y="27568"/>
                  </a:cubicBezTo>
                  <a:lnTo>
                    <a:pt x="3772180" y="200791"/>
                  </a:lnTo>
                  <a:cubicBezTo>
                    <a:pt x="3772180" y="216016"/>
                    <a:pt x="3759837" y="228358"/>
                    <a:pt x="3744612" y="228358"/>
                  </a:cubicBezTo>
                  <a:lnTo>
                    <a:pt x="27568" y="228358"/>
                  </a:lnTo>
                  <a:cubicBezTo>
                    <a:pt x="12342" y="228358"/>
                    <a:pt x="0" y="216016"/>
                    <a:pt x="0" y="200791"/>
                  </a:cubicBezTo>
                  <a:lnTo>
                    <a:pt x="0" y="27568"/>
                  </a:lnTo>
                  <a:cubicBezTo>
                    <a:pt x="0" y="12342"/>
                    <a:pt x="12342" y="0"/>
                    <a:pt x="27568" y="0"/>
                  </a:cubicBezTo>
                  <a:close/>
                </a:path>
              </a:pathLst>
            </a:custGeom>
            <a:solidFill>
              <a:srgbClr val="B2D0EC"/>
            </a:solidFill>
          </p:spPr>
        </p:sp>
        <p:sp>
          <p:nvSpPr>
            <p:cNvPr name="TextBox 17" id="17"/>
            <p:cNvSpPr txBox="true"/>
            <p:nvPr/>
          </p:nvSpPr>
          <p:spPr>
            <a:xfrm>
              <a:off x="0" y="-57150"/>
              <a:ext cx="3772180" cy="285508"/>
            </a:xfrm>
            <a:prstGeom prst="rect">
              <a:avLst/>
            </a:prstGeom>
          </p:spPr>
          <p:txBody>
            <a:bodyPr anchor="ctr" rtlCol="false" tIns="50800" lIns="50800" bIns="50800" rIns="50800"/>
            <a:lstStyle/>
            <a:p>
              <a:pPr algn="ctr">
                <a:lnSpc>
                  <a:spcPts val="2900"/>
                </a:lnSpc>
              </a:pPr>
            </a:p>
          </p:txBody>
        </p:sp>
      </p:grpSp>
      <p:sp>
        <p:nvSpPr>
          <p:cNvPr name="TextBox 18" id="18"/>
          <p:cNvSpPr txBox="true"/>
          <p:nvPr/>
        </p:nvSpPr>
        <p:spPr>
          <a:xfrm rot="0">
            <a:off x="2177506" y="3389825"/>
            <a:ext cx="14322495" cy="523875"/>
          </a:xfrm>
          <a:prstGeom prst="rect">
            <a:avLst/>
          </a:prstGeom>
        </p:spPr>
        <p:txBody>
          <a:bodyPr anchor="t" rtlCol="false" tIns="0" lIns="0" bIns="0" rIns="0">
            <a:spAutoFit/>
          </a:bodyPr>
          <a:lstStyle/>
          <a:p>
            <a:pPr algn="ctr">
              <a:lnSpc>
                <a:spcPts val="4200"/>
              </a:lnSpc>
            </a:pPr>
            <a:r>
              <a:rPr lang="en-US" sz="3000">
                <a:solidFill>
                  <a:srgbClr val="0B5298"/>
                </a:solidFill>
                <a:latin typeface="Ruda"/>
                <a:ea typeface="Ruda"/>
                <a:cs typeface="Ruda"/>
                <a:sym typeface="Ruda"/>
              </a:rPr>
              <a:t>Memahami tentang prinsip kerja radio transceiver VHF-FM </a:t>
            </a:r>
          </a:p>
        </p:txBody>
      </p:sp>
      <p:sp>
        <p:nvSpPr>
          <p:cNvPr name="TextBox 19" id="19"/>
          <p:cNvSpPr txBox="true"/>
          <p:nvPr/>
        </p:nvSpPr>
        <p:spPr>
          <a:xfrm rot="0">
            <a:off x="4036350" y="4275243"/>
            <a:ext cx="10565894" cy="523875"/>
          </a:xfrm>
          <a:prstGeom prst="rect">
            <a:avLst/>
          </a:prstGeom>
        </p:spPr>
        <p:txBody>
          <a:bodyPr anchor="t" rtlCol="false" tIns="0" lIns="0" bIns="0" rIns="0">
            <a:spAutoFit/>
          </a:bodyPr>
          <a:lstStyle/>
          <a:p>
            <a:pPr algn="ctr">
              <a:lnSpc>
                <a:spcPts val="4200"/>
              </a:lnSpc>
            </a:pPr>
            <a:r>
              <a:rPr lang="en-US" sz="3000">
                <a:solidFill>
                  <a:srgbClr val="0B5298"/>
                </a:solidFill>
                <a:latin typeface="Ruda"/>
                <a:ea typeface="Ruda"/>
                <a:cs typeface="Ruda"/>
                <a:sym typeface="Ruda"/>
              </a:rPr>
              <a:t>Memahami teknik pengujian pesawat peenerima (receiver) </a:t>
            </a:r>
          </a:p>
        </p:txBody>
      </p:sp>
      <p:sp>
        <p:nvSpPr>
          <p:cNvPr name="TextBox 20" id="20"/>
          <p:cNvSpPr txBox="true"/>
          <p:nvPr/>
        </p:nvSpPr>
        <p:spPr>
          <a:xfrm rot="0">
            <a:off x="2177506" y="5262061"/>
            <a:ext cx="14111990" cy="508858"/>
          </a:xfrm>
          <a:prstGeom prst="rect">
            <a:avLst/>
          </a:prstGeom>
        </p:spPr>
        <p:txBody>
          <a:bodyPr anchor="t" rtlCol="false" tIns="0" lIns="0" bIns="0" rIns="0">
            <a:spAutoFit/>
          </a:bodyPr>
          <a:lstStyle/>
          <a:p>
            <a:pPr algn="ctr">
              <a:lnSpc>
                <a:spcPts val="4149"/>
              </a:lnSpc>
            </a:pPr>
            <a:r>
              <a:rPr lang="en-US" sz="2963">
                <a:solidFill>
                  <a:srgbClr val="0B5298"/>
                </a:solidFill>
                <a:latin typeface="Ruda"/>
                <a:ea typeface="Ruda"/>
                <a:cs typeface="Ruda"/>
                <a:sym typeface="Ruda"/>
              </a:rPr>
              <a:t> Memahami teknik pengujian pesawat penerima di dalam kanal (In-channal test) </a:t>
            </a:r>
          </a:p>
        </p:txBody>
      </p:sp>
      <p:grpSp>
        <p:nvGrpSpPr>
          <p:cNvPr name="Group 21" id="21"/>
          <p:cNvGrpSpPr/>
          <p:nvPr/>
        </p:nvGrpSpPr>
        <p:grpSpPr>
          <a:xfrm rot="0">
            <a:off x="920352" y="463565"/>
            <a:ext cx="6397268" cy="1359730"/>
            <a:chOff x="0" y="0"/>
            <a:chExt cx="8529691" cy="1812973"/>
          </a:xfrm>
        </p:grpSpPr>
        <p:grpSp>
          <p:nvGrpSpPr>
            <p:cNvPr name="Group 22" id="22"/>
            <p:cNvGrpSpPr/>
            <p:nvPr/>
          </p:nvGrpSpPr>
          <p:grpSpPr>
            <a:xfrm rot="0">
              <a:off x="1957668" y="321092"/>
              <a:ext cx="5471577" cy="772857"/>
              <a:chOff x="0" y="0"/>
              <a:chExt cx="1080805" cy="152663"/>
            </a:xfrm>
          </p:grpSpPr>
          <p:sp>
            <p:nvSpPr>
              <p:cNvPr name="Freeform 23" id="23"/>
              <p:cNvSpPr/>
              <p:nvPr/>
            </p:nvSpPr>
            <p:spPr>
              <a:xfrm flipH="false" flipV="false" rot="0">
                <a:off x="0" y="0"/>
                <a:ext cx="1080805" cy="152663"/>
              </a:xfrm>
              <a:custGeom>
                <a:avLst/>
                <a:gdLst/>
                <a:ahLst/>
                <a:cxnLst/>
                <a:rect r="r" b="b" t="t" l="l"/>
                <a:pathLst>
                  <a:path h="152663" w="1080805">
                    <a:moveTo>
                      <a:pt x="76332" y="0"/>
                    </a:moveTo>
                    <a:lnTo>
                      <a:pt x="1004474" y="0"/>
                    </a:lnTo>
                    <a:cubicBezTo>
                      <a:pt x="1046630" y="0"/>
                      <a:pt x="1080805" y="34175"/>
                      <a:pt x="1080805" y="76332"/>
                    </a:cubicBezTo>
                    <a:lnTo>
                      <a:pt x="1080805" y="76332"/>
                    </a:lnTo>
                    <a:cubicBezTo>
                      <a:pt x="1080805" y="96576"/>
                      <a:pt x="1072763" y="115991"/>
                      <a:pt x="1058448" y="130306"/>
                    </a:cubicBezTo>
                    <a:cubicBezTo>
                      <a:pt x="1044133" y="144621"/>
                      <a:pt x="1024718" y="152663"/>
                      <a:pt x="1004474" y="152663"/>
                    </a:cubicBezTo>
                    <a:lnTo>
                      <a:pt x="76332" y="152663"/>
                    </a:lnTo>
                    <a:cubicBezTo>
                      <a:pt x="34175" y="152663"/>
                      <a:pt x="0" y="118488"/>
                      <a:pt x="0" y="76332"/>
                    </a:cubicBezTo>
                    <a:lnTo>
                      <a:pt x="0" y="76332"/>
                    </a:lnTo>
                    <a:cubicBezTo>
                      <a:pt x="0" y="34175"/>
                      <a:pt x="34175" y="0"/>
                      <a:pt x="76332" y="0"/>
                    </a:cubicBezTo>
                    <a:close/>
                  </a:path>
                </a:pathLst>
              </a:custGeom>
              <a:solidFill>
                <a:srgbClr val="B2D0EC"/>
              </a:solidFill>
            </p:spPr>
          </p:sp>
          <p:sp>
            <p:nvSpPr>
              <p:cNvPr name="TextBox 24" id="24"/>
              <p:cNvSpPr txBox="true"/>
              <p:nvPr/>
            </p:nvSpPr>
            <p:spPr>
              <a:xfrm>
                <a:off x="0" y="-57150"/>
                <a:ext cx="1080805" cy="209813"/>
              </a:xfrm>
              <a:prstGeom prst="rect">
                <a:avLst/>
              </a:prstGeom>
            </p:spPr>
            <p:txBody>
              <a:bodyPr anchor="ctr" rtlCol="false" tIns="50800" lIns="50800" bIns="50800" rIns="50800"/>
              <a:lstStyle/>
              <a:p>
                <a:pPr algn="ctr">
                  <a:lnSpc>
                    <a:spcPts val="2900"/>
                  </a:lnSpc>
                </a:pPr>
              </a:p>
            </p:txBody>
          </p:sp>
        </p:grpSp>
        <p:sp>
          <p:nvSpPr>
            <p:cNvPr name="TextBox 25" id="25"/>
            <p:cNvSpPr txBox="true"/>
            <p:nvPr/>
          </p:nvSpPr>
          <p:spPr>
            <a:xfrm rot="0">
              <a:off x="631141" y="451403"/>
              <a:ext cx="7898550" cy="455083"/>
            </a:xfrm>
            <a:prstGeom prst="rect">
              <a:avLst/>
            </a:prstGeom>
          </p:spPr>
          <p:txBody>
            <a:bodyPr anchor="t" rtlCol="false" tIns="0" lIns="0" bIns="0" rIns="0">
              <a:spAutoFit/>
            </a:bodyPr>
            <a:lstStyle/>
            <a:p>
              <a:pPr algn="ctr">
                <a:lnSpc>
                  <a:spcPts val="2900"/>
                </a:lnSpc>
              </a:pPr>
              <a:r>
                <a:rPr lang="en-US" b="true" sz="2000" spc="100">
                  <a:solidFill>
                    <a:srgbClr val="0B5298"/>
                  </a:solidFill>
                  <a:latin typeface="Ruda Bold"/>
                  <a:ea typeface="Ruda Bold"/>
                  <a:cs typeface="Ruda Bold"/>
                  <a:sym typeface="Ruda Bold"/>
                </a:rPr>
                <a:t>Siskom terestrial gel.mikro</a:t>
              </a:r>
            </a:p>
          </p:txBody>
        </p:sp>
        <p:sp>
          <p:nvSpPr>
            <p:cNvPr name="Freeform 26" id="26"/>
            <p:cNvSpPr/>
            <p:nvPr/>
          </p:nvSpPr>
          <p:spPr>
            <a:xfrm flipH="false" flipV="false" rot="0">
              <a:off x="0" y="0"/>
              <a:ext cx="1262283" cy="1812973"/>
            </a:xfrm>
            <a:custGeom>
              <a:avLst/>
              <a:gdLst/>
              <a:ahLst/>
              <a:cxnLst/>
              <a:rect r="r" b="b" t="t" l="l"/>
              <a:pathLst>
                <a:path h="1812973" w="1262283">
                  <a:moveTo>
                    <a:pt x="0" y="0"/>
                  </a:moveTo>
                  <a:lnTo>
                    <a:pt x="1262283" y="0"/>
                  </a:lnTo>
                  <a:lnTo>
                    <a:pt x="1262283" y="1812973"/>
                  </a:lnTo>
                  <a:lnTo>
                    <a:pt x="0" y="1812973"/>
                  </a:lnTo>
                  <a:lnTo>
                    <a:pt x="0" y="0"/>
                  </a:lnTo>
                  <a:close/>
                </a:path>
              </a:pathLst>
            </a:custGeom>
            <a:blipFill>
              <a:blip r:embed="rId9"/>
              <a:stretch>
                <a:fillRect l="0" t="0" r="0" b="0"/>
              </a:stretch>
            </a:blipFill>
          </p:spPr>
        </p:sp>
      </p:grpSp>
      <p:grpSp>
        <p:nvGrpSpPr>
          <p:cNvPr name="Group 27" id="27"/>
          <p:cNvGrpSpPr/>
          <p:nvPr/>
        </p:nvGrpSpPr>
        <p:grpSpPr>
          <a:xfrm rot="0">
            <a:off x="2247710" y="6138635"/>
            <a:ext cx="14322495" cy="867048"/>
            <a:chOff x="0" y="0"/>
            <a:chExt cx="3772180" cy="228358"/>
          </a:xfrm>
        </p:grpSpPr>
        <p:sp>
          <p:nvSpPr>
            <p:cNvPr name="Freeform 28" id="28"/>
            <p:cNvSpPr/>
            <p:nvPr/>
          </p:nvSpPr>
          <p:spPr>
            <a:xfrm flipH="false" flipV="false" rot="0">
              <a:off x="0" y="0"/>
              <a:ext cx="3772180" cy="228358"/>
            </a:xfrm>
            <a:custGeom>
              <a:avLst/>
              <a:gdLst/>
              <a:ahLst/>
              <a:cxnLst/>
              <a:rect r="r" b="b" t="t" l="l"/>
              <a:pathLst>
                <a:path h="228358" w="3772180">
                  <a:moveTo>
                    <a:pt x="27568" y="0"/>
                  </a:moveTo>
                  <a:lnTo>
                    <a:pt x="3744612" y="0"/>
                  </a:lnTo>
                  <a:cubicBezTo>
                    <a:pt x="3759837" y="0"/>
                    <a:pt x="3772180" y="12342"/>
                    <a:pt x="3772180" y="27568"/>
                  </a:cubicBezTo>
                  <a:lnTo>
                    <a:pt x="3772180" y="200791"/>
                  </a:lnTo>
                  <a:cubicBezTo>
                    <a:pt x="3772180" y="216016"/>
                    <a:pt x="3759837" y="228358"/>
                    <a:pt x="3744612" y="228358"/>
                  </a:cubicBezTo>
                  <a:lnTo>
                    <a:pt x="27568" y="228358"/>
                  </a:lnTo>
                  <a:cubicBezTo>
                    <a:pt x="12342" y="228358"/>
                    <a:pt x="0" y="216016"/>
                    <a:pt x="0" y="200791"/>
                  </a:cubicBezTo>
                  <a:lnTo>
                    <a:pt x="0" y="27568"/>
                  </a:lnTo>
                  <a:cubicBezTo>
                    <a:pt x="0" y="12342"/>
                    <a:pt x="12342" y="0"/>
                    <a:pt x="27568" y="0"/>
                  </a:cubicBezTo>
                  <a:close/>
                </a:path>
              </a:pathLst>
            </a:custGeom>
            <a:solidFill>
              <a:srgbClr val="B2D0EC"/>
            </a:solidFill>
          </p:spPr>
        </p:sp>
        <p:sp>
          <p:nvSpPr>
            <p:cNvPr name="TextBox 29" id="29"/>
            <p:cNvSpPr txBox="true"/>
            <p:nvPr/>
          </p:nvSpPr>
          <p:spPr>
            <a:xfrm>
              <a:off x="0" y="-57150"/>
              <a:ext cx="3772180" cy="285508"/>
            </a:xfrm>
            <a:prstGeom prst="rect">
              <a:avLst/>
            </a:prstGeom>
          </p:spPr>
          <p:txBody>
            <a:bodyPr anchor="ctr" rtlCol="false" tIns="50800" lIns="50800" bIns="50800" rIns="50800"/>
            <a:lstStyle/>
            <a:p>
              <a:pPr algn="ctr">
                <a:lnSpc>
                  <a:spcPts val="2900"/>
                </a:lnSpc>
              </a:pPr>
            </a:p>
          </p:txBody>
        </p:sp>
      </p:grpSp>
      <p:sp>
        <p:nvSpPr>
          <p:cNvPr name="TextBox 30" id="30"/>
          <p:cNvSpPr txBox="true"/>
          <p:nvPr/>
        </p:nvSpPr>
        <p:spPr>
          <a:xfrm rot="0">
            <a:off x="2352962" y="6262460"/>
            <a:ext cx="14111990" cy="508858"/>
          </a:xfrm>
          <a:prstGeom prst="rect">
            <a:avLst/>
          </a:prstGeom>
        </p:spPr>
        <p:txBody>
          <a:bodyPr anchor="t" rtlCol="false" tIns="0" lIns="0" bIns="0" rIns="0">
            <a:spAutoFit/>
          </a:bodyPr>
          <a:lstStyle/>
          <a:p>
            <a:pPr algn="ctr">
              <a:lnSpc>
                <a:spcPts val="4149"/>
              </a:lnSpc>
            </a:pPr>
            <a:r>
              <a:rPr lang="en-US" sz="2963">
                <a:solidFill>
                  <a:srgbClr val="0B5298"/>
                </a:solidFill>
                <a:latin typeface="Ruda"/>
                <a:ea typeface="Ruda"/>
                <a:cs typeface="Ruda"/>
                <a:sym typeface="Ruda"/>
              </a:rPr>
              <a:t>Memahami teknik pengujian pesawat penerima di luar kanal (Out-channal test)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3093839" y="3076867"/>
            <a:ext cx="12836821" cy="5049151"/>
            <a:chOff x="0" y="0"/>
            <a:chExt cx="3380891" cy="1329817"/>
          </a:xfrm>
        </p:grpSpPr>
        <p:sp>
          <p:nvSpPr>
            <p:cNvPr name="Freeform 4" id="4"/>
            <p:cNvSpPr/>
            <p:nvPr/>
          </p:nvSpPr>
          <p:spPr>
            <a:xfrm flipH="false" flipV="false" rot="0">
              <a:off x="0" y="0"/>
              <a:ext cx="3380891" cy="1329817"/>
            </a:xfrm>
            <a:custGeom>
              <a:avLst/>
              <a:gdLst/>
              <a:ahLst/>
              <a:cxnLst/>
              <a:rect r="r" b="b" t="t" l="l"/>
              <a:pathLst>
                <a:path h="1329817" w="3380891">
                  <a:moveTo>
                    <a:pt x="30758" y="0"/>
                  </a:moveTo>
                  <a:lnTo>
                    <a:pt x="3350133" y="0"/>
                  </a:lnTo>
                  <a:cubicBezTo>
                    <a:pt x="3367120" y="0"/>
                    <a:pt x="3380891" y="13771"/>
                    <a:pt x="3380891" y="30758"/>
                  </a:cubicBezTo>
                  <a:lnTo>
                    <a:pt x="3380891" y="1299059"/>
                  </a:lnTo>
                  <a:cubicBezTo>
                    <a:pt x="3380891" y="1316047"/>
                    <a:pt x="3367120" y="1329817"/>
                    <a:pt x="3350133" y="1329817"/>
                  </a:cubicBezTo>
                  <a:lnTo>
                    <a:pt x="30758" y="1329817"/>
                  </a:lnTo>
                  <a:cubicBezTo>
                    <a:pt x="13771" y="1329817"/>
                    <a:pt x="0" y="1316047"/>
                    <a:pt x="0" y="1299059"/>
                  </a:cubicBezTo>
                  <a:lnTo>
                    <a:pt x="0" y="30758"/>
                  </a:lnTo>
                  <a:cubicBezTo>
                    <a:pt x="0" y="13771"/>
                    <a:pt x="13771" y="0"/>
                    <a:pt x="30758" y="0"/>
                  </a:cubicBezTo>
                  <a:close/>
                </a:path>
              </a:pathLst>
            </a:custGeom>
            <a:solidFill>
              <a:srgbClr val="B2D0EC"/>
            </a:solidFill>
          </p:spPr>
        </p:sp>
        <p:sp>
          <p:nvSpPr>
            <p:cNvPr name="TextBox 5" id="5"/>
            <p:cNvSpPr txBox="true"/>
            <p:nvPr/>
          </p:nvSpPr>
          <p:spPr>
            <a:xfrm>
              <a:off x="0" y="-57150"/>
              <a:ext cx="3380891" cy="1386967"/>
            </a:xfrm>
            <a:prstGeom prst="rect">
              <a:avLst/>
            </a:prstGeom>
          </p:spPr>
          <p:txBody>
            <a:bodyPr anchor="ctr" rtlCol="false" tIns="50800" lIns="50800" bIns="50800" rIns="50800"/>
            <a:lstStyle/>
            <a:p>
              <a:pPr algn="ctr">
                <a:lnSpc>
                  <a:spcPts val="2900"/>
                </a:lnSpc>
              </a:pPr>
            </a:p>
          </p:txBody>
        </p:sp>
      </p:grpSp>
      <p:sp>
        <p:nvSpPr>
          <p:cNvPr name="Freeform 6" id="6"/>
          <p:cNvSpPr/>
          <p:nvPr/>
        </p:nvSpPr>
        <p:spPr>
          <a:xfrm flipH="false" flipV="false" rot="0">
            <a:off x="-1536499" y="6528729"/>
            <a:ext cx="5655398" cy="5408617"/>
          </a:xfrm>
          <a:custGeom>
            <a:avLst/>
            <a:gdLst/>
            <a:ahLst/>
            <a:cxnLst/>
            <a:rect r="r" b="b" t="t" l="l"/>
            <a:pathLst>
              <a:path h="5408617" w="5655398">
                <a:moveTo>
                  <a:pt x="0" y="0"/>
                </a:moveTo>
                <a:lnTo>
                  <a:pt x="5655398" y="0"/>
                </a:lnTo>
                <a:lnTo>
                  <a:pt x="5655398" y="5408617"/>
                </a:lnTo>
                <a:lnTo>
                  <a:pt x="0" y="54086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6289496" y="314340"/>
            <a:ext cx="6642316" cy="1473387"/>
          </a:xfrm>
          <a:custGeom>
            <a:avLst/>
            <a:gdLst/>
            <a:ahLst/>
            <a:cxnLst/>
            <a:rect r="r" b="b" t="t" l="l"/>
            <a:pathLst>
              <a:path h="1473387" w="6642316">
                <a:moveTo>
                  <a:pt x="0" y="0"/>
                </a:moveTo>
                <a:lnTo>
                  <a:pt x="6642316" y="0"/>
                </a:lnTo>
                <a:lnTo>
                  <a:pt x="6642316" y="1473387"/>
                </a:lnTo>
                <a:lnTo>
                  <a:pt x="0" y="147338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785293" y="1679511"/>
            <a:ext cx="16230600" cy="1035050"/>
          </a:xfrm>
          <a:prstGeom prst="rect">
            <a:avLst/>
          </a:prstGeom>
        </p:spPr>
        <p:txBody>
          <a:bodyPr anchor="t" rtlCol="false" tIns="0" lIns="0" bIns="0" rIns="0">
            <a:spAutoFit/>
          </a:bodyPr>
          <a:lstStyle/>
          <a:p>
            <a:pPr algn="ctr">
              <a:lnSpc>
                <a:spcPts val="8049"/>
              </a:lnSpc>
            </a:pPr>
            <a:r>
              <a:rPr lang="en-US" sz="6999">
                <a:solidFill>
                  <a:srgbClr val="FFFFFF"/>
                </a:solidFill>
                <a:latin typeface="TS Damas Sans"/>
                <a:ea typeface="TS Damas Sans"/>
                <a:cs typeface="TS Damas Sans"/>
                <a:sym typeface="TS Damas Sans"/>
              </a:rPr>
              <a:t>LINGKUP PEKERJAAN </a:t>
            </a:r>
          </a:p>
        </p:txBody>
      </p:sp>
      <p:sp>
        <p:nvSpPr>
          <p:cNvPr name="Freeform 9" id="9"/>
          <p:cNvSpPr/>
          <p:nvPr/>
        </p:nvSpPr>
        <p:spPr>
          <a:xfrm flipH="false" flipV="false" rot="0">
            <a:off x="623490" y="3447986"/>
            <a:ext cx="1138683" cy="873680"/>
          </a:xfrm>
          <a:custGeom>
            <a:avLst/>
            <a:gdLst/>
            <a:ahLst/>
            <a:cxnLst/>
            <a:rect r="r" b="b" t="t" l="l"/>
            <a:pathLst>
              <a:path h="873680" w="1138683">
                <a:moveTo>
                  <a:pt x="0" y="0"/>
                </a:moveTo>
                <a:lnTo>
                  <a:pt x="1138683" y="0"/>
                </a:lnTo>
                <a:lnTo>
                  <a:pt x="1138683" y="873680"/>
                </a:lnTo>
                <a:lnTo>
                  <a:pt x="0" y="87368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15361319" y="7689177"/>
            <a:ext cx="1138683" cy="873680"/>
          </a:xfrm>
          <a:custGeom>
            <a:avLst/>
            <a:gdLst/>
            <a:ahLst/>
            <a:cxnLst/>
            <a:rect r="r" b="b" t="t" l="l"/>
            <a:pathLst>
              <a:path h="873680" w="1138683">
                <a:moveTo>
                  <a:pt x="0" y="0"/>
                </a:moveTo>
                <a:lnTo>
                  <a:pt x="1138682" y="0"/>
                </a:lnTo>
                <a:lnTo>
                  <a:pt x="1138682" y="873680"/>
                </a:lnTo>
                <a:lnTo>
                  <a:pt x="0" y="87368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1" id="11"/>
          <p:cNvSpPr txBox="true"/>
          <p:nvPr/>
        </p:nvSpPr>
        <p:spPr>
          <a:xfrm rot="0">
            <a:off x="16500001" y="675267"/>
            <a:ext cx="1031784" cy="701675"/>
          </a:xfrm>
          <a:prstGeom prst="rect">
            <a:avLst/>
          </a:prstGeom>
        </p:spPr>
        <p:txBody>
          <a:bodyPr anchor="t" rtlCol="false" tIns="0" lIns="0" bIns="0" rIns="0">
            <a:spAutoFit/>
          </a:bodyPr>
          <a:lstStyle/>
          <a:p>
            <a:pPr algn="ctr">
              <a:lnSpc>
                <a:spcPts val="5799"/>
              </a:lnSpc>
            </a:pPr>
            <a:r>
              <a:rPr lang="en-US" b="true" sz="3999" spc="199">
                <a:solidFill>
                  <a:srgbClr val="0B5298"/>
                </a:solidFill>
                <a:latin typeface="Ruda Bold"/>
                <a:ea typeface="Ruda Bold"/>
                <a:cs typeface="Ruda Bold"/>
                <a:sym typeface="Ruda Bold"/>
              </a:rPr>
              <a:t>03</a:t>
            </a:r>
          </a:p>
        </p:txBody>
      </p:sp>
      <p:sp>
        <p:nvSpPr>
          <p:cNvPr name="TextBox 12" id="12"/>
          <p:cNvSpPr txBox="true"/>
          <p:nvPr/>
        </p:nvSpPr>
        <p:spPr>
          <a:xfrm rot="0">
            <a:off x="3093839" y="3252335"/>
            <a:ext cx="13406162" cy="4203700"/>
          </a:xfrm>
          <a:prstGeom prst="rect">
            <a:avLst/>
          </a:prstGeom>
        </p:spPr>
        <p:txBody>
          <a:bodyPr anchor="t" rtlCol="false" tIns="0" lIns="0" bIns="0" rIns="0">
            <a:spAutoFit/>
          </a:bodyPr>
          <a:lstStyle/>
          <a:p>
            <a:pPr algn="l" marL="863599" indent="-431800" lvl="1">
              <a:lnSpc>
                <a:spcPts val="5599"/>
              </a:lnSpc>
              <a:buFont typeface="Arial"/>
              <a:buChar char="•"/>
            </a:pPr>
            <a:r>
              <a:rPr lang="en-US" sz="3999">
                <a:solidFill>
                  <a:srgbClr val="0B5298"/>
                </a:solidFill>
                <a:latin typeface="Ruda"/>
                <a:ea typeface="Ruda"/>
                <a:cs typeface="Ruda"/>
                <a:sym typeface="Ruda"/>
              </a:rPr>
              <a:t>Mengamati blok diagram radio transceiver VHF FM (bagian pemancar</a:t>
            </a:r>
          </a:p>
          <a:p>
            <a:pPr algn="l" marL="863599" indent="-431800" lvl="1">
              <a:lnSpc>
                <a:spcPts val="5599"/>
              </a:lnSpc>
              <a:buFont typeface="Arial"/>
              <a:buChar char="•"/>
            </a:pPr>
            <a:r>
              <a:rPr lang="en-US" sz="3999">
                <a:solidFill>
                  <a:srgbClr val="0B5298"/>
                </a:solidFill>
                <a:latin typeface="Ruda"/>
                <a:ea typeface="Ruda"/>
                <a:cs typeface="Ruda"/>
                <a:sym typeface="Ruda"/>
              </a:rPr>
              <a:t>Mengamati blok diagram radio transceiver VHF FM (bagian pemancar)</a:t>
            </a:r>
          </a:p>
          <a:p>
            <a:pPr algn="l" marL="863599" indent="-431800" lvl="1">
              <a:lnSpc>
                <a:spcPts val="5599"/>
              </a:lnSpc>
              <a:buFont typeface="Arial"/>
              <a:buChar char="•"/>
            </a:pPr>
            <a:r>
              <a:rPr lang="en-US" sz="3999">
                <a:solidFill>
                  <a:srgbClr val="0B5298"/>
                </a:solidFill>
                <a:latin typeface="Ruda"/>
                <a:ea typeface="Ruda"/>
                <a:cs typeface="Ruda"/>
                <a:sym typeface="Ruda"/>
              </a:rPr>
              <a:t>Mengukur spesifikasi teknis penerima</a:t>
            </a:r>
          </a:p>
          <a:p>
            <a:pPr algn="l" marL="863599" indent="-431800" lvl="1">
              <a:lnSpc>
                <a:spcPts val="5599"/>
              </a:lnSpc>
              <a:buFont typeface="Arial"/>
              <a:buChar char="•"/>
            </a:pPr>
            <a:r>
              <a:rPr lang="en-US" sz="3999">
                <a:solidFill>
                  <a:srgbClr val="0B5298"/>
                </a:solidFill>
                <a:latin typeface="Ruda"/>
                <a:ea typeface="Ruda"/>
                <a:cs typeface="Ruda"/>
                <a:sym typeface="Ruda"/>
              </a:rPr>
              <a:t>Mengukur spesifikasi teknis pemancar</a:t>
            </a:r>
          </a:p>
        </p:txBody>
      </p:sp>
      <p:grpSp>
        <p:nvGrpSpPr>
          <p:cNvPr name="Group 13" id="13"/>
          <p:cNvGrpSpPr/>
          <p:nvPr/>
        </p:nvGrpSpPr>
        <p:grpSpPr>
          <a:xfrm rot="0">
            <a:off x="920352" y="463565"/>
            <a:ext cx="6397268" cy="1359730"/>
            <a:chOff x="0" y="0"/>
            <a:chExt cx="8529691" cy="1812973"/>
          </a:xfrm>
        </p:grpSpPr>
        <p:grpSp>
          <p:nvGrpSpPr>
            <p:cNvPr name="Group 14" id="14"/>
            <p:cNvGrpSpPr/>
            <p:nvPr/>
          </p:nvGrpSpPr>
          <p:grpSpPr>
            <a:xfrm rot="0">
              <a:off x="1957668" y="321092"/>
              <a:ext cx="5471577" cy="772857"/>
              <a:chOff x="0" y="0"/>
              <a:chExt cx="1080805" cy="152663"/>
            </a:xfrm>
          </p:grpSpPr>
          <p:sp>
            <p:nvSpPr>
              <p:cNvPr name="Freeform 15" id="15"/>
              <p:cNvSpPr/>
              <p:nvPr/>
            </p:nvSpPr>
            <p:spPr>
              <a:xfrm flipH="false" flipV="false" rot="0">
                <a:off x="0" y="0"/>
                <a:ext cx="1080805" cy="152663"/>
              </a:xfrm>
              <a:custGeom>
                <a:avLst/>
                <a:gdLst/>
                <a:ahLst/>
                <a:cxnLst/>
                <a:rect r="r" b="b" t="t" l="l"/>
                <a:pathLst>
                  <a:path h="152663" w="1080805">
                    <a:moveTo>
                      <a:pt x="76332" y="0"/>
                    </a:moveTo>
                    <a:lnTo>
                      <a:pt x="1004474" y="0"/>
                    </a:lnTo>
                    <a:cubicBezTo>
                      <a:pt x="1046630" y="0"/>
                      <a:pt x="1080805" y="34175"/>
                      <a:pt x="1080805" y="76332"/>
                    </a:cubicBezTo>
                    <a:lnTo>
                      <a:pt x="1080805" y="76332"/>
                    </a:lnTo>
                    <a:cubicBezTo>
                      <a:pt x="1080805" y="96576"/>
                      <a:pt x="1072763" y="115991"/>
                      <a:pt x="1058448" y="130306"/>
                    </a:cubicBezTo>
                    <a:cubicBezTo>
                      <a:pt x="1044133" y="144621"/>
                      <a:pt x="1024718" y="152663"/>
                      <a:pt x="1004474" y="152663"/>
                    </a:cubicBezTo>
                    <a:lnTo>
                      <a:pt x="76332" y="152663"/>
                    </a:lnTo>
                    <a:cubicBezTo>
                      <a:pt x="34175" y="152663"/>
                      <a:pt x="0" y="118488"/>
                      <a:pt x="0" y="76332"/>
                    </a:cubicBezTo>
                    <a:lnTo>
                      <a:pt x="0" y="76332"/>
                    </a:lnTo>
                    <a:cubicBezTo>
                      <a:pt x="0" y="34175"/>
                      <a:pt x="34175" y="0"/>
                      <a:pt x="76332" y="0"/>
                    </a:cubicBezTo>
                    <a:close/>
                  </a:path>
                </a:pathLst>
              </a:custGeom>
              <a:solidFill>
                <a:srgbClr val="B2D0EC"/>
              </a:solidFill>
            </p:spPr>
          </p:sp>
          <p:sp>
            <p:nvSpPr>
              <p:cNvPr name="TextBox 16" id="16"/>
              <p:cNvSpPr txBox="true"/>
              <p:nvPr/>
            </p:nvSpPr>
            <p:spPr>
              <a:xfrm>
                <a:off x="0" y="-57150"/>
                <a:ext cx="1080805" cy="209813"/>
              </a:xfrm>
              <a:prstGeom prst="rect">
                <a:avLst/>
              </a:prstGeom>
            </p:spPr>
            <p:txBody>
              <a:bodyPr anchor="ctr" rtlCol="false" tIns="50800" lIns="50800" bIns="50800" rIns="50800"/>
              <a:lstStyle/>
              <a:p>
                <a:pPr algn="ctr">
                  <a:lnSpc>
                    <a:spcPts val="2900"/>
                  </a:lnSpc>
                </a:pPr>
              </a:p>
            </p:txBody>
          </p:sp>
        </p:grpSp>
        <p:sp>
          <p:nvSpPr>
            <p:cNvPr name="TextBox 17" id="17"/>
            <p:cNvSpPr txBox="true"/>
            <p:nvPr/>
          </p:nvSpPr>
          <p:spPr>
            <a:xfrm rot="0">
              <a:off x="631141" y="451403"/>
              <a:ext cx="7898550" cy="455083"/>
            </a:xfrm>
            <a:prstGeom prst="rect">
              <a:avLst/>
            </a:prstGeom>
          </p:spPr>
          <p:txBody>
            <a:bodyPr anchor="t" rtlCol="false" tIns="0" lIns="0" bIns="0" rIns="0">
              <a:spAutoFit/>
            </a:bodyPr>
            <a:lstStyle/>
            <a:p>
              <a:pPr algn="ctr">
                <a:lnSpc>
                  <a:spcPts val="2900"/>
                </a:lnSpc>
              </a:pPr>
              <a:r>
                <a:rPr lang="en-US" b="true" sz="2000" spc="100">
                  <a:solidFill>
                    <a:srgbClr val="0B5298"/>
                  </a:solidFill>
                  <a:latin typeface="Ruda Bold"/>
                  <a:ea typeface="Ruda Bold"/>
                  <a:cs typeface="Ruda Bold"/>
                  <a:sym typeface="Ruda Bold"/>
                </a:rPr>
                <a:t>Siskom terestrial gel.mikro</a:t>
              </a:r>
            </a:p>
          </p:txBody>
        </p:sp>
        <p:sp>
          <p:nvSpPr>
            <p:cNvPr name="Freeform 18" id="18"/>
            <p:cNvSpPr/>
            <p:nvPr/>
          </p:nvSpPr>
          <p:spPr>
            <a:xfrm flipH="false" flipV="false" rot="0">
              <a:off x="0" y="0"/>
              <a:ext cx="1262283" cy="1812973"/>
            </a:xfrm>
            <a:custGeom>
              <a:avLst/>
              <a:gdLst/>
              <a:ahLst/>
              <a:cxnLst/>
              <a:rect r="r" b="b" t="t" l="l"/>
              <a:pathLst>
                <a:path h="1812973" w="1262283">
                  <a:moveTo>
                    <a:pt x="0" y="0"/>
                  </a:moveTo>
                  <a:lnTo>
                    <a:pt x="1262283" y="0"/>
                  </a:lnTo>
                  <a:lnTo>
                    <a:pt x="1262283" y="1812973"/>
                  </a:lnTo>
                  <a:lnTo>
                    <a:pt x="0" y="1812973"/>
                  </a:lnTo>
                  <a:lnTo>
                    <a:pt x="0" y="0"/>
                  </a:lnTo>
                  <a:close/>
                </a:path>
              </a:pathLst>
            </a:custGeom>
            <a:blipFill>
              <a:blip r:embed="rId9"/>
              <a:stretch>
                <a:fillRect l="0" t="0" r="0" b="0"/>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6289496" y="314340"/>
            <a:ext cx="6642316" cy="1473387"/>
          </a:xfrm>
          <a:custGeom>
            <a:avLst/>
            <a:gdLst/>
            <a:ahLst/>
            <a:cxnLst/>
            <a:rect r="r" b="b" t="t" l="l"/>
            <a:pathLst>
              <a:path h="1473387" w="6642316">
                <a:moveTo>
                  <a:pt x="0" y="0"/>
                </a:moveTo>
                <a:lnTo>
                  <a:pt x="6642316" y="0"/>
                </a:lnTo>
                <a:lnTo>
                  <a:pt x="6642316" y="1473387"/>
                </a:lnTo>
                <a:lnTo>
                  <a:pt x="0" y="14733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192832" y="838408"/>
            <a:ext cx="5923912" cy="355600"/>
          </a:xfrm>
          <a:prstGeom prst="rect">
            <a:avLst/>
          </a:prstGeom>
        </p:spPr>
        <p:txBody>
          <a:bodyPr anchor="t" rtlCol="false" tIns="0" lIns="0" bIns="0" rIns="0">
            <a:spAutoFit/>
          </a:bodyPr>
          <a:lstStyle/>
          <a:p>
            <a:pPr algn="ctr">
              <a:lnSpc>
                <a:spcPts val="2900"/>
              </a:lnSpc>
            </a:pPr>
            <a:r>
              <a:rPr lang="en-US" b="true" sz="2000" spc="100">
                <a:solidFill>
                  <a:srgbClr val="FFFFFF"/>
                </a:solidFill>
                <a:latin typeface="Ruda Bold"/>
                <a:ea typeface="Ruda Bold"/>
                <a:cs typeface="Ruda Bold"/>
                <a:sym typeface="Ruda Bold"/>
              </a:rPr>
              <a:t>Universitas Fauget | Teknologi Informasi</a:t>
            </a:r>
          </a:p>
        </p:txBody>
      </p:sp>
      <p:grpSp>
        <p:nvGrpSpPr>
          <p:cNvPr name="Group 5" id="5"/>
          <p:cNvGrpSpPr/>
          <p:nvPr/>
        </p:nvGrpSpPr>
        <p:grpSpPr>
          <a:xfrm rot="0">
            <a:off x="230161" y="393865"/>
            <a:ext cx="6397268" cy="1359730"/>
            <a:chOff x="0" y="0"/>
            <a:chExt cx="8529691" cy="1812973"/>
          </a:xfrm>
        </p:grpSpPr>
        <p:grpSp>
          <p:nvGrpSpPr>
            <p:cNvPr name="Group 6" id="6"/>
            <p:cNvGrpSpPr/>
            <p:nvPr/>
          </p:nvGrpSpPr>
          <p:grpSpPr>
            <a:xfrm rot="0">
              <a:off x="1957668" y="321092"/>
              <a:ext cx="5471577" cy="772857"/>
              <a:chOff x="0" y="0"/>
              <a:chExt cx="1080805" cy="152663"/>
            </a:xfrm>
          </p:grpSpPr>
          <p:sp>
            <p:nvSpPr>
              <p:cNvPr name="Freeform 7" id="7"/>
              <p:cNvSpPr/>
              <p:nvPr/>
            </p:nvSpPr>
            <p:spPr>
              <a:xfrm flipH="false" flipV="false" rot="0">
                <a:off x="0" y="0"/>
                <a:ext cx="1080805" cy="152663"/>
              </a:xfrm>
              <a:custGeom>
                <a:avLst/>
                <a:gdLst/>
                <a:ahLst/>
                <a:cxnLst/>
                <a:rect r="r" b="b" t="t" l="l"/>
                <a:pathLst>
                  <a:path h="152663" w="1080805">
                    <a:moveTo>
                      <a:pt x="76332" y="0"/>
                    </a:moveTo>
                    <a:lnTo>
                      <a:pt x="1004474" y="0"/>
                    </a:lnTo>
                    <a:cubicBezTo>
                      <a:pt x="1046630" y="0"/>
                      <a:pt x="1080805" y="34175"/>
                      <a:pt x="1080805" y="76332"/>
                    </a:cubicBezTo>
                    <a:lnTo>
                      <a:pt x="1080805" y="76332"/>
                    </a:lnTo>
                    <a:cubicBezTo>
                      <a:pt x="1080805" y="96576"/>
                      <a:pt x="1072763" y="115991"/>
                      <a:pt x="1058448" y="130306"/>
                    </a:cubicBezTo>
                    <a:cubicBezTo>
                      <a:pt x="1044133" y="144621"/>
                      <a:pt x="1024718" y="152663"/>
                      <a:pt x="1004474" y="152663"/>
                    </a:cubicBezTo>
                    <a:lnTo>
                      <a:pt x="76332" y="152663"/>
                    </a:lnTo>
                    <a:cubicBezTo>
                      <a:pt x="34175" y="152663"/>
                      <a:pt x="0" y="118488"/>
                      <a:pt x="0" y="76332"/>
                    </a:cubicBezTo>
                    <a:lnTo>
                      <a:pt x="0" y="76332"/>
                    </a:lnTo>
                    <a:cubicBezTo>
                      <a:pt x="0" y="34175"/>
                      <a:pt x="34175" y="0"/>
                      <a:pt x="76332" y="0"/>
                    </a:cubicBezTo>
                    <a:close/>
                  </a:path>
                </a:pathLst>
              </a:custGeom>
              <a:solidFill>
                <a:srgbClr val="B2D0EC"/>
              </a:solidFill>
            </p:spPr>
          </p:sp>
          <p:sp>
            <p:nvSpPr>
              <p:cNvPr name="TextBox 8" id="8"/>
              <p:cNvSpPr txBox="true"/>
              <p:nvPr/>
            </p:nvSpPr>
            <p:spPr>
              <a:xfrm>
                <a:off x="0" y="-57150"/>
                <a:ext cx="1080805" cy="209813"/>
              </a:xfrm>
              <a:prstGeom prst="rect">
                <a:avLst/>
              </a:prstGeom>
            </p:spPr>
            <p:txBody>
              <a:bodyPr anchor="ctr" rtlCol="false" tIns="50800" lIns="50800" bIns="50800" rIns="50800"/>
              <a:lstStyle/>
              <a:p>
                <a:pPr algn="ctr">
                  <a:lnSpc>
                    <a:spcPts val="2900"/>
                  </a:lnSpc>
                </a:pPr>
              </a:p>
            </p:txBody>
          </p:sp>
        </p:grpSp>
        <p:sp>
          <p:nvSpPr>
            <p:cNvPr name="TextBox 9" id="9"/>
            <p:cNvSpPr txBox="true"/>
            <p:nvPr/>
          </p:nvSpPr>
          <p:spPr>
            <a:xfrm rot="0">
              <a:off x="631141" y="451403"/>
              <a:ext cx="7898550" cy="455083"/>
            </a:xfrm>
            <a:prstGeom prst="rect">
              <a:avLst/>
            </a:prstGeom>
          </p:spPr>
          <p:txBody>
            <a:bodyPr anchor="t" rtlCol="false" tIns="0" lIns="0" bIns="0" rIns="0">
              <a:spAutoFit/>
            </a:bodyPr>
            <a:lstStyle/>
            <a:p>
              <a:pPr algn="ctr">
                <a:lnSpc>
                  <a:spcPts val="2900"/>
                </a:lnSpc>
              </a:pPr>
              <a:r>
                <a:rPr lang="en-US" b="true" sz="2000" spc="100">
                  <a:solidFill>
                    <a:srgbClr val="0B5298"/>
                  </a:solidFill>
                  <a:latin typeface="Ruda Bold"/>
                  <a:ea typeface="Ruda Bold"/>
                  <a:cs typeface="Ruda Bold"/>
                  <a:sym typeface="Ruda Bold"/>
                </a:rPr>
                <a:t>Siskom terestrial gel.mikro</a:t>
              </a:r>
            </a:p>
          </p:txBody>
        </p:sp>
        <p:sp>
          <p:nvSpPr>
            <p:cNvPr name="Freeform 10" id="10"/>
            <p:cNvSpPr/>
            <p:nvPr/>
          </p:nvSpPr>
          <p:spPr>
            <a:xfrm flipH="false" flipV="false" rot="0">
              <a:off x="0" y="0"/>
              <a:ext cx="1262283" cy="1812973"/>
            </a:xfrm>
            <a:custGeom>
              <a:avLst/>
              <a:gdLst/>
              <a:ahLst/>
              <a:cxnLst/>
              <a:rect r="r" b="b" t="t" l="l"/>
              <a:pathLst>
                <a:path h="1812973" w="1262283">
                  <a:moveTo>
                    <a:pt x="0" y="0"/>
                  </a:moveTo>
                  <a:lnTo>
                    <a:pt x="1262283" y="0"/>
                  </a:lnTo>
                  <a:lnTo>
                    <a:pt x="1262283" y="1812973"/>
                  </a:lnTo>
                  <a:lnTo>
                    <a:pt x="0" y="1812973"/>
                  </a:lnTo>
                  <a:lnTo>
                    <a:pt x="0" y="0"/>
                  </a:lnTo>
                  <a:close/>
                </a:path>
              </a:pathLst>
            </a:custGeom>
            <a:blipFill>
              <a:blip r:embed="rId5"/>
              <a:stretch>
                <a:fillRect l="0" t="0" r="0" b="0"/>
              </a:stretch>
            </a:blipFill>
          </p:spPr>
        </p:sp>
      </p:grpSp>
      <p:sp>
        <p:nvSpPr>
          <p:cNvPr name="Freeform 11" id="11"/>
          <p:cNvSpPr/>
          <p:nvPr/>
        </p:nvSpPr>
        <p:spPr>
          <a:xfrm flipH="false" flipV="false" rot="0">
            <a:off x="2365009" y="5010150"/>
            <a:ext cx="13932350" cy="4754414"/>
          </a:xfrm>
          <a:custGeom>
            <a:avLst/>
            <a:gdLst/>
            <a:ahLst/>
            <a:cxnLst/>
            <a:rect r="r" b="b" t="t" l="l"/>
            <a:pathLst>
              <a:path h="4754414" w="13932350">
                <a:moveTo>
                  <a:pt x="0" y="0"/>
                </a:moveTo>
                <a:lnTo>
                  <a:pt x="13932349" y="0"/>
                </a:lnTo>
                <a:lnTo>
                  <a:pt x="13932349" y="4754414"/>
                </a:lnTo>
                <a:lnTo>
                  <a:pt x="0" y="4754414"/>
                </a:lnTo>
                <a:lnTo>
                  <a:pt x="0" y="0"/>
                </a:lnTo>
                <a:close/>
              </a:path>
            </a:pathLst>
          </a:custGeom>
          <a:blipFill>
            <a:blip r:embed="rId6"/>
            <a:stretch>
              <a:fillRect l="0" t="0" r="0" b="0"/>
            </a:stretch>
          </a:blipFill>
        </p:spPr>
      </p:sp>
      <p:sp>
        <p:nvSpPr>
          <p:cNvPr name="TextBox 12" id="12"/>
          <p:cNvSpPr txBox="true"/>
          <p:nvPr/>
        </p:nvSpPr>
        <p:spPr>
          <a:xfrm rot="0">
            <a:off x="1403067" y="1801318"/>
            <a:ext cx="15856233" cy="1489710"/>
          </a:xfrm>
          <a:prstGeom prst="rect">
            <a:avLst/>
          </a:prstGeom>
        </p:spPr>
        <p:txBody>
          <a:bodyPr anchor="t" rtlCol="false" tIns="0" lIns="0" bIns="0" rIns="0">
            <a:spAutoFit/>
          </a:bodyPr>
          <a:lstStyle/>
          <a:p>
            <a:pPr algn="ctr">
              <a:lnSpc>
                <a:spcPts val="5865"/>
              </a:lnSpc>
            </a:pPr>
            <a:r>
              <a:rPr lang="en-US" sz="5100">
                <a:solidFill>
                  <a:srgbClr val="000000"/>
                </a:solidFill>
                <a:latin typeface="TS Damas Sans"/>
                <a:ea typeface="TS Damas Sans"/>
                <a:cs typeface="TS Damas Sans"/>
                <a:sym typeface="TS Damas Sans"/>
              </a:rPr>
              <a:t>MENGAMATI BLOK DIAGRAM RADIO TRANSCEIVER VHF FM </a:t>
            </a:r>
          </a:p>
          <a:p>
            <a:pPr algn="ctr">
              <a:lnSpc>
                <a:spcPts val="5865"/>
              </a:lnSpc>
            </a:pPr>
            <a:r>
              <a:rPr lang="en-US" sz="5100">
                <a:solidFill>
                  <a:srgbClr val="000000"/>
                </a:solidFill>
                <a:latin typeface="TS Damas Sans"/>
                <a:ea typeface="TS Damas Sans"/>
                <a:cs typeface="TS Damas Sans"/>
                <a:sym typeface="TS Damas Sans"/>
              </a:rPr>
              <a:t>(BAGIAN PEMANCAR)</a:t>
            </a:r>
          </a:p>
        </p:txBody>
      </p:sp>
      <p:sp>
        <p:nvSpPr>
          <p:cNvPr name="TextBox 13" id="13"/>
          <p:cNvSpPr txBox="true"/>
          <p:nvPr/>
        </p:nvSpPr>
        <p:spPr>
          <a:xfrm rot="0">
            <a:off x="16500001" y="675267"/>
            <a:ext cx="1031784" cy="701675"/>
          </a:xfrm>
          <a:prstGeom prst="rect">
            <a:avLst/>
          </a:prstGeom>
        </p:spPr>
        <p:txBody>
          <a:bodyPr anchor="t" rtlCol="false" tIns="0" lIns="0" bIns="0" rIns="0">
            <a:spAutoFit/>
          </a:bodyPr>
          <a:lstStyle/>
          <a:p>
            <a:pPr algn="ctr">
              <a:lnSpc>
                <a:spcPts val="5799"/>
              </a:lnSpc>
            </a:pPr>
            <a:r>
              <a:rPr lang="en-US" b="true" sz="3999" spc="199">
                <a:solidFill>
                  <a:srgbClr val="0B5298"/>
                </a:solidFill>
                <a:latin typeface="Ruda Bold"/>
                <a:ea typeface="Ruda Bold"/>
                <a:cs typeface="Ruda Bold"/>
                <a:sym typeface="Ruda Bold"/>
              </a:rPr>
              <a:t>04</a:t>
            </a:r>
          </a:p>
        </p:txBody>
      </p:sp>
      <p:sp>
        <p:nvSpPr>
          <p:cNvPr name="TextBox 14" id="14"/>
          <p:cNvSpPr txBox="true"/>
          <p:nvPr/>
        </p:nvSpPr>
        <p:spPr>
          <a:xfrm rot="0">
            <a:off x="1403067" y="3488906"/>
            <a:ext cx="15856233" cy="1773555"/>
          </a:xfrm>
          <a:prstGeom prst="rect">
            <a:avLst/>
          </a:prstGeom>
        </p:spPr>
        <p:txBody>
          <a:bodyPr anchor="t" rtlCol="false" tIns="0" lIns="0" bIns="0" rIns="0">
            <a:spAutoFit/>
          </a:bodyPr>
          <a:lstStyle/>
          <a:p>
            <a:pPr algn="just">
              <a:lnSpc>
                <a:spcPts val="3569"/>
              </a:lnSpc>
            </a:pPr>
            <a:r>
              <a:rPr lang="en-US" sz="2549">
                <a:solidFill>
                  <a:srgbClr val="000000"/>
                </a:solidFill>
                <a:latin typeface="Ruda"/>
                <a:ea typeface="Ruda"/>
                <a:cs typeface="Ruda"/>
                <a:sym typeface="Ruda"/>
              </a:rPr>
              <a:t>Dalam praktikum Sistem Radio Transceiver VHF-FM, dilakukan pengamatan terhadap bagian pemancar dari perangkat radio transceiver VHF-FM. Pengamatan ini berdasarkan blok diagram bagian pemancar yang ditunjukkan sebagai berikut:</a:t>
            </a:r>
          </a:p>
          <a:p>
            <a:pPr algn="just">
              <a:lnSpc>
                <a:spcPts val="3569"/>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6289496" y="314340"/>
            <a:ext cx="6642316" cy="1473387"/>
          </a:xfrm>
          <a:custGeom>
            <a:avLst/>
            <a:gdLst/>
            <a:ahLst/>
            <a:cxnLst/>
            <a:rect r="r" b="b" t="t" l="l"/>
            <a:pathLst>
              <a:path h="1473387" w="6642316">
                <a:moveTo>
                  <a:pt x="0" y="0"/>
                </a:moveTo>
                <a:lnTo>
                  <a:pt x="6642316" y="0"/>
                </a:lnTo>
                <a:lnTo>
                  <a:pt x="6642316" y="1473387"/>
                </a:lnTo>
                <a:lnTo>
                  <a:pt x="0" y="14733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192832" y="838408"/>
            <a:ext cx="5923912" cy="355600"/>
          </a:xfrm>
          <a:prstGeom prst="rect">
            <a:avLst/>
          </a:prstGeom>
        </p:spPr>
        <p:txBody>
          <a:bodyPr anchor="t" rtlCol="false" tIns="0" lIns="0" bIns="0" rIns="0">
            <a:spAutoFit/>
          </a:bodyPr>
          <a:lstStyle/>
          <a:p>
            <a:pPr algn="ctr">
              <a:lnSpc>
                <a:spcPts val="2900"/>
              </a:lnSpc>
            </a:pPr>
            <a:r>
              <a:rPr lang="en-US" b="true" sz="2000" spc="100">
                <a:solidFill>
                  <a:srgbClr val="FFFFFF"/>
                </a:solidFill>
                <a:latin typeface="Ruda Bold"/>
                <a:ea typeface="Ruda Bold"/>
                <a:cs typeface="Ruda Bold"/>
                <a:sym typeface="Ruda Bold"/>
              </a:rPr>
              <a:t>Universitas Fauget | Teknologi Informasi</a:t>
            </a:r>
          </a:p>
        </p:txBody>
      </p:sp>
      <p:grpSp>
        <p:nvGrpSpPr>
          <p:cNvPr name="Group 5" id="5"/>
          <p:cNvGrpSpPr/>
          <p:nvPr/>
        </p:nvGrpSpPr>
        <p:grpSpPr>
          <a:xfrm rot="0">
            <a:off x="263027" y="215693"/>
            <a:ext cx="6397268" cy="1359730"/>
            <a:chOff x="0" y="0"/>
            <a:chExt cx="8529691" cy="1812973"/>
          </a:xfrm>
        </p:grpSpPr>
        <p:grpSp>
          <p:nvGrpSpPr>
            <p:cNvPr name="Group 6" id="6"/>
            <p:cNvGrpSpPr/>
            <p:nvPr/>
          </p:nvGrpSpPr>
          <p:grpSpPr>
            <a:xfrm rot="0">
              <a:off x="1957668" y="321092"/>
              <a:ext cx="5471577" cy="772857"/>
              <a:chOff x="0" y="0"/>
              <a:chExt cx="1080805" cy="152663"/>
            </a:xfrm>
          </p:grpSpPr>
          <p:sp>
            <p:nvSpPr>
              <p:cNvPr name="Freeform 7" id="7"/>
              <p:cNvSpPr/>
              <p:nvPr/>
            </p:nvSpPr>
            <p:spPr>
              <a:xfrm flipH="false" flipV="false" rot="0">
                <a:off x="0" y="0"/>
                <a:ext cx="1080805" cy="152663"/>
              </a:xfrm>
              <a:custGeom>
                <a:avLst/>
                <a:gdLst/>
                <a:ahLst/>
                <a:cxnLst/>
                <a:rect r="r" b="b" t="t" l="l"/>
                <a:pathLst>
                  <a:path h="152663" w="1080805">
                    <a:moveTo>
                      <a:pt x="76332" y="0"/>
                    </a:moveTo>
                    <a:lnTo>
                      <a:pt x="1004474" y="0"/>
                    </a:lnTo>
                    <a:cubicBezTo>
                      <a:pt x="1046630" y="0"/>
                      <a:pt x="1080805" y="34175"/>
                      <a:pt x="1080805" y="76332"/>
                    </a:cubicBezTo>
                    <a:lnTo>
                      <a:pt x="1080805" y="76332"/>
                    </a:lnTo>
                    <a:cubicBezTo>
                      <a:pt x="1080805" y="96576"/>
                      <a:pt x="1072763" y="115991"/>
                      <a:pt x="1058448" y="130306"/>
                    </a:cubicBezTo>
                    <a:cubicBezTo>
                      <a:pt x="1044133" y="144621"/>
                      <a:pt x="1024718" y="152663"/>
                      <a:pt x="1004474" y="152663"/>
                    </a:cubicBezTo>
                    <a:lnTo>
                      <a:pt x="76332" y="152663"/>
                    </a:lnTo>
                    <a:cubicBezTo>
                      <a:pt x="34175" y="152663"/>
                      <a:pt x="0" y="118488"/>
                      <a:pt x="0" y="76332"/>
                    </a:cubicBezTo>
                    <a:lnTo>
                      <a:pt x="0" y="76332"/>
                    </a:lnTo>
                    <a:cubicBezTo>
                      <a:pt x="0" y="34175"/>
                      <a:pt x="34175" y="0"/>
                      <a:pt x="76332" y="0"/>
                    </a:cubicBezTo>
                    <a:close/>
                  </a:path>
                </a:pathLst>
              </a:custGeom>
              <a:solidFill>
                <a:srgbClr val="B2D0EC"/>
              </a:solidFill>
            </p:spPr>
          </p:sp>
          <p:sp>
            <p:nvSpPr>
              <p:cNvPr name="TextBox 8" id="8"/>
              <p:cNvSpPr txBox="true"/>
              <p:nvPr/>
            </p:nvSpPr>
            <p:spPr>
              <a:xfrm>
                <a:off x="0" y="-57150"/>
                <a:ext cx="1080805" cy="209813"/>
              </a:xfrm>
              <a:prstGeom prst="rect">
                <a:avLst/>
              </a:prstGeom>
            </p:spPr>
            <p:txBody>
              <a:bodyPr anchor="ctr" rtlCol="false" tIns="50800" lIns="50800" bIns="50800" rIns="50800"/>
              <a:lstStyle/>
              <a:p>
                <a:pPr algn="ctr">
                  <a:lnSpc>
                    <a:spcPts val="2900"/>
                  </a:lnSpc>
                </a:pPr>
              </a:p>
            </p:txBody>
          </p:sp>
        </p:grpSp>
        <p:sp>
          <p:nvSpPr>
            <p:cNvPr name="TextBox 9" id="9"/>
            <p:cNvSpPr txBox="true"/>
            <p:nvPr/>
          </p:nvSpPr>
          <p:spPr>
            <a:xfrm rot="0">
              <a:off x="631141" y="451403"/>
              <a:ext cx="7898550" cy="455083"/>
            </a:xfrm>
            <a:prstGeom prst="rect">
              <a:avLst/>
            </a:prstGeom>
          </p:spPr>
          <p:txBody>
            <a:bodyPr anchor="t" rtlCol="false" tIns="0" lIns="0" bIns="0" rIns="0">
              <a:spAutoFit/>
            </a:bodyPr>
            <a:lstStyle/>
            <a:p>
              <a:pPr algn="ctr">
                <a:lnSpc>
                  <a:spcPts val="2900"/>
                </a:lnSpc>
              </a:pPr>
              <a:r>
                <a:rPr lang="en-US" b="true" sz="2000" spc="100">
                  <a:solidFill>
                    <a:srgbClr val="0B5298"/>
                  </a:solidFill>
                  <a:latin typeface="Ruda Bold"/>
                  <a:ea typeface="Ruda Bold"/>
                  <a:cs typeface="Ruda Bold"/>
                  <a:sym typeface="Ruda Bold"/>
                </a:rPr>
                <a:t>Siskom terestrial gel.mikro</a:t>
              </a:r>
            </a:p>
          </p:txBody>
        </p:sp>
        <p:sp>
          <p:nvSpPr>
            <p:cNvPr name="Freeform 10" id="10"/>
            <p:cNvSpPr/>
            <p:nvPr/>
          </p:nvSpPr>
          <p:spPr>
            <a:xfrm flipH="false" flipV="false" rot="0">
              <a:off x="0" y="0"/>
              <a:ext cx="1262283" cy="1812973"/>
            </a:xfrm>
            <a:custGeom>
              <a:avLst/>
              <a:gdLst/>
              <a:ahLst/>
              <a:cxnLst/>
              <a:rect r="r" b="b" t="t" l="l"/>
              <a:pathLst>
                <a:path h="1812973" w="1262283">
                  <a:moveTo>
                    <a:pt x="0" y="0"/>
                  </a:moveTo>
                  <a:lnTo>
                    <a:pt x="1262283" y="0"/>
                  </a:lnTo>
                  <a:lnTo>
                    <a:pt x="1262283" y="1812973"/>
                  </a:lnTo>
                  <a:lnTo>
                    <a:pt x="0" y="1812973"/>
                  </a:lnTo>
                  <a:lnTo>
                    <a:pt x="0" y="0"/>
                  </a:lnTo>
                  <a:close/>
                </a:path>
              </a:pathLst>
            </a:custGeom>
            <a:blipFill>
              <a:blip r:embed="rId5"/>
              <a:stretch>
                <a:fillRect l="0" t="0" r="0" b="0"/>
              </a:stretch>
            </a:blipFill>
          </p:spPr>
        </p:sp>
      </p:grpSp>
      <p:sp>
        <p:nvSpPr>
          <p:cNvPr name="Freeform 11" id="11"/>
          <p:cNvSpPr/>
          <p:nvPr/>
        </p:nvSpPr>
        <p:spPr>
          <a:xfrm flipH="false" flipV="false" rot="-24000">
            <a:off x="8240457" y="77795"/>
            <a:ext cx="7933836" cy="5370157"/>
          </a:xfrm>
          <a:custGeom>
            <a:avLst/>
            <a:gdLst/>
            <a:ahLst/>
            <a:cxnLst/>
            <a:rect r="r" b="b" t="t" l="l"/>
            <a:pathLst>
              <a:path h="5370157" w="7933836">
                <a:moveTo>
                  <a:pt x="37107" y="0"/>
                </a:moveTo>
                <a:lnTo>
                  <a:pt x="7933836" y="55130"/>
                </a:lnTo>
                <a:lnTo>
                  <a:pt x="7896729" y="5370157"/>
                </a:lnTo>
                <a:lnTo>
                  <a:pt x="0" y="5315027"/>
                </a:lnTo>
                <a:lnTo>
                  <a:pt x="37107" y="0"/>
                </a:lnTo>
                <a:close/>
              </a:path>
            </a:pathLst>
          </a:custGeom>
          <a:blipFill>
            <a:blip r:embed="rId6"/>
            <a:stretch>
              <a:fillRect l="-11031" t="-1268" r="-11099" b="0"/>
            </a:stretch>
          </a:blipFill>
        </p:spPr>
      </p:sp>
      <p:sp>
        <p:nvSpPr>
          <p:cNvPr name="TextBox 12" id="12"/>
          <p:cNvSpPr txBox="true"/>
          <p:nvPr/>
        </p:nvSpPr>
        <p:spPr>
          <a:xfrm rot="0">
            <a:off x="2117595" y="1405517"/>
            <a:ext cx="6007969" cy="2232660"/>
          </a:xfrm>
          <a:prstGeom prst="rect">
            <a:avLst/>
          </a:prstGeom>
        </p:spPr>
        <p:txBody>
          <a:bodyPr anchor="t" rtlCol="false" tIns="0" lIns="0" bIns="0" rIns="0">
            <a:spAutoFit/>
          </a:bodyPr>
          <a:lstStyle/>
          <a:p>
            <a:pPr algn="l">
              <a:lnSpc>
                <a:spcPts val="5864"/>
              </a:lnSpc>
            </a:pPr>
            <a:r>
              <a:rPr lang="en-US" sz="5099">
                <a:solidFill>
                  <a:srgbClr val="000000"/>
                </a:solidFill>
                <a:latin typeface="TS Damas Sans"/>
                <a:ea typeface="TS Damas Sans"/>
                <a:cs typeface="TS Damas Sans"/>
                <a:sym typeface="TS Damas Sans"/>
              </a:rPr>
              <a:t>SETUP PENGUKURAN RADIO TRANSCEIVER VHF FM (BAGIAN PEMANCAR)</a:t>
            </a:r>
          </a:p>
        </p:txBody>
      </p:sp>
      <p:sp>
        <p:nvSpPr>
          <p:cNvPr name="TextBox 13" id="13"/>
          <p:cNvSpPr txBox="true"/>
          <p:nvPr/>
        </p:nvSpPr>
        <p:spPr>
          <a:xfrm rot="0">
            <a:off x="16500001" y="675267"/>
            <a:ext cx="1031784" cy="701675"/>
          </a:xfrm>
          <a:prstGeom prst="rect">
            <a:avLst/>
          </a:prstGeom>
        </p:spPr>
        <p:txBody>
          <a:bodyPr anchor="t" rtlCol="false" tIns="0" lIns="0" bIns="0" rIns="0">
            <a:spAutoFit/>
          </a:bodyPr>
          <a:lstStyle/>
          <a:p>
            <a:pPr algn="ctr">
              <a:lnSpc>
                <a:spcPts val="5799"/>
              </a:lnSpc>
            </a:pPr>
            <a:r>
              <a:rPr lang="en-US" b="true" sz="3999" spc="199">
                <a:solidFill>
                  <a:srgbClr val="0B5298"/>
                </a:solidFill>
                <a:latin typeface="Ruda Bold"/>
                <a:ea typeface="Ruda Bold"/>
                <a:cs typeface="Ruda Bold"/>
                <a:sym typeface="Ruda Bold"/>
              </a:rPr>
              <a:t>05</a:t>
            </a:r>
          </a:p>
        </p:txBody>
      </p:sp>
      <p:sp>
        <p:nvSpPr>
          <p:cNvPr name="TextBox 14" id="14"/>
          <p:cNvSpPr txBox="true"/>
          <p:nvPr/>
        </p:nvSpPr>
        <p:spPr>
          <a:xfrm rot="0">
            <a:off x="955711" y="5610952"/>
            <a:ext cx="16757577" cy="4794250"/>
          </a:xfrm>
          <a:prstGeom prst="rect">
            <a:avLst/>
          </a:prstGeom>
        </p:spPr>
        <p:txBody>
          <a:bodyPr anchor="t" rtlCol="false" tIns="0" lIns="0" bIns="0" rIns="0">
            <a:spAutoFit/>
          </a:bodyPr>
          <a:lstStyle/>
          <a:p>
            <a:pPr algn="just">
              <a:lnSpc>
                <a:spcPts val="3499"/>
              </a:lnSpc>
            </a:pPr>
            <a:r>
              <a:rPr lang="en-US" sz="2499">
                <a:solidFill>
                  <a:srgbClr val="000000"/>
                </a:solidFill>
                <a:latin typeface="Ruda"/>
                <a:ea typeface="Ruda"/>
                <a:cs typeface="Ruda"/>
                <a:sym typeface="Ruda"/>
              </a:rPr>
              <a:t>     Pada bagian pemancar, mikrofon menerima sinyal input berupa gelombang RF dengan frekuensi sebesar 1 kHz dan daya pancar sebesar -30 dBm. Sinyal ini kemudian melewati serangkaian proses di dalam rangkaian pemancar. Output dari setiap tahapan proses ini dapat diamati melalui lima titik pengujian (Test Point/TP) yang terdapat pada blok diagram radio transceiver VHF-FM. Setiap titik tersebut akan dianalisis menggunakan spektrum untuk melihat karakteristik sinyal pada masing-masing tahap.</a:t>
            </a:r>
          </a:p>
          <a:p>
            <a:pPr algn="just">
              <a:lnSpc>
                <a:spcPts val="3499"/>
              </a:lnSpc>
            </a:pPr>
            <a:r>
              <a:rPr lang="en-US" sz="2499">
                <a:solidFill>
                  <a:srgbClr val="000000"/>
                </a:solidFill>
                <a:latin typeface="Ruda"/>
                <a:ea typeface="Ruda"/>
                <a:cs typeface="Ruda"/>
                <a:sym typeface="Ruda"/>
              </a:rPr>
              <a:t>    Setelah melalui seluruh tahapan di bagian pemancar, sinyal kemudian dikirimkan ke bagian penerima. Pada bagian ini, sinyal input 1 kHz akan diperkuat (dayanya dinaikkan), dimodulasi, dan kemudian ditumpangkan (superimpose) ke dalam sinyal pembawa (carrier) dengan frekuensi sebesar 134 MHz. Proses ini merupakan bagian dari sistem transmisi dan penerimaan sinyal pada radio VHF-FM yang memungkinkan komunikasi audio melalui frekuensi tinggi</a:t>
            </a:r>
          </a:p>
          <a:p>
            <a:pPr algn="just">
              <a:lnSpc>
                <a:spcPts val="3499"/>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6289496" y="314340"/>
            <a:ext cx="6642316" cy="1473387"/>
          </a:xfrm>
          <a:custGeom>
            <a:avLst/>
            <a:gdLst/>
            <a:ahLst/>
            <a:cxnLst/>
            <a:rect r="r" b="b" t="t" l="l"/>
            <a:pathLst>
              <a:path h="1473387" w="6642316">
                <a:moveTo>
                  <a:pt x="0" y="0"/>
                </a:moveTo>
                <a:lnTo>
                  <a:pt x="6642316" y="0"/>
                </a:lnTo>
                <a:lnTo>
                  <a:pt x="6642316" y="1473387"/>
                </a:lnTo>
                <a:lnTo>
                  <a:pt x="0" y="14733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2772738" y="1405517"/>
            <a:ext cx="12742524" cy="1489710"/>
          </a:xfrm>
          <a:prstGeom prst="rect">
            <a:avLst/>
          </a:prstGeom>
        </p:spPr>
        <p:txBody>
          <a:bodyPr anchor="t" rtlCol="false" tIns="0" lIns="0" bIns="0" rIns="0">
            <a:spAutoFit/>
          </a:bodyPr>
          <a:lstStyle/>
          <a:p>
            <a:pPr algn="ctr">
              <a:lnSpc>
                <a:spcPts val="5865"/>
              </a:lnSpc>
            </a:pPr>
            <a:r>
              <a:rPr lang="en-US" sz="5100">
                <a:solidFill>
                  <a:srgbClr val="000000"/>
                </a:solidFill>
                <a:latin typeface="TS Damas Sans"/>
                <a:ea typeface="TS Damas Sans"/>
                <a:cs typeface="TS Damas Sans"/>
                <a:sym typeface="TS Damas Sans"/>
              </a:rPr>
              <a:t>MENGAMATI BLOK DIAGRAM RADIO TRANSCEIVER VHF FM (BAGIAN PEMANCAR)</a:t>
            </a:r>
          </a:p>
        </p:txBody>
      </p:sp>
      <p:sp>
        <p:nvSpPr>
          <p:cNvPr name="TextBox 5" id="5"/>
          <p:cNvSpPr txBox="true"/>
          <p:nvPr/>
        </p:nvSpPr>
        <p:spPr>
          <a:xfrm rot="0">
            <a:off x="1192832" y="838408"/>
            <a:ext cx="5923912" cy="355600"/>
          </a:xfrm>
          <a:prstGeom prst="rect">
            <a:avLst/>
          </a:prstGeom>
        </p:spPr>
        <p:txBody>
          <a:bodyPr anchor="t" rtlCol="false" tIns="0" lIns="0" bIns="0" rIns="0">
            <a:spAutoFit/>
          </a:bodyPr>
          <a:lstStyle/>
          <a:p>
            <a:pPr algn="ctr">
              <a:lnSpc>
                <a:spcPts val="2900"/>
              </a:lnSpc>
            </a:pPr>
            <a:r>
              <a:rPr lang="en-US" b="true" sz="2000" spc="100">
                <a:solidFill>
                  <a:srgbClr val="FFFFFF"/>
                </a:solidFill>
                <a:latin typeface="Ruda Bold"/>
                <a:ea typeface="Ruda Bold"/>
                <a:cs typeface="Ruda Bold"/>
                <a:sym typeface="Ruda Bold"/>
              </a:rPr>
              <a:t>Universitas Fauget | Teknologi Informasi</a:t>
            </a:r>
          </a:p>
        </p:txBody>
      </p:sp>
      <p:grpSp>
        <p:nvGrpSpPr>
          <p:cNvPr name="Group 6" id="6"/>
          <p:cNvGrpSpPr/>
          <p:nvPr/>
        </p:nvGrpSpPr>
        <p:grpSpPr>
          <a:xfrm rot="0">
            <a:off x="230161" y="393865"/>
            <a:ext cx="6397268" cy="1359730"/>
            <a:chOff x="0" y="0"/>
            <a:chExt cx="8529691" cy="1812973"/>
          </a:xfrm>
        </p:grpSpPr>
        <p:grpSp>
          <p:nvGrpSpPr>
            <p:cNvPr name="Group 7" id="7"/>
            <p:cNvGrpSpPr/>
            <p:nvPr/>
          </p:nvGrpSpPr>
          <p:grpSpPr>
            <a:xfrm rot="0">
              <a:off x="1957668" y="321092"/>
              <a:ext cx="5471577" cy="772857"/>
              <a:chOff x="0" y="0"/>
              <a:chExt cx="1080805" cy="152663"/>
            </a:xfrm>
          </p:grpSpPr>
          <p:sp>
            <p:nvSpPr>
              <p:cNvPr name="Freeform 8" id="8"/>
              <p:cNvSpPr/>
              <p:nvPr/>
            </p:nvSpPr>
            <p:spPr>
              <a:xfrm flipH="false" flipV="false" rot="0">
                <a:off x="0" y="0"/>
                <a:ext cx="1080805" cy="152663"/>
              </a:xfrm>
              <a:custGeom>
                <a:avLst/>
                <a:gdLst/>
                <a:ahLst/>
                <a:cxnLst/>
                <a:rect r="r" b="b" t="t" l="l"/>
                <a:pathLst>
                  <a:path h="152663" w="1080805">
                    <a:moveTo>
                      <a:pt x="76332" y="0"/>
                    </a:moveTo>
                    <a:lnTo>
                      <a:pt x="1004474" y="0"/>
                    </a:lnTo>
                    <a:cubicBezTo>
                      <a:pt x="1046630" y="0"/>
                      <a:pt x="1080805" y="34175"/>
                      <a:pt x="1080805" y="76332"/>
                    </a:cubicBezTo>
                    <a:lnTo>
                      <a:pt x="1080805" y="76332"/>
                    </a:lnTo>
                    <a:cubicBezTo>
                      <a:pt x="1080805" y="96576"/>
                      <a:pt x="1072763" y="115991"/>
                      <a:pt x="1058448" y="130306"/>
                    </a:cubicBezTo>
                    <a:cubicBezTo>
                      <a:pt x="1044133" y="144621"/>
                      <a:pt x="1024718" y="152663"/>
                      <a:pt x="1004474" y="152663"/>
                    </a:cubicBezTo>
                    <a:lnTo>
                      <a:pt x="76332" y="152663"/>
                    </a:lnTo>
                    <a:cubicBezTo>
                      <a:pt x="34175" y="152663"/>
                      <a:pt x="0" y="118488"/>
                      <a:pt x="0" y="76332"/>
                    </a:cubicBezTo>
                    <a:lnTo>
                      <a:pt x="0" y="76332"/>
                    </a:lnTo>
                    <a:cubicBezTo>
                      <a:pt x="0" y="34175"/>
                      <a:pt x="34175" y="0"/>
                      <a:pt x="76332" y="0"/>
                    </a:cubicBezTo>
                    <a:close/>
                  </a:path>
                </a:pathLst>
              </a:custGeom>
              <a:solidFill>
                <a:srgbClr val="B2D0EC"/>
              </a:solidFill>
            </p:spPr>
          </p:sp>
          <p:sp>
            <p:nvSpPr>
              <p:cNvPr name="TextBox 9" id="9"/>
              <p:cNvSpPr txBox="true"/>
              <p:nvPr/>
            </p:nvSpPr>
            <p:spPr>
              <a:xfrm>
                <a:off x="0" y="-57150"/>
                <a:ext cx="1080805" cy="209813"/>
              </a:xfrm>
              <a:prstGeom prst="rect">
                <a:avLst/>
              </a:prstGeom>
            </p:spPr>
            <p:txBody>
              <a:bodyPr anchor="ctr" rtlCol="false" tIns="50800" lIns="50800" bIns="50800" rIns="50800"/>
              <a:lstStyle/>
              <a:p>
                <a:pPr algn="ctr">
                  <a:lnSpc>
                    <a:spcPts val="2900"/>
                  </a:lnSpc>
                </a:pPr>
              </a:p>
            </p:txBody>
          </p:sp>
        </p:grpSp>
        <p:sp>
          <p:nvSpPr>
            <p:cNvPr name="TextBox 10" id="10"/>
            <p:cNvSpPr txBox="true"/>
            <p:nvPr/>
          </p:nvSpPr>
          <p:spPr>
            <a:xfrm rot="0">
              <a:off x="631141" y="451403"/>
              <a:ext cx="7898550" cy="455083"/>
            </a:xfrm>
            <a:prstGeom prst="rect">
              <a:avLst/>
            </a:prstGeom>
          </p:spPr>
          <p:txBody>
            <a:bodyPr anchor="t" rtlCol="false" tIns="0" lIns="0" bIns="0" rIns="0">
              <a:spAutoFit/>
            </a:bodyPr>
            <a:lstStyle/>
            <a:p>
              <a:pPr algn="ctr">
                <a:lnSpc>
                  <a:spcPts val="2900"/>
                </a:lnSpc>
              </a:pPr>
              <a:r>
                <a:rPr lang="en-US" b="true" sz="2000" spc="100">
                  <a:solidFill>
                    <a:srgbClr val="0B5298"/>
                  </a:solidFill>
                  <a:latin typeface="Ruda Bold"/>
                  <a:ea typeface="Ruda Bold"/>
                  <a:cs typeface="Ruda Bold"/>
                  <a:sym typeface="Ruda Bold"/>
                </a:rPr>
                <a:t>Siskom terestrial gel.mikro</a:t>
              </a:r>
            </a:p>
          </p:txBody>
        </p:sp>
        <p:sp>
          <p:nvSpPr>
            <p:cNvPr name="Freeform 11" id="11"/>
            <p:cNvSpPr/>
            <p:nvPr/>
          </p:nvSpPr>
          <p:spPr>
            <a:xfrm flipH="false" flipV="false" rot="0">
              <a:off x="0" y="0"/>
              <a:ext cx="1262283" cy="1812973"/>
            </a:xfrm>
            <a:custGeom>
              <a:avLst/>
              <a:gdLst/>
              <a:ahLst/>
              <a:cxnLst/>
              <a:rect r="r" b="b" t="t" l="l"/>
              <a:pathLst>
                <a:path h="1812973" w="1262283">
                  <a:moveTo>
                    <a:pt x="0" y="0"/>
                  </a:moveTo>
                  <a:lnTo>
                    <a:pt x="1262283" y="0"/>
                  </a:lnTo>
                  <a:lnTo>
                    <a:pt x="1262283" y="1812973"/>
                  </a:lnTo>
                  <a:lnTo>
                    <a:pt x="0" y="1812973"/>
                  </a:lnTo>
                  <a:lnTo>
                    <a:pt x="0" y="0"/>
                  </a:lnTo>
                  <a:close/>
                </a:path>
              </a:pathLst>
            </a:custGeom>
            <a:blipFill>
              <a:blip r:embed="rId5"/>
              <a:stretch>
                <a:fillRect l="0" t="0" r="0" b="0"/>
              </a:stretch>
            </a:blipFill>
          </p:spPr>
        </p:sp>
      </p:grpSp>
      <p:sp>
        <p:nvSpPr>
          <p:cNvPr name="Freeform 12" id="12"/>
          <p:cNvSpPr/>
          <p:nvPr/>
        </p:nvSpPr>
        <p:spPr>
          <a:xfrm flipH="false" flipV="false" rot="0">
            <a:off x="1678182" y="4765302"/>
            <a:ext cx="14931635" cy="4946104"/>
          </a:xfrm>
          <a:custGeom>
            <a:avLst/>
            <a:gdLst/>
            <a:ahLst/>
            <a:cxnLst/>
            <a:rect r="r" b="b" t="t" l="l"/>
            <a:pathLst>
              <a:path h="4946104" w="14931635">
                <a:moveTo>
                  <a:pt x="0" y="0"/>
                </a:moveTo>
                <a:lnTo>
                  <a:pt x="14931636" y="0"/>
                </a:lnTo>
                <a:lnTo>
                  <a:pt x="14931636" y="4946104"/>
                </a:lnTo>
                <a:lnTo>
                  <a:pt x="0" y="4946104"/>
                </a:lnTo>
                <a:lnTo>
                  <a:pt x="0" y="0"/>
                </a:lnTo>
                <a:close/>
              </a:path>
            </a:pathLst>
          </a:custGeom>
          <a:blipFill>
            <a:blip r:embed="rId6"/>
            <a:stretch>
              <a:fillRect l="0" t="0" r="0" b="0"/>
            </a:stretch>
          </a:blipFill>
        </p:spPr>
      </p:sp>
      <p:sp>
        <p:nvSpPr>
          <p:cNvPr name="TextBox 13" id="13"/>
          <p:cNvSpPr txBox="true"/>
          <p:nvPr/>
        </p:nvSpPr>
        <p:spPr>
          <a:xfrm rot="0">
            <a:off x="16500001" y="675267"/>
            <a:ext cx="1031784" cy="701675"/>
          </a:xfrm>
          <a:prstGeom prst="rect">
            <a:avLst/>
          </a:prstGeom>
        </p:spPr>
        <p:txBody>
          <a:bodyPr anchor="t" rtlCol="false" tIns="0" lIns="0" bIns="0" rIns="0">
            <a:spAutoFit/>
          </a:bodyPr>
          <a:lstStyle/>
          <a:p>
            <a:pPr algn="ctr">
              <a:lnSpc>
                <a:spcPts val="5799"/>
              </a:lnSpc>
            </a:pPr>
            <a:r>
              <a:rPr lang="en-US" b="true" sz="3999" spc="199">
                <a:solidFill>
                  <a:srgbClr val="0B5298"/>
                </a:solidFill>
                <a:latin typeface="Ruda Bold"/>
                <a:ea typeface="Ruda Bold"/>
                <a:cs typeface="Ruda Bold"/>
                <a:sym typeface="Ruda Bold"/>
              </a:rPr>
              <a:t>06</a:t>
            </a:r>
          </a:p>
        </p:txBody>
      </p:sp>
      <p:sp>
        <p:nvSpPr>
          <p:cNvPr name="TextBox 14" id="14"/>
          <p:cNvSpPr txBox="true"/>
          <p:nvPr/>
        </p:nvSpPr>
        <p:spPr>
          <a:xfrm rot="0">
            <a:off x="740483" y="3028577"/>
            <a:ext cx="16807033" cy="1736725"/>
          </a:xfrm>
          <a:prstGeom prst="rect">
            <a:avLst/>
          </a:prstGeom>
        </p:spPr>
        <p:txBody>
          <a:bodyPr anchor="t" rtlCol="false" tIns="0" lIns="0" bIns="0" rIns="0">
            <a:spAutoFit/>
          </a:bodyPr>
          <a:lstStyle/>
          <a:p>
            <a:pPr algn="just">
              <a:lnSpc>
                <a:spcPts val="3500"/>
              </a:lnSpc>
            </a:pPr>
            <a:r>
              <a:rPr lang="en-US" sz="2500">
                <a:solidFill>
                  <a:srgbClr val="000000"/>
                </a:solidFill>
                <a:latin typeface="Ruda"/>
                <a:ea typeface="Ruda"/>
                <a:cs typeface="Ruda"/>
                <a:sym typeface="Ruda"/>
              </a:rPr>
              <a:t>Setelah melakukan pengamatan pada bagian pemancar, langkah selanjutnya adalah melakukan pengamatan terhadap bagian penerima dari sistem radio transceiver VHF-FM. Proses ini berdasarkan blok diagram bagian penerima seperti yang ditunjukkan sebagai berikut:</a:t>
            </a:r>
          </a:p>
          <a:p>
            <a:pPr algn="just">
              <a:lnSpc>
                <a:spcPts val="3500"/>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6289496" y="314340"/>
            <a:ext cx="6642316" cy="1473387"/>
          </a:xfrm>
          <a:custGeom>
            <a:avLst/>
            <a:gdLst/>
            <a:ahLst/>
            <a:cxnLst/>
            <a:rect r="r" b="b" t="t" l="l"/>
            <a:pathLst>
              <a:path h="1473387" w="6642316">
                <a:moveTo>
                  <a:pt x="0" y="0"/>
                </a:moveTo>
                <a:lnTo>
                  <a:pt x="6642316" y="0"/>
                </a:lnTo>
                <a:lnTo>
                  <a:pt x="6642316" y="1473387"/>
                </a:lnTo>
                <a:lnTo>
                  <a:pt x="0" y="14733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737808" y="1603998"/>
            <a:ext cx="6080248" cy="2232660"/>
          </a:xfrm>
          <a:prstGeom prst="rect">
            <a:avLst/>
          </a:prstGeom>
        </p:spPr>
        <p:txBody>
          <a:bodyPr anchor="t" rtlCol="false" tIns="0" lIns="0" bIns="0" rIns="0">
            <a:spAutoFit/>
          </a:bodyPr>
          <a:lstStyle/>
          <a:p>
            <a:pPr algn="l">
              <a:lnSpc>
                <a:spcPts val="5865"/>
              </a:lnSpc>
            </a:pPr>
            <a:r>
              <a:rPr lang="en-US" sz="5100">
                <a:solidFill>
                  <a:srgbClr val="000000"/>
                </a:solidFill>
                <a:latin typeface="TS Damas Sans"/>
                <a:ea typeface="TS Damas Sans"/>
                <a:cs typeface="TS Damas Sans"/>
                <a:sym typeface="TS Damas Sans"/>
              </a:rPr>
              <a:t>SETUP PENGUKURAN RADIO TRANSCEIVER VHF FM (BAGIAN PENERIMA)</a:t>
            </a:r>
          </a:p>
        </p:txBody>
      </p:sp>
      <p:sp>
        <p:nvSpPr>
          <p:cNvPr name="TextBox 5" id="5"/>
          <p:cNvSpPr txBox="true"/>
          <p:nvPr/>
        </p:nvSpPr>
        <p:spPr>
          <a:xfrm rot="0">
            <a:off x="1192832" y="838408"/>
            <a:ext cx="5923912" cy="355600"/>
          </a:xfrm>
          <a:prstGeom prst="rect">
            <a:avLst/>
          </a:prstGeom>
        </p:spPr>
        <p:txBody>
          <a:bodyPr anchor="t" rtlCol="false" tIns="0" lIns="0" bIns="0" rIns="0">
            <a:spAutoFit/>
          </a:bodyPr>
          <a:lstStyle/>
          <a:p>
            <a:pPr algn="ctr">
              <a:lnSpc>
                <a:spcPts val="2900"/>
              </a:lnSpc>
            </a:pPr>
            <a:r>
              <a:rPr lang="en-US" b="true" sz="2000" spc="100">
                <a:solidFill>
                  <a:srgbClr val="FFFFFF"/>
                </a:solidFill>
                <a:latin typeface="Ruda Bold"/>
                <a:ea typeface="Ruda Bold"/>
                <a:cs typeface="Ruda Bold"/>
                <a:sym typeface="Ruda Bold"/>
              </a:rPr>
              <a:t>Universitas Fauget | Teknologi Informasi</a:t>
            </a:r>
          </a:p>
        </p:txBody>
      </p:sp>
      <p:grpSp>
        <p:nvGrpSpPr>
          <p:cNvPr name="Group 6" id="6"/>
          <p:cNvGrpSpPr/>
          <p:nvPr/>
        </p:nvGrpSpPr>
        <p:grpSpPr>
          <a:xfrm rot="0">
            <a:off x="263027" y="215693"/>
            <a:ext cx="6397268" cy="1359730"/>
            <a:chOff x="0" y="0"/>
            <a:chExt cx="8529691" cy="1812973"/>
          </a:xfrm>
        </p:grpSpPr>
        <p:grpSp>
          <p:nvGrpSpPr>
            <p:cNvPr name="Group 7" id="7"/>
            <p:cNvGrpSpPr/>
            <p:nvPr/>
          </p:nvGrpSpPr>
          <p:grpSpPr>
            <a:xfrm rot="0">
              <a:off x="1957668" y="321092"/>
              <a:ext cx="5471577" cy="772857"/>
              <a:chOff x="0" y="0"/>
              <a:chExt cx="1080805" cy="152663"/>
            </a:xfrm>
          </p:grpSpPr>
          <p:sp>
            <p:nvSpPr>
              <p:cNvPr name="Freeform 8" id="8"/>
              <p:cNvSpPr/>
              <p:nvPr/>
            </p:nvSpPr>
            <p:spPr>
              <a:xfrm flipH="false" flipV="false" rot="0">
                <a:off x="0" y="0"/>
                <a:ext cx="1080805" cy="152663"/>
              </a:xfrm>
              <a:custGeom>
                <a:avLst/>
                <a:gdLst/>
                <a:ahLst/>
                <a:cxnLst/>
                <a:rect r="r" b="b" t="t" l="l"/>
                <a:pathLst>
                  <a:path h="152663" w="1080805">
                    <a:moveTo>
                      <a:pt x="76332" y="0"/>
                    </a:moveTo>
                    <a:lnTo>
                      <a:pt x="1004474" y="0"/>
                    </a:lnTo>
                    <a:cubicBezTo>
                      <a:pt x="1046630" y="0"/>
                      <a:pt x="1080805" y="34175"/>
                      <a:pt x="1080805" y="76332"/>
                    </a:cubicBezTo>
                    <a:lnTo>
                      <a:pt x="1080805" y="76332"/>
                    </a:lnTo>
                    <a:cubicBezTo>
                      <a:pt x="1080805" y="96576"/>
                      <a:pt x="1072763" y="115991"/>
                      <a:pt x="1058448" y="130306"/>
                    </a:cubicBezTo>
                    <a:cubicBezTo>
                      <a:pt x="1044133" y="144621"/>
                      <a:pt x="1024718" y="152663"/>
                      <a:pt x="1004474" y="152663"/>
                    </a:cubicBezTo>
                    <a:lnTo>
                      <a:pt x="76332" y="152663"/>
                    </a:lnTo>
                    <a:cubicBezTo>
                      <a:pt x="34175" y="152663"/>
                      <a:pt x="0" y="118488"/>
                      <a:pt x="0" y="76332"/>
                    </a:cubicBezTo>
                    <a:lnTo>
                      <a:pt x="0" y="76332"/>
                    </a:lnTo>
                    <a:cubicBezTo>
                      <a:pt x="0" y="34175"/>
                      <a:pt x="34175" y="0"/>
                      <a:pt x="76332" y="0"/>
                    </a:cubicBezTo>
                    <a:close/>
                  </a:path>
                </a:pathLst>
              </a:custGeom>
              <a:solidFill>
                <a:srgbClr val="B2D0EC"/>
              </a:solidFill>
            </p:spPr>
          </p:sp>
          <p:sp>
            <p:nvSpPr>
              <p:cNvPr name="TextBox 9" id="9"/>
              <p:cNvSpPr txBox="true"/>
              <p:nvPr/>
            </p:nvSpPr>
            <p:spPr>
              <a:xfrm>
                <a:off x="0" y="-57150"/>
                <a:ext cx="1080805" cy="209813"/>
              </a:xfrm>
              <a:prstGeom prst="rect">
                <a:avLst/>
              </a:prstGeom>
            </p:spPr>
            <p:txBody>
              <a:bodyPr anchor="ctr" rtlCol="false" tIns="50800" lIns="50800" bIns="50800" rIns="50800"/>
              <a:lstStyle/>
              <a:p>
                <a:pPr algn="ctr">
                  <a:lnSpc>
                    <a:spcPts val="2900"/>
                  </a:lnSpc>
                </a:pPr>
              </a:p>
            </p:txBody>
          </p:sp>
        </p:grpSp>
        <p:sp>
          <p:nvSpPr>
            <p:cNvPr name="TextBox 10" id="10"/>
            <p:cNvSpPr txBox="true"/>
            <p:nvPr/>
          </p:nvSpPr>
          <p:spPr>
            <a:xfrm rot="0">
              <a:off x="631141" y="451403"/>
              <a:ext cx="7898550" cy="455083"/>
            </a:xfrm>
            <a:prstGeom prst="rect">
              <a:avLst/>
            </a:prstGeom>
          </p:spPr>
          <p:txBody>
            <a:bodyPr anchor="t" rtlCol="false" tIns="0" lIns="0" bIns="0" rIns="0">
              <a:spAutoFit/>
            </a:bodyPr>
            <a:lstStyle/>
            <a:p>
              <a:pPr algn="ctr">
                <a:lnSpc>
                  <a:spcPts val="2900"/>
                </a:lnSpc>
              </a:pPr>
              <a:r>
                <a:rPr lang="en-US" b="true" sz="2000" spc="100">
                  <a:solidFill>
                    <a:srgbClr val="0B5298"/>
                  </a:solidFill>
                  <a:latin typeface="Ruda Bold"/>
                  <a:ea typeface="Ruda Bold"/>
                  <a:cs typeface="Ruda Bold"/>
                  <a:sym typeface="Ruda Bold"/>
                </a:rPr>
                <a:t>Siskom terestrial gel.mikro</a:t>
              </a:r>
            </a:p>
          </p:txBody>
        </p:sp>
        <p:sp>
          <p:nvSpPr>
            <p:cNvPr name="Freeform 11" id="11"/>
            <p:cNvSpPr/>
            <p:nvPr/>
          </p:nvSpPr>
          <p:spPr>
            <a:xfrm flipH="false" flipV="false" rot="0">
              <a:off x="0" y="0"/>
              <a:ext cx="1262283" cy="1812973"/>
            </a:xfrm>
            <a:custGeom>
              <a:avLst/>
              <a:gdLst/>
              <a:ahLst/>
              <a:cxnLst/>
              <a:rect r="r" b="b" t="t" l="l"/>
              <a:pathLst>
                <a:path h="1812973" w="1262283">
                  <a:moveTo>
                    <a:pt x="0" y="0"/>
                  </a:moveTo>
                  <a:lnTo>
                    <a:pt x="1262283" y="0"/>
                  </a:lnTo>
                  <a:lnTo>
                    <a:pt x="1262283" y="1812973"/>
                  </a:lnTo>
                  <a:lnTo>
                    <a:pt x="0" y="1812973"/>
                  </a:lnTo>
                  <a:lnTo>
                    <a:pt x="0" y="0"/>
                  </a:lnTo>
                  <a:close/>
                </a:path>
              </a:pathLst>
            </a:custGeom>
            <a:blipFill>
              <a:blip r:embed="rId5"/>
              <a:stretch>
                <a:fillRect l="0" t="0" r="0" b="0"/>
              </a:stretch>
            </a:blipFill>
          </p:spPr>
        </p:sp>
      </p:grpSp>
      <p:sp>
        <p:nvSpPr>
          <p:cNvPr name="Freeform 12" id="12"/>
          <p:cNvSpPr/>
          <p:nvPr/>
        </p:nvSpPr>
        <p:spPr>
          <a:xfrm flipH="false" flipV="false" rot="0">
            <a:off x="7979980" y="0"/>
            <a:ext cx="8147591" cy="5139890"/>
          </a:xfrm>
          <a:custGeom>
            <a:avLst/>
            <a:gdLst/>
            <a:ahLst/>
            <a:cxnLst/>
            <a:rect r="r" b="b" t="t" l="l"/>
            <a:pathLst>
              <a:path h="5139890" w="8147591">
                <a:moveTo>
                  <a:pt x="0" y="0"/>
                </a:moveTo>
                <a:lnTo>
                  <a:pt x="8147591" y="0"/>
                </a:lnTo>
                <a:lnTo>
                  <a:pt x="8147591" y="5139890"/>
                </a:lnTo>
                <a:lnTo>
                  <a:pt x="0" y="5139890"/>
                </a:lnTo>
                <a:lnTo>
                  <a:pt x="0" y="0"/>
                </a:lnTo>
                <a:close/>
              </a:path>
            </a:pathLst>
          </a:custGeom>
          <a:blipFill>
            <a:blip r:embed="rId6"/>
            <a:stretch>
              <a:fillRect l="-5865" t="0" r="-6284" b="0"/>
            </a:stretch>
          </a:blipFill>
        </p:spPr>
      </p:sp>
      <p:sp>
        <p:nvSpPr>
          <p:cNvPr name="TextBox 13" id="13"/>
          <p:cNvSpPr txBox="true"/>
          <p:nvPr/>
        </p:nvSpPr>
        <p:spPr>
          <a:xfrm rot="0">
            <a:off x="16708563" y="675267"/>
            <a:ext cx="614660" cy="701675"/>
          </a:xfrm>
          <a:prstGeom prst="rect">
            <a:avLst/>
          </a:prstGeom>
        </p:spPr>
        <p:txBody>
          <a:bodyPr anchor="t" rtlCol="false" tIns="0" lIns="0" bIns="0" rIns="0">
            <a:spAutoFit/>
          </a:bodyPr>
          <a:lstStyle/>
          <a:p>
            <a:pPr algn="ctr">
              <a:lnSpc>
                <a:spcPts val="5799"/>
              </a:lnSpc>
            </a:pPr>
            <a:r>
              <a:rPr lang="en-US" b="true" sz="3999" spc="199">
                <a:solidFill>
                  <a:srgbClr val="0B5298"/>
                </a:solidFill>
                <a:latin typeface="Ruda Bold"/>
                <a:ea typeface="Ruda Bold"/>
                <a:cs typeface="Ruda Bold"/>
                <a:sym typeface="Ruda Bold"/>
              </a:rPr>
              <a:t>07</a:t>
            </a:r>
          </a:p>
        </p:txBody>
      </p:sp>
      <p:sp>
        <p:nvSpPr>
          <p:cNvPr name="TextBox 14" id="14"/>
          <p:cNvSpPr txBox="true"/>
          <p:nvPr/>
        </p:nvSpPr>
        <p:spPr>
          <a:xfrm rot="0">
            <a:off x="645864" y="5164190"/>
            <a:ext cx="16996273" cy="4803775"/>
          </a:xfrm>
          <a:prstGeom prst="rect">
            <a:avLst/>
          </a:prstGeom>
        </p:spPr>
        <p:txBody>
          <a:bodyPr anchor="t" rtlCol="false" tIns="0" lIns="0" bIns="0" rIns="0">
            <a:spAutoFit/>
          </a:bodyPr>
          <a:lstStyle/>
          <a:p>
            <a:pPr algn="just">
              <a:lnSpc>
                <a:spcPts val="3500"/>
              </a:lnSpc>
            </a:pPr>
            <a:r>
              <a:rPr lang="en-US" sz="2500" b="true">
                <a:solidFill>
                  <a:srgbClr val="000000"/>
                </a:solidFill>
                <a:latin typeface="Ruda Bold"/>
                <a:ea typeface="Ruda Bold"/>
                <a:cs typeface="Ruda Bold"/>
                <a:sym typeface="Ruda Bold"/>
              </a:rPr>
              <a:t>     Pada bagian penerima, diberikan sinyal input pada titik TP6, yang mewakili masukan dari antena penerima. Sinyal yang diberikan merupakan keluaran dari sisi pemancar sebelumnya, yaitu sinyal dengan frekuensi sebesar 134 MHz dan daya sebesar –30 dBm. Kondisi ini mensimulasikan seolah-olah antena penerima benar-benar menerima sinyal RF dari pemancar secara langsung melalui udara.</a:t>
            </a:r>
          </a:p>
          <a:p>
            <a:pPr algn="just">
              <a:lnSpc>
                <a:spcPts val="3500"/>
              </a:lnSpc>
            </a:pPr>
            <a:r>
              <a:rPr lang="en-US" sz="2500" b="true">
                <a:solidFill>
                  <a:srgbClr val="000000"/>
                </a:solidFill>
                <a:latin typeface="Ruda Bold"/>
                <a:ea typeface="Ruda Bold"/>
                <a:cs typeface="Ruda Bold"/>
                <a:sym typeface="Ruda Bold"/>
              </a:rPr>
              <a:t>     Dalam blok diagram bagian penerima ini, terdapat 12 titik pengukuran (Test Point/TP) yang diamati, dimulai dari titik TP6 hingga titik akhir di TP17. Masing-masing titik ini merepresentasikan tahapan-tahapan penting dalam proses penerimaan sinyal, mulai dari penerimaan sinyal RF, penyaringan, penguatan, pengolahan intermediate frequency (IF), hingga proses demodulasi untuk memperoleh sinyal asli.</a:t>
            </a:r>
          </a:p>
          <a:p>
            <a:pPr algn="just">
              <a:lnSpc>
                <a:spcPts val="3500"/>
              </a:lnSpc>
            </a:pPr>
            <a:r>
              <a:rPr lang="en-US" sz="2500" b="true">
                <a:solidFill>
                  <a:srgbClr val="000000"/>
                </a:solidFill>
                <a:latin typeface="Ruda Bold"/>
                <a:ea typeface="Ruda Bold"/>
                <a:cs typeface="Ruda Bold"/>
                <a:sym typeface="Ruda Bold"/>
              </a:rPr>
              <a:t>     Tujuannya adalah untuk memastikan bahwa pada titik terakhir (TP17), sinyal yang diperoleh memiliki frekuensi dan daya yang sama dengan sinyal awal yang dikirimkan, yaitu frekuensi sebesar 1 kHz dan daya setara dengan daya input yang diberikan.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3270972" y="4358649"/>
            <a:ext cx="11259242" cy="3767368"/>
            <a:chOff x="0" y="0"/>
            <a:chExt cx="2965397" cy="992229"/>
          </a:xfrm>
        </p:grpSpPr>
        <p:sp>
          <p:nvSpPr>
            <p:cNvPr name="Freeform 4" id="4"/>
            <p:cNvSpPr/>
            <p:nvPr/>
          </p:nvSpPr>
          <p:spPr>
            <a:xfrm flipH="false" flipV="false" rot="0">
              <a:off x="0" y="0"/>
              <a:ext cx="2965397" cy="992229"/>
            </a:xfrm>
            <a:custGeom>
              <a:avLst/>
              <a:gdLst/>
              <a:ahLst/>
              <a:cxnLst/>
              <a:rect r="r" b="b" t="t" l="l"/>
              <a:pathLst>
                <a:path h="992229" w="2965397">
                  <a:moveTo>
                    <a:pt x="35068" y="0"/>
                  </a:moveTo>
                  <a:lnTo>
                    <a:pt x="2930329" y="0"/>
                  </a:lnTo>
                  <a:cubicBezTo>
                    <a:pt x="2939630" y="0"/>
                    <a:pt x="2948549" y="3695"/>
                    <a:pt x="2955126" y="10271"/>
                  </a:cubicBezTo>
                  <a:cubicBezTo>
                    <a:pt x="2961703" y="16848"/>
                    <a:pt x="2965397" y="25767"/>
                    <a:pt x="2965397" y="35068"/>
                  </a:cubicBezTo>
                  <a:lnTo>
                    <a:pt x="2965397" y="957161"/>
                  </a:lnTo>
                  <a:cubicBezTo>
                    <a:pt x="2965397" y="966461"/>
                    <a:pt x="2961703" y="975381"/>
                    <a:pt x="2955126" y="981957"/>
                  </a:cubicBezTo>
                  <a:cubicBezTo>
                    <a:pt x="2948549" y="988534"/>
                    <a:pt x="2939630" y="992229"/>
                    <a:pt x="2930329" y="992229"/>
                  </a:cubicBezTo>
                  <a:lnTo>
                    <a:pt x="35068" y="992229"/>
                  </a:lnTo>
                  <a:cubicBezTo>
                    <a:pt x="25767" y="992229"/>
                    <a:pt x="16848" y="988534"/>
                    <a:pt x="10271" y="981957"/>
                  </a:cubicBezTo>
                  <a:cubicBezTo>
                    <a:pt x="3695" y="975381"/>
                    <a:pt x="0" y="966461"/>
                    <a:pt x="0" y="957161"/>
                  </a:cubicBezTo>
                  <a:lnTo>
                    <a:pt x="0" y="35068"/>
                  </a:lnTo>
                  <a:cubicBezTo>
                    <a:pt x="0" y="25767"/>
                    <a:pt x="3695" y="16848"/>
                    <a:pt x="10271" y="10271"/>
                  </a:cubicBezTo>
                  <a:cubicBezTo>
                    <a:pt x="16848" y="3695"/>
                    <a:pt x="25767" y="0"/>
                    <a:pt x="35068" y="0"/>
                  </a:cubicBezTo>
                  <a:close/>
                </a:path>
              </a:pathLst>
            </a:custGeom>
            <a:solidFill>
              <a:srgbClr val="B2D0EC"/>
            </a:solidFill>
          </p:spPr>
        </p:sp>
        <p:sp>
          <p:nvSpPr>
            <p:cNvPr name="TextBox 5" id="5"/>
            <p:cNvSpPr txBox="true"/>
            <p:nvPr/>
          </p:nvSpPr>
          <p:spPr>
            <a:xfrm>
              <a:off x="0" y="-57150"/>
              <a:ext cx="2965397" cy="1049379"/>
            </a:xfrm>
            <a:prstGeom prst="rect">
              <a:avLst/>
            </a:prstGeom>
          </p:spPr>
          <p:txBody>
            <a:bodyPr anchor="ctr" rtlCol="false" tIns="50800" lIns="50800" bIns="50800" rIns="50800"/>
            <a:lstStyle/>
            <a:p>
              <a:pPr algn="ctr">
                <a:lnSpc>
                  <a:spcPts val="2900"/>
                </a:lnSpc>
              </a:pPr>
            </a:p>
          </p:txBody>
        </p:sp>
      </p:grpSp>
      <p:sp>
        <p:nvSpPr>
          <p:cNvPr name="Freeform 6" id="6"/>
          <p:cNvSpPr/>
          <p:nvPr/>
        </p:nvSpPr>
        <p:spPr>
          <a:xfrm flipH="false" flipV="false" rot="0">
            <a:off x="-1536499" y="6528729"/>
            <a:ext cx="5655398" cy="5408617"/>
          </a:xfrm>
          <a:custGeom>
            <a:avLst/>
            <a:gdLst/>
            <a:ahLst/>
            <a:cxnLst/>
            <a:rect r="r" b="b" t="t" l="l"/>
            <a:pathLst>
              <a:path h="5408617" w="5655398">
                <a:moveTo>
                  <a:pt x="0" y="0"/>
                </a:moveTo>
                <a:lnTo>
                  <a:pt x="5655398" y="0"/>
                </a:lnTo>
                <a:lnTo>
                  <a:pt x="5655398" y="5408617"/>
                </a:lnTo>
                <a:lnTo>
                  <a:pt x="0" y="54086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6289496" y="314340"/>
            <a:ext cx="6642316" cy="1473387"/>
          </a:xfrm>
          <a:custGeom>
            <a:avLst/>
            <a:gdLst/>
            <a:ahLst/>
            <a:cxnLst/>
            <a:rect r="r" b="b" t="t" l="l"/>
            <a:pathLst>
              <a:path h="1473387" w="6642316">
                <a:moveTo>
                  <a:pt x="0" y="0"/>
                </a:moveTo>
                <a:lnTo>
                  <a:pt x="6642316" y="0"/>
                </a:lnTo>
                <a:lnTo>
                  <a:pt x="6642316" y="1473387"/>
                </a:lnTo>
                <a:lnTo>
                  <a:pt x="0" y="147338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785293" y="2587735"/>
            <a:ext cx="16230600" cy="1035050"/>
          </a:xfrm>
          <a:prstGeom prst="rect">
            <a:avLst/>
          </a:prstGeom>
        </p:spPr>
        <p:txBody>
          <a:bodyPr anchor="t" rtlCol="false" tIns="0" lIns="0" bIns="0" rIns="0">
            <a:spAutoFit/>
          </a:bodyPr>
          <a:lstStyle/>
          <a:p>
            <a:pPr algn="ctr">
              <a:lnSpc>
                <a:spcPts val="8049"/>
              </a:lnSpc>
            </a:pPr>
            <a:r>
              <a:rPr lang="en-US" sz="6999">
                <a:solidFill>
                  <a:srgbClr val="FFFFFF"/>
                </a:solidFill>
                <a:latin typeface="TS Damas Sans"/>
                <a:ea typeface="TS Damas Sans"/>
                <a:cs typeface="TS Damas Sans"/>
                <a:sym typeface="TS Damas Sans"/>
              </a:rPr>
              <a:t>MENGUKUR SPESIFIKASI TEKNIS PENERIMA</a:t>
            </a:r>
          </a:p>
        </p:txBody>
      </p:sp>
      <p:sp>
        <p:nvSpPr>
          <p:cNvPr name="Freeform 9" id="9"/>
          <p:cNvSpPr/>
          <p:nvPr/>
        </p:nvSpPr>
        <p:spPr>
          <a:xfrm flipH="false" flipV="false" rot="0">
            <a:off x="623490" y="3447986"/>
            <a:ext cx="1138683" cy="873680"/>
          </a:xfrm>
          <a:custGeom>
            <a:avLst/>
            <a:gdLst/>
            <a:ahLst/>
            <a:cxnLst/>
            <a:rect r="r" b="b" t="t" l="l"/>
            <a:pathLst>
              <a:path h="873680" w="1138683">
                <a:moveTo>
                  <a:pt x="0" y="0"/>
                </a:moveTo>
                <a:lnTo>
                  <a:pt x="1138683" y="0"/>
                </a:lnTo>
                <a:lnTo>
                  <a:pt x="1138683" y="873680"/>
                </a:lnTo>
                <a:lnTo>
                  <a:pt x="0" y="87368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15361319" y="7689177"/>
            <a:ext cx="1138683" cy="873680"/>
          </a:xfrm>
          <a:custGeom>
            <a:avLst/>
            <a:gdLst/>
            <a:ahLst/>
            <a:cxnLst/>
            <a:rect r="r" b="b" t="t" l="l"/>
            <a:pathLst>
              <a:path h="873680" w="1138683">
                <a:moveTo>
                  <a:pt x="0" y="0"/>
                </a:moveTo>
                <a:lnTo>
                  <a:pt x="1138682" y="0"/>
                </a:lnTo>
                <a:lnTo>
                  <a:pt x="1138682" y="873680"/>
                </a:lnTo>
                <a:lnTo>
                  <a:pt x="0" y="87368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1" id="11"/>
          <p:cNvSpPr txBox="true"/>
          <p:nvPr/>
        </p:nvSpPr>
        <p:spPr>
          <a:xfrm rot="0">
            <a:off x="16500001" y="675267"/>
            <a:ext cx="1031784" cy="701675"/>
          </a:xfrm>
          <a:prstGeom prst="rect">
            <a:avLst/>
          </a:prstGeom>
        </p:spPr>
        <p:txBody>
          <a:bodyPr anchor="t" rtlCol="false" tIns="0" lIns="0" bIns="0" rIns="0">
            <a:spAutoFit/>
          </a:bodyPr>
          <a:lstStyle/>
          <a:p>
            <a:pPr algn="ctr">
              <a:lnSpc>
                <a:spcPts val="5799"/>
              </a:lnSpc>
            </a:pPr>
            <a:r>
              <a:rPr lang="en-US" b="true" sz="3999" spc="199">
                <a:solidFill>
                  <a:srgbClr val="0B5298"/>
                </a:solidFill>
                <a:latin typeface="Ruda Bold"/>
                <a:ea typeface="Ruda Bold"/>
                <a:cs typeface="Ruda Bold"/>
                <a:sym typeface="Ruda Bold"/>
              </a:rPr>
              <a:t>08</a:t>
            </a:r>
          </a:p>
        </p:txBody>
      </p:sp>
      <p:sp>
        <p:nvSpPr>
          <p:cNvPr name="TextBox 12" id="12"/>
          <p:cNvSpPr txBox="true"/>
          <p:nvPr/>
        </p:nvSpPr>
        <p:spPr>
          <a:xfrm rot="0">
            <a:off x="3609731" y="4807233"/>
            <a:ext cx="13406162" cy="2794000"/>
          </a:xfrm>
          <a:prstGeom prst="rect">
            <a:avLst/>
          </a:prstGeom>
        </p:spPr>
        <p:txBody>
          <a:bodyPr anchor="t" rtlCol="false" tIns="0" lIns="0" bIns="0" rIns="0">
            <a:spAutoFit/>
          </a:bodyPr>
          <a:lstStyle/>
          <a:p>
            <a:pPr algn="l" marL="863599" indent="-431800" lvl="1">
              <a:lnSpc>
                <a:spcPts val="5599"/>
              </a:lnSpc>
              <a:buFont typeface="Arial"/>
              <a:buChar char="•"/>
            </a:pPr>
            <a:r>
              <a:rPr lang="en-US" sz="3999">
                <a:solidFill>
                  <a:srgbClr val="0B5298"/>
                </a:solidFill>
                <a:latin typeface="Ruda"/>
                <a:ea typeface="Ruda"/>
                <a:cs typeface="Ruda"/>
                <a:sym typeface="Ruda"/>
              </a:rPr>
              <a:t>Sensitivitas </a:t>
            </a:r>
          </a:p>
          <a:p>
            <a:pPr algn="l" marL="863599" indent="-431800" lvl="1">
              <a:lnSpc>
                <a:spcPts val="5599"/>
              </a:lnSpc>
              <a:buFont typeface="Arial"/>
              <a:buChar char="•"/>
            </a:pPr>
            <a:r>
              <a:rPr lang="en-US" sz="3999">
                <a:solidFill>
                  <a:srgbClr val="0B5298"/>
                </a:solidFill>
                <a:latin typeface="Ruda"/>
                <a:ea typeface="Ruda"/>
                <a:cs typeface="Ruda"/>
                <a:sym typeface="Ruda"/>
              </a:rPr>
              <a:t>Selektivitas (dB)</a:t>
            </a:r>
          </a:p>
          <a:p>
            <a:pPr algn="l" marL="863599" indent="-431800" lvl="1">
              <a:lnSpc>
                <a:spcPts val="5599"/>
              </a:lnSpc>
              <a:buFont typeface="Arial"/>
              <a:buChar char="•"/>
            </a:pPr>
            <a:r>
              <a:rPr lang="en-US" sz="3999">
                <a:solidFill>
                  <a:srgbClr val="0B5298"/>
                </a:solidFill>
                <a:latin typeface="Ruda"/>
                <a:ea typeface="Ruda"/>
                <a:cs typeface="Ruda"/>
                <a:sym typeface="Ruda"/>
              </a:rPr>
              <a:t>20 dB Quieting (noise less atau noisy)</a:t>
            </a:r>
          </a:p>
          <a:p>
            <a:pPr algn="l" marL="863599" indent="-431800" lvl="1">
              <a:lnSpc>
                <a:spcPts val="5599"/>
              </a:lnSpc>
              <a:buFont typeface="Arial"/>
              <a:buChar char="•"/>
            </a:pPr>
            <a:r>
              <a:rPr lang="en-US" sz="3999">
                <a:solidFill>
                  <a:srgbClr val="0B5298"/>
                </a:solidFill>
                <a:latin typeface="Ruda"/>
                <a:ea typeface="Ruda"/>
                <a:cs typeface="Ruda"/>
                <a:sym typeface="Ruda"/>
              </a:rPr>
              <a:t>Image Frequency Rejection (dB)</a:t>
            </a:r>
          </a:p>
        </p:txBody>
      </p:sp>
      <p:grpSp>
        <p:nvGrpSpPr>
          <p:cNvPr name="Group 13" id="13"/>
          <p:cNvGrpSpPr/>
          <p:nvPr/>
        </p:nvGrpSpPr>
        <p:grpSpPr>
          <a:xfrm rot="0">
            <a:off x="920352" y="463565"/>
            <a:ext cx="6397268" cy="1359730"/>
            <a:chOff x="0" y="0"/>
            <a:chExt cx="8529691" cy="1812973"/>
          </a:xfrm>
        </p:grpSpPr>
        <p:grpSp>
          <p:nvGrpSpPr>
            <p:cNvPr name="Group 14" id="14"/>
            <p:cNvGrpSpPr/>
            <p:nvPr/>
          </p:nvGrpSpPr>
          <p:grpSpPr>
            <a:xfrm rot="0">
              <a:off x="1957668" y="321092"/>
              <a:ext cx="5471577" cy="772857"/>
              <a:chOff x="0" y="0"/>
              <a:chExt cx="1080805" cy="152663"/>
            </a:xfrm>
          </p:grpSpPr>
          <p:sp>
            <p:nvSpPr>
              <p:cNvPr name="Freeform 15" id="15"/>
              <p:cNvSpPr/>
              <p:nvPr/>
            </p:nvSpPr>
            <p:spPr>
              <a:xfrm flipH="false" flipV="false" rot="0">
                <a:off x="0" y="0"/>
                <a:ext cx="1080805" cy="152663"/>
              </a:xfrm>
              <a:custGeom>
                <a:avLst/>
                <a:gdLst/>
                <a:ahLst/>
                <a:cxnLst/>
                <a:rect r="r" b="b" t="t" l="l"/>
                <a:pathLst>
                  <a:path h="152663" w="1080805">
                    <a:moveTo>
                      <a:pt x="76332" y="0"/>
                    </a:moveTo>
                    <a:lnTo>
                      <a:pt x="1004474" y="0"/>
                    </a:lnTo>
                    <a:cubicBezTo>
                      <a:pt x="1046630" y="0"/>
                      <a:pt x="1080805" y="34175"/>
                      <a:pt x="1080805" y="76332"/>
                    </a:cubicBezTo>
                    <a:lnTo>
                      <a:pt x="1080805" y="76332"/>
                    </a:lnTo>
                    <a:cubicBezTo>
                      <a:pt x="1080805" y="96576"/>
                      <a:pt x="1072763" y="115991"/>
                      <a:pt x="1058448" y="130306"/>
                    </a:cubicBezTo>
                    <a:cubicBezTo>
                      <a:pt x="1044133" y="144621"/>
                      <a:pt x="1024718" y="152663"/>
                      <a:pt x="1004474" y="152663"/>
                    </a:cubicBezTo>
                    <a:lnTo>
                      <a:pt x="76332" y="152663"/>
                    </a:lnTo>
                    <a:cubicBezTo>
                      <a:pt x="34175" y="152663"/>
                      <a:pt x="0" y="118488"/>
                      <a:pt x="0" y="76332"/>
                    </a:cubicBezTo>
                    <a:lnTo>
                      <a:pt x="0" y="76332"/>
                    </a:lnTo>
                    <a:cubicBezTo>
                      <a:pt x="0" y="34175"/>
                      <a:pt x="34175" y="0"/>
                      <a:pt x="76332" y="0"/>
                    </a:cubicBezTo>
                    <a:close/>
                  </a:path>
                </a:pathLst>
              </a:custGeom>
              <a:solidFill>
                <a:srgbClr val="B2D0EC"/>
              </a:solidFill>
            </p:spPr>
          </p:sp>
          <p:sp>
            <p:nvSpPr>
              <p:cNvPr name="TextBox 16" id="16"/>
              <p:cNvSpPr txBox="true"/>
              <p:nvPr/>
            </p:nvSpPr>
            <p:spPr>
              <a:xfrm>
                <a:off x="0" y="-57150"/>
                <a:ext cx="1080805" cy="209813"/>
              </a:xfrm>
              <a:prstGeom prst="rect">
                <a:avLst/>
              </a:prstGeom>
            </p:spPr>
            <p:txBody>
              <a:bodyPr anchor="ctr" rtlCol="false" tIns="50800" lIns="50800" bIns="50800" rIns="50800"/>
              <a:lstStyle/>
              <a:p>
                <a:pPr algn="ctr">
                  <a:lnSpc>
                    <a:spcPts val="2900"/>
                  </a:lnSpc>
                </a:pPr>
              </a:p>
            </p:txBody>
          </p:sp>
        </p:grpSp>
        <p:sp>
          <p:nvSpPr>
            <p:cNvPr name="TextBox 17" id="17"/>
            <p:cNvSpPr txBox="true"/>
            <p:nvPr/>
          </p:nvSpPr>
          <p:spPr>
            <a:xfrm rot="0">
              <a:off x="631141" y="451403"/>
              <a:ext cx="7898550" cy="455083"/>
            </a:xfrm>
            <a:prstGeom prst="rect">
              <a:avLst/>
            </a:prstGeom>
          </p:spPr>
          <p:txBody>
            <a:bodyPr anchor="t" rtlCol="false" tIns="0" lIns="0" bIns="0" rIns="0">
              <a:spAutoFit/>
            </a:bodyPr>
            <a:lstStyle/>
            <a:p>
              <a:pPr algn="ctr">
                <a:lnSpc>
                  <a:spcPts val="2900"/>
                </a:lnSpc>
              </a:pPr>
              <a:r>
                <a:rPr lang="en-US" b="true" sz="2000" spc="100">
                  <a:solidFill>
                    <a:srgbClr val="0B5298"/>
                  </a:solidFill>
                  <a:latin typeface="Ruda Bold"/>
                  <a:ea typeface="Ruda Bold"/>
                  <a:cs typeface="Ruda Bold"/>
                  <a:sym typeface="Ruda Bold"/>
                </a:rPr>
                <a:t>Siskom terestrial gel.mikro</a:t>
              </a:r>
            </a:p>
          </p:txBody>
        </p:sp>
        <p:sp>
          <p:nvSpPr>
            <p:cNvPr name="Freeform 18" id="18"/>
            <p:cNvSpPr/>
            <p:nvPr/>
          </p:nvSpPr>
          <p:spPr>
            <a:xfrm flipH="false" flipV="false" rot="0">
              <a:off x="0" y="0"/>
              <a:ext cx="1262283" cy="1812973"/>
            </a:xfrm>
            <a:custGeom>
              <a:avLst/>
              <a:gdLst/>
              <a:ahLst/>
              <a:cxnLst/>
              <a:rect r="r" b="b" t="t" l="l"/>
              <a:pathLst>
                <a:path h="1812973" w="1262283">
                  <a:moveTo>
                    <a:pt x="0" y="0"/>
                  </a:moveTo>
                  <a:lnTo>
                    <a:pt x="1262283" y="0"/>
                  </a:lnTo>
                  <a:lnTo>
                    <a:pt x="1262283" y="1812973"/>
                  </a:lnTo>
                  <a:lnTo>
                    <a:pt x="0" y="1812973"/>
                  </a:lnTo>
                  <a:lnTo>
                    <a:pt x="0" y="0"/>
                  </a:lnTo>
                  <a:close/>
                </a:path>
              </a:pathLst>
            </a:custGeom>
            <a:blipFill>
              <a:blip r:embed="rId9"/>
              <a:stretch>
                <a:fillRect l="0" t="0" r="0" b="0"/>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6289496" y="314340"/>
            <a:ext cx="6642316" cy="1473387"/>
          </a:xfrm>
          <a:custGeom>
            <a:avLst/>
            <a:gdLst/>
            <a:ahLst/>
            <a:cxnLst/>
            <a:rect r="r" b="b" t="t" l="l"/>
            <a:pathLst>
              <a:path h="1473387" w="6642316">
                <a:moveTo>
                  <a:pt x="0" y="0"/>
                </a:moveTo>
                <a:lnTo>
                  <a:pt x="6642316" y="0"/>
                </a:lnTo>
                <a:lnTo>
                  <a:pt x="6642316" y="1473387"/>
                </a:lnTo>
                <a:lnTo>
                  <a:pt x="0" y="14733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499339" y="427997"/>
            <a:ext cx="6397268" cy="1359730"/>
            <a:chOff x="0" y="0"/>
            <a:chExt cx="8529691" cy="1812973"/>
          </a:xfrm>
        </p:grpSpPr>
        <p:grpSp>
          <p:nvGrpSpPr>
            <p:cNvPr name="Group 5" id="5"/>
            <p:cNvGrpSpPr/>
            <p:nvPr/>
          </p:nvGrpSpPr>
          <p:grpSpPr>
            <a:xfrm rot="0">
              <a:off x="1957668" y="321092"/>
              <a:ext cx="5471577" cy="772857"/>
              <a:chOff x="0" y="0"/>
              <a:chExt cx="1080805" cy="152663"/>
            </a:xfrm>
          </p:grpSpPr>
          <p:sp>
            <p:nvSpPr>
              <p:cNvPr name="Freeform 6" id="6"/>
              <p:cNvSpPr/>
              <p:nvPr/>
            </p:nvSpPr>
            <p:spPr>
              <a:xfrm flipH="false" flipV="false" rot="0">
                <a:off x="0" y="0"/>
                <a:ext cx="1080805" cy="152663"/>
              </a:xfrm>
              <a:custGeom>
                <a:avLst/>
                <a:gdLst/>
                <a:ahLst/>
                <a:cxnLst/>
                <a:rect r="r" b="b" t="t" l="l"/>
                <a:pathLst>
                  <a:path h="152663" w="1080805">
                    <a:moveTo>
                      <a:pt x="76332" y="0"/>
                    </a:moveTo>
                    <a:lnTo>
                      <a:pt x="1004474" y="0"/>
                    </a:lnTo>
                    <a:cubicBezTo>
                      <a:pt x="1046630" y="0"/>
                      <a:pt x="1080805" y="34175"/>
                      <a:pt x="1080805" y="76332"/>
                    </a:cubicBezTo>
                    <a:lnTo>
                      <a:pt x="1080805" y="76332"/>
                    </a:lnTo>
                    <a:cubicBezTo>
                      <a:pt x="1080805" y="96576"/>
                      <a:pt x="1072763" y="115991"/>
                      <a:pt x="1058448" y="130306"/>
                    </a:cubicBezTo>
                    <a:cubicBezTo>
                      <a:pt x="1044133" y="144621"/>
                      <a:pt x="1024718" y="152663"/>
                      <a:pt x="1004474" y="152663"/>
                    </a:cubicBezTo>
                    <a:lnTo>
                      <a:pt x="76332" y="152663"/>
                    </a:lnTo>
                    <a:cubicBezTo>
                      <a:pt x="34175" y="152663"/>
                      <a:pt x="0" y="118488"/>
                      <a:pt x="0" y="76332"/>
                    </a:cubicBezTo>
                    <a:lnTo>
                      <a:pt x="0" y="76332"/>
                    </a:lnTo>
                    <a:cubicBezTo>
                      <a:pt x="0" y="34175"/>
                      <a:pt x="34175" y="0"/>
                      <a:pt x="76332" y="0"/>
                    </a:cubicBezTo>
                    <a:close/>
                  </a:path>
                </a:pathLst>
              </a:custGeom>
              <a:solidFill>
                <a:srgbClr val="B2D0EC"/>
              </a:solidFill>
            </p:spPr>
          </p:sp>
          <p:sp>
            <p:nvSpPr>
              <p:cNvPr name="TextBox 7" id="7"/>
              <p:cNvSpPr txBox="true"/>
              <p:nvPr/>
            </p:nvSpPr>
            <p:spPr>
              <a:xfrm>
                <a:off x="0" y="-57150"/>
                <a:ext cx="1080805" cy="209813"/>
              </a:xfrm>
              <a:prstGeom prst="rect">
                <a:avLst/>
              </a:prstGeom>
            </p:spPr>
            <p:txBody>
              <a:bodyPr anchor="ctr" rtlCol="false" tIns="50800" lIns="50800" bIns="50800" rIns="50800"/>
              <a:lstStyle/>
              <a:p>
                <a:pPr algn="ctr">
                  <a:lnSpc>
                    <a:spcPts val="2900"/>
                  </a:lnSpc>
                </a:pPr>
              </a:p>
            </p:txBody>
          </p:sp>
        </p:grpSp>
        <p:sp>
          <p:nvSpPr>
            <p:cNvPr name="TextBox 8" id="8"/>
            <p:cNvSpPr txBox="true"/>
            <p:nvPr/>
          </p:nvSpPr>
          <p:spPr>
            <a:xfrm rot="0">
              <a:off x="631141" y="451403"/>
              <a:ext cx="7898550" cy="455083"/>
            </a:xfrm>
            <a:prstGeom prst="rect">
              <a:avLst/>
            </a:prstGeom>
          </p:spPr>
          <p:txBody>
            <a:bodyPr anchor="t" rtlCol="false" tIns="0" lIns="0" bIns="0" rIns="0">
              <a:spAutoFit/>
            </a:bodyPr>
            <a:lstStyle/>
            <a:p>
              <a:pPr algn="ctr">
                <a:lnSpc>
                  <a:spcPts val="2900"/>
                </a:lnSpc>
              </a:pPr>
              <a:r>
                <a:rPr lang="en-US" b="true" sz="2000" spc="100">
                  <a:solidFill>
                    <a:srgbClr val="0B5298"/>
                  </a:solidFill>
                  <a:latin typeface="Ruda Bold"/>
                  <a:ea typeface="Ruda Bold"/>
                  <a:cs typeface="Ruda Bold"/>
                  <a:sym typeface="Ruda Bold"/>
                </a:rPr>
                <a:t>Siskom terestrial gel.mikro</a:t>
              </a:r>
            </a:p>
          </p:txBody>
        </p:sp>
        <p:sp>
          <p:nvSpPr>
            <p:cNvPr name="Freeform 9" id="9"/>
            <p:cNvSpPr/>
            <p:nvPr/>
          </p:nvSpPr>
          <p:spPr>
            <a:xfrm flipH="false" flipV="false" rot="0">
              <a:off x="0" y="0"/>
              <a:ext cx="1262283" cy="1812973"/>
            </a:xfrm>
            <a:custGeom>
              <a:avLst/>
              <a:gdLst/>
              <a:ahLst/>
              <a:cxnLst/>
              <a:rect r="r" b="b" t="t" l="l"/>
              <a:pathLst>
                <a:path h="1812973" w="1262283">
                  <a:moveTo>
                    <a:pt x="0" y="0"/>
                  </a:moveTo>
                  <a:lnTo>
                    <a:pt x="1262283" y="0"/>
                  </a:lnTo>
                  <a:lnTo>
                    <a:pt x="1262283" y="1812973"/>
                  </a:lnTo>
                  <a:lnTo>
                    <a:pt x="0" y="1812973"/>
                  </a:lnTo>
                  <a:lnTo>
                    <a:pt x="0" y="0"/>
                  </a:lnTo>
                  <a:close/>
                </a:path>
              </a:pathLst>
            </a:custGeom>
            <a:blipFill>
              <a:blip r:embed="rId5"/>
              <a:stretch>
                <a:fillRect l="0" t="0" r="0" b="0"/>
              </a:stretch>
            </a:blipFill>
          </p:spPr>
        </p:sp>
      </p:grpSp>
      <p:sp>
        <p:nvSpPr>
          <p:cNvPr name="Freeform 10" id="10"/>
          <p:cNvSpPr/>
          <p:nvPr/>
        </p:nvSpPr>
        <p:spPr>
          <a:xfrm flipH="false" flipV="false" rot="0">
            <a:off x="7738132" y="400065"/>
            <a:ext cx="9793653" cy="5509791"/>
          </a:xfrm>
          <a:custGeom>
            <a:avLst/>
            <a:gdLst/>
            <a:ahLst/>
            <a:cxnLst/>
            <a:rect r="r" b="b" t="t" l="l"/>
            <a:pathLst>
              <a:path h="5509791" w="9793653">
                <a:moveTo>
                  <a:pt x="0" y="0"/>
                </a:moveTo>
                <a:lnTo>
                  <a:pt x="9793653" y="0"/>
                </a:lnTo>
                <a:lnTo>
                  <a:pt x="9793653" y="5509791"/>
                </a:lnTo>
                <a:lnTo>
                  <a:pt x="0" y="5509791"/>
                </a:lnTo>
                <a:lnTo>
                  <a:pt x="0" y="0"/>
                </a:lnTo>
                <a:close/>
              </a:path>
            </a:pathLst>
          </a:custGeom>
          <a:blipFill>
            <a:blip r:embed="rId6"/>
            <a:stretch>
              <a:fillRect l="0" t="0" r="0" b="0"/>
            </a:stretch>
          </a:blipFill>
        </p:spPr>
      </p:sp>
      <p:sp>
        <p:nvSpPr>
          <p:cNvPr name="TextBox 11" id="11"/>
          <p:cNvSpPr txBox="true"/>
          <p:nvPr/>
        </p:nvSpPr>
        <p:spPr>
          <a:xfrm rot="0">
            <a:off x="1403067" y="2173110"/>
            <a:ext cx="4589812" cy="736600"/>
          </a:xfrm>
          <a:prstGeom prst="rect">
            <a:avLst/>
          </a:prstGeom>
        </p:spPr>
        <p:txBody>
          <a:bodyPr anchor="t" rtlCol="false" tIns="0" lIns="0" bIns="0" rIns="0">
            <a:spAutoFit/>
          </a:bodyPr>
          <a:lstStyle/>
          <a:p>
            <a:pPr algn="l">
              <a:lnSpc>
                <a:spcPts val="5750"/>
              </a:lnSpc>
            </a:pPr>
            <a:r>
              <a:rPr lang="en-US" sz="5000">
                <a:solidFill>
                  <a:srgbClr val="000000"/>
                </a:solidFill>
                <a:latin typeface="TS Damas Sans"/>
                <a:ea typeface="TS Damas Sans"/>
                <a:cs typeface="TS Damas Sans"/>
                <a:sym typeface="TS Damas Sans"/>
              </a:rPr>
              <a:t>SENSITIVITAS </a:t>
            </a:r>
          </a:p>
        </p:txBody>
      </p:sp>
      <p:sp>
        <p:nvSpPr>
          <p:cNvPr name="TextBox 12" id="12"/>
          <p:cNvSpPr txBox="true"/>
          <p:nvPr/>
        </p:nvSpPr>
        <p:spPr>
          <a:xfrm rot="0">
            <a:off x="1403067" y="3438474"/>
            <a:ext cx="7000542" cy="587375"/>
          </a:xfrm>
          <a:prstGeom prst="rect">
            <a:avLst/>
          </a:prstGeom>
        </p:spPr>
        <p:txBody>
          <a:bodyPr anchor="t" rtlCol="false" tIns="0" lIns="0" bIns="0" rIns="0">
            <a:spAutoFit/>
          </a:bodyPr>
          <a:lstStyle/>
          <a:p>
            <a:pPr algn="l">
              <a:lnSpc>
                <a:spcPts val="4599"/>
              </a:lnSpc>
            </a:pPr>
            <a:r>
              <a:rPr lang="en-US" sz="3999" b="true">
                <a:solidFill>
                  <a:srgbClr val="000000"/>
                </a:solidFill>
                <a:latin typeface="Ruda Bold"/>
                <a:ea typeface="Ruda Bold"/>
                <a:cs typeface="Ruda Bold"/>
                <a:sym typeface="Ruda Bold"/>
              </a:rPr>
              <a:t>Set Up Pengukuran :</a:t>
            </a:r>
          </a:p>
        </p:txBody>
      </p:sp>
      <p:sp>
        <p:nvSpPr>
          <p:cNvPr name="TextBox 13" id="13"/>
          <p:cNvSpPr txBox="true"/>
          <p:nvPr/>
        </p:nvSpPr>
        <p:spPr>
          <a:xfrm rot="0">
            <a:off x="16500001" y="675267"/>
            <a:ext cx="1031784" cy="701675"/>
          </a:xfrm>
          <a:prstGeom prst="rect">
            <a:avLst/>
          </a:prstGeom>
        </p:spPr>
        <p:txBody>
          <a:bodyPr anchor="t" rtlCol="false" tIns="0" lIns="0" bIns="0" rIns="0">
            <a:spAutoFit/>
          </a:bodyPr>
          <a:lstStyle/>
          <a:p>
            <a:pPr algn="ctr">
              <a:lnSpc>
                <a:spcPts val="5799"/>
              </a:lnSpc>
            </a:pPr>
            <a:r>
              <a:rPr lang="en-US" b="true" sz="3999" spc="199">
                <a:solidFill>
                  <a:srgbClr val="0B5298"/>
                </a:solidFill>
                <a:latin typeface="Ruda Bold"/>
                <a:ea typeface="Ruda Bold"/>
                <a:cs typeface="Ruda Bold"/>
                <a:sym typeface="Ruda Bold"/>
              </a:rPr>
              <a:t>09</a:t>
            </a:r>
          </a:p>
        </p:txBody>
      </p:sp>
      <p:sp>
        <p:nvSpPr>
          <p:cNvPr name="TextBox 14" id="14"/>
          <p:cNvSpPr txBox="true"/>
          <p:nvPr/>
        </p:nvSpPr>
        <p:spPr>
          <a:xfrm rot="0">
            <a:off x="1337587" y="6271806"/>
            <a:ext cx="15612826" cy="2783896"/>
          </a:xfrm>
          <a:prstGeom prst="rect">
            <a:avLst/>
          </a:prstGeom>
        </p:spPr>
        <p:txBody>
          <a:bodyPr anchor="t" rtlCol="false" tIns="0" lIns="0" bIns="0" rIns="0">
            <a:spAutoFit/>
          </a:bodyPr>
          <a:lstStyle/>
          <a:p>
            <a:pPr algn="just">
              <a:lnSpc>
                <a:spcPts val="4404"/>
              </a:lnSpc>
            </a:pPr>
            <a:r>
              <a:rPr lang="en-US" sz="3146">
                <a:solidFill>
                  <a:srgbClr val="000000"/>
                </a:solidFill>
                <a:latin typeface="Ruda"/>
                <a:ea typeface="Ruda"/>
                <a:cs typeface="Ruda"/>
                <a:sym typeface="Ruda"/>
              </a:rPr>
              <a:t>Pengukuran sensitivitas RF pada sistem mikrofon nirkabel dalam percobaan ini dilakukan dengan mengacu pada 12 dB SINAD (Signal to Noise and Distortion Ratio). Pengukurannya dilakukan dengan memberikan sinyal RF berlevel sangat rendah dari generator ke bagian penerima (receiver), kemudian memantau keluaran audio menggunakan audio analyzer hingga tercapai rasio SINAD sebesar 12 dB.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6289496" y="314340"/>
            <a:ext cx="6642316" cy="1473387"/>
          </a:xfrm>
          <a:custGeom>
            <a:avLst/>
            <a:gdLst/>
            <a:ahLst/>
            <a:cxnLst/>
            <a:rect r="r" b="b" t="t" l="l"/>
            <a:pathLst>
              <a:path h="1473387" w="6642316">
                <a:moveTo>
                  <a:pt x="0" y="0"/>
                </a:moveTo>
                <a:lnTo>
                  <a:pt x="6642316" y="0"/>
                </a:lnTo>
                <a:lnTo>
                  <a:pt x="6642316" y="1473387"/>
                </a:lnTo>
                <a:lnTo>
                  <a:pt x="0" y="14733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499339" y="427997"/>
            <a:ext cx="6397268" cy="1359730"/>
            <a:chOff x="0" y="0"/>
            <a:chExt cx="8529691" cy="1812973"/>
          </a:xfrm>
        </p:grpSpPr>
        <p:grpSp>
          <p:nvGrpSpPr>
            <p:cNvPr name="Group 5" id="5"/>
            <p:cNvGrpSpPr/>
            <p:nvPr/>
          </p:nvGrpSpPr>
          <p:grpSpPr>
            <a:xfrm rot="0">
              <a:off x="1957668" y="321092"/>
              <a:ext cx="5471577" cy="772857"/>
              <a:chOff x="0" y="0"/>
              <a:chExt cx="1080805" cy="152663"/>
            </a:xfrm>
          </p:grpSpPr>
          <p:sp>
            <p:nvSpPr>
              <p:cNvPr name="Freeform 6" id="6"/>
              <p:cNvSpPr/>
              <p:nvPr/>
            </p:nvSpPr>
            <p:spPr>
              <a:xfrm flipH="false" flipV="false" rot="0">
                <a:off x="0" y="0"/>
                <a:ext cx="1080805" cy="152663"/>
              </a:xfrm>
              <a:custGeom>
                <a:avLst/>
                <a:gdLst/>
                <a:ahLst/>
                <a:cxnLst/>
                <a:rect r="r" b="b" t="t" l="l"/>
                <a:pathLst>
                  <a:path h="152663" w="1080805">
                    <a:moveTo>
                      <a:pt x="76332" y="0"/>
                    </a:moveTo>
                    <a:lnTo>
                      <a:pt x="1004474" y="0"/>
                    </a:lnTo>
                    <a:cubicBezTo>
                      <a:pt x="1046630" y="0"/>
                      <a:pt x="1080805" y="34175"/>
                      <a:pt x="1080805" y="76332"/>
                    </a:cubicBezTo>
                    <a:lnTo>
                      <a:pt x="1080805" y="76332"/>
                    </a:lnTo>
                    <a:cubicBezTo>
                      <a:pt x="1080805" y="96576"/>
                      <a:pt x="1072763" y="115991"/>
                      <a:pt x="1058448" y="130306"/>
                    </a:cubicBezTo>
                    <a:cubicBezTo>
                      <a:pt x="1044133" y="144621"/>
                      <a:pt x="1024718" y="152663"/>
                      <a:pt x="1004474" y="152663"/>
                    </a:cubicBezTo>
                    <a:lnTo>
                      <a:pt x="76332" y="152663"/>
                    </a:lnTo>
                    <a:cubicBezTo>
                      <a:pt x="34175" y="152663"/>
                      <a:pt x="0" y="118488"/>
                      <a:pt x="0" y="76332"/>
                    </a:cubicBezTo>
                    <a:lnTo>
                      <a:pt x="0" y="76332"/>
                    </a:lnTo>
                    <a:cubicBezTo>
                      <a:pt x="0" y="34175"/>
                      <a:pt x="34175" y="0"/>
                      <a:pt x="76332" y="0"/>
                    </a:cubicBezTo>
                    <a:close/>
                  </a:path>
                </a:pathLst>
              </a:custGeom>
              <a:solidFill>
                <a:srgbClr val="B2D0EC"/>
              </a:solidFill>
            </p:spPr>
          </p:sp>
          <p:sp>
            <p:nvSpPr>
              <p:cNvPr name="TextBox 7" id="7"/>
              <p:cNvSpPr txBox="true"/>
              <p:nvPr/>
            </p:nvSpPr>
            <p:spPr>
              <a:xfrm>
                <a:off x="0" y="-57150"/>
                <a:ext cx="1080805" cy="209813"/>
              </a:xfrm>
              <a:prstGeom prst="rect">
                <a:avLst/>
              </a:prstGeom>
            </p:spPr>
            <p:txBody>
              <a:bodyPr anchor="ctr" rtlCol="false" tIns="50800" lIns="50800" bIns="50800" rIns="50800"/>
              <a:lstStyle/>
              <a:p>
                <a:pPr algn="ctr">
                  <a:lnSpc>
                    <a:spcPts val="2900"/>
                  </a:lnSpc>
                </a:pPr>
              </a:p>
            </p:txBody>
          </p:sp>
        </p:grpSp>
        <p:sp>
          <p:nvSpPr>
            <p:cNvPr name="TextBox 8" id="8"/>
            <p:cNvSpPr txBox="true"/>
            <p:nvPr/>
          </p:nvSpPr>
          <p:spPr>
            <a:xfrm rot="0">
              <a:off x="631141" y="451403"/>
              <a:ext cx="7898550" cy="455083"/>
            </a:xfrm>
            <a:prstGeom prst="rect">
              <a:avLst/>
            </a:prstGeom>
          </p:spPr>
          <p:txBody>
            <a:bodyPr anchor="t" rtlCol="false" tIns="0" lIns="0" bIns="0" rIns="0">
              <a:spAutoFit/>
            </a:bodyPr>
            <a:lstStyle/>
            <a:p>
              <a:pPr algn="ctr">
                <a:lnSpc>
                  <a:spcPts val="2900"/>
                </a:lnSpc>
              </a:pPr>
              <a:r>
                <a:rPr lang="en-US" b="true" sz="2000" spc="100">
                  <a:solidFill>
                    <a:srgbClr val="0B5298"/>
                  </a:solidFill>
                  <a:latin typeface="Ruda Bold"/>
                  <a:ea typeface="Ruda Bold"/>
                  <a:cs typeface="Ruda Bold"/>
                  <a:sym typeface="Ruda Bold"/>
                </a:rPr>
                <a:t>Siskom terestrial gel.mikro</a:t>
              </a:r>
            </a:p>
          </p:txBody>
        </p:sp>
        <p:sp>
          <p:nvSpPr>
            <p:cNvPr name="Freeform 9" id="9"/>
            <p:cNvSpPr/>
            <p:nvPr/>
          </p:nvSpPr>
          <p:spPr>
            <a:xfrm flipH="false" flipV="false" rot="0">
              <a:off x="0" y="0"/>
              <a:ext cx="1262283" cy="1812973"/>
            </a:xfrm>
            <a:custGeom>
              <a:avLst/>
              <a:gdLst/>
              <a:ahLst/>
              <a:cxnLst/>
              <a:rect r="r" b="b" t="t" l="l"/>
              <a:pathLst>
                <a:path h="1812973" w="1262283">
                  <a:moveTo>
                    <a:pt x="0" y="0"/>
                  </a:moveTo>
                  <a:lnTo>
                    <a:pt x="1262283" y="0"/>
                  </a:lnTo>
                  <a:lnTo>
                    <a:pt x="1262283" y="1812973"/>
                  </a:lnTo>
                  <a:lnTo>
                    <a:pt x="0" y="1812973"/>
                  </a:lnTo>
                  <a:lnTo>
                    <a:pt x="0" y="0"/>
                  </a:lnTo>
                  <a:close/>
                </a:path>
              </a:pathLst>
            </a:custGeom>
            <a:blipFill>
              <a:blip r:embed="rId5"/>
              <a:stretch>
                <a:fillRect l="0" t="0" r="0" b="0"/>
              </a:stretch>
            </a:blipFill>
          </p:spPr>
        </p:sp>
      </p:grpSp>
      <p:sp>
        <p:nvSpPr>
          <p:cNvPr name="Freeform 10" id="10"/>
          <p:cNvSpPr/>
          <p:nvPr/>
        </p:nvSpPr>
        <p:spPr>
          <a:xfrm flipH="false" flipV="false" rot="0">
            <a:off x="10927714" y="2846741"/>
            <a:ext cx="7360286" cy="6411559"/>
          </a:xfrm>
          <a:custGeom>
            <a:avLst/>
            <a:gdLst/>
            <a:ahLst/>
            <a:cxnLst/>
            <a:rect r="r" b="b" t="t" l="l"/>
            <a:pathLst>
              <a:path h="6411559" w="7360286">
                <a:moveTo>
                  <a:pt x="0" y="0"/>
                </a:moveTo>
                <a:lnTo>
                  <a:pt x="7360286" y="0"/>
                </a:lnTo>
                <a:lnTo>
                  <a:pt x="7360286" y="6411559"/>
                </a:lnTo>
                <a:lnTo>
                  <a:pt x="0" y="6411559"/>
                </a:lnTo>
                <a:lnTo>
                  <a:pt x="0" y="0"/>
                </a:lnTo>
                <a:close/>
              </a:path>
            </a:pathLst>
          </a:custGeom>
          <a:blipFill>
            <a:blip r:embed="rId6"/>
            <a:stretch>
              <a:fillRect l="0" t="0" r="0" b="0"/>
            </a:stretch>
          </a:blipFill>
        </p:spPr>
      </p:sp>
      <p:sp>
        <p:nvSpPr>
          <p:cNvPr name="Freeform 11" id="11"/>
          <p:cNvSpPr/>
          <p:nvPr/>
        </p:nvSpPr>
        <p:spPr>
          <a:xfrm flipH="false" flipV="false" rot="0">
            <a:off x="1403067" y="5535561"/>
            <a:ext cx="2529702" cy="4257914"/>
          </a:xfrm>
          <a:custGeom>
            <a:avLst/>
            <a:gdLst/>
            <a:ahLst/>
            <a:cxnLst/>
            <a:rect r="r" b="b" t="t" l="l"/>
            <a:pathLst>
              <a:path h="4257914" w="2529702">
                <a:moveTo>
                  <a:pt x="0" y="0"/>
                </a:moveTo>
                <a:lnTo>
                  <a:pt x="2529702" y="0"/>
                </a:lnTo>
                <a:lnTo>
                  <a:pt x="2529702" y="4257914"/>
                </a:lnTo>
                <a:lnTo>
                  <a:pt x="0" y="4257914"/>
                </a:lnTo>
                <a:lnTo>
                  <a:pt x="0" y="0"/>
                </a:lnTo>
                <a:close/>
              </a:path>
            </a:pathLst>
          </a:custGeom>
          <a:blipFill>
            <a:blip r:embed="rId7"/>
            <a:stretch>
              <a:fillRect l="0" t="0" r="0" b="0"/>
            </a:stretch>
          </a:blipFill>
        </p:spPr>
      </p:sp>
      <p:sp>
        <p:nvSpPr>
          <p:cNvPr name="Freeform 12" id="12"/>
          <p:cNvSpPr/>
          <p:nvPr/>
        </p:nvSpPr>
        <p:spPr>
          <a:xfrm flipH="false" flipV="false" rot="0">
            <a:off x="5136262" y="5535561"/>
            <a:ext cx="3596891" cy="4804151"/>
          </a:xfrm>
          <a:custGeom>
            <a:avLst/>
            <a:gdLst/>
            <a:ahLst/>
            <a:cxnLst/>
            <a:rect r="r" b="b" t="t" l="l"/>
            <a:pathLst>
              <a:path h="4804151" w="3596891">
                <a:moveTo>
                  <a:pt x="0" y="0"/>
                </a:moveTo>
                <a:lnTo>
                  <a:pt x="3596891" y="0"/>
                </a:lnTo>
                <a:lnTo>
                  <a:pt x="3596891" y="4804152"/>
                </a:lnTo>
                <a:lnTo>
                  <a:pt x="0" y="4804152"/>
                </a:lnTo>
                <a:lnTo>
                  <a:pt x="0" y="0"/>
                </a:lnTo>
                <a:close/>
              </a:path>
            </a:pathLst>
          </a:custGeom>
          <a:blipFill>
            <a:blip r:embed="rId8"/>
            <a:stretch>
              <a:fillRect l="0" t="0" r="0" b="0"/>
            </a:stretch>
          </a:blipFill>
        </p:spPr>
      </p:sp>
      <p:sp>
        <p:nvSpPr>
          <p:cNvPr name="TextBox 13" id="13"/>
          <p:cNvSpPr txBox="true"/>
          <p:nvPr/>
        </p:nvSpPr>
        <p:spPr>
          <a:xfrm rot="0">
            <a:off x="1403067" y="2173110"/>
            <a:ext cx="8073632" cy="736600"/>
          </a:xfrm>
          <a:prstGeom prst="rect">
            <a:avLst/>
          </a:prstGeom>
        </p:spPr>
        <p:txBody>
          <a:bodyPr anchor="t" rtlCol="false" tIns="0" lIns="0" bIns="0" rIns="0">
            <a:spAutoFit/>
          </a:bodyPr>
          <a:lstStyle/>
          <a:p>
            <a:pPr algn="l">
              <a:lnSpc>
                <a:spcPts val="5750"/>
              </a:lnSpc>
            </a:pPr>
            <a:r>
              <a:rPr lang="en-US" sz="5000">
                <a:solidFill>
                  <a:srgbClr val="000000"/>
                </a:solidFill>
                <a:latin typeface="TS Damas Sans"/>
                <a:ea typeface="TS Damas Sans"/>
                <a:cs typeface="TS Damas Sans"/>
                <a:sym typeface="TS Damas Sans"/>
              </a:rPr>
              <a:t>SELEKTIVITAS (DB)</a:t>
            </a:r>
          </a:p>
        </p:txBody>
      </p:sp>
      <p:sp>
        <p:nvSpPr>
          <p:cNvPr name="TextBox 14" id="14"/>
          <p:cNvSpPr txBox="true"/>
          <p:nvPr/>
        </p:nvSpPr>
        <p:spPr>
          <a:xfrm rot="0">
            <a:off x="1403067" y="3147961"/>
            <a:ext cx="9230401" cy="1168400"/>
          </a:xfrm>
          <a:prstGeom prst="rect">
            <a:avLst/>
          </a:prstGeom>
        </p:spPr>
        <p:txBody>
          <a:bodyPr anchor="t" rtlCol="false" tIns="0" lIns="0" bIns="0" rIns="0">
            <a:spAutoFit/>
          </a:bodyPr>
          <a:lstStyle/>
          <a:p>
            <a:pPr algn="l">
              <a:lnSpc>
                <a:spcPts val="4599"/>
              </a:lnSpc>
            </a:pPr>
            <a:r>
              <a:rPr lang="en-US" sz="3999" b="true">
                <a:solidFill>
                  <a:srgbClr val="000000"/>
                </a:solidFill>
                <a:latin typeface="Ruda Bold"/>
                <a:ea typeface="Ruda Bold"/>
                <a:cs typeface="Ruda Bold"/>
                <a:sym typeface="Ruda Bold"/>
              </a:rPr>
              <a:t>Set Up Pengukuran dengan Channel Spacing 25 KHz</a:t>
            </a:r>
          </a:p>
        </p:txBody>
      </p:sp>
      <p:sp>
        <p:nvSpPr>
          <p:cNvPr name="TextBox 15" id="15"/>
          <p:cNvSpPr txBox="true"/>
          <p:nvPr/>
        </p:nvSpPr>
        <p:spPr>
          <a:xfrm rot="0">
            <a:off x="16500001" y="675267"/>
            <a:ext cx="1031784" cy="701675"/>
          </a:xfrm>
          <a:prstGeom prst="rect">
            <a:avLst/>
          </a:prstGeom>
        </p:spPr>
        <p:txBody>
          <a:bodyPr anchor="t" rtlCol="false" tIns="0" lIns="0" bIns="0" rIns="0">
            <a:spAutoFit/>
          </a:bodyPr>
          <a:lstStyle/>
          <a:p>
            <a:pPr algn="ctr">
              <a:lnSpc>
                <a:spcPts val="5799"/>
              </a:lnSpc>
            </a:pPr>
            <a:r>
              <a:rPr lang="en-US" b="true" sz="3999" spc="199">
                <a:solidFill>
                  <a:srgbClr val="0B5298"/>
                </a:solidFill>
                <a:latin typeface="Ruda Bold"/>
                <a:ea typeface="Ruda Bold"/>
                <a:cs typeface="Ruda Bold"/>
                <a:sym typeface="Ruda Bold"/>
              </a:rPr>
              <a:t>10</a:t>
            </a:r>
          </a:p>
        </p:txBody>
      </p:sp>
      <p:sp>
        <p:nvSpPr>
          <p:cNvPr name="TextBox 16" id="16"/>
          <p:cNvSpPr txBox="true"/>
          <p:nvPr/>
        </p:nvSpPr>
        <p:spPr>
          <a:xfrm rot="0">
            <a:off x="1403067" y="4249686"/>
            <a:ext cx="9230401" cy="1057275"/>
          </a:xfrm>
          <a:prstGeom prst="rect">
            <a:avLst/>
          </a:prstGeom>
        </p:spPr>
        <p:txBody>
          <a:bodyPr anchor="t" rtlCol="false" tIns="0" lIns="0" bIns="0" rIns="0">
            <a:spAutoFit/>
          </a:bodyPr>
          <a:lstStyle/>
          <a:p>
            <a:pPr algn="just">
              <a:lnSpc>
                <a:spcPts val="4200"/>
              </a:lnSpc>
            </a:pPr>
            <a:r>
              <a:rPr lang="en-US" sz="3000">
                <a:solidFill>
                  <a:srgbClr val="000000"/>
                </a:solidFill>
                <a:latin typeface="Ruda"/>
                <a:ea typeface="Ruda"/>
                <a:cs typeface="Ruda"/>
                <a:sym typeface="Ruda"/>
              </a:rPr>
              <a:t>f1 = 155.025 MHz  = –109 dBm –(–30 dBm ) = 79 dBm</a:t>
            </a:r>
          </a:p>
          <a:p>
            <a:pPr algn="just">
              <a:lnSpc>
                <a:spcPts val="4200"/>
              </a:lnSpc>
            </a:pPr>
            <a:r>
              <a:rPr lang="en-US" sz="3000">
                <a:solidFill>
                  <a:srgbClr val="000000"/>
                </a:solidFill>
                <a:latin typeface="Ruda"/>
                <a:ea typeface="Ruda"/>
                <a:cs typeface="Ruda"/>
                <a:sym typeface="Ruda"/>
              </a:rPr>
              <a:t>f2 = 154.975 MHz  = –109 dBm –(–28 dBm ) = 81 dBm</a:t>
            </a:r>
          </a:p>
        </p:txBody>
      </p:sp>
      <p:sp>
        <p:nvSpPr>
          <p:cNvPr name="TextBox 17" id="17"/>
          <p:cNvSpPr txBox="true"/>
          <p:nvPr/>
        </p:nvSpPr>
        <p:spPr>
          <a:xfrm rot="0">
            <a:off x="11654112" y="9277350"/>
            <a:ext cx="5361781" cy="717550"/>
          </a:xfrm>
          <a:prstGeom prst="rect">
            <a:avLst/>
          </a:prstGeom>
        </p:spPr>
        <p:txBody>
          <a:bodyPr anchor="t" rtlCol="false" tIns="0" lIns="0" bIns="0" rIns="0">
            <a:spAutoFit/>
          </a:bodyPr>
          <a:lstStyle/>
          <a:p>
            <a:pPr algn="ctr">
              <a:lnSpc>
                <a:spcPts val="2900"/>
              </a:lnSpc>
              <a:spcBef>
                <a:spcPct val="0"/>
              </a:spcBef>
            </a:pPr>
            <a:r>
              <a:rPr lang="en-US" b="true" sz="2000" spc="100">
                <a:solidFill>
                  <a:srgbClr val="000000"/>
                </a:solidFill>
                <a:latin typeface="Ruda Bold"/>
                <a:ea typeface="Ruda Bold"/>
                <a:cs typeface="Ruda Bold"/>
                <a:sym typeface="Ruda Bold"/>
              </a:rPr>
              <a:t>Setup Seletivitas Channel Spacing 25kHz</a:t>
            </a:r>
          </a:p>
          <a:p>
            <a:pPr algn="ctr">
              <a:lnSpc>
                <a:spcPts val="2900"/>
              </a:lnSpc>
              <a:spcBef>
                <a:spcPct val="0"/>
              </a:spcBef>
            </a:pPr>
            <a:r>
              <a:rPr lang="en-US" b="true" sz="2000" spc="100">
                <a:solidFill>
                  <a:srgbClr val="000000"/>
                </a:solidFill>
                <a:latin typeface="Ruda Bold"/>
                <a:ea typeface="Ruda Bold"/>
                <a:cs typeface="Ruda Bold"/>
                <a:sym typeface="Ruda Bold"/>
              </a:rPr>
              <a:t> (155.925MHz)</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6289496" y="314340"/>
            <a:ext cx="6642316" cy="1473387"/>
          </a:xfrm>
          <a:custGeom>
            <a:avLst/>
            <a:gdLst/>
            <a:ahLst/>
            <a:cxnLst/>
            <a:rect r="r" b="b" t="t" l="l"/>
            <a:pathLst>
              <a:path h="1473387" w="6642316">
                <a:moveTo>
                  <a:pt x="0" y="0"/>
                </a:moveTo>
                <a:lnTo>
                  <a:pt x="6642316" y="0"/>
                </a:lnTo>
                <a:lnTo>
                  <a:pt x="6642316" y="1473387"/>
                </a:lnTo>
                <a:lnTo>
                  <a:pt x="0" y="14733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499339" y="427997"/>
            <a:ext cx="6397268" cy="1359730"/>
            <a:chOff x="0" y="0"/>
            <a:chExt cx="8529691" cy="1812973"/>
          </a:xfrm>
        </p:grpSpPr>
        <p:grpSp>
          <p:nvGrpSpPr>
            <p:cNvPr name="Group 5" id="5"/>
            <p:cNvGrpSpPr/>
            <p:nvPr/>
          </p:nvGrpSpPr>
          <p:grpSpPr>
            <a:xfrm rot="0">
              <a:off x="1957668" y="321092"/>
              <a:ext cx="5471577" cy="772857"/>
              <a:chOff x="0" y="0"/>
              <a:chExt cx="1080805" cy="152663"/>
            </a:xfrm>
          </p:grpSpPr>
          <p:sp>
            <p:nvSpPr>
              <p:cNvPr name="Freeform 6" id="6"/>
              <p:cNvSpPr/>
              <p:nvPr/>
            </p:nvSpPr>
            <p:spPr>
              <a:xfrm flipH="false" flipV="false" rot="0">
                <a:off x="0" y="0"/>
                <a:ext cx="1080805" cy="152663"/>
              </a:xfrm>
              <a:custGeom>
                <a:avLst/>
                <a:gdLst/>
                <a:ahLst/>
                <a:cxnLst/>
                <a:rect r="r" b="b" t="t" l="l"/>
                <a:pathLst>
                  <a:path h="152663" w="1080805">
                    <a:moveTo>
                      <a:pt x="76332" y="0"/>
                    </a:moveTo>
                    <a:lnTo>
                      <a:pt x="1004474" y="0"/>
                    </a:lnTo>
                    <a:cubicBezTo>
                      <a:pt x="1046630" y="0"/>
                      <a:pt x="1080805" y="34175"/>
                      <a:pt x="1080805" y="76332"/>
                    </a:cubicBezTo>
                    <a:lnTo>
                      <a:pt x="1080805" y="76332"/>
                    </a:lnTo>
                    <a:cubicBezTo>
                      <a:pt x="1080805" y="96576"/>
                      <a:pt x="1072763" y="115991"/>
                      <a:pt x="1058448" y="130306"/>
                    </a:cubicBezTo>
                    <a:cubicBezTo>
                      <a:pt x="1044133" y="144621"/>
                      <a:pt x="1024718" y="152663"/>
                      <a:pt x="1004474" y="152663"/>
                    </a:cubicBezTo>
                    <a:lnTo>
                      <a:pt x="76332" y="152663"/>
                    </a:lnTo>
                    <a:cubicBezTo>
                      <a:pt x="34175" y="152663"/>
                      <a:pt x="0" y="118488"/>
                      <a:pt x="0" y="76332"/>
                    </a:cubicBezTo>
                    <a:lnTo>
                      <a:pt x="0" y="76332"/>
                    </a:lnTo>
                    <a:cubicBezTo>
                      <a:pt x="0" y="34175"/>
                      <a:pt x="34175" y="0"/>
                      <a:pt x="76332" y="0"/>
                    </a:cubicBezTo>
                    <a:close/>
                  </a:path>
                </a:pathLst>
              </a:custGeom>
              <a:solidFill>
                <a:srgbClr val="B2D0EC"/>
              </a:solidFill>
            </p:spPr>
          </p:sp>
          <p:sp>
            <p:nvSpPr>
              <p:cNvPr name="TextBox 7" id="7"/>
              <p:cNvSpPr txBox="true"/>
              <p:nvPr/>
            </p:nvSpPr>
            <p:spPr>
              <a:xfrm>
                <a:off x="0" y="-57150"/>
                <a:ext cx="1080805" cy="209813"/>
              </a:xfrm>
              <a:prstGeom prst="rect">
                <a:avLst/>
              </a:prstGeom>
            </p:spPr>
            <p:txBody>
              <a:bodyPr anchor="ctr" rtlCol="false" tIns="50800" lIns="50800" bIns="50800" rIns="50800"/>
              <a:lstStyle/>
              <a:p>
                <a:pPr algn="ctr">
                  <a:lnSpc>
                    <a:spcPts val="2900"/>
                  </a:lnSpc>
                </a:pPr>
              </a:p>
            </p:txBody>
          </p:sp>
        </p:grpSp>
        <p:sp>
          <p:nvSpPr>
            <p:cNvPr name="TextBox 8" id="8"/>
            <p:cNvSpPr txBox="true"/>
            <p:nvPr/>
          </p:nvSpPr>
          <p:spPr>
            <a:xfrm rot="0">
              <a:off x="631141" y="451403"/>
              <a:ext cx="7898550" cy="455083"/>
            </a:xfrm>
            <a:prstGeom prst="rect">
              <a:avLst/>
            </a:prstGeom>
          </p:spPr>
          <p:txBody>
            <a:bodyPr anchor="t" rtlCol="false" tIns="0" lIns="0" bIns="0" rIns="0">
              <a:spAutoFit/>
            </a:bodyPr>
            <a:lstStyle/>
            <a:p>
              <a:pPr algn="ctr">
                <a:lnSpc>
                  <a:spcPts val="2900"/>
                </a:lnSpc>
              </a:pPr>
              <a:r>
                <a:rPr lang="en-US" b="true" sz="2000" spc="100">
                  <a:solidFill>
                    <a:srgbClr val="0B5298"/>
                  </a:solidFill>
                  <a:latin typeface="Ruda Bold"/>
                  <a:ea typeface="Ruda Bold"/>
                  <a:cs typeface="Ruda Bold"/>
                  <a:sym typeface="Ruda Bold"/>
                </a:rPr>
                <a:t>Siskom terestrial gel.mikro</a:t>
              </a:r>
            </a:p>
          </p:txBody>
        </p:sp>
        <p:sp>
          <p:nvSpPr>
            <p:cNvPr name="Freeform 9" id="9"/>
            <p:cNvSpPr/>
            <p:nvPr/>
          </p:nvSpPr>
          <p:spPr>
            <a:xfrm flipH="false" flipV="false" rot="0">
              <a:off x="0" y="0"/>
              <a:ext cx="1262283" cy="1812973"/>
            </a:xfrm>
            <a:custGeom>
              <a:avLst/>
              <a:gdLst/>
              <a:ahLst/>
              <a:cxnLst/>
              <a:rect r="r" b="b" t="t" l="l"/>
              <a:pathLst>
                <a:path h="1812973" w="1262283">
                  <a:moveTo>
                    <a:pt x="0" y="0"/>
                  </a:moveTo>
                  <a:lnTo>
                    <a:pt x="1262283" y="0"/>
                  </a:lnTo>
                  <a:lnTo>
                    <a:pt x="1262283" y="1812973"/>
                  </a:lnTo>
                  <a:lnTo>
                    <a:pt x="0" y="1812973"/>
                  </a:lnTo>
                  <a:lnTo>
                    <a:pt x="0" y="0"/>
                  </a:lnTo>
                  <a:close/>
                </a:path>
              </a:pathLst>
            </a:custGeom>
            <a:blipFill>
              <a:blip r:embed="rId5"/>
              <a:stretch>
                <a:fillRect l="0" t="0" r="0" b="0"/>
              </a:stretch>
            </a:blipFill>
          </p:spPr>
        </p:sp>
      </p:grpSp>
      <p:sp>
        <p:nvSpPr>
          <p:cNvPr name="Freeform 10" id="10"/>
          <p:cNvSpPr/>
          <p:nvPr/>
        </p:nvSpPr>
        <p:spPr>
          <a:xfrm flipH="false" flipV="false" rot="0">
            <a:off x="1813947" y="5659386"/>
            <a:ext cx="2423247" cy="4406984"/>
          </a:xfrm>
          <a:custGeom>
            <a:avLst/>
            <a:gdLst/>
            <a:ahLst/>
            <a:cxnLst/>
            <a:rect r="r" b="b" t="t" l="l"/>
            <a:pathLst>
              <a:path h="4406984" w="2423247">
                <a:moveTo>
                  <a:pt x="0" y="0"/>
                </a:moveTo>
                <a:lnTo>
                  <a:pt x="2423247" y="0"/>
                </a:lnTo>
                <a:lnTo>
                  <a:pt x="2423247" y="4406984"/>
                </a:lnTo>
                <a:lnTo>
                  <a:pt x="0" y="4406984"/>
                </a:lnTo>
                <a:lnTo>
                  <a:pt x="0" y="0"/>
                </a:lnTo>
                <a:close/>
              </a:path>
            </a:pathLst>
          </a:custGeom>
          <a:blipFill>
            <a:blip r:embed="rId6"/>
            <a:stretch>
              <a:fillRect l="0" t="0" r="0" b="0"/>
            </a:stretch>
          </a:blipFill>
        </p:spPr>
      </p:sp>
      <p:sp>
        <p:nvSpPr>
          <p:cNvPr name="Freeform 11" id="11"/>
          <p:cNvSpPr/>
          <p:nvPr/>
        </p:nvSpPr>
        <p:spPr>
          <a:xfrm flipH="false" flipV="false" rot="0">
            <a:off x="7265045" y="5659386"/>
            <a:ext cx="2712870" cy="4406984"/>
          </a:xfrm>
          <a:custGeom>
            <a:avLst/>
            <a:gdLst/>
            <a:ahLst/>
            <a:cxnLst/>
            <a:rect r="r" b="b" t="t" l="l"/>
            <a:pathLst>
              <a:path h="4406984" w="2712870">
                <a:moveTo>
                  <a:pt x="0" y="0"/>
                </a:moveTo>
                <a:lnTo>
                  <a:pt x="2712870" y="0"/>
                </a:lnTo>
                <a:lnTo>
                  <a:pt x="2712870" y="4406984"/>
                </a:lnTo>
                <a:lnTo>
                  <a:pt x="0" y="4406984"/>
                </a:lnTo>
                <a:lnTo>
                  <a:pt x="0" y="0"/>
                </a:lnTo>
                <a:close/>
              </a:path>
            </a:pathLst>
          </a:custGeom>
          <a:blipFill>
            <a:blip r:embed="rId7"/>
            <a:stretch>
              <a:fillRect l="0" t="0" r="0" b="0"/>
            </a:stretch>
          </a:blipFill>
        </p:spPr>
      </p:sp>
      <p:sp>
        <p:nvSpPr>
          <p:cNvPr name="Freeform 12" id="12"/>
          <p:cNvSpPr/>
          <p:nvPr/>
        </p:nvSpPr>
        <p:spPr>
          <a:xfrm flipH="false" flipV="false" rot="0">
            <a:off x="10633468" y="2714700"/>
            <a:ext cx="7664881" cy="6543600"/>
          </a:xfrm>
          <a:custGeom>
            <a:avLst/>
            <a:gdLst/>
            <a:ahLst/>
            <a:cxnLst/>
            <a:rect r="r" b="b" t="t" l="l"/>
            <a:pathLst>
              <a:path h="6543600" w="7664881">
                <a:moveTo>
                  <a:pt x="0" y="0"/>
                </a:moveTo>
                <a:lnTo>
                  <a:pt x="7664882" y="0"/>
                </a:lnTo>
                <a:lnTo>
                  <a:pt x="7664882" y="6543600"/>
                </a:lnTo>
                <a:lnTo>
                  <a:pt x="0" y="6543600"/>
                </a:lnTo>
                <a:lnTo>
                  <a:pt x="0" y="0"/>
                </a:lnTo>
                <a:close/>
              </a:path>
            </a:pathLst>
          </a:custGeom>
          <a:blipFill>
            <a:blip r:embed="rId8"/>
            <a:stretch>
              <a:fillRect l="0" t="0" r="0" b="0"/>
            </a:stretch>
          </a:blipFill>
        </p:spPr>
      </p:sp>
      <p:sp>
        <p:nvSpPr>
          <p:cNvPr name="TextBox 13" id="13"/>
          <p:cNvSpPr txBox="true"/>
          <p:nvPr/>
        </p:nvSpPr>
        <p:spPr>
          <a:xfrm rot="0">
            <a:off x="1403067" y="2173110"/>
            <a:ext cx="8073632" cy="736600"/>
          </a:xfrm>
          <a:prstGeom prst="rect">
            <a:avLst/>
          </a:prstGeom>
        </p:spPr>
        <p:txBody>
          <a:bodyPr anchor="t" rtlCol="false" tIns="0" lIns="0" bIns="0" rIns="0">
            <a:spAutoFit/>
          </a:bodyPr>
          <a:lstStyle/>
          <a:p>
            <a:pPr algn="l">
              <a:lnSpc>
                <a:spcPts val="5750"/>
              </a:lnSpc>
            </a:pPr>
            <a:r>
              <a:rPr lang="en-US" sz="5000">
                <a:solidFill>
                  <a:srgbClr val="000000"/>
                </a:solidFill>
                <a:latin typeface="TS Damas Sans"/>
                <a:ea typeface="TS Damas Sans"/>
                <a:cs typeface="TS Damas Sans"/>
                <a:sym typeface="TS Damas Sans"/>
              </a:rPr>
              <a:t>SELEKTIVITAS (DB)</a:t>
            </a:r>
          </a:p>
        </p:txBody>
      </p:sp>
      <p:sp>
        <p:nvSpPr>
          <p:cNvPr name="TextBox 14" id="14"/>
          <p:cNvSpPr txBox="true"/>
          <p:nvPr/>
        </p:nvSpPr>
        <p:spPr>
          <a:xfrm rot="0">
            <a:off x="1403067" y="3147961"/>
            <a:ext cx="9230401" cy="1168400"/>
          </a:xfrm>
          <a:prstGeom prst="rect">
            <a:avLst/>
          </a:prstGeom>
        </p:spPr>
        <p:txBody>
          <a:bodyPr anchor="t" rtlCol="false" tIns="0" lIns="0" bIns="0" rIns="0">
            <a:spAutoFit/>
          </a:bodyPr>
          <a:lstStyle/>
          <a:p>
            <a:pPr algn="l">
              <a:lnSpc>
                <a:spcPts val="4599"/>
              </a:lnSpc>
            </a:pPr>
            <a:r>
              <a:rPr lang="en-US" sz="3999" b="true">
                <a:solidFill>
                  <a:srgbClr val="000000"/>
                </a:solidFill>
                <a:latin typeface="Ruda Bold"/>
                <a:ea typeface="Ruda Bold"/>
                <a:cs typeface="Ruda Bold"/>
                <a:sym typeface="Ruda Bold"/>
              </a:rPr>
              <a:t>Set Up Pengukuran dengan Channel Spacing 12.5 KHz</a:t>
            </a:r>
          </a:p>
        </p:txBody>
      </p:sp>
      <p:sp>
        <p:nvSpPr>
          <p:cNvPr name="TextBox 15" id="15"/>
          <p:cNvSpPr txBox="true"/>
          <p:nvPr/>
        </p:nvSpPr>
        <p:spPr>
          <a:xfrm rot="0">
            <a:off x="16500001" y="675267"/>
            <a:ext cx="1031784" cy="701675"/>
          </a:xfrm>
          <a:prstGeom prst="rect">
            <a:avLst/>
          </a:prstGeom>
        </p:spPr>
        <p:txBody>
          <a:bodyPr anchor="t" rtlCol="false" tIns="0" lIns="0" bIns="0" rIns="0">
            <a:spAutoFit/>
          </a:bodyPr>
          <a:lstStyle/>
          <a:p>
            <a:pPr algn="ctr">
              <a:lnSpc>
                <a:spcPts val="5799"/>
              </a:lnSpc>
            </a:pPr>
            <a:r>
              <a:rPr lang="en-US" b="true" sz="3999" spc="199">
                <a:solidFill>
                  <a:srgbClr val="0B5298"/>
                </a:solidFill>
                <a:latin typeface="Ruda Bold"/>
                <a:ea typeface="Ruda Bold"/>
                <a:cs typeface="Ruda Bold"/>
                <a:sym typeface="Ruda Bold"/>
              </a:rPr>
              <a:t>11</a:t>
            </a:r>
          </a:p>
        </p:txBody>
      </p:sp>
      <p:sp>
        <p:nvSpPr>
          <p:cNvPr name="TextBox 16" id="16"/>
          <p:cNvSpPr txBox="true"/>
          <p:nvPr/>
        </p:nvSpPr>
        <p:spPr>
          <a:xfrm rot="0">
            <a:off x="1403067" y="4235399"/>
            <a:ext cx="9230401" cy="1590675"/>
          </a:xfrm>
          <a:prstGeom prst="rect">
            <a:avLst/>
          </a:prstGeom>
        </p:spPr>
        <p:txBody>
          <a:bodyPr anchor="t" rtlCol="false" tIns="0" lIns="0" bIns="0" rIns="0">
            <a:spAutoFit/>
          </a:bodyPr>
          <a:lstStyle/>
          <a:p>
            <a:pPr algn="just">
              <a:lnSpc>
                <a:spcPts val="4200"/>
              </a:lnSpc>
            </a:pPr>
            <a:r>
              <a:rPr lang="en-US" sz="3000">
                <a:solidFill>
                  <a:srgbClr val="000000"/>
                </a:solidFill>
                <a:latin typeface="Ruda"/>
                <a:ea typeface="Ruda"/>
                <a:cs typeface="Ruda"/>
                <a:sym typeface="Ruda"/>
              </a:rPr>
              <a:t>f1 = 155.0125 MHz = –109 dBm –(–52 dBm ) = 57 dBm        </a:t>
            </a:r>
          </a:p>
          <a:p>
            <a:pPr algn="just">
              <a:lnSpc>
                <a:spcPts val="4200"/>
              </a:lnSpc>
            </a:pPr>
            <a:r>
              <a:rPr lang="en-US" sz="3000">
                <a:solidFill>
                  <a:srgbClr val="000000"/>
                </a:solidFill>
                <a:latin typeface="Ruda"/>
                <a:ea typeface="Ruda"/>
                <a:cs typeface="Ruda"/>
                <a:sym typeface="Ruda"/>
              </a:rPr>
              <a:t>f2 = 154.9875 MHz =–109 dBm –(–99 dBm )  = 10 dBm</a:t>
            </a:r>
          </a:p>
          <a:p>
            <a:pPr algn="just">
              <a:lnSpc>
                <a:spcPts val="4200"/>
              </a:lnSpc>
            </a:pPr>
          </a:p>
        </p:txBody>
      </p:sp>
      <p:sp>
        <p:nvSpPr>
          <p:cNvPr name="TextBox 17" id="17"/>
          <p:cNvSpPr txBox="true"/>
          <p:nvPr/>
        </p:nvSpPr>
        <p:spPr>
          <a:xfrm rot="0">
            <a:off x="11350602" y="9258300"/>
            <a:ext cx="5665291" cy="717550"/>
          </a:xfrm>
          <a:prstGeom prst="rect">
            <a:avLst/>
          </a:prstGeom>
        </p:spPr>
        <p:txBody>
          <a:bodyPr anchor="t" rtlCol="false" tIns="0" lIns="0" bIns="0" rIns="0">
            <a:spAutoFit/>
          </a:bodyPr>
          <a:lstStyle/>
          <a:p>
            <a:pPr algn="ctr">
              <a:lnSpc>
                <a:spcPts val="2900"/>
              </a:lnSpc>
              <a:spcBef>
                <a:spcPct val="0"/>
              </a:spcBef>
            </a:pPr>
            <a:r>
              <a:rPr lang="en-US" b="true" sz="2000" spc="100">
                <a:solidFill>
                  <a:srgbClr val="000000"/>
                </a:solidFill>
                <a:latin typeface="Ruda Bold"/>
                <a:ea typeface="Ruda Bold"/>
                <a:cs typeface="Ruda Bold"/>
                <a:sym typeface="Ruda Bold"/>
              </a:rPr>
              <a:t>Setup Seletivitas Channel Spacing 12.5kHz </a:t>
            </a:r>
          </a:p>
          <a:p>
            <a:pPr algn="ctr">
              <a:lnSpc>
                <a:spcPts val="2900"/>
              </a:lnSpc>
              <a:spcBef>
                <a:spcPct val="0"/>
              </a:spcBef>
            </a:pPr>
            <a:r>
              <a:rPr lang="en-US" b="true" sz="2000" spc="100">
                <a:solidFill>
                  <a:srgbClr val="000000"/>
                </a:solidFill>
                <a:latin typeface="Ruda Bold"/>
                <a:ea typeface="Ruda Bold"/>
                <a:cs typeface="Ruda Bold"/>
                <a:sym typeface="Ruda Bold"/>
              </a:rPr>
              <a:t>(155.9875MHz)</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6289496" y="314340"/>
            <a:ext cx="6642316" cy="1473387"/>
          </a:xfrm>
          <a:custGeom>
            <a:avLst/>
            <a:gdLst/>
            <a:ahLst/>
            <a:cxnLst/>
            <a:rect r="r" b="b" t="t" l="l"/>
            <a:pathLst>
              <a:path h="1473387" w="6642316">
                <a:moveTo>
                  <a:pt x="0" y="0"/>
                </a:moveTo>
                <a:lnTo>
                  <a:pt x="6642316" y="0"/>
                </a:lnTo>
                <a:lnTo>
                  <a:pt x="6642316" y="1473387"/>
                </a:lnTo>
                <a:lnTo>
                  <a:pt x="0" y="14733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499339" y="427997"/>
            <a:ext cx="6397268" cy="1359730"/>
            <a:chOff x="0" y="0"/>
            <a:chExt cx="8529691" cy="1812973"/>
          </a:xfrm>
        </p:grpSpPr>
        <p:grpSp>
          <p:nvGrpSpPr>
            <p:cNvPr name="Group 5" id="5"/>
            <p:cNvGrpSpPr/>
            <p:nvPr/>
          </p:nvGrpSpPr>
          <p:grpSpPr>
            <a:xfrm rot="0">
              <a:off x="1957668" y="321092"/>
              <a:ext cx="5471577" cy="772857"/>
              <a:chOff x="0" y="0"/>
              <a:chExt cx="1080805" cy="152663"/>
            </a:xfrm>
          </p:grpSpPr>
          <p:sp>
            <p:nvSpPr>
              <p:cNvPr name="Freeform 6" id="6"/>
              <p:cNvSpPr/>
              <p:nvPr/>
            </p:nvSpPr>
            <p:spPr>
              <a:xfrm flipH="false" flipV="false" rot="0">
                <a:off x="0" y="0"/>
                <a:ext cx="1080805" cy="152663"/>
              </a:xfrm>
              <a:custGeom>
                <a:avLst/>
                <a:gdLst/>
                <a:ahLst/>
                <a:cxnLst/>
                <a:rect r="r" b="b" t="t" l="l"/>
                <a:pathLst>
                  <a:path h="152663" w="1080805">
                    <a:moveTo>
                      <a:pt x="76332" y="0"/>
                    </a:moveTo>
                    <a:lnTo>
                      <a:pt x="1004474" y="0"/>
                    </a:lnTo>
                    <a:cubicBezTo>
                      <a:pt x="1046630" y="0"/>
                      <a:pt x="1080805" y="34175"/>
                      <a:pt x="1080805" y="76332"/>
                    </a:cubicBezTo>
                    <a:lnTo>
                      <a:pt x="1080805" y="76332"/>
                    </a:lnTo>
                    <a:cubicBezTo>
                      <a:pt x="1080805" y="96576"/>
                      <a:pt x="1072763" y="115991"/>
                      <a:pt x="1058448" y="130306"/>
                    </a:cubicBezTo>
                    <a:cubicBezTo>
                      <a:pt x="1044133" y="144621"/>
                      <a:pt x="1024718" y="152663"/>
                      <a:pt x="1004474" y="152663"/>
                    </a:cubicBezTo>
                    <a:lnTo>
                      <a:pt x="76332" y="152663"/>
                    </a:lnTo>
                    <a:cubicBezTo>
                      <a:pt x="34175" y="152663"/>
                      <a:pt x="0" y="118488"/>
                      <a:pt x="0" y="76332"/>
                    </a:cubicBezTo>
                    <a:lnTo>
                      <a:pt x="0" y="76332"/>
                    </a:lnTo>
                    <a:cubicBezTo>
                      <a:pt x="0" y="34175"/>
                      <a:pt x="34175" y="0"/>
                      <a:pt x="76332" y="0"/>
                    </a:cubicBezTo>
                    <a:close/>
                  </a:path>
                </a:pathLst>
              </a:custGeom>
              <a:solidFill>
                <a:srgbClr val="B2D0EC"/>
              </a:solidFill>
            </p:spPr>
          </p:sp>
          <p:sp>
            <p:nvSpPr>
              <p:cNvPr name="TextBox 7" id="7"/>
              <p:cNvSpPr txBox="true"/>
              <p:nvPr/>
            </p:nvSpPr>
            <p:spPr>
              <a:xfrm>
                <a:off x="0" y="-57150"/>
                <a:ext cx="1080805" cy="209813"/>
              </a:xfrm>
              <a:prstGeom prst="rect">
                <a:avLst/>
              </a:prstGeom>
            </p:spPr>
            <p:txBody>
              <a:bodyPr anchor="ctr" rtlCol="false" tIns="50800" lIns="50800" bIns="50800" rIns="50800"/>
              <a:lstStyle/>
              <a:p>
                <a:pPr algn="ctr">
                  <a:lnSpc>
                    <a:spcPts val="2900"/>
                  </a:lnSpc>
                </a:pPr>
              </a:p>
            </p:txBody>
          </p:sp>
        </p:grpSp>
        <p:sp>
          <p:nvSpPr>
            <p:cNvPr name="TextBox 8" id="8"/>
            <p:cNvSpPr txBox="true"/>
            <p:nvPr/>
          </p:nvSpPr>
          <p:spPr>
            <a:xfrm rot="0">
              <a:off x="631141" y="451403"/>
              <a:ext cx="7898550" cy="455083"/>
            </a:xfrm>
            <a:prstGeom prst="rect">
              <a:avLst/>
            </a:prstGeom>
          </p:spPr>
          <p:txBody>
            <a:bodyPr anchor="t" rtlCol="false" tIns="0" lIns="0" bIns="0" rIns="0">
              <a:spAutoFit/>
            </a:bodyPr>
            <a:lstStyle/>
            <a:p>
              <a:pPr algn="ctr">
                <a:lnSpc>
                  <a:spcPts val="2900"/>
                </a:lnSpc>
              </a:pPr>
              <a:r>
                <a:rPr lang="en-US" b="true" sz="2000" spc="100">
                  <a:solidFill>
                    <a:srgbClr val="0B5298"/>
                  </a:solidFill>
                  <a:latin typeface="Ruda Bold"/>
                  <a:ea typeface="Ruda Bold"/>
                  <a:cs typeface="Ruda Bold"/>
                  <a:sym typeface="Ruda Bold"/>
                </a:rPr>
                <a:t>Siskom terestrial gel.mikro</a:t>
              </a:r>
            </a:p>
          </p:txBody>
        </p:sp>
        <p:sp>
          <p:nvSpPr>
            <p:cNvPr name="Freeform 9" id="9"/>
            <p:cNvSpPr/>
            <p:nvPr/>
          </p:nvSpPr>
          <p:spPr>
            <a:xfrm flipH="false" flipV="false" rot="0">
              <a:off x="0" y="0"/>
              <a:ext cx="1262283" cy="1812973"/>
            </a:xfrm>
            <a:custGeom>
              <a:avLst/>
              <a:gdLst/>
              <a:ahLst/>
              <a:cxnLst/>
              <a:rect r="r" b="b" t="t" l="l"/>
              <a:pathLst>
                <a:path h="1812973" w="1262283">
                  <a:moveTo>
                    <a:pt x="0" y="0"/>
                  </a:moveTo>
                  <a:lnTo>
                    <a:pt x="1262283" y="0"/>
                  </a:lnTo>
                  <a:lnTo>
                    <a:pt x="1262283" y="1812973"/>
                  </a:lnTo>
                  <a:lnTo>
                    <a:pt x="0" y="1812973"/>
                  </a:lnTo>
                  <a:lnTo>
                    <a:pt x="0" y="0"/>
                  </a:lnTo>
                  <a:close/>
                </a:path>
              </a:pathLst>
            </a:custGeom>
            <a:blipFill>
              <a:blip r:embed="rId5"/>
              <a:stretch>
                <a:fillRect l="0" t="0" r="0" b="0"/>
              </a:stretch>
            </a:blipFill>
          </p:spPr>
        </p:sp>
      </p:grpSp>
      <p:sp>
        <p:nvSpPr>
          <p:cNvPr name="Freeform 10" id="10"/>
          <p:cNvSpPr/>
          <p:nvPr/>
        </p:nvSpPr>
        <p:spPr>
          <a:xfrm flipH="false" flipV="false" rot="0">
            <a:off x="7349770" y="304800"/>
            <a:ext cx="10900130" cy="5763103"/>
          </a:xfrm>
          <a:custGeom>
            <a:avLst/>
            <a:gdLst/>
            <a:ahLst/>
            <a:cxnLst/>
            <a:rect r="r" b="b" t="t" l="l"/>
            <a:pathLst>
              <a:path h="5763103" w="10900130">
                <a:moveTo>
                  <a:pt x="0" y="0"/>
                </a:moveTo>
                <a:lnTo>
                  <a:pt x="10900130" y="0"/>
                </a:lnTo>
                <a:lnTo>
                  <a:pt x="10900130" y="5763103"/>
                </a:lnTo>
                <a:lnTo>
                  <a:pt x="0" y="5763103"/>
                </a:lnTo>
                <a:lnTo>
                  <a:pt x="0" y="0"/>
                </a:lnTo>
                <a:close/>
              </a:path>
            </a:pathLst>
          </a:custGeom>
          <a:blipFill>
            <a:blip r:embed="rId6"/>
            <a:stretch>
              <a:fillRect l="0" t="0" r="0" b="0"/>
            </a:stretch>
          </a:blipFill>
        </p:spPr>
      </p:sp>
      <p:sp>
        <p:nvSpPr>
          <p:cNvPr name="TextBox 11" id="11"/>
          <p:cNvSpPr txBox="true"/>
          <p:nvPr/>
        </p:nvSpPr>
        <p:spPr>
          <a:xfrm rot="0">
            <a:off x="1439320" y="2445941"/>
            <a:ext cx="8665224" cy="1509395"/>
          </a:xfrm>
          <a:prstGeom prst="rect">
            <a:avLst/>
          </a:prstGeom>
        </p:spPr>
        <p:txBody>
          <a:bodyPr anchor="t" rtlCol="false" tIns="0" lIns="0" bIns="0" rIns="0">
            <a:spAutoFit/>
          </a:bodyPr>
          <a:lstStyle/>
          <a:p>
            <a:pPr algn="l">
              <a:lnSpc>
                <a:spcPts val="5979"/>
              </a:lnSpc>
            </a:pPr>
            <a:r>
              <a:rPr lang="en-US" sz="5199">
                <a:solidFill>
                  <a:srgbClr val="000000"/>
                </a:solidFill>
                <a:latin typeface="TS Damas Sans"/>
                <a:ea typeface="TS Damas Sans"/>
                <a:cs typeface="TS Damas Sans"/>
                <a:sym typeface="TS Damas Sans"/>
              </a:rPr>
              <a:t>20 DB QUIETING </a:t>
            </a:r>
          </a:p>
          <a:p>
            <a:pPr algn="l">
              <a:lnSpc>
                <a:spcPts val="5979"/>
              </a:lnSpc>
            </a:pPr>
            <a:r>
              <a:rPr lang="en-US" sz="5199">
                <a:solidFill>
                  <a:srgbClr val="000000"/>
                </a:solidFill>
                <a:latin typeface="TS Damas Sans"/>
                <a:ea typeface="TS Damas Sans"/>
                <a:cs typeface="TS Damas Sans"/>
                <a:sym typeface="TS Damas Sans"/>
              </a:rPr>
              <a:t>(NOISE LESS ATAU NOISY)</a:t>
            </a:r>
          </a:p>
        </p:txBody>
      </p:sp>
      <p:sp>
        <p:nvSpPr>
          <p:cNvPr name="TextBox 12" id="12"/>
          <p:cNvSpPr txBox="true"/>
          <p:nvPr/>
        </p:nvSpPr>
        <p:spPr>
          <a:xfrm rot="0">
            <a:off x="16500001" y="675267"/>
            <a:ext cx="1031784" cy="701675"/>
          </a:xfrm>
          <a:prstGeom prst="rect">
            <a:avLst/>
          </a:prstGeom>
        </p:spPr>
        <p:txBody>
          <a:bodyPr anchor="t" rtlCol="false" tIns="0" lIns="0" bIns="0" rIns="0">
            <a:spAutoFit/>
          </a:bodyPr>
          <a:lstStyle/>
          <a:p>
            <a:pPr algn="ctr">
              <a:lnSpc>
                <a:spcPts val="5799"/>
              </a:lnSpc>
            </a:pPr>
            <a:r>
              <a:rPr lang="en-US" b="true" sz="3999" spc="199">
                <a:solidFill>
                  <a:srgbClr val="0B5298"/>
                </a:solidFill>
                <a:latin typeface="Ruda Bold"/>
                <a:ea typeface="Ruda Bold"/>
                <a:cs typeface="Ruda Bold"/>
                <a:sym typeface="Ruda Bold"/>
              </a:rPr>
              <a:t>11</a:t>
            </a:r>
          </a:p>
        </p:txBody>
      </p:sp>
      <p:sp>
        <p:nvSpPr>
          <p:cNvPr name="TextBox 13" id="13"/>
          <p:cNvSpPr txBox="true"/>
          <p:nvPr/>
        </p:nvSpPr>
        <p:spPr>
          <a:xfrm rot="0">
            <a:off x="1028700" y="6067903"/>
            <a:ext cx="16503085" cy="3724275"/>
          </a:xfrm>
          <a:prstGeom prst="rect">
            <a:avLst/>
          </a:prstGeom>
        </p:spPr>
        <p:txBody>
          <a:bodyPr anchor="t" rtlCol="false" tIns="0" lIns="0" bIns="0" rIns="0">
            <a:spAutoFit/>
          </a:bodyPr>
          <a:lstStyle/>
          <a:p>
            <a:pPr algn="just">
              <a:lnSpc>
                <a:spcPts val="4200"/>
              </a:lnSpc>
            </a:pPr>
            <a:r>
              <a:rPr lang="en-US" sz="3000">
                <a:solidFill>
                  <a:srgbClr val="000000"/>
                </a:solidFill>
                <a:latin typeface="Ruda"/>
                <a:ea typeface="Ruda"/>
                <a:cs typeface="Ruda"/>
                <a:sym typeface="Ruda"/>
              </a:rPr>
              <a:t>Pengaturan pengukuran quieting dilakukan mirip dengan sebelumnya, namun kali ini modulasi sinyal dimatikan. Setelah itu, daya input secara bertahap dinaikkan sebesar 20 dB hingga diperoleh tegangan output dari penerima yang rendah, menandakan bahwa tingkat noise telah berkurang secara signifikan (noise-less condition). Kondisi ini menunjukkan bahwa sinyal yang diterima cukup kuat untuk menekan derau (noise) latar belakang, sehingga menghasilkan keluaran audio yang bersih dan stabil.</a:t>
            </a:r>
          </a:p>
          <a:p>
            <a:pPr algn="just">
              <a:lnSpc>
                <a:spcPts val="4200"/>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6289496" y="314340"/>
            <a:ext cx="6642316" cy="1473387"/>
          </a:xfrm>
          <a:custGeom>
            <a:avLst/>
            <a:gdLst/>
            <a:ahLst/>
            <a:cxnLst/>
            <a:rect r="r" b="b" t="t" l="l"/>
            <a:pathLst>
              <a:path h="1473387" w="6642316">
                <a:moveTo>
                  <a:pt x="0" y="0"/>
                </a:moveTo>
                <a:lnTo>
                  <a:pt x="6642316" y="0"/>
                </a:lnTo>
                <a:lnTo>
                  <a:pt x="6642316" y="1473387"/>
                </a:lnTo>
                <a:lnTo>
                  <a:pt x="0" y="14733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499339" y="427997"/>
            <a:ext cx="6397268" cy="1359730"/>
            <a:chOff x="0" y="0"/>
            <a:chExt cx="8529691" cy="1812973"/>
          </a:xfrm>
        </p:grpSpPr>
        <p:grpSp>
          <p:nvGrpSpPr>
            <p:cNvPr name="Group 5" id="5"/>
            <p:cNvGrpSpPr/>
            <p:nvPr/>
          </p:nvGrpSpPr>
          <p:grpSpPr>
            <a:xfrm rot="0">
              <a:off x="1957668" y="321092"/>
              <a:ext cx="5471577" cy="772857"/>
              <a:chOff x="0" y="0"/>
              <a:chExt cx="1080805" cy="152663"/>
            </a:xfrm>
          </p:grpSpPr>
          <p:sp>
            <p:nvSpPr>
              <p:cNvPr name="Freeform 6" id="6"/>
              <p:cNvSpPr/>
              <p:nvPr/>
            </p:nvSpPr>
            <p:spPr>
              <a:xfrm flipH="false" flipV="false" rot="0">
                <a:off x="0" y="0"/>
                <a:ext cx="1080805" cy="152663"/>
              </a:xfrm>
              <a:custGeom>
                <a:avLst/>
                <a:gdLst/>
                <a:ahLst/>
                <a:cxnLst/>
                <a:rect r="r" b="b" t="t" l="l"/>
                <a:pathLst>
                  <a:path h="152663" w="1080805">
                    <a:moveTo>
                      <a:pt x="76332" y="0"/>
                    </a:moveTo>
                    <a:lnTo>
                      <a:pt x="1004474" y="0"/>
                    </a:lnTo>
                    <a:cubicBezTo>
                      <a:pt x="1046630" y="0"/>
                      <a:pt x="1080805" y="34175"/>
                      <a:pt x="1080805" y="76332"/>
                    </a:cubicBezTo>
                    <a:lnTo>
                      <a:pt x="1080805" y="76332"/>
                    </a:lnTo>
                    <a:cubicBezTo>
                      <a:pt x="1080805" y="96576"/>
                      <a:pt x="1072763" y="115991"/>
                      <a:pt x="1058448" y="130306"/>
                    </a:cubicBezTo>
                    <a:cubicBezTo>
                      <a:pt x="1044133" y="144621"/>
                      <a:pt x="1024718" y="152663"/>
                      <a:pt x="1004474" y="152663"/>
                    </a:cubicBezTo>
                    <a:lnTo>
                      <a:pt x="76332" y="152663"/>
                    </a:lnTo>
                    <a:cubicBezTo>
                      <a:pt x="34175" y="152663"/>
                      <a:pt x="0" y="118488"/>
                      <a:pt x="0" y="76332"/>
                    </a:cubicBezTo>
                    <a:lnTo>
                      <a:pt x="0" y="76332"/>
                    </a:lnTo>
                    <a:cubicBezTo>
                      <a:pt x="0" y="34175"/>
                      <a:pt x="34175" y="0"/>
                      <a:pt x="76332" y="0"/>
                    </a:cubicBezTo>
                    <a:close/>
                  </a:path>
                </a:pathLst>
              </a:custGeom>
              <a:solidFill>
                <a:srgbClr val="B2D0EC"/>
              </a:solidFill>
            </p:spPr>
          </p:sp>
          <p:sp>
            <p:nvSpPr>
              <p:cNvPr name="TextBox 7" id="7"/>
              <p:cNvSpPr txBox="true"/>
              <p:nvPr/>
            </p:nvSpPr>
            <p:spPr>
              <a:xfrm>
                <a:off x="0" y="-57150"/>
                <a:ext cx="1080805" cy="209813"/>
              </a:xfrm>
              <a:prstGeom prst="rect">
                <a:avLst/>
              </a:prstGeom>
            </p:spPr>
            <p:txBody>
              <a:bodyPr anchor="ctr" rtlCol="false" tIns="50800" lIns="50800" bIns="50800" rIns="50800"/>
              <a:lstStyle/>
              <a:p>
                <a:pPr algn="ctr">
                  <a:lnSpc>
                    <a:spcPts val="2900"/>
                  </a:lnSpc>
                </a:pPr>
              </a:p>
            </p:txBody>
          </p:sp>
        </p:grpSp>
        <p:sp>
          <p:nvSpPr>
            <p:cNvPr name="TextBox 8" id="8"/>
            <p:cNvSpPr txBox="true"/>
            <p:nvPr/>
          </p:nvSpPr>
          <p:spPr>
            <a:xfrm rot="0">
              <a:off x="631141" y="451403"/>
              <a:ext cx="7898550" cy="455083"/>
            </a:xfrm>
            <a:prstGeom prst="rect">
              <a:avLst/>
            </a:prstGeom>
          </p:spPr>
          <p:txBody>
            <a:bodyPr anchor="t" rtlCol="false" tIns="0" lIns="0" bIns="0" rIns="0">
              <a:spAutoFit/>
            </a:bodyPr>
            <a:lstStyle/>
            <a:p>
              <a:pPr algn="ctr">
                <a:lnSpc>
                  <a:spcPts val="2900"/>
                </a:lnSpc>
              </a:pPr>
              <a:r>
                <a:rPr lang="en-US" b="true" sz="2000" spc="100">
                  <a:solidFill>
                    <a:srgbClr val="0B5298"/>
                  </a:solidFill>
                  <a:latin typeface="Ruda Bold"/>
                  <a:ea typeface="Ruda Bold"/>
                  <a:cs typeface="Ruda Bold"/>
                  <a:sym typeface="Ruda Bold"/>
                </a:rPr>
                <a:t>Siskom terestrial gel.mikro</a:t>
              </a:r>
            </a:p>
          </p:txBody>
        </p:sp>
        <p:sp>
          <p:nvSpPr>
            <p:cNvPr name="Freeform 9" id="9"/>
            <p:cNvSpPr/>
            <p:nvPr/>
          </p:nvSpPr>
          <p:spPr>
            <a:xfrm flipH="false" flipV="false" rot="0">
              <a:off x="0" y="0"/>
              <a:ext cx="1262283" cy="1812973"/>
            </a:xfrm>
            <a:custGeom>
              <a:avLst/>
              <a:gdLst/>
              <a:ahLst/>
              <a:cxnLst/>
              <a:rect r="r" b="b" t="t" l="l"/>
              <a:pathLst>
                <a:path h="1812973" w="1262283">
                  <a:moveTo>
                    <a:pt x="0" y="0"/>
                  </a:moveTo>
                  <a:lnTo>
                    <a:pt x="1262283" y="0"/>
                  </a:lnTo>
                  <a:lnTo>
                    <a:pt x="1262283" y="1812973"/>
                  </a:lnTo>
                  <a:lnTo>
                    <a:pt x="0" y="1812973"/>
                  </a:lnTo>
                  <a:lnTo>
                    <a:pt x="0" y="0"/>
                  </a:lnTo>
                  <a:close/>
                </a:path>
              </a:pathLst>
            </a:custGeom>
            <a:blipFill>
              <a:blip r:embed="rId5"/>
              <a:stretch>
                <a:fillRect l="0" t="0" r="0" b="0"/>
              </a:stretch>
            </a:blipFill>
          </p:spPr>
        </p:sp>
      </p:grpSp>
      <p:sp>
        <p:nvSpPr>
          <p:cNvPr name="Freeform 10" id="10"/>
          <p:cNvSpPr/>
          <p:nvPr/>
        </p:nvSpPr>
        <p:spPr>
          <a:xfrm flipH="false" flipV="false" rot="0">
            <a:off x="2795234" y="7349947"/>
            <a:ext cx="4477116" cy="730114"/>
          </a:xfrm>
          <a:custGeom>
            <a:avLst/>
            <a:gdLst/>
            <a:ahLst/>
            <a:cxnLst/>
            <a:rect r="r" b="b" t="t" l="l"/>
            <a:pathLst>
              <a:path h="730114" w="4477116">
                <a:moveTo>
                  <a:pt x="0" y="0"/>
                </a:moveTo>
                <a:lnTo>
                  <a:pt x="4477117" y="0"/>
                </a:lnTo>
                <a:lnTo>
                  <a:pt x="4477117" y="730114"/>
                </a:lnTo>
                <a:lnTo>
                  <a:pt x="0" y="730114"/>
                </a:lnTo>
                <a:lnTo>
                  <a:pt x="0" y="0"/>
                </a:lnTo>
                <a:close/>
              </a:path>
            </a:pathLst>
          </a:custGeom>
          <a:blipFill>
            <a:blip r:embed="rId6"/>
            <a:stretch>
              <a:fillRect l="0" t="0" r="0" b="0"/>
            </a:stretch>
          </a:blipFill>
        </p:spPr>
      </p:sp>
      <p:sp>
        <p:nvSpPr>
          <p:cNvPr name="Freeform 11" id="11"/>
          <p:cNvSpPr/>
          <p:nvPr/>
        </p:nvSpPr>
        <p:spPr>
          <a:xfrm flipH="false" flipV="false" rot="0">
            <a:off x="8577449" y="6841877"/>
            <a:ext cx="6226800" cy="3445123"/>
          </a:xfrm>
          <a:custGeom>
            <a:avLst/>
            <a:gdLst/>
            <a:ahLst/>
            <a:cxnLst/>
            <a:rect r="r" b="b" t="t" l="l"/>
            <a:pathLst>
              <a:path h="3445123" w="6226800">
                <a:moveTo>
                  <a:pt x="0" y="0"/>
                </a:moveTo>
                <a:lnTo>
                  <a:pt x="6226800" y="0"/>
                </a:lnTo>
                <a:lnTo>
                  <a:pt x="6226800" y="3445123"/>
                </a:lnTo>
                <a:lnTo>
                  <a:pt x="0" y="3445123"/>
                </a:lnTo>
                <a:lnTo>
                  <a:pt x="0" y="0"/>
                </a:lnTo>
                <a:close/>
              </a:path>
            </a:pathLst>
          </a:custGeom>
          <a:blipFill>
            <a:blip r:embed="rId7"/>
            <a:stretch>
              <a:fillRect l="0" t="0" r="0" b="0"/>
            </a:stretch>
          </a:blipFill>
        </p:spPr>
      </p:sp>
      <p:sp>
        <p:nvSpPr>
          <p:cNvPr name="Freeform 12" id="12"/>
          <p:cNvSpPr/>
          <p:nvPr/>
        </p:nvSpPr>
        <p:spPr>
          <a:xfrm flipH="false" flipV="false" rot="0">
            <a:off x="10306103" y="1107862"/>
            <a:ext cx="6953197" cy="5695217"/>
          </a:xfrm>
          <a:custGeom>
            <a:avLst/>
            <a:gdLst/>
            <a:ahLst/>
            <a:cxnLst/>
            <a:rect r="r" b="b" t="t" l="l"/>
            <a:pathLst>
              <a:path h="5695217" w="6953197">
                <a:moveTo>
                  <a:pt x="0" y="0"/>
                </a:moveTo>
                <a:lnTo>
                  <a:pt x="6953197" y="0"/>
                </a:lnTo>
                <a:lnTo>
                  <a:pt x="6953197" y="5695217"/>
                </a:lnTo>
                <a:lnTo>
                  <a:pt x="0" y="5695217"/>
                </a:lnTo>
                <a:lnTo>
                  <a:pt x="0" y="0"/>
                </a:lnTo>
                <a:close/>
              </a:path>
            </a:pathLst>
          </a:custGeom>
          <a:blipFill>
            <a:blip r:embed="rId8"/>
            <a:stretch>
              <a:fillRect l="0" t="0" r="0" b="0"/>
            </a:stretch>
          </a:blipFill>
        </p:spPr>
      </p:sp>
      <p:sp>
        <p:nvSpPr>
          <p:cNvPr name="TextBox 13" id="13"/>
          <p:cNvSpPr txBox="true"/>
          <p:nvPr/>
        </p:nvSpPr>
        <p:spPr>
          <a:xfrm rot="0">
            <a:off x="499339" y="2535638"/>
            <a:ext cx="8665224" cy="736600"/>
          </a:xfrm>
          <a:prstGeom prst="rect">
            <a:avLst/>
          </a:prstGeom>
        </p:spPr>
        <p:txBody>
          <a:bodyPr anchor="t" rtlCol="false" tIns="0" lIns="0" bIns="0" rIns="0">
            <a:spAutoFit/>
          </a:bodyPr>
          <a:lstStyle/>
          <a:p>
            <a:pPr algn="l">
              <a:lnSpc>
                <a:spcPts val="5750"/>
              </a:lnSpc>
            </a:pPr>
            <a:r>
              <a:rPr lang="en-US" sz="5000">
                <a:solidFill>
                  <a:srgbClr val="000000"/>
                </a:solidFill>
                <a:latin typeface="TS Damas Sans"/>
                <a:ea typeface="TS Damas Sans"/>
                <a:cs typeface="TS Damas Sans"/>
                <a:sym typeface="TS Damas Sans"/>
              </a:rPr>
              <a:t>IMAGE FREQUENCY REJECTION (DB)</a:t>
            </a:r>
          </a:p>
        </p:txBody>
      </p:sp>
      <p:sp>
        <p:nvSpPr>
          <p:cNvPr name="TextBox 14" id="14"/>
          <p:cNvSpPr txBox="true"/>
          <p:nvPr/>
        </p:nvSpPr>
        <p:spPr>
          <a:xfrm rot="0">
            <a:off x="16500001" y="675267"/>
            <a:ext cx="1031784" cy="701675"/>
          </a:xfrm>
          <a:prstGeom prst="rect">
            <a:avLst/>
          </a:prstGeom>
        </p:spPr>
        <p:txBody>
          <a:bodyPr anchor="t" rtlCol="false" tIns="0" lIns="0" bIns="0" rIns="0">
            <a:spAutoFit/>
          </a:bodyPr>
          <a:lstStyle/>
          <a:p>
            <a:pPr algn="ctr">
              <a:lnSpc>
                <a:spcPts val="5799"/>
              </a:lnSpc>
            </a:pPr>
            <a:r>
              <a:rPr lang="en-US" b="true" sz="3999" spc="199">
                <a:solidFill>
                  <a:srgbClr val="0B5298"/>
                </a:solidFill>
                <a:latin typeface="Ruda Bold"/>
                <a:ea typeface="Ruda Bold"/>
                <a:cs typeface="Ruda Bold"/>
                <a:sym typeface="Ruda Bold"/>
              </a:rPr>
              <a:t>12</a:t>
            </a:r>
          </a:p>
        </p:txBody>
      </p:sp>
      <p:sp>
        <p:nvSpPr>
          <p:cNvPr name="TextBox 15" id="15"/>
          <p:cNvSpPr txBox="true"/>
          <p:nvPr/>
        </p:nvSpPr>
        <p:spPr>
          <a:xfrm rot="0">
            <a:off x="499339" y="3466217"/>
            <a:ext cx="9068906" cy="6656070"/>
          </a:xfrm>
          <a:prstGeom prst="rect">
            <a:avLst/>
          </a:prstGeom>
        </p:spPr>
        <p:txBody>
          <a:bodyPr anchor="t" rtlCol="false" tIns="0" lIns="0" bIns="0" rIns="0">
            <a:spAutoFit/>
          </a:bodyPr>
          <a:lstStyle/>
          <a:p>
            <a:pPr algn="just">
              <a:lnSpc>
                <a:spcPts val="3780"/>
              </a:lnSpc>
            </a:pPr>
            <a:r>
              <a:rPr lang="en-US" sz="2700">
                <a:solidFill>
                  <a:srgbClr val="000000"/>
                </a:solidFill>
                <a:latin typeface="Ruda"/>
                <a:ea typeface="Ruda"/>
                <a:cs typeface="Ruda"/>
                <a:sym typeface="Ruda"/>
              </a:rPr>
              <a:t>Pada pengukuran ini, diukur kemampuan penerima untuk membedakan antara sinyal yang diinginkan dengan sinyal yang tidak diinginkan, yaitu sinyal bayangan. Pengukuran ini hampir serupa dengan pengukuran selektivitas, namun perbedaannya adalah pada pengukuran ini digunakan sinyal bayangan sebagai parameter pengujian. Dalam pengukuran ini, nilai IM1 dan IM2 dicari menggunakan rumus berikut:</a:t>
            </a:r>
          </a:p>
          <a:p>
            <a:pPr algn="just">
              <a:lnSpc>
                <a:spcPts val="3780"/>
              </a:lnSpc>
            </a:pPr>
          </a:p>
          <a:p>
            <a:pPr algn="just">
              <a:lnSpc>
                <a:spcPts val="3780"/>
              </a:lnSpc>
            </a:pPr>
          </a:p>
          <a:p>
            <a:pPr algn="just">
              <a:lnSpc>
                <a:spcPts val="3780"/>
              </a:lnSpc>
            </a:pPr>
            <a:r>
              <a:rPr lang="en-US" sz="2700">
                <a:solidFill>
                  <a:srgbClr val="000000"/>
                </a:solidFill>
                <a:latin typeface="Ruda"/>
                <a:ea typeface="Ruda"/>
                <a:cs typeface="Ruda"/>
                <a:sym typeface="Ruda"/>
              </a:rPr>
              <a:t>·IM</a:t>
            </a:r>
            <a:r>
              <a:rPr lang="en-US" sz="2700">
                <a:solidFill>
                  <a:srgbClr val="000000"/>
                </a:solidFill>
                <a:latin typeface="Ruda"/>
                <a:ea typeface="Ruda"/>
                <a:cs typeface="Ruda"/>
                <a:sym typeface="Ruda"/>
              </a:rPr>
              <a:t>1 </a:t>
            </a:r>
            <a:r>
              <a:rPr lang="en-US" sz="2700">
                <a:solidFill>
                  <a:srgbClr val="000000"/>
                </a:solidFill>
                <a:latin typeface="Ruda"/>
                <a:ea typeface="Ruda"/>
                <a:cs typeface="Ruda"/>
                <a:sym typeface="Ruda"/>
              </a:rPr>
              <a:t>= 155 + 2(10,7) = 176,4 MHz</a:t>
            </a:r>
          </a:p>
          <a:p>
            <a:pPr algn="just">
              <a:lnSpc>
                <a:spcPts val="3780"/>
              </a:lnSpc>
            </a:pPr>
            <a:r>
              <a:rPr lang="en-US" sz="2700">
                <a:solidFill>
                  <a:srgbClr val="000000"/>
                </a:solidFill>
                <a:latin typeface="Ruda"/>
                <a:ea typeface="Ruda"/>
                <a:cs typeface="Ruda"/>
                <a:sym typeface="Ruda"/>
              </a:rPr>
              <a:t>·IM</a:t>
            </a:r>
            <a:r>
              <a:rPr lang="en-US" sz="2700">
                <a:solidFill>
                  <a:srgbClr val="000000"/>
                </a:solidFill>
                <a:latin typeface="Ruda"/>
                <a:ea typeface="Ruda"/>
                <a:cs typeface="Ruda"/>
                <a:sym typeface="Ruda"/>
              </a:rPr>
              <a:t>2 </a:t>
            </a:r>
            <a:r>
              <a:rPr lang="en-US" sz="2700">
                <a:solidFill>
                  <a:srgbClr val="000000"/>
                </a:solidFill>
                <a:latin typeface="Ruda"/>
                <a:ea typeface="Ruda"/>
                <a:cs typeface="Ruda"/>
                <a:sym typeface="Ruda"/>
              </a:rPr>
              <a:t>= 155 – 2(10,7) - 133,6 MHz</a:t>
            </a:r>
          </a:p>
          <a:p>
            <a:pPr algn="just">
              <a:lnSpc>
                <a:spcPts val="3780"/>
              </a:lnSpc>
            </a:pPr>
          </a:p>
          <a:p>
            <a:pPr algn="just">
              <a:lnSpc>
                <a:spcPts val="3780"/>
              </a:lnSpc>
            </a:pPr>
          </a:p>
        </p:txBody>
      </p:sp>
      <p:sp>
        <p:nvSpPr>
          <p:cNvPr name="TextBox 16" id="16"/>
          <p:cNvSpPr txBox="true"/>
          <p:nvPr/>
        </p:nvSpPr>
        <p:spPr>
          <a:xfrm rot="0">
            <a:off x="9568245" y="390312"/>
            <a:ext cx="5636320" cy="717550"/>
          </a:xfrm>
          <a:prstGeom prst="rect">
            <a:avLst/>
          </a:prstGeom>
        </p:spPr>
        <p:txBody>
          <a:bodyPr anchor="t" rtlCol="false" tIns="0" lIns="0" bIns="0" rIns="0">
            <a:spAutoFit/>
          </a:bodyPr>
          <a:lstStyle/>
          <a:p>
            <a:pPr algn="l">
              <a:lnSpc>
                <a:spcPts val="2900"/>
              </a:lnSpc>
              <a:spcBef>
                <a:spcPct val="0"/>
              </a:spcBef>
            </a:pPr>
            <a:r>
              <a:rPr lang="en-US" b="true" sz="2000" spc="100">
                <a:solidFill>
                  <a:srgbClr val="000000"/>
                </a:solidFill>
                <a:latin typeface="Ruda Bold"/>
                <a:ea typeface="Ruda Bold"/>
                <a:cs typeface="Ruda Bold"/>
                <a:sym typeface="Ruda Bold"/>
              </a:rPr>
              <a:t>Setup Pengukuran Kemampuan penolakan</a:t>
            </a:r>
          </a:p>
          <a:p>
            <a:pPr algn="l">
              <a:lnSpc>
                <a:spcPts val="2900"/>
              </a:lnSpc>
              <a:spcBef>
                <a:spcPct val="0"/>
              </a:spcBef>
            </a:pPr>
            <a:r>
              <a:rPr lang="en-US" b="true" sz="2000" spc="100">
                <a:solidFill>
                  <a:srgbClr val="000000"/>
                </a:solidFill>
                <a:latin typeface="Ruda Bold"/>
                <a:ea typeface="Ruda Bold"/>
                <a:cs typeface="Ruda Bold"/>
                <a:sym typeface="Ruda Bold"/>
              </a:rPr>
              <a:t>frekuensi bayangan untuk IM1(176.4MHz)</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3270972" y="4358649"/>
            <a:ext cx="11259242" cy="3767368"/>
            <a:chOff x="0" y="0"/>
            <a:chExt cx="2965397" cy="992229"/>
          </a:xfrm>
        </p:grpSpPr>
        <p:sp>
          <p:nvSpPr>
            <p:cNvPr name="Freeform 4" id="4"/>
            <p:cNvSpPr/>
            <p:nvPr/>
          </p:nvSpPr>
          <p:spPr>
            <a:xfrm flipH="false" flipV="false" rot="0">
              <a:off x="0" y="0"/>
              <a:ext cx="2965397" cy="992229"/>
            </a:xfrm>
            <a:custGeom>
              <a:avLst/>
              <a:gdLst/>
              <a:ahLst/>
              <a:cxnLst/>
              <a:rect r="r" b="b" t="t" l="l"/>
              <a:pathLst>
                <a:path h="992229" w="2965397">
                  <a:moveTo>
                    <a:pt x="35068" y="0"/>
                  </a:moveTo>
                  <a:lnTo>
                    <a:pt x="2930329" y="0"/>
                  </a:lnTo>
                  <a:cubicBezTo>
                    <a:pt x="2939630" y="0"/>
                    <a:pt x="2948549" y="3695"/>
                    <a:pt x="2955126" y="10271"/>
                  </a:cubicBezTo>
                  <a:cubicBezTo>
                    <a:pt x="2961703" y="16848"/>
                    <a:pt x="2965397" y="25767"/>
                    <a:pt x="2965397" y="35068"/>
                  </a:cubicBezTo>
                  <a:lnTo>
                    <a:pt x="2965397" y="957161"/>
                  </a:lnTo>
                  <a:cubicBezTo>
                    <a:pt x="2965397" y="966461"/>
                    <a:pt x="2961703" y="975381"/>
                    <a:pt x="2955126" y="981957"/>
                  </a:cubicBezTo>
                  <a:cubicBezTo>
                    <a:pt x="2948549" y="988534"/>
                    <a:pt x="2939630" y="992229"/>
                    <a:pt x="2930329" y="992229"/>
                  </a:cubicBezTo>
                  <a:lnTo>
                    <a:pt x="35068" y="992229"/>
                  </a:lnTo>
                  <a:cubicBezTo>
                    <a:pt x="25767" y="992229"/>
                    <a:pt x="16848" y="988534"/>
                    <a:pt x="10271" y="981957"/>
                  </a:cubicBezTo>
                  <a:cubicBezTo>
                    <a:pt x="3695" y="975381"/>
                    <a:pt x="0" y="966461"/>
                    <a:pt x="0" y="957161"/>
                  </a:cubicBezTo>
                  <a:lnTo>
                    <a:pt x="0" y="35068"/>
                  </a:lnTo>
                  <a:cubicBezTo>
                    <a:pt x="0" y="25767"/>
                    <a:pt x="3695" y="16848"/>
                    <a:pt x="10271" y="10271"/>
                  </a:cubicBezTo>
                  <a:cubicBezTo>
                    <a:pt x="16848" y="3695"/>
                    <a:pt x="25767" y="0"/>
                    <a:pt x="35068" y="0"/>
                  </a:cubicBezTo>
                  <a:close/>
                </a:path>
              </a:pathLst>
            </a:custGeom>
            <a:solidFill>
              <a:srgbClr val="B2D0EC"/>
            </a:solidFill>
          </p:spPr>
        </p:sp>
        <p:sp>
          <p:nvSpPr>
            <p:cNvPr name="TextBox 5" id="5"/>
            <p:cNvSpPr txBox="true"/>
            <p:nvPr/>
          </p:nvSpPr>
          <p:spPr>
            <a:xfrm>
              <a:off x="0" y="-57150"/>
              <a:ext cx="2965397" cy="1049379"/>
            </a:xfrm>
            <a:prstGeom prst="rect">
              <a:avLst/>
            </a:prstGeom>
          </p:spPr>
          <p:txBody>
            <a:bodyPr anchor="ctr" rtlCol="false" tIns="50800" lIns="50800" bIns="50800" rIns="50800"/>
            <a:lstStyle/>
            <a:p>
              <a:pPr algn="ctr">
                <a:lnSpc>
                  <a:spcPts val="2900"/>
                </a:lnSpc>
              </a:pPr>
            </a:p>
          </p:txBody>
        </p:sp>
      </p:grpSp>
      <p:sp>
        <p:nvSpPr>
          <p:cNvPr name="Freeform 6" id="6"/>
          <p:cNvSpPr/>
          <p:nvPr/>
        </p:nvSpPr>
        <p:spPr>
          <a:xfrm flipH="false" flipV="false" rot="0">
            <a:off x="-1536499" y="6528729"/>
            <a:ext cx="5655398" cy="5408617"/>
          </a:xfrm>
          <a:custGeom>
            <a:avLst/>
            <a:gdLst/>
            <a:ahLst/>
            <a:cxnLst/>
            <a:rect r="r" b="b" t="t" l="l"/>
            <a:pathLst>
              <a:path h="5408617" w="5655398">
                <a:moveTo>
                  <a:pt x="0" y="0"/>
                </a:moveTo>
                <a:lnTo>
                  <a:pt x="5655398" y="0"/>
                </a:lnTo>
                <a:lnTo>
                  <a:pt x="5655398" y="5408617"/>
                </a:lnTo>
                <a:lnTo>
                  <a:pt x="0" y="54086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6289496" y="314340"/>
            <a:ext cx="6642316" cy="1473387"/>
          </a:xfrm>
          <a:custGeom>
            <a:avLst/>
            <a:gdLst/>
            <a:ahLst/>
            <a:cxnLst/>
            <a:rect r="r" b="b" t="t" l="l"/>
            <a:pathLst>
              <a:path h="1473387" w="6642316">
                <a:moveTo>
                  <a:pt x="0" y="0"/>
                </a:moveTo>
                <a:lnTo>
                  <a:pt x="6642316" y="0"/>
                </a:lnTo>
                <a:lnTo>
                  <a:pt x="6642316" y="1473387"/>
                </a:lnTo>
                <a:lnTo>
                  <a:pt x="0" y="147338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785293" y="2587735"/>
            <a:ext cx="16230600" cy="1035050"/>
          </a:xfrm>
          <a:prstGeom prst="rect">
            <a:avLst/>
          </a:prstGeom>
        </p:spPr>
        <p:txBody>
          <a:bodyPr anchor="t" rtlCol="false" tIns="0" lIns="0" bIns="0" rIns="0">
            <a:spAutoFit/>
          </a:bodyPr>
          <a:lstStyle/>
          <a:p>
            <a:pPr algn="ctr">
              <a:lnSpc>
                <a:spcPts val="8049"/>
              </a:lnSpc>
            </a:pPr>
            <a:r>
              <a:rPr lang="en-US" sz="6999">
                <a:solidFill>
                  <a:srgbClr val="FFFFFF"/>
                </a:solidFill>
                <a:latin typeface="TS Damas Sans"/>
                <a:ea typeface="TS Damas Sans"/>
                <a:cs typeface="TS Damas Sans"/>
                <a:sym typeface="TS Damas Sans"/>
              </a:rPr>
              <a:t>MENGUKUR SPESIFIKASI TEKNIS PEMANCAR</a:t>
            </a:r>
          </a:p>
        </p:txBody>
      </p:sp>
      <p:sp>
        <p:nvSpPr>
          <p:cNvPr name="Freeform 9" id="9"/>
          <p:cNvSpPr/>
          <p:nvPr/>
        </p:nvSpPr>
        <p:spPr>
          <a:xfrm flipH="false" flipV="false" rot="0">
            <a:off x="623490" y="3447986"/>
            <a:ext cx="1138683" cy="873680"/>
          </a:xfrm>
          <a:custGeom>
            <a:avLst/>
            <a:gdLst/>
            <a:ahLst/>
            <a:cxnLst/>
            <a:rect r="r" b="b" t="t" l="l"/>
            <a:pathLst>
              <a:path h="873680" w="1138683">
                <a:moveTo>
                  <a:pt x="0" y="0"/>
                </a:moveTo>
                <a:lnTo>
                  <a:pt x="1138683" y="0"/>
                </a:lnTo>
                <a:lnTo>
                  <a:pt x="1138683" y="873680"/>
                </a:lnTo>
                <a:lnTo>
                  <a:pt x="0" y="87368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15361319" y="7689177"/>
            <a:ext cx="1138683" cy="873680"/>
          </a:xfrm>
          <a:custGeom>
            <a:avLst/>
            <a:gdLst/>
            <a:ahLst/>
            <a:cxnLst/>
            <a:rect r="r" b="b" t="t" l="l"/>
            <a:pathLst>
              <a:path h="873680" w="1138683">
                <a:moveTo>
                  <a:pt x="0" y="0"/>
                </a:moveTo>
                <a:lnTo>
                  <a:pt x="1138682" y="0"/>
                </a:lnTo>
                <a:lnTo>
                  <a:pt x="1138682" y="873680"/>
                </a:lnTo>
                <a:lnTo>
                  <a:pt x="0" y="87368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1" id="11"/>
          <p:cNvSpPr txBox="true"/>
          <p:nvPr/>
        </p:nvSpPr>
        <p:spPr>
          <a:xfrm rot="0">
            <a:off x="16500001" y="675267"/>
            <a:ext cx="1031784" cy="701675"/>
          </a:xfrm>
          <a:prstGeom prst="rect">
            <a:avLst/>
          </a:prstGeom>
        </p:spPr>
        <p:txBody>
          <a:bodyPr anchor="t" rtlCol="false" tIns="0" lIns="0" bIns="0" rIns="0">
            <a:spAutoFit/>
          </a:bodyPr>
          <a:lstStyle/>
          <a:p>
            <a:pPr algn="ctr">
              <a:lnSpc>
                <a:spcPts val="5799"/>
              </a:lnSpc>
            </a:pPr>
            <a:r>
              <a:rPr lang="en-US" b="true" sz="3999" spc="199">
                <a:solidFill>
                  <a:srgbClr val="0B5298"/>
                </a:solidFill>
                <a:latin typeface="Ruda Bold"/>
                <a:ea typeface="Ruda Bold"/>
                <a:cs typeface="Ruda Bold"/>
                <a:sym typeface="Ruda Bold"/>
              </a:rPr>
              <a:t>13</a:t>
            </a:r>
          </a:p>
        </p:txBody>
      </p:sp>
      <p:sp>
        <p:nvSpPr>
          <p:cNvPr name="TextBox 12" id="12"/>
          <p:cNvSpPr txBox="true"/>
          <p:nvPr/>
        </p:nvSpPr>
        <p:spPr>
          <a:xfrm rot="0">
            <a:off x="3609731" y="4807233"/>
            <a:ext cx="13406162" cy="2794000"/>
          </a:xfrm>
          <a:prstGeom prst="rect">
            <a:avLst/>
          </a:prstGeom>
        </p:spPr>
        <p:txBody>
          <a:bodyPr anchor="t" rtlCol="false" tIns="0" lIns="0" bIns="0" rIns="0">
            <a:spAutoFit/>
          </a:bodyPr>
          <a:lstStyle/>
          <a:p>
            <a:pPr algn="l" marL="863599" indent="-431800" lvl="1">
              <a:lnSpc>
                <a:spcPts val="5599"/>
              </a:lnSpc>
              <a:buFont typeface="Arial"/>
              <a:buChar char="•"/>
            </a:pPr>
            <a:r>
              <a:rPr lang="en-US" sz="3999">
                <a:solidFill>
                  <a:srgbClr val="0B5298"/>
                </a:solidFill>
                <a:latin typeface="Ruda"/>
                <a:ea typeface="Ruda"/>
                <a:cs typeface="Ruda"/>
                <a:sym typeface="Ruda"/>
              </a:rPr>
              <a:t>Daya Pancar</a:t>
            </a:r>
          </a:p>
          <a:p>
            <a:pPr algn="l" marL="863599" indent="-431800" lvl="1">
              <a:lnSpc>
                <a:spcPts val="5599"/>
              </a:lnSpc>
              <a:buFont typeface="Arial"/>
              <a:buChar char="•"/>
            </a:pPr>
            <a:r>
              <a:rPr lang="en-US" sz="3999">
                <a:solidFill>
                  <a:srgbClr val="0B5298"/>
                </a:solidFill>
                <a:latin typeface="Ruda"/>
                <a:ea typeface="Ruda"/>
                <a:cs typeface="Ruda"/>
                <a:sym typeface="Ruda"/>
              </a:rPr>
              <a:t>Frekuensi Pancar </a:t>
            </a:r>
          </a:p>
          <a:p>
            <a:pPr algn="l" marL="863599" indent="-431800" lvl="1">
              <a:lnSpc>
                <a:spcPts val="5599"/>
              </a:lnSpc>
              <a:buFont typeface="Arial"/>
              <a:buChar char="•"/>
            </a:pPr>
            <a:r>
              <a:rPr lang="en-US" sz="3999">
                <a:solidFill>
                  <a:srgbClr val="0B5298"/>
                </a:solidFill>
                <a:latin typeface="Ruda"/>
                <a:ea typeface="Ruda"/>
                <a:cs typeface="Ruda"/>
                <a:sym typeface="Ruda"/>
              </a:rPr>
              <a:t>Ketepatan Frekuensi (ppm)</a:t>
            </a:r>
          </a:p>
          <a:p>
            <a:pPr algn="l" marL="863599" indent="-431800" lvl="1">
              <a:lnSpc>
                <a:spcPts val="5599"/>
              </a:lnSpc>
              <a:buFont typeface="Arial"/>
              <a:buChar char="•"/>
            </a:pPr>
            <a:r>
              <a:rPr lang="en-US" sz="3999">
                <a:solidFill>
                  <a:srgbClr val="0B5298"/>
                </a:solidFill>
                <a:latin typeface="Ruda"/>
                <a:ea typeface="Ruda"/>
                <a:cs typeface="Ruda"/>
                <a:sym typeface="Ruda"/>
              </a:rPr>
              <a:t>Sensitivitas Microphone </a:t>
            </a:r>
          </a:p>
        </p:txBody>
      </p:sp>
      <p:grpSp>
        <p:nvGrpSpPr>
          <p:cNvPr name="Group 13" id="13"/>
          <p:cNvGrpSpPr/>
          <p:nvPr/>
        </p:nvGrpSpPr>
        <p:grpSpPr>
          <a:xfrm rot="0">
            <a:off x="920352" y="463565"/>
            <a:ext cx="6397268" cy="1359730"/>
            <a:chOff x="0" y="0"/>
            <a:chExt cx="8529691" cy="1812973"/>
          </a:xfrm>
        </p:grpSpPr>
        <p:grpSp>
          <p:nvGrpSpPr>
            <p:cNvPr name="Group 14" id="14"/>
            <p:cNvGrpSpPr/>
            <p:nvPr/>
          </p:nvGrpSpPr>
          <p:grpSpPr>
            <a:xfrm rot="0">
              <a:off x="1957668" y="321092"/>
              <a:ext cx="5471577" cy="772857"/>
              <a:chOff x="0" y="0"/>
              <a:chExt cx="1080805" cy="152663"/>
            </a:xfrm>
          </p:grpSpPr>
          <p:sp>
            <p:nvSpPr>
              <p:cNvPr name="Freeform 15" id="15"/>
              <p:cNvSpPr/>
              <p:nvPr/>
            </p:nvSpPr>
            <p:spPr>
              <a:xfrm flipH="false" flipV="false" rot="0">
                <a:off x="0" y="0"/>
                <a:ext cx="1080805" cy="152663"/>
              </a:xfrm>
              <a:custGeom>
                <a:avLst/>
                <a:gdLst/>
                <a:ahLst/>
                <a:cxnLst/>
                <a:rect r="r" b="b" t="t" l="l"/>
                <a:pathLst>
                  <a:path h="152663" w="1080805">
                    <a:moveTo>
                      <a:pt x="76332" y="0"/>
                    </a:moveTo>
                    <a:lnTo>
                      <a:pt x="1004474" y="0"/>
                    </a:lnTo>
                    <a:cubicBezTo>
                      <a:pt x="1046630" y="0"/>
                      <a:pt x="1080805" y="34175"/>
                      <a:pt x="1080805" y="76332"/>
                    </a:cubicBezTo>
                    <a:lnTo>
                      <a:pt x="1080805" y="76332"/>
                    </a:lnTo>
                    <a:cubicBezTo>
                      <a:pt x="1080805" y="96576"/>
                      <a:pt x="1072763" y="115991"/>
                      <a:pt x="1058448" y="130306"/>
                    </a:cubicBezTo>
                    <a:cubicBezTo>
                      <a:pt x="1044133" y="144621"/>
                      <a:pt x="1024718" y="152663"/>
                      <a:pt x="1004474" y="152663"/>
                    </a:cubicBezTo>
                    <a:lnTo>
                      <a:pt x="76332" y="152663"/>
                    </a:lnTo>
                    <a:cubicBezTo>
                      <a:pt x="34175" y="152663"/>
                      <a:pt x="0" y="118488"/>
                      <a:pt x="0" y="76332"/>
                    </a:cubicBezTo>
                    <a:lnTo>
                      <a:pt x="0" y="76332"/>
                    </a:lnTo>
                    <a:cubicBezTo>
                      <a:pt x="0" y="34175"/>
                      <a:pt x="34175" y="0"/>
                      <a:pt x="76332" y="0"/>
                    </a:cubicBezTo>
                    <a:close/>
                  </a:path>
                </a:pathLst>
              </a:custGeom>
              <a:solidFill>
                <a:srgbClr val="B2D0EC"/>
              </a:solidFill>
            </p:spPr>
          </p:sp>
          <p:sp>
            <p:nvSpPr>
              <p:cNvPr name="TextBox 16" id="16"/>
              <p:cNvSpPr txBox="true"/>
              <p:nvPr/>
            </p:nvSpPr>
            <p:spPr>
              <a:xfrm>
                <a:off x="0" y="-57150"/>
                <a:ext cx="1080805" cy="209813"/>
              </a:xfrm>
              <a:prstGeom prst="rect">
                <a:avLst/>
              </a:prstGeom>
            </p:spPr>
            <p:txBody>
              <a:bodyPr anchor="ctr" rtlCol="false" tIns="50800" lIns="50800" bIns="50800" rIns="50800"/>
              <a:lstStyle/>
              <a:p>
                <a:pPr algn="ctr">
                  <a:lnSpc>
                    <a:spcPts val="2900"/>
                  </a:lnSpc>
                </a:pPr>
              </a:p>
            </p:txBody>
          </p:sp>
        </p:grpSp>
        <p:sp>
          <p:nvSpPr>
            <p:cNvPr name="TextBox 17" id="17"/>
            <p:cNvSpPr txBox="true"/>
            <p:nvPr/>
          </p:nvSpPr>
          <p:spPr>
            <a:xfrm rot="0">
              <a:off x="631141" y="451403"/>
              <a:ext cx="7898550" cy="455083"/>
            </a:xfrm>
            <a:prstGeom prst="rect">
              <a:avLst/>
            </a:prstGeom>
          </p:spPr>
          <p:txBody>
            <a:bodyPr anchor="t" rtlCol="false" tIns="0" lIns="0" bIns="0" rIns="0">
              <a:spAutoFit/>
            </a:bodyPr>
            <a:lstStyle/>
            <a:p>
              <a:pPr algn="ctr">
                <a:lnSpc>
                  <a:spcPts val="2900"/>
                </a:lnSpc>
              </a:pPr>
              <a:r>
                <a:rPr lang="en-US" b="true" sz="2000" spc="100">
                  <a:solidFill>
                    <a:srgbClr val="0B5298"/>
                  </a:solidFill>
                  <a:latin typeface="Ruda Bold"/>
                  <a:ea typeface="Ruda Bold"/>
                  <a:cs typeface="Ruda Bold"/>
                  <a:sym typeface="Ruda Bold"/>
                </a:rPr>
                <a:t>Siskom terestrial gel.mikro</a:t>
              </a:r>
            </a:p>
          </p:txBody>
        </p:sp>
        <p:sp>
          <p:nvSpPr>
            <p:cNvPr name="Freeform 18" id="18"/>
            <p:cNvSpPr/>
            <p:nvPr/>
          </p:nvSpPr>
          <p:spPr>
            <a:xfrm flipH="false" flipV="false" rot="0">
              <a:off x="0" y="0"/>
              <a:ext cx="1262283" cy="1812973"/>
            </a:xfrm>
            <a:custGeom>
              <a:avLst/>
              <a:gdLst/>
              <a:ahLst/>
              <a:cxnLst/>
              <a:rect r="r" b="b" t="t" l="l"/>
              <a:pathLst>
                <a:path h="1812973" w="1262283">
                  <a:moveTo>
                    <a:pt x="0" y="0"/>
                  </a:moveTo>
                  <a:lnTo>
                    <a:pt x="1262283" y="0"/>
                  </a:lnTo>
                  <a:lnTo>
                    <a:pt x="1262283" y="1812973"/>
                  </a:lnTo>
                  <a:lnTo>
                    <a:pt x="0" y="1812973"/>
                  </a:lnTo>
                  <a:lnTo>
                    <a:pt x="0" y="0"/>
                  </a:lnTo>
                  <a:close/>
                </a:path>
              </a:pathLst>
            </a:custGeom>
            <a:blipFill>
              <a:blip r:embed="rId9"/>
              <a:stretch>
                <a:fillRect l="0" t="0" r="0" b="0"/>
              </a:stretch>
            </a:blipFill>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6289496" y="314340"/>
            <a:ext cx="6642316" cy="1473387"/>
          </a:xfrm>
          <a:custGeom>
            <a:avLst/>
            <a:gdLst/>
            <a:ahLst/>
            <a:cxnLst/>
            <a:rect r="r" b="b" t="t" l="l"/>
            <a:pathLst>
              <a:path h="1473387" w="6642316">
                <a:moveTo>
                  <a:pt x="0" y="0"/>
                </a:moveTo>
                <a:lnTo>
                  <a:pt x="6642316" y="0"/>
                </a:lnTo>
                <a:lnTo>
                  <a:pt x="6642316" y="1473387"/>
                </a:lnTo>
                <a:lnTo>
                  <a:pt x="0" y="14733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499339" y="427997"/>
            <a:ext cx="6397268" cy="1359730"/>
            <a:chOff x="0" y="0"/>
            <a:chExt cx="8529691" cy="1812973"/>
          </a:xfrm>
        </p:grpSpPr>
        <p:grpSp>
          <p:nvGrpSpPr>
            <p:cNvPr name="Group 5" id="5"/>
            <p:cNvGrpSpPr/>
            <p:nvPr/>
          </p:nvGrpSpPr>
          <p:grpSpPr>
            <a:xfrm rot="0">
              <a:off x="1957668" y="321092"/>
              <a:ext cx="5471577" cy="772857"/>
              <a:chOff x="0" y="0"/>
              <a:chExt cx="1080805" cy="152663"/>
            </a:xfrm>
          </p:grpSpPr>
          <p:sp>
            <p:nvSpPr>
              <p:cNvPr name="Freeform 6" id="6"/>
              <p:cNvSpPr/>
              <p:nvPr/>
            </p:nvSpPr>
            <p:spPr>
              <a:xfrm flipH="false" flipV="false" rot="0">
                <a:off x="0" y="0"/>
                <a:ext cx="1080805" cy="152663"/>
              </a:xfrm>
              <a:custGeom>
                <a:avLst/>
                <a:gdLst/>
                <a:ahLst/>
                <a:cxnLst/>
                <a:rect r="r" b="b" t="t" l="l"/>
                <a:pathLst>
                  <a:path h="152663" w="1080805">
                    <a:moveTo>
                      <a:pt x="76332" y="0"/>
                    </a:moveTo>
                    <a:lnTo>
                      <a:pt x="1004474" y="0"/>
                    </a:lnTo>
                    <a:cubicBezTo>
                      <a:pt x="1046630" y="0"/>
                      <a:pt x="1080805" y="34175"/>
                      <a:pt x="1080805" y="76332"/>
                    </a:cubicBezTo>
                    <a:lnTo>
                      <a:pt x="1080805" y="76332"/>
                    </a:lnTo>
                    <a:cubicBezTo>
                      <a:pt x="1080805" y="96576"/>
                      <a:pt x="1072763" y="115991"/>
                      <a:pt x="1058448" y="130306"/>
                    </a:cubicBezTo>
                    <a:cubicBezTo>
                      <a:pt x="1044133" y="144621"/>
                      <a:pt x="1024718" y="152663"/>
                      <a:pt x="1004474" y="152663"/>
                    </a:cubicBezTo>
                    <a:lnTo>
                      <a:pt x="76332" y="152663"/>
                    </a:lnTo>
                    <a:cubicBezTo>
                      <a:pt x="34175" y="152663"/>
                      <a:pt x="0" y="118488"/>
                      <a:pt x="0" y="76332"/>
                    </a:cubicBezTo>
                    <a:lnTo>
                      <a:pt x="0" y="76332"/>
                    </a:lnTo>
                    <a:cubicBezTo>
                      <a:pt x="0" y="34175"/>
                      <a:pt x="34175" y="0"/>
                      <a:pt x="76332" y="0"/>
                    </a:cubicBezTo>
                    <a:close/>
                  </a:path>
                </a:pathLst>
              </a:custGeom>
              <a:solidFill>
                <a:srgbClr val="B2D0EC"/>
              </a:solidFill>
            </p:spPr>
          </p:sp>
          <p:sp>
            <p:nvSpPr>
              <p:cNvPr name="TextBox 7" id="7"/>
              <p:cNvSpPr txBox="true"/>
              <p:nvPr/>
            </p:nvSpPr>
            <p:spPr>
              <a:xfrm>
                <a:off x="0" y="-57150"/>
                <a:ext cx="1080805" cy="209813"/>
              </a:xfrm>
              <a:prstGeom prst="rect">
                <a:avLst/>
              </a:prstGeom>
            </p:spPr>
            <p:txBody>
              <a:bodyPr anchor="ctr" rtlCol="false" tIns="50800" lIns="50800" bIns="50800" rIns="50800"/>
              <a:lstStyle/>
              <a:p>
                <a:pPr algn="ctr">
                  <a:lnSpc>
                    <a:spcPts val="2900"/>
                  </a:lnSpc>
                </a:pPr>
              </a:p>
            </p:txBody>
          </p:sp>
        </p:grpSp>
        <p:sp>
          <p:nvSpPr>
            <p:cNvPr name="TextBox 8" id="8"/>
            <p:cNvSpPr txBox="true"/>
            <p:nvPr/>
          </p:nvSpPr>
          <p:spPr>
            <a:xfrm rot="0">
              <a:off x="631141" y="451403"/>
              <a:ext cx="7898550" cy="455083"/>
            </a:xfrm>
            <a:prstGeom prst="rect">
              <a:avLst/>
            </a:prstGeom>
          </p:spPr>
          <p:txBody>
            <a:bodyPr anchor="t" rtlCol="false" tIns="0" lIns="0" bIns="0" rIns="0">
              <a:spAutoFit/>
            </a:bodyPr>
            <a:lstStyle/>
            <a:p>
              <a:pPr algn="ctr">
                <a:lnSpc>
                  <a:spcPts val="2900"/>
                </a:lnSpc>
              </a:pPr>
              <a:r>
                <a:rPr lang="en-US" b="true" sz="2000" spc="100">
                  <a:solidFill>
                    <a:srgbClr val="0B5298"/>
                  </a:solidFill>
                  <a:latin typeface="Ruda Bold"/>
                  <a:ea typeface="Ruda Bold"/>
                  <a:cs typeface="Ruda Bold"/>
                  <a:sym typeface="Ruda Bold"/>
                </a:rPr>
                <a:t>Siskom terestrial gel.mikro</a:t>
              </a:r>
            </a:p>
          </p:txBody>
        </p:sp>
        <p:sp>
          <p:nvSpPr>
            <p:cNvPr name="Freeform 9" id="9"/>
            <p:cNvSpPr/>
            <p:nvPr/>
          </p:nvSpPr>
          <p:spPr>
            <a:xfrm flipH="false" flipV="false" rot="0">
              <a:off x="0" y="0"/>
              <a:ext cx="1262283" cy="1812973"/>
            </a:xfrm>
            <a:custGeom>
              <a:avLst/>
              <a:gdLst/>
              <a:ahLst/>
              <a:cxnLst/>
              <a:rect r="r" b="b" t="t" l="l"/>
              <a:pathLst>
                <a:path h="1812973" w="1262283">
                  <a:moveTo>
                    <a:pt x="0" y="0"/>
                  </a:moveTo>
                  <a:lnTo>
                    <a:pt x="1262283" y="0"/>
                  </a:lnTo>
                  <a:lnTo>
                    <a:pt x="1262283" y="1812973"/>
                  </a:lnTo>
                  <a:lnTo>
                    <a:pt x="0" y="1812973"/>
                  </a:lnTo>
                  <a:lnTo>
                    <a:pt x="0" y="0"/>
                  </a:lnTo>
                  <a:close/>
                </a:path>
              </a:pathLst>
            </a:custGeom>
            <a:blipFill>
              <a:blip r:embed="rId5"/>
              <a:stretch>
                <a:fillRect l="0" t="0" r="0" b="0"/>
              </a:stretch>
            </a:blipFill>
          </p:spPr>
        </p:sp>
      </p:grpSp>
      <p:sp>
        <p:nvSpPr>
          <p:cNvPr name="TextBox 10" id="10"/>
          <p:cNvSpPr txBox="true"/>
          <p:nvPr/>
        </p:nvSpPr>
        <p:spPr>
          <a:xfrm rot="0">
            <a:off x="7260439" y="749087"/>
            <a:ext cx="8665224" cy="736600"/>
          </a:xfrm>
          <a:prstGeom prst="rect">
            <a:avLst/>
          </a:prstGeom>
        </p:spPr>
        <p:txBody>
          <a:bodyPr anchor="t" rtlCol="false" tIns="0" lIns="0" bIns="0" rIns="0">
            <a:spAutoFit/>
          </a:bodyPr>
          <a:lstStyle/>
          <a:p>
            <a:pPr algn="l">
              <a:lnSpc>
                <a:spcPts val="5750"/>
              </a:lnSpc>
            </a:pPr>
            <a:r>
              <a:rPr lang="en-US" sz="5000">
                <a:solidFill>
                  <a:srgbClr val="000000"/>
                </a:solidFill>
                <a:latin typeface="TS Damas Sans"/>
                <a:ea typeface="TS Damas Sans"/>
                <a:cs typeface="TS Damas Sans"/>
                <a:sym typeface="TS Damas Sans"/>
              </a:rPr>
              <a:t>DAYA PANCAR (WATT)</a:t>
            </a:r>
          </a:p>
        </p:txBody>
      </p:sp>
      <p:sp>
        <p:nvSpPr>
          <p:cNvPr name="TextBox 11" id="11"/>
          <p:cNvSpPr txBox="true"/>
          <p:nvPr/>
        </p:nvSpPr>
        <p:spPr>
          <a:xfrm rot="0">
            <a:off x="16500001" y="675267"/>
            <a:ext cx="1031784" cy="701675"/>
          </a:xfrm>
          <a:prstGeom prst="rect">
            <a:avLst/>
          </a:prstGeom>
        </p:spPr>
        <p:txBody>
          <a:bodyPr anchor="t" rtlCol="false" tIns="0" lIns="0" bIns="0" rIns="0">
            <a:spAutoFit/>
          </a:bodyPr>
          <a:lstStyle/>
          <a:p>
            <a:pPr algn="ctr">
              <a:lnSpc>
                <a:spcPts val="5799"/>
              </a:lnSpc>
            </a:pPr>
            <a:r>
              <a:rPr lang="en-US" b="true" sz="3999" spc="199">
                <a:solidFill>
                  <a:srgbClr val="0B5298"/>
                </a:solidFill>
                <a:latin typeface="Ruda Bold"/>
                <a:ea typeface="Ruda Bold"/>
                <a:cs typeface="Ruda Bold"/>
                <a:sym typeface="Ruda Bold"/>
              </a:rPr>
              <a:t>14</a:t>
            </a:r>
          </a:p>
        </p:txBody>
      </p:sp>
      <p:sp>
        <p:nvSpPr>
          <p:cNvPr name="TextBox 12" id="12"/>
          <p:cNvSpPr txBox="true"/>
          <p:nvPr/>
        </p:nvSpPr>
        <p:spPr>
          <a:xfrm rot="0">
            <a:off x="1116814" y="7946663"/>
            <a:ext cx="15106949" cy="2165350"/>
          </a:xfrm>
          <a:prstGeom prst="rect">
            <a:avLst/>
          </a:prstGeom>
        </p:spPr>
        <p:txBody>
          <a:bodyPr anchor="t" rtlCol="false" tIns="0" lIns="0" bIns="0" rIns="0">
            <a:spAutoFit/>
          </a:bodyPr>
          <a:lstStyle/>
          <a:p>
            <a:pPr algn="just">
              <a:lnSpc>
                <a:spcPts val="3499"/>
              </a:lnSpc>
            </a:pPr>
            <a:r>
              <a:rPr lang="en-US" sz="2499">
                <a:solidFill>
                  <a:srgbClr val="000000"/>
                </a:solidFill>
                <a:latin typeface="Ruda"/>
                <a:ea typeface="Ruda"/>
                <a:cs typeface="Ruda"/>
                <a:sym typeface="Ruda"/>
              </a:rPr>
              <a:t>Pengukuran daya pancar dilakukan dengan menghubungkan mikrofon ke Transmission Test Set dan Radio VHF, yang kemudian terhubung ke power meter. Pada port output power meter, dipasang dummy load antenna. Ketika sistem VHF dinyalakan dan mikrofon ditekan, daya pancar yang dihasilkan dapat langsung terukur pada power meter. Nilai daya pancar ini menunjukkan kekuatan sinyal yang dipancarkan oleh sistem. </a:t>
            </a:r>
          </a:p>
        </p:txBody>
      </p:sp>
      <p:sp>
        <p:nvSpPr>
          <p:cNvPr name="Freeform 13" id="13"/>
          <p:cNvSpPr/>
          <p:nvPr/>
        </p:nvSpPr>
        <p:spPr>
          <a:xfrm flipH="false" flipV="false" rot="0">
            <a:off x="2132241" y="1570966"/>
            <a:ext cx="13631653" cy="6306953"/>
          </a:xfrm>
          <a:custGeom>
            <a:avLst/>
            <a:gdLst/>
            <a:ahLst/>
            <a:cxnLst/>
            <a:rect r="r" b="b" t="t" l="l"/>
            <a:pathLst>
              <a:path h="6306953" w="13631653">
                <a:moveTo>
                  <a:pt x="0" y="0"/>
                </a:moveTo>
                <a:lnTo>
                  <a:pt x="13631654" y="0"/>
                </a:lnTo>
                <a:lnTo>
                  <a:pt x="13631654" y="6306953"/>
                </a:lnTo>
                <a:lnTo>
                  <a:pt x="0" y="6306953"/>
                </a:lnTo>
                <a:lnTo>
                  <a:pt x="0" y="0"/>
                </a:lnTo>
                <a:close/>
              </a:path>
            </a:pathLst>
          </a:custGeom>
          <a:blipFill>
            <a:blip r:embed="rId6"/>
            <a:stretch>
              <a:fillRect l="0" t="0" r="0" b="-1397"/>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6289496" y="314340"/>
            <a:ext cx="6642316" cy="1473387"/>
          </a:xfrm>
          <a:custGeom>
            <a:avLst/>
            <a:gdLst/>
            <a:ahLst/>
            <a:cxnLst/>
            <a:rect r="r" b="b" t="t" l="l"/>
            <a:pathLst>
              <a:path h="1473387" w="6642316">
                <a:moveTo>
                  <a:pt x="0" y="0"/>
                </a:moveTo>
                <a:lnTo>
                  <a:pt x="6642316" y="0"/>
                </a:lnTo>
                <a:lnTo>
                  <a:pt x="6642316" y="1473387"/>
                </a:lnTo>
                <a:lnTo>
                  <a:pt x="0" y="14733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715384" y="8884056"/>
            <a:ext cx="7248657" cy="6022975"/>
          </a:xfrm>
          <a:custGeom>
            <a:avLst/>
            <a:gdLst/>
            <a:ahLst/>
            <a:cxnLst/>
            <a:rect r="r" b="b" t="t" l="l"/>
            <a:pathLst>
              <a:path h="6022975" w="7248657">
                <a:moveTo>
                  <a:pt x="0" y="0"/>
                </a:moveTo>
                <a:lnTo>
                  <a:pt x="7248657" y="0"/>
                </a:lnTo>
                <a:lnTo>
                  <a:pt x="7248657" y="6022975"/>
                </a:lnTo>
                <a:lnTo>
                  <a:pt x="0" y="60229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0">
            <a:off x="499339" y="427997"/>
            <a:ext cx="6397268" cy="1359730"/>
            <a:chOff x="0" y="0"/>
            <a:chExt cx="8529691" cy="1812973"/>
          </a:xfrm>
        </p:grpSpPr>
        <p:grpSp>
          <p:nvGrpSpPr>
            <p:cNvPr name="Group 6" id="6"/>
            <p:cNvGrpSpPr/>
            <p:nvPr/>
          </p:nvGrpSpPr>
          <p:grpSpPr>
            <a:xfrm rot="0">
              <a:off x="1957668" y="321092"/>
              <a:ext cx="5471577" cy="772857"/>
              <a:chOff x="0" y="0"/>
              <a:chExt cx="1080805" cy="152663"/>
            </a:xfrm>
          </p:grpSpPr>
          <p:sp>
            <p:nvSpPr>
              <p:cNvPr name="Freeform 7" id="7"/>
              <p:cNvSpPr/>
              <p:nvPr/>
            </p:nvSpPr>
            <p:spPr>
              <a:xfrm flipH="false" flipV="false" rot="0">
                <a:off x="0" y="0"/>
                <a:ext cx="1080805" cy="152663"/>
              </a:xfrm>
              <a:custGeom>
                <a:avLst/>
                <a:gdLst/>
                <a:ahLst/>
                <a:cxnLst/>
                <a:rect r="r" b="b" t="t" l="l"/>
                <a:pathLst>
                  <a:path h="152663" w="1080805">
                    <a:moveTo>
                      <a:pt x="76332" y="0"/>
                    </a:moveTo>
                    <a:lnTo>
                      <a:pt x="1004474" y="0"/>
                    </a:lnTo>
                    <a:cubicBezTo>
                      <a:pt x="1046630" y="0"/>
                      <a:pt x="1080805" y="34175"/>
                      <a:pt x="1080805" y="76332"/>
                    </a:cubicBezTo>
                    <a:lnTo>
                      <a:pt x="1080805" y="76332"/>
                    </a:lnTo>
                    <a:cubicBezTo>
                      <a:pt x="1080805" y="96576"/>
                      <a:pt x="1072763" y="115991"/>
                      <a:pt x="1058448" y="130306"/>
                    </a:cubicBezTo>
                    <a:cubicBezTo>
                      <a:pt x="1044133" y="144621"/>
                      <a:pt x="1024718" y="152663"/>
                      <a:pt x="1004474" y="152663"/>
                    </a:cubicBezTo>
                    <a:lnTo>
                      <a:pt x="76332" y="152663"/>
                    </a:lnTo>
                    <a:cubicBezTo>
                      <a:pt x="34175" y="152663"/>
                      <a:pt x="0" y="118488"/>
                      <a:pt x="0" y="76332"/>
                    </a:cubicBezTo>
                    <a:lnTo>
                      <a:pt x="0" y="76332"/>
                    </a:lnTo>
                    <a:cubicBezTo>
                      <a:pt x="0" y="34175"/>
                      <a:pt x="34175" y="0"/>
                      <a:pt x="76332" y="0"/>
                    </a:cubicBezTo>
                    <a:close/>
                  </a:path>
                </a:pathLst>
              </a:custGeom>
              <a:solidFill>
                <a:srgbClr val="B2D0EC"/>
              </a:solidFill>
            </p:spPr>
          </p:sp>
          <p:sp>
            <p:nvSpPr>
              <p:cNvPr name="TextBox 8" id="8"/>
              <p:cNvSpPr txBox="true"/>
              <p:nvPr/>
            </p:nvSpPr>
            <p:spPr>
              <a:xfrm>
                <a:off x="0" y="-57150"/>
                <a:ext cx="1080805" cy="209813"/>
              </a:xfrm>
              <a:prstGeom prst="rect">
                <a:avLst/>
              </a:prstGeom>
            </p:spPr>
            <p:txBody>
              <a:bodyPr anchor="ctr" rtlCol="false" tIns="50800" lIns="50800" bIns="50800" rIns="50800"/>
              <a:lstStyle/>
              <a:p>
                <a:pPr algn="ctr">
                  <a:lnSpc>
                    <a:spcPts val="2900"/>
                  </a:lnSpc>
                </a:pPr>
              </a:p>
            </p:txBody>
          </p:sp>
        </p:grpSp>
        <p:sp>
          <p:nvSpPr>
            <p:cNvPr name="TextBox 9" id="9"/>
            <p:cNvSpPr txBox="true"/>
            <p:nvPr/>
          </p:nvSpPr>
          <p:spPr>
            <a:xfrm rot="0">
              <a:off x="631141" y="451403"/>
              <a:ext cx="7898550" cy="455083"/>
            </a:xfrm>
            <a:prstGeom prst="rect">
              <a:avLst/>
            </a:prstGeom>
          </p:spPr>
          <p:txBody>
            <a:bodyPr anchor="t" rtlCol="false" tIns="0" lIns="0" bIns="0" rIns="0">
              <a:spAutoFit/>
            </a:bodyPr>
            <a:lstStyle/>
            <a:p>
              <a:pPr algn="ctr">
                <a:lnSpc>
                  <a:spcPts val="2900"/>
                </a:lnSpc>
              </a:pPr>
              <a:r>
                <a:rPr lang="en-US" b="true" sz="2000" spc="100">
                  <a:solidFill>
                    <a:srgbClr val="0B5298"/>
                  </a:solidFill>
                  <a:latin typeface="Ruda Bold"/>
                  <a:ea typeface="Ruda Bold"/>
                  <a:cs typeface="Ruda Bold"/>
                  <a:sym typeface="Ruda Bold"/>
                </a:rPr>
                <a:t>Siskom terestrial gel.mikro</a:t>
              </a:r>
            </a:p>
          </p:txBody>
        </p:sp>
        <p:sp>
          <p:nvSpPr>
            <p:cNvPr name="Freeform 10" id="10"/>
            <p:cNvSpPr/>
            <p:nvPr/>
          </p:nvSpPr>
          <p:spPr>
            <a:xfrm flipH="false" flipV="false" rot="0">
              <a:off x="0" y="0"/>
              <a:ext cx="1262283" cy="1812973"/>
            </a:xfrm>
            <a:custGeom>
              <a:avLst/>
              <a:gdLst/>
              <a:ahLst/>
              <a:cxnLst/>
              <a:rect r="r" b="b" t="t" l="l"/>
              <a:pathLst>
                <a:path h="1812973" w="1262283">
                  <a:moveTo>
                    <a:pt x="0" y="0"/>
                  </a:moveTo>
                  <a:lnTo>
                    <a:pt x="1262283" y="0"/>
                  </a:lnTo>
                  <a:lnTo>
                    <a:pt x="1262283" y="1812973"/>
                  </a:lnTo>
                  <a:lnTo>
                    <a:pt x="0" y="1812973"/>
                  </a:lnTo>
                  <a:lnTo>
                    <a:pt x="0" y="0"/>
                  </a:lnTo>
                  <a:close/>
                </a:path>
              </a:pathLst>
            </a:custGeom>
            <a:blipFill>
              <a:blip r:embed="rId7"/>
              <a:stretch>
                <a:fillRect l="0" t="0" r="0" b="0"/>
              </a:stretch>
            </a:blipFill>
          </p:spPr>
        </p:sp>
      </p:grpSp>
      <p:sp>
        <p:nvSpPr>
          <p:cNvPr name="Freeform 11" id="11"/>
          <p:cNvSpPr/>
          <p:nvPr/>
        </p:nvSpPr>
        <p:spPr>
          <a:xfrm flipH="false" flipV="false" rot="0">
            <a:off x="7982725" y="2267770"/>
            <a:ext cx="9549059" cy="7002644"/>
          </a:xfrm>
          <a:custGeom>
            <a:avLst/>
            <a:gdLst/>
            <a:ahLst/>
            <a:cxnLst/>
            <a:rect r="r" b="b" t="t" l="l"/>
            <a:pathLst>
              <a:path h="7002644" w="9549059">
                <a:moveTo>
                  <a:pt x="0" y="0"/>
                </a:moveTo>
                <a:lnTo>
                  <a:pt x="9549060" y="0"/>
                </a:lnTo>
                <a:lnTo>
                  <a:pt x="9549060" y="7002643"/>
                </a:lnTo>
                <a:lnTo>
                  <a:pt x="0" y="7002643"/>
                </a:lnTo>
                <a:lnTo>
                  <a:pt x="0" y="0"/>
                </a:lnTo>
                <a:close/>
              </a:path>
            </a:pathLst>
          </a:custGeom>
          <a:blipFill>
            <a:blip r:embed="rId8"/>
            <a:stretch>
              <a:fillRect l="0" t="0" r="0" b="0"/>
            </a:stretch>
          </a:blipFill>
        </p:spPr>
      </p:sp>
      <p:sp>
        <p:nvSpPr>
          <p:cNvPr name="TextBox 12" id="12"/>
          <p:cNvSpPr txBox="true"/>
          <p:nvPr/>
        </p:nvSpPr>
        <p:spPr>
          <a:xfrm rot="0">
            <a:off x="7624272" y="692258"/>
            <a:ext cx="8665224" cy="736600"/>
          </a:xfrm>
          <a:prstGeom prst="rect">
            <a:avLst/>
          </a:prstGeom>
        </p:spPr>
        <p:txBody>
          <a:bodyPr anchor="t" rtlCol="false" tIns="0" lIns="0" bIns="0" rIns="0">
            <a:spAutoFit/>
          </a:bodyPr>
          <a:lstStyle/>
          <a:p>
            <a:pPr algn="l">
              <a:lnSpc>
                <a:spcPts val="5750"/>
              </a:lnSpc>
            </a:pPr>
            <a:r>
              <a:rPr lang="en-US" sz="5000">
                <a:solidFill>
                  <a:srgbClr val="000000"/>
                </a:solidFill>
                <a:latin typeface="TS Damas Sans"/>
                <a:ea typeface="TS Damas Sans"/>
                <a:cs typeface="TS Damas Sans"/>
                <a:sym typeface="TS Damas Sans"/>
              </a:rPr>
              <a:t>FREKUENSI PANCAR</a:t>
            </a:r>
          </a:p>
        </p:txBody>
      </p:sp>
      <p:sp>
        <p:nvSpPr>
          <p:cNvPr name="TextBox 13" id="13"/>
          <p:cNvSpPr txBox="true"/>
          <p:nvPr/>
        </p:nvSpPr>
        <p:spPr>
          <a:xfrm rot="0">
            <a:off x="16500001" y="675267"/>
            <a:ext cx="1031784" cy="701675"/>
          </a:xfrm>
          <a:prstGeom prst="rect">
            <a:avLst/>
          </a:prstGeom>
        </p:spPr>
        <p:txBody>
          <a:bodyPr anchor="t" rtlCol="false" tIns="0" lIns="0" bIns="0" rIns="0">
            <a:spAutoFit/>
          </a:bodyPr>
          <a:lstStyle/>
          <a:p>
            <a:pPr algn="ctr">
              <a:lnSpc>
                <a:spcPts val="5799"/>
              </a:lnSpc>
            </a:pPr>
            <a:r>
              <a:rPr lang="en-US" b="true" sz="3999" spc="199">
                <a:solidFill>
                  <a:srgbClr val="0B5298"/>
                </a:solidFill>
                <a:latin typeface="Ruda Bold"/>
                <a:ea typeface="Ruda Bold"/>
                <a:cs typeface="Ruda Bold"/>
                <a:sym typeface="Ruda Bold"/>
              </a:rPr>
              <a:t>15</a:t>
            </a:r>
          </a:p>
        </p:txBody>
      </p:sp>
      <p:sp>
        <p:nvSpPr>
          <p:cNvPr name="TextBox 14" id="14"/>
          <p:cNvSpPr txBox="true"/>
          <p:nvPr/>
        </p:nvSpPr>
        <p:spPr>
          <a:xfrm rot="0">
            <a:off x="499339" y="3663454"/>
            <a:ext cx="7124932" cy="4356100"/>
          </a:xfrm>
          <a:prstGeom prst="rect">
            <a:avLst/>
          </a:prstGeom>
        </p:spPr>
        <p:txBody>
          <a:bodyPr anchor="t" rtlCol="false" tIns="0" lIns="0" bIns="0" rIns="0">
            <a:spAutoFit/>
          </a:bodyPr>
          <a:lstStyle/>
          <a:p>
            <a:pPr algn="just">
              <a:lnSpc>
                <a:spcPts val="3499"/>
              </a:lnSpc>
            </a:pPr>
            <a:r>
              <a:rPr lang="en-US" sz="2499">
                <a:solidFill>
                  <a:srgbClr val="000000"/>
                </a:solidFill>
                <a:latin typeface="Ruda"/>
                <a:ea typeface="Ruda"/>
                <a:cs typeface="Ruda"/>
                <a:sym typeface="Ruda"/>
              </a:rPr>
              <a:t>Untuk pengukuran frekuensi pancar, digunakan attenuator untuk mengurangi level daya pancar yang terukur, yang mungkin terlalu besar. Selanjutnya, pengukuran dilakukan dengan menghubungkan sistem ke modulation analyzer dan mengatur parameter pada frekuensi yang relevan. Setelah itu, mikrofon ditekan dan frekuensi yang terukur diamati untuk memastikan frekuensi pancar sesuai dengan spesifikasi. </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6289496" y="314340"/>
            <a:ext cx="6642316" cy="1473387"/>
          </a:xfrm>
          <a:custGeom>
            <a:avLst/>
            <a:gdLst/>
            <a:ahLst/>
            <a:cxnLst/>
            <a:rect r="r" b="b" t="t" l="l"/>
            <a:pathLst>
              <a:path h="1473387" w="6642316">
                <a:moveTo>
                  <a:pt x="0" y="0"/>
                </a:moveTo>
                <a:lnTo>
                  <a:pt x="6642316" y="0"/>
                </a:lnTo>
                <a:lnTo>
                  <a:pt x="6642316" y="1473387"/>
                </a:lnTo>
                <a:lnTo>
                  <a:pt x="0" y="14733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715384" y="8884056"/>
            <a:ext cx="7248657" cy="6022975"/>
          </a:xfrm>
          <a:custGeom>
            <a:avLst/>
            <a:gdLst/>
            <a:ahLst/>
            <a:cxnLst/>
            <a:rect r="r" b="b" t="t" l="l"/>
            <a:pathLst>
              <a:path h="6022975" w="7248657">
                <a:moveTo>
                  <a:pt x="0" y="0"/>
                </a:moveTo>
                <a:lnTo>
                  <a:pt x="7248657" y="0"/>
                </a:lnTo>
                <a:lnTo>
                  <a:pt x="7248657" y="6022975"/>
                </a:lnTo>
                <a:lnTo>
                  <a:pt x="0" y="60229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0">
            <a:off x="499339" y="427997"/>
            <a:ext cx="6397268" cy="1359730"/>
            <a:chOff x="0" y="0"/>
            <a:chExt cx="8529691" cy="1812973"/>
          </a:xfrm>
        </p:grpSpPr>
        <p:grpSp>
          <p:nvGrpSpPr>
            <p:cNvPr name="Group 6" id="6"/>
            <p:cNvGrpSpPr/>
            <p:nvPr/>
          </p:nvGrpSpPr>
          <p:grpSpPr>
            <a:xfrm rot="0">
              <a:off x="1957668" y="321092"/>
              <a:ext cx="5471577" cy="772857"/>
              <a:chOff x="0" y="0"/>
              <a:chExt cx="1080805" cy="152663"/>
            </a:xfrm>
          </p:grpSpPr>
          <p:sp>
            <p:nvSpPr>
              <p:cNvPr name="Freeform 7" id="7"/>
              <p:cNvSpPr/>
              <p:nvPr/>
            </p:nvSpPr>
            <p:spPr>
              <a:xfrm flipH="false" flipV="false" rot="0">
                <a:off x="0" y="0"/>
                <a:ext cx="1080805" cy="152663"/>
              </a:xfrm>
              <a:custGeom>
                <a:avLst/>
                <a:gdLst/>
                <a:ahLst/>
                <a:cxnLst/>
                <a:rect r="r" b="b" t="t" l="l"/>
                <a:pathLst>
                  <a:path h="152663" w="1080805">
                    <a:moveTo>
                      <a:pt x="76332" y="0"/>
                    </a:moveTo>
                    <a:lnTo>
                      <a:pt x="1004474" y="0"/>
                    </a:lnTo>
                    <a:cubicBezTo>
                      <a:pt x="1046630" y="0"/>
                      <a:pt x="1080805" y="34175"/>
                      <a:pt x="1080805" y="76332"/>
                    </a:cubicBezTo>
                    <a:lnTo>
                      <a:pt x="1080805" y="76332"/>
                    </a:lnTo>
                    <a:cubicBezTo>
                      <a:pt x="1080805" y="96576"/>
                      <a:pt x="1072763" y="115991"/>
                      <a:pt x="1058448" y="130306"/>
                    </a:cubicBezTo>
                    <a:cubicBezTo>
                      <a:pt x="1044133" y="144621"/>
                      <a:pt x="1024718" y="152663"/>
                      <a:pt x="1004474" y="152663"/>
                    </a:cubicBezTo>
                    <a:lnTo>
                      <a:pt x="76332" y="152663"/>
                    </a:lnTo>
                    <a:cubicBezTo>
                      <a:pt x="34175" y="152663"/>
                      <a:pt x="0" y="118488"/>
                      <a:pt x="0" y="76332"/>
                    </a:cubicBezTo>
                    <a:lnTo>
                      <a:pt x="0" y="76332"/>
                    </a:lnTo>
                    <a:cubicBezTo>
                      <a:pt x="0" y="34175"/>
                      <a:pt x="34175" y="0"/>
                      <a:pt x="76332" y="0"/>
                    </a:cubicBezTo>
                    <a:close/>
                  </a:path>
                </a:pathLst>
              </a:custGeom>
              <a:solidFill>
                <a:srgbClr val="B2D0EC"/>
              </a:solidFill>
            </p:spPr>
          </p:sp>
          <p:sp>
            <p:nvSpPr>
              <p:cNvPr name="TextBox 8" id="8"/>
              <p:cNvSpPr txBox="true"/>
              <p:nvPr/>
            </p:nvSpPr>
            <p:spPr>
              <a:xfrm>
                <a:off x="0" y="-57150"/>
                <a:ext cx="1080805" cy="209813"/>
              </a:xfrm>
              <a:prstGeom prst="rect">
                <a:avLst/>
              </a:prstGeom>
            </p:spPr>
            <p:txBody>
              <a:bodyPr anchor="ctr" rtlCol="false" tIns="50800" lIns="50800" bIns="50800" rIns="50800"/>
              <a:lstStyle/>
              <a:p>
                <a:pPr algn="ctr">
                  <a:lnSpc>
                    <a:spcPts val="2900"/>
                  </a:lnSpc>
                </a:pPr>
              </a:p>
            </p:txBody>
          </p:sp>
        </p:grpSp>
        <p:sp>
          <p:nvSpPr>
            <p:cNvPr name="TextBox 9" id="9"/>
            <p:cNvSpPr txBox="true"/>
            <p:nvPr/>
          </p:nvSpPr>
          <p:spPr>
            <a:xfrm rot="0">
              <a:off x="631141" y="451403"/>
              <a:ext cx="7898550" cy="455083"/>
            </a:xfrm>
            <a:prstGeom prst="rect">
              <a:avLst/>
            </a:prstGeom>
          </p:spPr>
          <p:txBody>
            <a:bodyPr anchor="t" rtlCol="false" tIns="0" lIns="0" bIns="0" rIns="0">
              <a:spAutoFit/>
            </a:bodyPr>
            <a:lstStyle/>
            <a:p>
              <a:pPr algn="ctr">
                <a:lnSpc>
                  <a:spcPts val="2900"/>
                </a:lnSpc>
              </a:pPr>
              <a:r>
                <a:rPr lang="en-US" b="true" sz="2000" spc="100">
                  <a:solidFill>
                    <a:srgbClr val="0B5298"/>
                  </a:solidFill>
                  <a:latin typeface="Ruda Bold"/>
                  <a:ea typeface="Ruda Bold"/>
                  <a:cs typeface="Ruda Bold"/>
                  <a:sym typeface="Ruda Bold"/>
                </a:rPr>
                <a:t>Siskom terestrial gel.mikro</a:t>
              </a:r>
            </a:p>
          </p:txBody>
        </p:sp>
        <p:sp>
          <p:nvSpPr>
            <p:cNvPr name="Freeform 10" id="10"/>
            <p:cNvSpPr/>
            <p:nvPr/>
          </p:nvSpPr>
          <p:spPr>
            <a:xfrm flipH="false" flipV="false" rot="0">
              <a:off x="0" y="0"/>
              <a:ext cx="1262283" cy="1812973"/>
            </a:xfrm>
            <a:custGeom>
              <a:avLst/>
              <a:gdLst/>
              <a:ahLst/>
              <a:cxnLst/>
              <a:rect r="r" b="b" t="t" l="l"/>
              <a:pathLst>
                <a:path h="1812973" w="1262283">
                  <a:moveTo>
                    <a:pt x="0" y="0"/>
                  </a:moveTo>
                  <a:lnTo>
                    <a:pt x="1262283" y="0"/>
                  </a:lnTo>
                  <a:lnTo>
                    <a:pt x="1262283" y="1812973"/>
                  </a:lnTo>
                  <a:lnTo>
                    <a:pt x="0" y="1812973"/>
                  </a:lnTo>
                  <a:lnTo>
                    <a:pt x="0" y="0"/>
                  </a:lnTo>
                  <a:close/>
                </a:path>
              </a:pathLst>
            </a:custGeom>
            <a:blipFill>
              <a:blip r:embed="rId7"/>
              <a:stretch>
                <a:fillRect l="0" t="0" r="0" b="0"/>
              </a:stretch>
            </a:blipFill>
          </p:spPr>
        </p:sp>
      </p:grpSp>
      <p:sp>
        <p:nvSpPr>
          <p:cNvPr name="Freeform 11" id="11"/>
          <p:cNvSpPr/>
          <p:nvPr/>
        </p:nvSpPr>
        <p:spPr>
          <a:xfrm flipH="false" flipV="false" rot="0">
            <a:off x="8268929" y="2289753"/>
            <a:ext cx="8990371" cy="6594304"/>
          </a:xfrm>
          <a:custGeom>
            <a:avLst/>
            <a:gdLst/>
            <a:ahLst/>
            <a:cxnLst/>
            <a:rect r="r" b="b" t="t" l="l"/>
            <a:pathLst>
              <a:path h="6594304" w="8990371">
                <a:moveTo>
                  <a:pt x="0" y="0"/>
                </a:moveTo>
                <a:lnTo>
                  <a:pt x="8990371" y="0"/>
                </a:lnTo>
                <a:lnTo>
                  <a:pt x="8990371" y="6594303"/>
                </a:lnTo>
                <a:lnTo>
                  <a:pt x="0" y="6594303"/>
                </a:lnTo>
                <a:lnTo>
                  <a:pt x="0" y="0"/>
                </a:lnTo>
                <a:close/>
              </a:path>
            </a:pathLst>
          </a:custGeom>
          <a:blipFill>
            <a:blip r:embed="rId8"/>
            <a:stretch>
              <a:fillRect l="0" t="0" r="0" b="0"/>
            </a:stretch>
          </a:blipFill>
        </p:spPr>
      </p:sp>
      <p:sp>
        <p:nvSpPr>
          <p:cNvPr name="TextBox 12" id="12"/>
          <p:cNvSpPr txBox="true"/>
          <p:nvPr/>
        </p:nvSpPr>
        <p:spPr>
          <a:xfrm rot="0">
            <a:off x="7624272" y="692258"/>
            <a:ext cx="8665224" cy="736600"/>
          </a:xfrm>
          <a:prstGeom prst="rect">
            <a:avLst/>
          </a:prstGeom>
        </p:spPr>
        <p:txBody>
          <a:bodyPr anchor="t" rtlCol="false" tIns="0" lIns="0" bIns="0" rIns="0">
            <a:spAutoFit/>
          </a:bodyPr>
          <a:lstStyle/>
          <a:p>
            <a:pPr algn="l">
              <a:lnSpc>
                <a:spcPts val="5750"/>
              </a:lnSpc>
            </a:pPr>
            <a:r>
              <a:rPr lang="en-US" sz="5000">
                <a:solidFill>
                  <a:srgbClr val="000000"/>
                </a:solidFill>
                <a:latin typeface="TS Damas Sans"/>
                <a:ea typeface="TS Damas Sans"/>
                <a:cs typeface="TS Damas Sans"/>
                <a:sym typeface="TS Damas Sans"/>
              </a:rPr>
              <a:t>FREKUENSI PANCAR</a:t>
            </a:r>
          </a:p>
        </p:txBody>
      </p:sp>
      <p:sp>
        <p:nvSpPr>
          <p:cNvPr name="TextBox 13" id="13"/>
          <p:cNvSpPr txBox="true"/>
          <p:nvPr/>
        </p:nvSpPr>
        <p:spPr>
          <a:xfrm rot="0">
            <a:off x="16500001" y="675267"/>
            <a:ext cx="1031784" cy="701675"/>
          </a:xfrm>
          <a:prstGeom prst="rect">
            <a:avLst/>
          </a:prstGeom>
        </p:spPr>
        <p:txBody>
          <a:bodyPr anchor="t" rtlCol="false" tIns="0" lIns="0" bIns="0" rIns="0">
            <a:spAutoFit/>
          </a:bodyPr>
          <a:lstStyle/>
          <a:p>
            <a:pPr algn="ctr">
              <a:lnSpc>
                <a:spcPts val="5799"/>
              </a:lnSpc>
            </a:pPr>
            <a:r>
              <a:rPr lang="en-US" b="true" sz="3999" spc="199">
                <a:solidFill>
                  <a:srgbClr val="0B5298"/>
                </a:solidFill>
                <a:latin typeface="Ruda Bold"/>
                <a:ea typeface="Ruda Bold"/>
                <a:cs typeface="Ruda Bold"/>
                <a:sym typeface="Ruda Bold"/>
              </a:rPr>
              <a:t>15</a:t>
            </a:r>
          </a:p>
        </p:txBody>
      </p:sp>
      <p:sp>
        <p:nvSpPr>
          <p:cNvPr name="TextBox 14" id="14"/>
          <p:cNvSpPr txBox="true"/>
          <p:nvPr/>
        </p:nvSpPr>
        <p:spPr>
          <a:xfrm rot="0">
            <a:off x="499339" y="3663454"/>
            <a:ext cx="7124932" cy="4356100"/>
          </a:xfrm>
          <a:prstGeom prst="rect">
            <a:avLst/>
          </a:prstGeom>
        </p:spPr>
        <p:txBody>
          <a:bodyPr anchor="t" rtlCol="false" tIns="0" lIns="0" bIns="0" rIns="0">
            <a:spAutoFit/>
          </a:bodyPr>
          <a:lstStyle/>
          <a:p>
            <a:pPr algn="just">
              <a:lnSpc>
                <a:spcPts val="3499"/>
              </a:lnSpc>
            </a:pPr>
            <a:r>
              <a:rPr lang="en-US" sz="2499">
                <a:solidFill>
                  <a:srgbClr val="000000"/>
                </a:solidFill>
                <a:latin typeface="Ruda"/>
                <a:ea typeface="Ruda"/>
                <a:cs typeface="Ruda"/>
                <a:sym typeface="Ruda"/>
              </a:rPr>
              <a:t>Ketetapan frekuensi dihitung berdasarkan selisih antara frekuensi kerja dan frekuensi pancar. Nilai Part Per Million (ppm) diperoleh dengan cara membagi selisih frekuensi tersebut dengan frekuensi kerja yang dibagi dengan 1.000.000. Perhitungan ini mengukur sejauh mana frekuensi pancar deviasi dari frekuensi nominal yang seharusnya. </a:t>
            </a:r>
          </a:p>
          <a:p>
            <a:pPr algn="just">
              <a:lnSpc>
                <a:spcPts val="3499"/>
              </a:lnSpc>
            </a:pPr>
            <a:r>
              <a:rPr lang="en-US" sz="2499">
                <a:solidFill>
                  <a:srgbClr val="000000"/>
                </a:solidFill>
                <a:latin typeface="Ruda"/>
                <a:ea typeface="Ruda"/>
                <a:cs typeface="Ruda"/>
                <a:sym typeface="Ruda"/>
              </a:rPr>
              <a:t> </a:t>
            </a:r>
          </a:p>
          <a:p>
            <a:pPr algn="just">
              <a:lnSpc>
                <a:spcPts val="3499"/>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6289496" y="314340"/>
            <a:ext cx="6642316" cy="1473387"/>
          </a:xfrm>
          <a:custGeom>
            <a:avLst/>
            <a:gdLst/>
            <a:ahLst/>
            <a:cxnLst/>
            <a:rect r="r" b="b" t="t" l="l"/>
            <a:pathLst>
              <a:path h="1473387" w="6642316">
                <a:moveTo>
                  <a:pt x="0" y="0"/>
                </a:moveTo>
                <a:lnTo>
                  <a:pt x="6642316" y="0"/>
                </a:lnTo>
                <a:lnTo>
                  <a:pt x="6642316" y="1473387"/>
                </a:lnTo>
                <a:lnTo>
                  <a:pt x="0" y="14733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715384" y="9179127"/>
            <a:ext cx="7248657" cy="6022975"/>
          </a:xfrm>
          <a:custGeom>
            <a:avLst/>
            <a:gdLst/>
            <a:ahLst/>
            <a:cxnLst/>
            <a:rect r="r" b="b" t="t" l="l"/>
            <a:pathLst>
              <a:path h="6022975" w="7248657">
                <a:moveTo>
                  <a:pt x="0" y="0"/>
                </a:moveTo>
                <a:lnTo>
                  <a:pt x="7248657" y="0"/>
                </a:lnTo>
                <a:lnTo>
                  <a:pt x="7248657" y="6022975"/>
                </a:lnTo>
                <a:lnTo>
                  <a:pt x="0" y="60229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5533273" y="1092780"/>
            <a:ext cx="7482040" cy="736600"/>
          </a:xfrm>
          <a:prstGeom prst="rect">
            <a:avLst/>
          </a:prstGeom>
        </p:spPr>
        <p:txBody>
          <a:bodyPr anchor="t" rtlCol="false" tIns="0" lIns="0" bIns="0" rIns="0">
            <a:spAutoFit/>
          </a:bodyPr>
          <a:lstStyle/>
          <a:p>
            <a:pPr algn="l">
              <a:lnSpc>
                <a:spcPts val="5750"/>
              </a:lnSpc>
            </a:pPr>
            <a:r>
              <a:rPr lang="en-US" sz="5000">
                <a:solidFill>
                  <a:srgbClr val="000000"/>
                </a:solidFill>
                <a:latin typeface="TS Damas Sans"/>
                <a:ea typeface="TS Damas Sans"/>
                <a:cs typeface="TS Damas Sans"/>
                <a:sym typeface="TS Damas Sans"/>
              </a:rPr>
              <a:t>KETEPATAN FREKUENSI (PPM)</a:t>
            </a:r>
          </a:p>
        </p:txBody>
      </p:sp>
      <p:sp>
        <p:nvSpPr>
          <p:cNvPr name="TextBox 6" id="6"/>
          <p:cNvSpPr txBox="true"/>
          <p:nvPr/>
        </p:nvSpPr>
        <p:spPr>
          <a:xfrm rot="0">
            <a:off x="1192832" y="838408"/>
            <a:ext cx="5923912" cy="355600"/>
          </a:xfrm>
          <a:prstGeom prst="rect">
            <a:avLst/>
          </a:prstGeom>
        </p:spPr>
        <p:txBody>
          <a:bodyPr anchor="t" rtlCol="false" tIns="0" lIns="0" bIns="0" rIns="0">
            <a:spAutoFit/>
          </a:bodyPr>
          <a:lstStyle/>
          <a:p>
            <a:pPr algn="ctr">
              <a:lnSpc>
                <a:spcPts val="2900"/>
              </a:lnSpc>
            </a:pPr>
            <a:r>
              <a:rPr lang="en-US" b="true" sz="2000" spc="100">
                <a:solidFill>
                  <a:srgbClr val="FFFFFF"/>
                </a:solidFill>
                <a:latin typeface="Ruda Bold"/>
                <a:ea typeface="Ruda Bold"/>
                <a:cs typeface="Ruda Bold"/>
                <a:sym typeface="Ruda Bold"/>
              </a:rPr>
              <a:t>Universitas Fauget | Teknologi Informasi</a:t>
            </a:r>
          </a:p>
        </p:txBody>
      </p:sp>
      <p:sp>
        <p:nvSpPr>
          <p:cNvPr name="TextBox 7" id="7"/>
          <p:cNvSpPr txBox="true"/>
          <p:nvPr/>
        </p:nvSpPr>
        <p:spPr>
          <a:xfrm rot="0">
            <a:off x="16500001" y="675267"/>
            <a:ext cx="1031784" cy="701675"/>
          </a:xfrm>
          <a:prstGeom prst="rect">
            <a:avLst/>
          </a:prstGeom>
        </p:spPr>
        <p:txBody>
          <a:bodyPr anchor="t" rtlCol="false" tIns="0" lIns="0" bIns="0" rIns="0">
            <a:spAutoFit/>
          </a:bodyPr>
          <a:lstStyle/>
          <a:p>
            <a:pPr algn="ctr">
              <a:lnSpc>
                <a:spcPts val="5799"/>
              </a:lnSpc>
            </a:pPr>
            <a:r>
              <a:rPr lang="en-US" b="true" sz="3999" spc="199">
                <a:solidFill>
                  <a:srgbClr val="0B5298"/>
                </a:solidFill>
                <a:latin typeface="Ruda Bold"/>
                <a:ea typeface="Ruda Bold"/>
                <a:cs typeface="Ruda Bold"/>
                <a:sym typeface="Ruda Bold"/>
              </a:rPr>
              <a:t>16</a:t>
            </a:r>
          </a:p>
        </p:txBody>
      </p:sp>
      <p:sp>
        <p:nvSpPr>
          <p:cNvPr name="TextBox 8" id="8"/>
          <p:cNvSpPr txBox="true"/>
          <p:nvPr/>
        </p:nvSpPr>
        <p:spPr>
          <a:xfrm rot="0">
            <a:off x="680263" y="2082580"/>
            <a:ext cx="16927475" cy="7458075"/>
          </a:xfrm>
          <a:prstGeom prst="rect">
            <a:avLst/>
          </a:prstGeom>
        </p:spPr>
        <p:txBody>
          <a:bodyPr anchor="t" rtlCol="false" tIns="0" lIns="0" bIns="0" rIns="0">
            <a:spAutoFit/>
          </a:bodyPr>
          <a:lstStyle/>
          <a:p>
            <a:pPr algn="just">
              <a:lnSpc>
                <a:spcPts val="4200"/>
              </a:lnSpc>
            </a:pPr>
            <a:r>
              <a:rPr lang="en-US" sz="3000">
                <a:solidFill>
                  <a:srgbClr val="000000"/>
                </a:solidFill>
                <a:latin typeface="Ruda"/>
                <a:ea typeface="Ruda"/>
                <a:cs typeface="Ruda"/>
                <a:sym typeface="Ruda"/>
              </a:rPr>
              <a:t>Ketepatan frekuensi dalam ppm (parts per million) pada VHF (Very High Frequency) menunjukkan sejauh mana suatu perangkat mempertahankan frekuensinya tanpa penyimpangan.</a:t>
            </a:r>
          </a:p>
          <a:p>
            <a:pPr algn="just">
              <a:lnSpc>
                <a:spcPts val="4200"/>
              </a:lnSpc>
            </a:pPr>
          </a:p>
          <a:p>
            <a:pPr algn="just">
              <a:lnSpc>
                <a:spcPts val="4200"/>
              </a:lnSpc>
            </a:pPr>
            <a:r>
              <a:rPr lang="en-US" sz="3000">
                <a:solidFill>
                  <a:srgbClr val="000000"/>
                </a:solidFill>
                <a:latin typeface="Ruda"/>
                <a:ea typeface="Ruda"/>
                <a:cs typeface="Ruda"/>
                <a:sym typeface="Ruda"/>
              </a:rPr>
              <a:t>Ketetapan frekuensi didapat dari selisih ferkuensi kerja = 134.000.000 Hz dengan frekuensi pancar = 133.938.300 Hz. Part per million (ppm) didapatkan dengan cara membagi hasil selisih dengan (“frekuensi kerja dibagi dengan 106 “→ 134 10 ×6 106 = 134 𝑝𝑝𝑚) yaitu 16.700𝐻𝑧/134 𝑝𝑝𝑚 = 124.62 𝑝𝑝𝑚</a:t>
            </a:r>
          </a:p>
          <a:p>
            <a:pPr algn="just">
              <a:lnSpc>
                <a:spcPts val="4200"/>
              </a:lnSpc>
            </a:pPr>
            <a:r>
              <a:rPr lang="en-US" sz="3000">
                <a:solidFill>
                  <a:srgbClr val="000000"/>
                </a:solidFill>
                <a:latin typeface="Ruda"/>
                <a:ea typeface="Ruda"/>
                <a:cs typeface="Ruda"/>
                <a:sym typeface="Ruda"/>
              </a:rPr>
              <a:t> </a:t>
            </a:r>
          </a:p>
          <a:p>
            <a:pPr algn="just">
              <a:lnSpc>
                <a:spcPts val="4200"/>
              </a:lnSpc>
            </a:pPr>
            <a:r>
              <a:rPr lang="en-US" sz="3000">
                <a:solidFill>
                  <a:srgbClr val="000000"/>
                </a:solidFill>
                <a:latin typeface="Ruda"/>
                <a:ea typeface="Ruda"/>
                <a:cs typeface="Ruda"/>
                <a:sym typeface="Ruda"/>
              </a:rPr>
              <a:t>Faktor yang mempengaruhi ketepatan ini meliputi kualitas osilator kristal, suhu lingkungan, usia perangkat, dan gangguan elektromagnetik. Dalam komunikasi VHF, terutama yang menggunakan modulasi digital atau kanal sempit, penyimpangan kecil dapat menyebabkan gangguan. Pada komunikasi VHF, batas nilai ppm yang baik adalah ± 20 ppm</a:t>
            </a:r>
          </a:p>
          <a:p>
            <a:pPr algn="just">
              <a:lnSpc>
                <a:spcPts val="4200"/>
              </a:lnSpc>
            </a:pPr>
          </a:p>
        </p:txBody>
      </p:sp>
      <p:grpSp>
        <p:nvGrpSpPr>
          <p:cNvPr name="Group 9" id="9"/>
          <p:cNvGrpSpPr/>
          <p:nvPr/>
        </p:nvGrpSpPr>
        <p:grpSpPr>
          <a:xfrm rot="0">
            <a:off x="335008" y="46795"/>
            <a:ext cx="6397268" cy="1359730"/>
            <a:chOff x="0" y="0"/>
            <a:chExt cx="8529691" cy="1812973"/>
          </a:xfrm>
        </p:grpSpPr>
        <p:grpSp>
          <p:nvGrpSpPr>
            <p:cNvPr name="Group 10" id="10"/>
            <p:cNvGrpSpPr/>
            <p:nvPr/>
          </p:nvGrpSpPr>
          <p:grpSpPr>
            <a:xfrm rot="0">
              <a:off x="1957668" y="321092"/>
              <a:ext cx="5471577" cy="772857"/>
              <a:chOff x="0" y="0"/>
              <a:chExt cx="1080805" cy="152663"/>
            </a:xfrm>
          </p:grpSpPr>
          <p:sp>
            <p:nvSpPr>
              <p:cNvPr name="Freeform 11" id="11"/>
              <p:cNvSpPr/>
              <p:nvPr/>
            </p:nvSpPr>
            <p:spPr>
              <a:xfrm flipH="false" flipV="false" rot="0">
                <a:off x="0" y="0"/>
                <a:ext cx="1080805" cy="152663"/>
              </a:xfrm>
              <a:custGeom>
                <a:avLst/>
                <a:gdLst/>
                <a:ahLst/>
                <a:cxnLst/>
                <a:rect r="r" b="b" t="t" l="l"/>
                <a:pathLst>
                  <a:path h="152663" w="1080805">
                    <a:moveTo>
                      <a:pt x="76332" y="0"/>
                    </a:moveTo>
                    <a:lnTo>
                      <a:pt x="1004474" y="0"/>
                    </a:lnTo>
                    <a:cubicBezTo>
                      <a:pt x="1046630" y="0"/>
                      <a:pt x="1080805" y="34175"/>
                      <a:pt x="1080805" y="76332"/>
                    </a:cubicBezTo>
                    <a:lnTo>
                      <a:pt x="1080805" y="76332"/>
                    </a:lnTo>
                    <a:cubicBezTo>
                      <a:pt x="1080805" y="96576"/>
                      <a:pt x="1072763" y="115991"/>
                      <a:pt x="1058448" y="130306"/>
                    </a:cubicBezTo>
                    <a:cubicBezTo>
                      <a:pt x="1044133" y="144621"/>
                      <a:pt x="1024718" y="152663"/>
                      <a:pt x="1004474" y="152663"/>
                    </a:cubicBezTo>
                    <a:lnTo>
                      <a:pt x="76332" y="152663"/>
                    </a:lnTo>
                    <a:cubicBezTo>
                      <a:pt x="34175" y="152663"/>
                      <a:pt x="0" y="118488"/>
                      <a:pt x="0" y="76332"/>
                    </a:cubicBezTo>
                    <a:lnTo>
                      <a:pt x="0" y="76332"/>
                    </a:lnTo>
                    <a:cubicBezTo>
                      <a:pt x="0" y="34175"/>
                      <a:pt x="34175" y="0"/>
                      <a:pt x="76332" y="0"/>
                    </a:cubicBezTo>
                    <a:close/>
                  </a:path>
                </a:pathLst>
              </a:custGeom>
              <a:solidFill>
                <a:srgbClr val="B2D0EC"/>
              </a:solidFill>
            </p:spPr>
          </p:sp>
          <p:sp>
            <p:nvSpPr>
              <p:cNvPr name="TextBox 12" id="12"/>
              <p:cNvSpPr txBox="true"/>
              <p:nvPr/>
            </p:nvSpPr>
            <p:spPr>
              <a:xfrm>
                <a:off x="0" y="-57150"/>
                <a:ext cx="1080805" cy="209813"/>
              </a:xfrm>
              <a:prstGeom prst="rect">
                <a:avLst/>
              </a:prstGeom>
            </p:spPr>
            <p:txBody>
              <a:bodyPr anchor="ctr" rtlCol="false" tIns="50800" lIns="50800" bIns="50800" rIns="50800"/>
              <a:lstStyle/>
              <a:p>
                <a:pPr algn="ctr">
                  <a:lnSpc>
                    <a:spcPts val="2900"/>
                  </a:lnSpc>
                </a:pPr>
              </a:p>
            </p:txBody>
          </p:sp>
        </p:grpSp>
        <p:sp>
          <p:nvSpPr>
            <p:cNvPr name="TextBox 13" id="13"/>
            <p:cNvSpPr txBox="true"/>
            <p:nvPr/>
          </p:nvSpPr>
          <p:spPr>
            <a:xfrm rot="0">
              <a:off x="631141" y="451403"/>
              <a:ext cx="7898550" cy="455083"/>
            </a:xfrm>
            <a:prstGeom prst="rect">
              <a:avLst/>
            </a:prstGeom>
          </p:spPr>
          <p:txBody>
            <a:bodyPr anchor="t" rtlCol="false" tIns="0" lIns="0" bIns="0" rIns="0">
              <a:spAutoFit/>
            </a:bodyPr>
            <a:lstStyle/>
            <a:p>
              <a:pPr algn="ctr">
                <a:lnSpc>
                  <a:spcPts val="2900"/>
                </a:lnSpc>
              </a:pPr>
              <a:r>
                <a:rPr lang="en-US" b="true" sz="2000" spc="100">
                  <a:solidFill>
                    <a:srgbClr val="0B5298"/>
                  </a:solidFill>
                  <a:latin typeface="Ruda Bold"/>
                  <a:ea typeface="Ruda Bold"/>
                  <a:cs typeface="Ruda Bold"/>
                  <a:sym typeface="Ruda Bold"/>
                </a:rPr>
                <a:t>Siskom terestrial gel.mikro</a:t>
              </a:r>
            </a:p>
          </p:txBody>
        </p:sp>
        <p:sp>
          <p:nvSpPr>
            <p:cNvPr name="Freeform 14" id="14"/>
            <p:cNvSpPr/>
            <p:nvPr/>
          </p:nvSpPr>
          <p:spPr>
            <a:xfrm flipH="false" flipV="false" rot="0">
              <a:off x="0" y="0"/>
              <a:ext cx="1262283" cy="1812973"/>
            </a:xfrm>
            <a:custGeom>
              <a:avLst/>
              <a:gdLst/>
              <a:ahLst/>
              <a:cxnLst/>
              <a:rect r="r" b="b" t="t" l="l"/>
              <a:pathLst>
                <a:path h="1812973" w="1262283">
                  <a:moveTo>
                    <a:pt x="0" y="0"/>
                  </a:moveTo>
                  <a:lnTo>
                    <a:pt x="1262283" y="0"/>
                  </a:lnTo>
                  <a:lnTo>
                    <a:pt x="1262283" y="1812973"/>
                  </a:lnTo>
                  <a:lnTo>
                    <a:pt x="0" y="1812973"/>
                  </a:lnTo>
                  <a:lnTo>
                    <a:pt x="0" y="0"/>
                  </a:lnTo>
                  <a:close/>
                </a:path>
              </a:pathLst>
            </a:custGeom>
            <a:blipFill>
              <a:blip r:embed="rId7"/>
              <a:stretch>
                <a:fillRect l="0" t="0" r="0" b="0"/>
              </a:stretch>
            </a:blipFill>
          </p:spPr>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6289496" y="314340"/>
            <a:ext cx="6642316" cy="1473387"/>
          </a:xfrm>
          <a:custGeom>
            <a:avLst/>
            <a:gdLst/>
            <a:ahLst/>
            <a:cxnLst/>
            <a:rect r="r" b="b" t="t" l="l"/>
            <a:pathLst>
              <a:path h="1473387" w="6642316">
                <a:moveTo>
                  <a:pt x="0" y="0"/>
                </a:moveTo>
                <a:lnTo>
                  <a:pt x="6642316" y="0"/>
                </a:lnTo>
                <a:lnTo>
                  <a:pt x="6642316" y="1473387"/>
                </a:lnTo>
                <a:lnTo>
                  <a:pt x="0" y="14733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715384" y="8884056"/>
            <a:ext cx="7248657" cy="6022975"/>
          </a:xfrm>
          <a:custGeom>
            <a:avLst/>
            <a:gdLst/>
            <a:ahLst/>
            <a:cxnLst/>
            <a:rect r="r" b="b" t="t" l="l"/>
            <a:pathLst>
              <a:path h="6022975" w="7248657">
                <a:moveTo>
                  <a:pt x="0" y="0"/>
                </a:moveTo>
                <a:lnTo>
                  <a:pt x="7248657" y="0"/>
                </a:lnTo>
                <a:lnTo>
                  <a:pt x="7248657" y="6022975"/>
                </a:lnTo>
                <a:lnTo>
                  <a:pt x="0" y="60229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0">
            <a:off x="499339" y="427997"/>
            <a:ext cx="6397268" cy="1359730"/>
            <a:chOff x="0" y="0"/>
            <a:chExt cx="8529691" cy="1812973"/>
          </a:xfrm>
        </p:grpSpPr>
        <p:grpSp>
          <p:nvGrpSpPr>
            <p:cNvPr name="Group 6" id="6"/>
            <p:cNvGrpSpPr/>
            <p:nvPr/>
          </p:nvGrpSpPr>
          <p:grpSpPr>
            <a:xfrm rot="0">
              <a:off x="1957668" y="321092"/>
              <a:ext cx="5471577" cy="772857"/>
              <a:chOff x="0" y="0"/>
              <a:chExt cx="1080805" cy="152663"/>
            </a:xfrm>
          </p:grpSpPr>
          <p:sp>
            <p:nvSpPr>
              <p:cNvPr name="Freeform 7" id="7"/>
              <p:cNvSpPr/>
              <p:nvPr/>
            </p:nvSpPr>
            <p:spPr>
              <a:xfrm flipH="false" flipV="false" rot="0">
                <a:off x="0" y="0"/>
                <a:ext cx="1080805" cy="152663"/>
              </a:xfrm>
              <a:custGeom>
                <a:avLst/>
                <a:gdLst/>
                <a:ahLst/>
                <a:cxnLst/>
                <a:rect r="r" b="b" t="t" l="l"/>
                <a:pathLst>
                  <a:path h="152663" w="1080805">
                    <a:moveTo>
                      <a:pt x="76332" y="0"/>
                    </a:moveTo>
                    <a:lnTo>
                      <a:pt x="1004474" y="0"/>
                    </a:lnTo>
                    <a:cubicBezTo>
                      <a:pt x="1046630" y="0"/>
                      <a:pt x="1080805" y="34175"/>
                      <a:pt x="1080805" y="76332"/>
                    </a:cubicBezTo>
                    <a:lnTo>
                      <a:pt x="1080805" y="76332"/>
                    </a:lnTo>
                    <a:cubicBezTo>
                      <a:pt x="1080805" y="96576"/>
                      <a:pt x="1072763" y="115991"/>
                      <a:pt x="1058448" y="130306"/>
                    </a:cubicBezTo>
                    <a:cubicBezTo>
                      <a:pt x="1044133" y="144621"/>
                      <a:pt x="1024718" y="152663"/>
                      <a:pt x="1004474" y="152663"/>
                    </a:cubicBezTo>
                    <a:lnTo>
                      <a:pt x="76332" y="152663"/>
                    </a:lnTo>
                    <a:cubicBezTo>
                      <a:pt x="34175" y="152663"/>
                      <a:pt x="0" y="118488"/>
                      <a:pt x="0" y="76332"/>
                    </a:cubicBezTo>
                    <a:lnTo>
                      <a:pt x="0" y="76332"/>
                    </a:lnTo>
                    <a:cubicBezTo>
                      <a:pt x="0" y="34175"/>
                      <a:pt x="34175" y="0"/>
                      <a:pt x="76332" y="0"/>
                    </a:cubicBezTo>
                    <a:close/>
                  </a:path>
                </a:pathLst>
              </a:custGeom>
              <a:solidFill>
                <a:srgbClr val="B2D0EC"/>
              </a:solidFill>
            </p:spPr>
          </p:sp>
          <p:sp>
            <p:nvSpPr>
              <p:cNvPr name="TextBox 8" id="8"/>
              <p:cNvSpPr txBox="true"/>
              <p:nvPr/>
            </p:nvSpPr>
            <p:spPr>
              <a:xfrm>
                <a:off x="0" y="-57150"/>
                <a:ext cx="1080805" cy="209813"/>
              </a:xfrm>
              <a:prstGeom prst="rect">
                <a:avLst/>
              </a:prstGeom>
            </p:spPr>
            <p:txBody>
              <a:bodyPr anchor="ctr" rtlCol="false" tIns="50800" lIns="50800" bIns="50800" rIns="50800"/>
              <a:lstStyle/>
              <a:p>
                <a:pPr algn="ctr">
                  <a:lnSpc>
                    <a:spcPts val="2900"/>
                  </a:lnSpc>
                </a:pPr>
              </a:p>
            </p:txBody>
          </p:sp>
        </p:grpSp>
        <p:sp>
          <p:nvSpPr>
            <p:cNvPr name="TextBox 9" id="9"/>
            <p:cNvSpPr txBox="true"/>
            <p:nvPr/>
          </p:nvSpPr>
          <p:spPr>
            <a:xfrm rot="0">
              <a:off x="631141" y="451403"/>
              <a:ext cx="7898550" cy="455083"/>
            </a:xfrm>
            <a:prstGeom prst="rect">
              <a:avLst/>
            </a:prstGeom>
          </p:spPr>
          <p:txBody>
            <a:bodyPr anchor="t" rtlCol="false" tIns="0" lIns="0" bIns="0" rIns="0">
              <a:spAutoFit/>
            </a:bodyPr>
            <a:lstStyle/>
            <a:p>
              <a:pPr algn="ctr">
                <a:lnSpc>
                  <a:spcPts val="2900"/>
                </a:lnSpc>
              </a:pPr>
              <a:r>
                <a:rPr lang="en-US" b="true" sz="2000" spc="100">
                  <a:solidFill>
                    <a:srgbClr val="0B5298"/>
                  </a:solidFill>
                  <a:latin typeface="Ruda Bold"/>
                  <a:ea typeface="Ruda Bold"/>
                  <a:cs typeface="Ruda Bold"/>
                  <a:sym typeface="Ruda Bold"/>
                </a:rPr>
                <a:t>Siskom terestrial gel.mikro</a:t>
              </a:r>
            </a:p>
          </p:txBody>
        </p:sp>
        <p:sp>
          <p:nvSpPr>
            <p:cNvPr name="Freeform 10" id="10"/>
            <p:cNvSpPr/>
            <p:nvPr/>
          </p:nvSpPr>
          <p:spPr>
            <a:xfrm flipH="false" flipV="false" rot="0">
              <a:off x="0" y="0"/>
              <a:ext cx="1262283" cy="1812973"/>
            </a:xfrm>
            <a:custGeom>
              <a:avLst/>
              <a:gdLst/>
              <a:ahLst/>
              <a:cxnLst/>
              <a:rect r="r" b="b" t="t" l="l"/>
              <a:pathLst>
                <a:path h="1812973" w="1262283">
                  <a:moveTo>
                    <a:pt x="0" y="0"/>
                  </a:moveTo>
                  <a:lnTo>
                    <a:pt x="1262283" y="0"/>
                  </a:lnTo>
                  <a:lnTo>
                    <a:pt x="1262283" y="1812973"/>
                  </a:lnTo>
                  <a:lnTo>
                    <a:pt x="0" y="1812973"/>
                  </a:lnTo>
                  <a:lnTo>
                    <a:pt x="0" y="0"/>
                  </a:lnTo>
                  <a:close/>
                </a:path>
              </a:pathLst>
            </a:custGeom>
            <a:blipFill>
              <a:blip r:embed="rId7"/>
              <a:stretch>
                <a:fillRect l="0" t="0" r="0" b="0"/>
              </a:stretch>
            </a:blipFill>
          </p:spPr>
        </p:sp>
      </p:grpSp>
      <p:sp>
        <p:nvSpPr>
          <p:cNvPr name="Freeform 11" id="11"/>
          <p:cNvSpPr/>
          <p:nvPr/>
        </p:nvSpPr>
        <p:spPr>
          <a:xfrm flipH="false" flipV="false" rot="0">
            <a:off x="8464298" y="2154060"/>
            <a:ext cx="9476621" cy="6950961"/>
          </a:xfrm>
          <a:custGeom>
            <a:avLst/>
            <a:gdLst/>
            <a:ahLst/>
            <a:cxnLst/>
            <a:rect r="r" b="b" t="t" l="l"/>
            <a:pathLst>
              <a:path h="6950961" w="9476621">
                <a:moveTo>
                  <a:pt x="0" y="0"/>
                </a:moveTo>
                <a:lnTo>
                  <a:pt x="9476621" y="0"/>
                </a:lnTo>
                <a:lnTo>
                  <a:pt x="9476621" y="6950961"/>
                </a:lnTo>
                <a:lnTo>
                  <a:pt x="0" y="6950961"/>
                </a:lnTo>
                <a:lnTo>
                  <a:pt x="0" y="0"/>
                </a:lnTo>
                <a:close/>
              </a:path>
            </a:pathLst>
          </a:custGeom>
          <a:blipFill>
            <a:blip r:embed="rId8"/>
            <a:stretch>
              <a:fillRect l="0" t="0" r="0" b="0"/>
            </a:stretch>
          </a:blipFill>
        </p:spPr>
      </p:sp>
      <p:sp>
        <p:nvSpPr>
          <p:cNvPr name="TextBox 12" id="12"/>
          <p:cNvSpPr txBox="true"/>
          <p:nvPr/>
        </p:nvSpPr>
        <p:spPr>
          <a:xfrm rot="0">
            <a:off x="1403067" y="2173110"/>
            <a:ext cx="8665224" cy="736600"/>
          </a:xfrm>
          <a:prstGeom prst="rect">
            <a:avLst/>
          </a:prstGeom>
        </p:spPr>
        <p:txBody>
          <a:bodyPr anchor="t" rtlCol="false" tIns="0" lIns="0" bIns="0" rIns="0">
            <a:spAutoFit/>
          </a:bodyPr>
          <a:lstStyle/>
          <a:p>
            <a:pPr algn="l">
              <a:lnSpc>
                <a:spcPts val="5750"/>
              </a:lnSpc>
            </a:pPr>
            <a:r>
              <a:rPr lang="en-US" sz="5000">
                <a:solidFill>
                  <a:srgbClr val="000000"/>
                </a:solidFill>
                <a:latin typeface="TS Damas Sans"/>
                <a:ea typeface="TS Damas Sans"/>
                <a:cs typeface="TS Damas Sans"/>
                <a:sym typeface="TS Damas Sans"/>
              </a:rPr>
              <a:t>SENSITIVITAS MICROPHONE (DBM)</a:t>
            </a:r>
          </a:p>
        </p:txBody>
      </p:sp>
      <p:sp>
        <p:nvSpPr>
          <p:cNvPr name="TextBox 13" id="13"/>
          <p:cNvSpPr txBox="true"/>
          <p:nvPr/>
        </p:nvSpPr>
        <p:spPr>
          <a:xfrm rot="0">
            <a:off x="16500001" y="675267"/>
            <a:ext cx="1031784" cy="701675"/>
          </a:xfrm>
          <a:prstGeom prst="rect">
            <a:avLst/>
          </a:prstGeom>
        </p:spPr>
        <p:txBody>
          <a:bodyPr anchor="t" rtlCol="false" tIns="0" lIns="0" bIns="0" rIns="0">
            <a:spAutoFit/>
          </a:bodyPr>
          <a:lstStyle/>
          <a:p>
            <a:pPr algn="ctr">
              <a:lnSpc>
                <a:spcPts val="5799"/>
              </a:lnSpc>
            </a:pPr>
            <a:r>
              <a:rPr lang="en-US" b="true" sz="3999" spc="199">
                <a:solidFill>
                  <a:srgbClr val="0B5298"/>
                </a:solidFill>
                <a:latin typeface="Ruda Bold"/>
                <a:ea typeface="Ruda Bold"/>
                <a:cs typeface="Ruda Bold"/>
                <a:sym typeface="Ruda Bold"/>
              </a:rPr>
              <a:t>15</a:t>
            </a:r>
          </a:p>
        </p:txBody>
      </p:sp>
      <p:sp>
        <p:nvSpPr>
          <p:cNvPr name="TextBox 14" id="14"/>
          <p:cNvSpPr txBox="true"/>
          <p:nvPr/>
        </p:nvSpPr>
        <p:spPr>
          <a:xfrm rot="0">
            <a:off x="1028700" y="3480708"/>
            <a:ext cx="7061230" cy="4794250"/>
          </a:xfrm>
          <a:prstGeom prst="rect">
            <a:avLst/>
          </a:prstGeom>
        </p:spPr>
        <p:txBody>
          <a:bodyPr anchor="t" rtlCol="false" tIns="0" lIns="0" bIns="0" rIns="0">
            <a:spAutoFit/>
          </a:bodyPr>
          <a:lstStyle/>
          <a:p>
            <a:pPr algn="just">
              <a:lnSpc>
                <a:spcPts val="3499"/>
              </a:lnSpc>
            </a:pPr>
            <a:r>
              <a:rPr lang="en-US" sz="2499">
                <a:solidFill>
                  <a:srgbClr val="000000"/>
                </a:solidFill>
                <a:latin typeface="Ruda"/>
                <a:ea typeface="Ruda"/>
                <a:cs typeface="Ruda"/>
                <a:sym typeface="Ruda"/>
              </a:rPr>
              <a:t>Pengukuran sensitivitas mikrofon dilakukan menggunakan modulation analyzer dengan mengubah nilai modulasi dari maksimum hingga mencapai nilai sensitivitas yang diinginkan. Sensitivitas mikrofon dianggap tercapai ketika nilai modulasi yang terukur mencapai 60% dari deviasi maksimum FM sebesar 5 kHz, yaitu pada nilai 3 kHz. Pengaturan ini dilakukan pada fungsi Bessel, yang berperan dalam analisis karakteristik modulasi. </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13204788" y="8961274"/>
            <a:ext cx="4054512" cy="543527"/>
            <a:chOff x="0" y="0"/>
            <a:chExt cx="1067855" cy="143151"/>
          </a:xfrm>
        </p:grpSpPr>
        <p:sp>
          <p:nvSpPr>
            <p:cNvPr name="Freeform 4" id="4"/>
            <p:cNvSpPr/>
            <p:nvPr/>
          </p:nvSpPr>
          <p:spPr>
            <a:xfrm flipH="false" flipV="false" rot="0">
              <a:off x="0" y="0"/>
              <a:ext cx="1067855" cy="143151"/>
            </a:xfrm>
            <a:custGeom>
              <a:avLst/>
              <a:gdLst/>
              <a:ahLst/>
              <a:cxnLst/>
              <a:rect r="r" b="b" t="t" l="l"/>
              <a:pathLst>
                <a:path h="143151" w="1067855">
                  <a:moveTo>
                    <a:pt x="71576" y="0"/>
                  </a:moveTo>
                  <a:lnTo>
                    <a:pt x="996279" y="0"/>
                  </a:lnTo>
                  <a:cubicBezTo>
                    <a:pt x="1015263" y="0"/>
                    <a:pt x="1033468" y="7541"/>
                    <a:pt x="1046891" y="20964"/>
                  </a:cubicBezTo>
                  <a:cubicBezTo>
                    <a:pt x="1060314" y="34387"/>
                    <a:pt x="1067855" y="52593"/>
                    <a:pt x="1067855" y="71576"/>
                  </a:cubicBezTo>
                  <a:lnTo>
                    <a:pt x="1067855" y="71576"/>
                  </a:lnTo>
                  <a:cubicBezTo>
                    <a:pt x="1067855" y="90559"/>
                    <a:pt x="1060314" y="108764"/>
                    <a:pt x="1046891" y="122187"/>
                  </a:cubicBezTo>
                  <a:cubicBezTo>
                    <a:pt x="1033468" y="135610"/>
                    <a:pt x="1015263" y="143151"/>
                    <a:pt x="996279" y="143151"/>
                  </a:cubicBezTo>
                  <a:lnTo>
                    <a:pt x="71576" y="143151"/>
                  </a:lnTo>
                  <a:cubicBezTo>
                    <a:pt x="52593" y="143151"/>
                    <a:pt x="34387" y="135610"/>
                    <a:pt x="20964" y="122187"/>
                  </a:cubicBezTo>
                  <a:cubicBezTo>
                    <a:pt x="7541" y="108764"/>
                    <a:pt x="0" y="90559"/>
                    <a:pt x="0" y="71576"/>
                  </a:cubicBezTo>
                  <a:lnTo>
                    <a:pt x="0" y="71576"/>
                  </a:lnTo>
                  <a:cubicBezTo>
                    <a:pt x="0" y="52593"/>
                    <a:pt x="7541" y="34387"/>
                    <a:pt x="20964" y="20964"/>
                  </a:cubicBezTo>
                  <a:cubicBezTo>
                    <a:pt x="34387" y="7541"/>
                    <a:pt x="52593" y="0"/>
                    <a:pt x="71576" y="0"/>
                  </a:cubicBezTo>
                  <a:close/>
                </a:path>
              </a:pathLst>
            </a:custGeom>
            <a:solidFill>
              <a:srgbClr val="B2D0EC"/>
            </a:solidFill>
          </p:spPr>
        </p:sp>
        <p:sp>
          <p:nvSpPr>
            <p:cNvPr name="TextBox 5" id="5"/>
            <p:cNvSpPr txBox="true"/>
            <p:nvPr/>
          </p:nvSpPr>
          <p:spPr>
            <a:xfrm>
              <a:off x="0" y="-57150"/>
              <a:ext cx="1067855" cy="200301"/>
            </a:xfrm>
            <a:prstGeom prst="rect">
              <a:avLst/>
            </a:prstGeom>
          </p:spPr>
          <p:txBody>
            <a:bodyPr anchor="ctr" rtlCol="false" tIns="50800" lIns="50800" bIns="50800" rIns="50800"/>
            <a:lstStyle/>
            <a:p>
              <a:pPr algn="ctr">
                <a:lnSpc>
                  <a:spcPts val="2900"/>
                </a:lnSpc>
              </a:pPr>
            </a:p>
          </p:txBody>
        </p:sp>
      </p:grpSp>
      <p:sp>
        <p:nvSpPr>
          <p:cNvPr name="Freeform 6" id="6"/>
          <p:cNvSpPr/>
          <p:nvPr/>
        </p:nvSpPr>
        <p:spPr>
          <a:xfrm flipH="false" flipV="false" rot="0">
            <a:off x="-1536499" y="6528729"/>
            <a:ext cx="5655398" cy="5408617"/>
          </a:xfrm>
          <a:custGeom>
            <a:avLst/>
            <a:gdLst/>
            <a:ahLst/>
            <a:cxnLst/>
            <a:rect r="r" b="b" t="t" l="l"/>
            <a:pathLst>
              <a:path h="5408617" w="5655398">
                <a:moveTo>
                  <a:pt x="0" y="0"/>
                </a:moveTo>
                <a:lnTo>
                  <a:pt x="5655398" y="0"/>
                </a:lnTo>
                <a:lnTo>
                  <a:pt x="5655398" y="5408617"/>
                </a:lnTo>
                <a:lnTo>
                  <a:pt x="0" y="54086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1028700" y="731674"/>
            <a:ext cx="6371452" cy="612509"/>
            <a:chOff x="0" y="0"/>
            <a:chExt cx="1678078" cy="161319"/>
          </a:xfrm>
        </p:grpSpPr>
        <p:sp>
          <p:nvSpPr>
            <p:cNvPr name="Freeform 8" id="8"/>
            <p:cNvSpPr/>
            <p:nvPr/>
          </p:nvSpPr>
          <p:spPr>
            <a:xfrm flipH="false" flipV="false" rot="0">
              <a:off x="0" y="0"/>
              <a:ext cx="1678078" cy="161319"/>
            </a:xfrm>
            <a:custGeom>
              <a:avLst/>
              <a:gdLst/>
              <a:ahLst/>
              <a:cxnLst/>
              <a:rect r="r" b="b" t="t" l="l"/>
              <a:pathLst>
                <a:path h="161319" w="1678078">
                  <a:moveTo>
                    <a:pt x="61970" y="0"/>
                  </a:moveTo>
                  <a:lnTo>
                    <a:pt x="1616108" y="0"/>
                  </a:lnTo>
                  <a:cubicBezTo>
                    <a:pt x="1650333" y="0"/>
                    <a:pt x="1678078" y="27745"/>
                    <a:pt x="1678078" y="61970"/>
                  </a:cubicBezTo>
                  <a:lnTo>
                    <a:pt x="1678078" y="99349"/>
                  </a:lnTo>
                  <a:cubicBezTo>
                    <a:pt x="1678078" y="115785"/>
                    <a:pt x="1671549" y="131547"/>
                    <a:pt x="1659927" y="143169"/>
                  </a:cubicBezTo>
                  <a:cubicBezTo>
                    <a:pt x="1648306" y="154790"/>
                    <a:pt x="1632544" y="161319"/>
                    <a:pt x="1616108" y="161319"/>
                  </a:cubicBezTo>
                  <a:lnTo>
                    <a:pt x="61970" y="161319"/>
                  </a:lnTo>
                  <a:cubicBezTo>
                    <a:pt x="27745" y="161319"/>
                    <a:pt x="0" y="133574"/>
                    <a:pt x="0" y="99349"/>
                  </a:cubicBezTo>
                  <a:lnTo>
                    <a:pt x="0" y="61970"/>
                  </a:lnTo>
                  <a:cubicBezTo>
                    <a:pt x="0" y="45534"/>
                    <a:pt x="6529" y="29772"/>
                    <a:pt x="18151" y="18151"/>
                  </a:cubicBezTo>
                  <a:cubicBezTo>
                    <a:pt x="29772" y="6529"/>
                    <a:pt x="45534" y="0"/>
                    <a:pt x="61970" y="0"/>
                  </a:cubicBezTo>
                  <a:close/>
                </a:path>
              </a:pathLst>
            </a:custGeom>
            <a:solidFill>
              <a:srgbClr val="B2D0EC"/>
            </a:solidFill>
          </p:spPr>
        </p:sp>
        <p:sp>
          <p:nvSpPr>
            <p:cNvPr name="TextBox 9" id="9"/>
            <p:cNvSpPr txBox="true"/>
            <p:nvPr/>
          </p:nvSpPr>
          <p:spPr>
            <a:xfrm>
              <a:off x="0" y="-57150"/>
              <a:ext cx="1678078" cy="218469"/>
            </a:xfrm>
            <a:prstGeom prst="rect">
              <a:avLst/>
            </a:prstGeom>
          </p:spPr>
          <p:txBody>
            <a:bodyPr anchor="ctr" rtlCol="false" tIns="50800" lIns="50800" bIns="50800" rIns="50800"/>
            <a:lstStyle/>
            <a:p>
              <a:pPr algn="ctr">
                <a:lnSpc>
                  <a:spcPts val="2900"/>
                </a:lnSpc>
              </a:pPr>
            </a:p>
          </p:txBody>
        </p:sp>
      </p:grpSp>
      <p:sp>
        <p:nvSpPr>
          <p:cNvPr name="Freeform 10" id="10"/>
          <p:cNvSpPr/>
          <p:nvPr/>
        </p:nvSpPr>
        <p:spPr>
          <a:xfrm flipH="false" flipV="false" rot="0">
            <a:off x="16289496" y="314340"/>
            <a:ext cx="6642316" cy="1473387"/>
          </a:xfrm>
          <a:custGeom>
            <a:avLst/>
            <a:gdLst/>
            <a:ahLst/>
            <a:cxnLst/>
            <a:rect r="r" b="b" t="t" l="l"/>
            <a:pathLst>
              <a:path h="1473387" w="6642316">
                <a:moveTo>
                  <a:pt x="0" y="0"/>
                </a:moveTo>
                <a:lnTo>
                  <a:pt x="6642316" y="0"/>
                </a:lnTo>
                <a:lnTo>
                  <a:pt x="6642316" y="1473387"/>
                </a:lnTo>
                <a:lnTo>
                  <a:pt x="0" y="147338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4214426" y="2495597"/>
            <a:ext cx="1138683" cy="873680"/>
          </a:xfrm>
          <a:custGeom>
            <a:avLst/>
            <a:gdLst/>
            <a:ahLst/>
            <a:cxnLst/>
            <a:rect r="r" b="b" t="t" l="l"/>
            <a:pathLst>
              <a:path h="873680" w="1138683">
                <a:moveTo>
                  <a:pt x="0" y="0"/>
                </a:moveTo>
                <a:lnTo>
                  <a:pt x="1138683" y="0"/>
                </a:lnTo>
                <a:lnTo>
                  <a:pt x="1138683" y="873680"/>
                </a:lnTo>
                <a:lnTo>
                  <a:pt x="0" y="87368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15361319" y="7689177"/>
            <a:ext cx="1138683" cy="873680"/>
          </a:xfrm>
          <a:custGeom>
            <a:avLst/>
            <a:gdLst/>
            <a:ahLst/>
            <a:cxnLst/>
            <a:rect r="r" b="b" t="t" l="l"/>
            <a:pathLst>
              <a:path h="873680" w="1138683">
                <a:moveTo>
                  <a:pt x="0" y="0"/>
                </a:moveTo>
                <a:lnTo>
                  <a:pt x="1138682" y="0"/>
                </a:lnTo>
                <a:lnTo>
                  <a:pt x="1138682" y="873680"/>
                </a:lnTo>
                <a:lnTo>
                  <a:pt x="0" y="87368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3" id="13"/>
          <p:cNvSpPr txBox="true"/>
          <p:nvPr/>
        </p:nvSpPr>
        <p:spPr>
          <a:xfrm rot="0">
            <a:off x="1590853" y="4009338"/>
            <a:ext cx="15106293" cy="2344524"/>
          </a:xfrm>
          <a:prstGeom prst="rect">
            <a:avLst/>
          </a:prstGeom>
        </p:spPr>
        <p:txBody>
          <a:bodyPr anchor="t" rtlCol="false" tIns="0" lIns="0" bIns="0" rIns="0">
            <a:spAutoFit/>
          </a:bodyPr>
          <a:lstStyle/>
          <a:p>
            <a:pPr algn="ctr">
              <a:lnSpc>
                <a:spcPts val="18301"/>
              </a:lnSpc>
            </a:pPr>
            <a:r>
              <a:rPr lang="en-US" sz="15914">
                <a:solidFill>
                  <a:srgbClr val="FFFFFF"/>
                </a:solidFill>
                <a:latin typeface="TS Damas Sans"/>
                <a:ea typeface="TS Damas Sans"/>
                <a:cs typeface="TS Damas Sans"/>
                <a:sym typeface="TS Damas Sans"/>
              </a:rPr>
              <a:t>TERIMA KASIH</a:t>
            </a:r>
          </a:p>
        </p:txBody>
      </p:sp>
      <p:sp>
        <p:nvSpPr>
          <p:cNvPr name="TextBox 14" id="14"/>
          <p:cNvSpPr txBox="true"/>
          <p:nvPr/>
        </p:nvSpPr>
        <p:spPr>
          <a:xfrm rot="0">
            <a:off x="1192832" y="838408"/>
            <a:ext cx="5923912" cy="355600"/>
          </a:xfrm>
          <a:prstGeom prst="rect">
            <a:avLst/>
          </a:prstGeom>
        </p:spPr>
        <p:txBody>
          <a:bodyPr anchor="t" rtlCol="false" tIns="0" lIns="0" bIns="0" rIns="0">
            <a:spAutoFit/>
          </a:bodyPr>
          <a:lstStyle/>
          <a:p>
            <a:pPr algn="ctr">
              <a:lnSpc>
                <a:spcPts val="2900"/>
              </a:lnSpc>
            </a:pPr>
            <a:r>
              <a:rPr lang="en-US" b="true" sz="2000" spc="100">
                <a:solidFill>
                  <a:srgbClr val="0B5298"/>
                </a:solidFill>
                <a:latin typeface="Ruda Bold"/>
                <a:ea typeface="Ruda Bold"/>
                <a:cs typeface="Ruda Bold"/>
                <a:sym typeface="Ruda Bold"/>
              </a:rPr>
              <a:t>Universitas Fauget | Teknologi Informasi</a:t>
            </a:r>
          </a:p>
        </p:txBody>
      </p:sp>
      <p:sp>
        <p:nvSpPr>
          <p:cNvPr name="TextBox 15" id="15"/>
          <p:cNvSpPr txBox="true"/>
          <p:nvPr/>
        </p:nvSpPr>
        <p:spPr>
          <a:xfrm rot="0">
            <a:off x="13301116" y="9051925"/>
            <a:ext cx="3762402" cy="355600"/>
          </a:xfrm>
          <a:prstGeom prst="rect">
            <a:avLst/>
          </a:prstGeom>
        </p:spPr>
        <p:txBody>
          <a:bodyPr anchor="t" rtlCol="false" tIns="0" lIns="0" bIns="0" rIns="0">
            <a:spAutoFit/>
          </a:bodyPr>
          <a:lstStyle/>
          <a:p>
            <a:pPr algn="ctr">
              <a:lnSpc>
                <a:spcPts val="2900"/>
              </a:lnSpc>
            </a:pPr>
            <a:r>
              <a:rPr lang="en-US" b="true" sz="2000" spc="100">
                <a:solidFill>
                  <a:srgbClr val="0B5298"/>
                </a:solidFill>
                <a:latin typeface="Ruda Bold"/>
                <a:ea typeface="Ruda Bold"/>
                <a:cs typeface="Ruda Bold"/>
                <a:sym typeface="Ruda Bold"/>
              </a:rPr>
              <a:t>Oleh : Muhammad Patel</a:t>
            </a:r>
          </a:p>
        </p:txBody>
      </p:sp>
      <p:sp>
        <p:nvSpPr>
          <p:cNvPr name="TextBox 16" id="16"/>
          <p:cNvSpPr txBox="true"/>
          <p:nvPr/>
        </p:nvSpPr>
        <p:spPr>
          <a:xfrm rot="0">
            <a:off x="6464796" y="2921602"/>
            <a:ext cx="5358407" cy="790575"/>
          </a:xfrm>
          <a:prstGeom prst="rect">
            <a:avLst/>
          </a:prstGeom>
        </p:spPr>
        <p:txBody>
          <a:bodyPr anchor="t" rtlCol="false" tIns="0" lIns="0" bIns="0" rIns="0">
            <a:spAutoFit/>
          </a:bodyPr>
          <a:lstStyle/>
          <a:p>
            <a:pPr algn="ctr">
              <a:lnSpc>
                <a:spcPts val="6525"/>
              </a:lnSpc>
            </a:pPr>
            <a:r>
              <a:rPr lang="en-US" b="true" sz="4500" spc="1260">
                <a:solidFill>
                  <a:srgbClr val="FFFFFF"/>
                </a:solidFill>
                <a:latin typeface="Ruda Bold"/>
                <a:ea typeface="Ruda Bold"/>
                <a:cs typeface="Ruda Bold"/>
                <a:sym typeface="Ruda Bold"/>
              </a:rPr>
              <a:t>Presentasi</a:t>
            </a:r>
          </a:p>
        </p:txBody>
      </p:sp>
      <p:sp>
        <p:nvSpPr>
          <p:cNvPr name="TextBox 17" id="17"/>
          <p:cNvSpPr txBox="true"/>
          <p:nvPr/>
        </p:nvSpPr>
        <p:spPr>
          <a:xfrm rot="0">
            <a:off x="16500001" y="675267"/>
            <a:ext cx="1031784" cy="701675"/>
          </a:xfrm>
          <a:prstGeom prst="rect">
            <a:avLst/>
          </a:prstGeom>
        </p:spPr>
        <p:txBody>
          <a:bodyPr anchor="t" rtlCol="false" tIns="0" lIns="0" bIns="0" rIns="0">
            <a:spAutoFit/>
          </a:bodyPr>
          <a:lstStyle/>
          <a:p>
            <a:pPr algn="ctr">
              <a:lnSpc>
                <a:spcPts val="5799"/>
              </a:lnSpc>
            </a:pPr>
            <a:r>
              <a:rPr lang="en-US" b="true" sz="3999" spc="199">
                <a:solidFill>
                  <a:srgbClr val="0B5298"/>
                </a:solidFill>
                <a:latin typeface="Ruda Bold"/>
                <a:ea typeface="Ruda Bold"/>
                <a:cs typeface="Ruda Bold"/>
                <a:sym typeface="Ruda Bold"/>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DAGnTfmJ1WU</dc:identifier>
  <dcterms:modified xsi:type="dcterms:W3CDTF">2011-08-01T06:04:30Z</dcterms:modified>
  <cp:revision>1</cp:revision>
  <dc:title>PPT PAKET C_KELOMPOK 1</dc:title>
</cp:coreProperties>
</file>