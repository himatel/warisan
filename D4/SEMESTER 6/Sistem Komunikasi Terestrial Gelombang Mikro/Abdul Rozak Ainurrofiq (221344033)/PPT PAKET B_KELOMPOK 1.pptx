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S Damas Sans" charset="1" panose="00000500000000000000"/>
      <p:regular r:id="rId20"/>
    </p:embeddedFont>
    <p:embeddedFont>
      <p:font typeface="Ruda Bold" charset="1" panose="02000000000000000000"/>
      <p:regular r:id="rId21"/>
    </p:embeddedFont>
    <p:embeddedFont>
      <p:font typeface="Ruda" charset="1" panose="02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1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18.jpe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 Id="rId8" Target="../media/image15.png" Type="http://schemas.openxmlformats.org/officeDocument/2006/relationships/image"/><Relationship Id="rId9"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2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12.png" Type="http://schemas.openxmlformats.org/officeDocument/2006/relationships/image"/><Relationship Id="rId7" Target="../media/image23.pn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2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8.png" Type="http://schemas.openxmlformats.org/officeDocument/2006/relationships/image"/><Relationship Id="rId6" Target="../media/image26.png" Type="http://schemas.openxmlformats.org/officeDocument/2006/relationships/image"/><Relationship Id="rId7" Target="../media/image27.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 id="6"/>
          <p:cNvSpPr txBox="true"/>
          <p:nvPr/>
        </p:nvSpPr>
        <p:spPr>
          <a:xfrm rot="0">
            <a:off x="1335602" y="2463742"/>
            <a:ext cx="15106293"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SISTEM TRANSMISI SDH MULTI LAYANAN</a:t>
            </a:r>
          </a:p>
        </p:txBody>
      </p:sp>
      <p:sp>
        <p:nvSpPr>
          <p:cNvPr name="TextBox 7" id="7"/>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01</a:t>
            </a:r>
          </a:p>
        </p:txBody>
      </p:sp>
      <p:grpSp>
        <p:nvGrpSpPr>
          <p:cNvPr name="Group 8" id="8"/>
          <p:cNvGrpSpPr/>
          <p:nvPr/>
        </p:nvGrpSpPr>
        <p:grpSpPr>
          <a:xfrm rot="0">
            <a:off x="11110170" y="8248579"/>
            <a:ext cx="6602933" cy="1808068"/>
            <a:chOff x="0" y="0"/>
            <a:chExt cx="1739044" cy="476199"/>
          </a:xfrm>
        </p:grpSpPr>
        <p:sp>
          <p:nvSpPr>
            <p:cNvPr name="Freeform 9" id="9"/>
            <p:cNvSpPr/>
            <p:nvPr/>
          </p:nvSpPr>
          <p:spPr>
            <a:xfrm flipH="false" flipV="false" rot="0">
              <a:off x="0" y="0"/>
              <a:ext cx="1739044" cy="476199"/>
            </a:xfrm>
            <a:custGeom>
              <a:avLst/>
              <a:gdLst/>
              <a:ahLst/>
              <a:cxnLst/>
              <a:rect r="r" b="b" t="t" l="l"/>
              <a:pathLst>
                <a:path h="476199" w="1739044">
                  <a:moveTo>
                    <a:pt x="59797" y="0"/>
                  </a:moveTo>
                  <a:lnTo>
                    <a:pt x="1679247" y="0"/>
                  </a:lnTo>
                  <a:cubicBezTo>
                    <a:pt x="1695106" y="0"/>
                    <a:pt x="1710316" y="6300"/>
                    <a:pt x="1721530" y="17514"/>
                  </a:cubicBezTo>
                  <a:cubicBezTo>
                    <a:pt x="1732744" y="28728"/>
                    <a:pt x="1739044" y="43938"/>
                    <a:pt x="1739044" y="59797"/>
                  </a:cubicBezTo>
                  <a:lnTo>
                    <a:pt x="1739044" y="416401"/>
                  </a:lnTo>
                  <a:cubicBezTo>
                    <a:pt x="1739044" y="449427"/>
                    <a:pt x="1712272" y="476199"/>
                    <a:pt x="1679247" y="476199"/>
                  </a:cubicBezTo>
                  <a:lnTo>
                    <a:pt x="59797" y="476199"/>
                  </a:lnTo>
                  <a:cubicBezTo>
                    <a:pt x="26772" y="476199"/>
                    <a:pt x="0" y="449427"/>
                    <a:pt x="0" y="416401"/>
                  </a:cubicBezTo>
                  <a:lnTo>
                    <a:pt x="0" y="59797"/>
                  </a:lnTo>
                  <a:cubicBezTo>
                    <a:pt x="0" y="26772"/>
                    <a:pt x="26772" y="0"/>
                    <a:pt x="59797" y="0"/>
                  </a:cubicBezTo>
                  <a:close/>
                </a:path>
              </a:pathLst>
            </a:custGeom>
            <a:solidFill>
              <a:srgbClr val="B2D0EC"/>
            </a:solidFill>
          </p:spPr>
        </p:sp>
        <p:sp>
          <p:nvSpPr>
            <p:cNvPr name="TextBox 10" id="10"/>
            <p:cNvSpPr txBox="true"/>
            <p:nvPr/>
          </p:nvSpPr>
          <p:spPr>
            <a:xfrm>
              <a:off x="0" y="-57150"/>
              <a:ext cx="1739044" cy="533349"/>
            </a:xfrm>
            <a:prstGeom prst="rect">
              <a:avLst/>
            </a:prstGeom>
          </p:spPr>
          <p:txBody>
            <a:bodyPr anchor="ctr" rtlCol="false" tIns="50800" lIns="50800" bIns="50800" rIns="50800"/>
            <a:lstStyle/>
            <a:p>
              <a:pPr algn="ctr">
                <a:lnSpc>
                  <a:spcPts val="2900"/>
                </a:lnSpc>
              </a:pPr>
            </a:p>
          </p:txBody>
        </p:sp>
      </p:grpSp>
      <p:grpSp>
        <p:nvGrpSpPr>
          <p:cNvPr name="Group 11" id="11"/>
          <p:cNvGrpSpPr/>
          <p:nvPr/>
        </p:nvGrpSpPr>
        <p:grpSpPr>
          <a:xfrm rot="0">
            <a:off x="6644686" y="3898842"/>
            <a:ext cx="4054512" cy="730237"/>
            <a:chOff x="0" y="0"/>
            <a:chExt cx="1067855" cy="192326"/>
          </a:xfrm>
        </p:grpSpPr>
        <p:sp>
          <p:nvSpPr>
            <p:cNvPr name="Freeform 12" id="12"/>
            <p:cNvSpPr/>
            <p:nvPr/>
          </p:nvSpPr>
          <p:spPr>
            <a:xfrm flipH="false" flipV="false" rot="0">
              <a:off x="0" y="0"/>
              <a:ext cx="1067855" cy="192326"/>
            </a:xfrm>
            <a:custGeom>
              <a:avLst/>
              <a:gdLst/>
              <a:ahLst/>
              <a:cxnLst/>
              <a:rect r="r" b="b" t="t" l="l"/>
              <a:pathLst>
                <a:path h="192326" w="1067855">
                  <a:moveTo>
                    <a:pt x="96163" y="0"/>
                  </a:moveTo>
                  <a:lnTo>
                    <a:pt x="971692" y="0"/>
                  </a:lnTo>
                  <a:cubicBezTo>
                    <a:pt x="997196" y="0"/>
                    <a:pt x="1021656" y="10131"/>
                    <a:pt x="1039690" y="28165"/>
                  </a:cubicBezTo>
                  <a:cubicBezTo>
                    <a:pt x="1057724" y="46199"/>
                    <a:pt x="1067855" y="70659"/>
                    <a:pt x="1067855" y="96163"/>
                  </a:cubicBezTo>
                  <a:lnTo>
                    <a:pt x="1067855" y="96163"/>
                  </a:lnTo>
                  <a:cubicBezTo>
                    <a:pt x="1067855" y="121667"/>
                    <a:pt x="1057724" y="146126"/>
                    <a:pt x="1039690" y="164160"/>
                  </a:cubicBezTo>
                  <a:cubicBezTo>
                    <a:pt x="1021656" y="182194"/>
                    <a:pt x="997196" y="192326"/>
                    <a:pt x="971692" y="192326"/>
                  </a:cubicBezTo>
                  <a:lnTo>
                    <a:pt x="96163" y="192326"/>
                  </a:lnTo>
                  <a:cubicBezTo>
                    <a:pt x="70659" y="192326"/>
                    <a:pt x="46199" y="182194"/>
                    <a:pt x="28165" y="164160"/>
                  </a:cubicBezTo>
                  <a:cubicBezTo>
                    <a:pt x="10131" y="146126"/>
                    <a:pt x="0" y="121667"/>
                    <a:pt x="0" y="96163"/>
                  </a:cubicBezTo>
                  <a:lnTo>
                    <a:pt x="0" y="96163"/>
                  </a:lnTo>
                  <a:cubicBezTo>
                    <a:pt x="0" y="70659"/>
                    <a:pt x="10131" y="46199"/>
                    <a:pt x="28165" y="28165"/>
                  </a:cubicBezTo>
                  <a:cubicBezTo>
                    <a:pt x="46199" y="10131"/>
                    <a:pt x="70659" y="0"/>
                    <a:pt x="96163" y="0"/>
                  </a:cubicBezTo>
                  <a:close/>
                </a:path>
              </a:pathLst>
            </a:custGeom>
            <a:solidFill>
              <a:srgbClr val="B2D0EC"/>
            </a:solidFill>
          </p:spPr>
        </p:sp>
        <p:sp>
          <p:nvSpPr>
            <p:cNvPr name="TextBox 13" id="13"/>
            <p:cNvSpPr txBox="true"/>
            <p:nvPr/>
          </p:nvSpPr>
          <p:spPr>
            <a:xfrm>
              <a:off x="0" y="-57150"/>
              <a:ext cx="1067855" cy="249476"/>
            </a:xfrm>
            <a:prstGeom prst="rect">
              <a:avLst/>
            </a:prstGeom>
          </p:spPr>
          <p:txBody>
            <a:bodyPr anchor="ctr" rtlCol="false" tIns="50800" lIns="50800" bIns="50800" rIns="50800"/>
            <a:lstStyle/>
            <a:p>
              <a:pPr algn="ctr">
                <a:lnSpc>
                  <a:spcPts val="2900"/>
                </a:lnSpc>
              </a:pPr>
            </a:p>
          </p:txBody>
        </p:sp>
      </p:grpSp>
      <p:sp>
        <p:nvSpPr>
          <p:cNvPr name="Freeform 14" id="14"/>
          <p:cNvSpPr/>
          <p:nvPr/>
        </p:nvSpPr>
        <p:spPr>
          <a:xfrm flipH="false" flipV="false" rot="0">
            <a:off x="-1384099" y="66811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16441896" y="4667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6" id="16"/>
          <p:cNvSpPr txBox="true"/>
          <p:nvPr/>
        </p:nvSpPr>
        <p:spPr>
          <a:xfrm rot="0">
            <a:off x="11373100" y="8464035"/>
            <a:ext cx="7067300" cy="1492876"/>
          </a:xfrm>
          <a:prstGeom prst="rect">
            <a:avLst/>
          </a:prstGeom>
        </p:spPr>
        <p:txBody>
          <a:bodyPr anchor="t" rtlCol="false" tIns="0" lIns="0" bIns="0" rIns="0">
            <a:spAutoFit/>
          </a:bodyPr>
          <a:lstStyle/>
          <a:p>
            <a:pPr algn="l">
              <a:lnSpc>
                <a:spcPts val="4031"/>
              </a:lnSpc>
            </a:pPr>
            <a:r>
              <a:rPr lang="en-US" sz="2780" spc="139" b="true">
                <a:solidFill>
                  <a:srgbClr val="0B5298"/>
                </a:solidFill>
                <a:latin typeface="Ruda Bold"/>
                <a:ea typeface="Ruda Bold"/>
                <a:cs typeface="Ruda Bold"/>
                <a:sym typeface="Ruda Bold"/>
              </a:rPr>
              <a:t>Dosen : Vitrasia, ST., MT</a:t>
            </a:r>
          </a:p>
          <a:p>
            <a:pPr algn="l">
              <a:lnSpc>
                <a:spcPts val="4031"/>
              </a:lnSpc>
            </a:pPr>
            <a:r>
              <a:rPr lang="en-US" sz="2780" spc="139" b="true">
                <a:solidFill>
                  <a:srgbClr val="0B5298"/>
                </a:solidFill>
                <a:latin typeface="Ruda Bold"/>
                <a:ea typeface="Ruda Bold"/>
                <a:cs typeface="Ruda Bold"/>
                <a:sym typeface="Ruda Bold"/>
              </a:rPr>
              <a:t>               Hanny Madiawati,SST.,MT</a:t>
            </a:r>
          </a:p>
          <a:p>
            <a:pPr algn="ctr">
              <a:lnSpc>
                <a:spcPts val="4031"/>
              </a:lnSpc>
            </a:pPr>
          </a:p>
        </p:txBody>
      </p:sp>
      <p:sp>
        <p:nvSpPr>
          <p:cNvPr name="TextBox 17" id="17"/>
          <p:cNvSpPr txBox="true"/>
          <p:nvPr/>
        </p:nvSpPr>
        <p:spPr>
          <a:xfrm rot="0">
            <a:off x="6750353" y="3959160"/>
            <a:ext cx="3843178" cy="533400"/>
          </a:xfrm>
          <a:prstGeom prst="rect">
            <a:avLst/>
          </a:prstGeom>
        </p:spPr>
        <p:txBody>
          <a:bodyPr anchor="t" rtlCol="false" tIns="0" lIns="0" bIns="0" rIns="0">
            <a:spAutoFit/>
          </a:bodyPr>
          <a:lstStyle/>
          <a:p>
            <a:pPr algn="ctr">
              <a:lnSpc>
                <a:spcPts val="4350"/>
              </a:lnSpc>
            </a:pPr>
            <a:r>
              <a:rPr lang="en-US" b="true" sz="3000" spc="150">
                <a:solidFill>
                  <a:srgbClr val="0B5298"/>
                </a:solidFill>
                <a:latin typeface="Ruda Bold"/>
                <a:ea typeface="Ruda Bold"/>
                <a:cs typeface="Ruda Bold"/>
                <a:sym typeface="Ruda Bold"/>
              </a:rPr>
              <a:t>Disusun Oleh:</a:t>
            </a:r>
          </a:p>
        </p:txBody>
      </p:sp>
      <p:sp>
        <p:nvSpPr>
          <p:cNvPr name="TextBox 18" id="18"/>
          <p:cNvSpPr txBox="true"/>
          <p:nvPr/>
        </p:nvSpPr>
        <p:spPr>
          <a:xfrm rot="0">
            <a:off x="16652401" y="8276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01</a:t>
            </a:r>
          </a:p>
        </p:txBody>
      </p:sp>
      <p:grpSp>
        <p:nvGrpSpPr>
          <p:cNvPr name="Group 19" id="19"/>
          <p:cNvGrpSpPr/>
          <p:nvPr/>
        </p:nvGrpSpPr>
        <p:grpSpPr>
          <a:xfrm rot="0">
            <a:off x="1072752" y="615965"/>
            <a:ext cx="6397268" cy="1359730"/>
            <a:chOff x="0" y="0"/>
            <a:chExt cx="8529691" cy="1812973"/>
          </a:xfrm>
        </p:grpSpPr>
        <p:grpSp>
          <p:nvGrpSpPr>
            <p:cNvPr name="Group 20" id="20"/>
            <p:cNvGrpSpPr/>
            <p:nvPr/>
          </p:nvGrpSpPr>
          <p:grpSpPr>
            <a:xfrm rot="0">
              <a:off x="1957668" y="321092"/>
              <a:ext cx="5471577" cy="772857"/>
              <a:chOff x="0" y="0"/>
              <a:chExt cx="1080805" cy="152663"/>
            </a:xfrm>
          </p:grpSpPr>
          <p:sp>
            <p:nvSpPr>
              <p:cNvPr name="Freeform 21" id="21"/>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22" id="22"/>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23" id="23"/>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24" id="24"/>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
        <p:nvSpPr>
          <p:cNvPr name="TextBox 25" id="25"/>
          <p:cNvSpPr txBox="true"/>
          <p:nvPr/>
        </p:nvSpPr>
        <p:spPr>
          <a:xfrm rot="0">
            <a:off x="5452137" y="4952929"/>
            <a:ext cx="6439609" cy="3295650"/>
          </a:xfrm>
          <a:prstGeom prst="rect">
            <a:avLst/>
          </a:prstGeom>
        </p:spPr>
        <p:txBody>
          <a:bodyPr anchor="t" rtlCol="false" tIns="0" lIns="0" bIns="0" rIns="0">
            <a:spAutoFit/>
          </a:bodyPr>
          <a:lstStyle/>
          <a:p>
            <a:pPr algn="ctr">
              <a:lnSpc>
                <a:spcPts val="4350"/>
              </a:lnSpc>
            </a:pPr>
            <a:r>
              <a:rPr lang="en-US" b="true" sz="3000" spc="150">
                <a:solidFill>
                  <a:srgbClr val="EBEBE9"/>
                </a:solidFill>
                <a:latin typeface="Ruda Bold"/>
                <a:ea typeface="Ruda Bold"/>
                <a:cs typeface="Ruda Bold"/>
                <a:sym typeface="Ruda Bold"/>
              </a:rPr>
              <a:t>Kelompok 1/3B-TNK</a:t>
            </a:r>
          </a:p>
          <a:p>
            <a:pPr algn="ctr">
              <a:lnSpc>
                <a:spcPts val="4350"/>
              </a:lnSpc>
            </a:pPr>
            <a:r>
              <a:rPr lang="en-US" b="true" sz="3000" spc="150">
                <a:solidFill>
                  <a:srgbClr val="EBEBE9"/>
                </a:solidFill>
                <a:latin typeface="Ruda Bold"/>
                <a:ea typeface="Ruda Bold"/>
                <a:cs typeface="Ruda Bold"/>
                <a:sym typeface="Ruda Bold"/>
              </a:rPr>
              <a:t>Abdul Rozak A (221344033)</a:t>
            </a:r>
          </a:p>
          <a:p>
            <a:pPr algn="ctr">
              <a:lnSpc>
                <a:spcPts val="4350"/>
              </a:lnSpc>
            </a:pPr>
            <a:r>
              <a:rPr lang="en-US" b="true" sz="3000" spc="150">
                <a:solidFill>
                  <a:srgbClr val="EBEBE9"/>
                </a:solidFill>
                <a:latin typeface="Ruda Bold"/>
                <a:ea typeface="Ruda Bold"/>
                <a:cs typeface="Ruda Bold"/>
                <a:sym typeface="Ruda Bold"/>
              </a:rPr>
              <a:t>Adelia Puspita (221344034</a:t>
            </a:r>
          </a:p>
          <a:p>
            <a:pPr algn="ctr">
              <a:lnSpc>
                <a:spcPts val="4350"/>
              </a:lnSpc>
            </a:pPr>
            <a:r>
              <a:rPr lang="en-US" b="true" sz="3000" spc="150">
                <a:solidFill>
                  <a:srgbClr val="EBEBE9"/>
                </a:solidFill>
                <a:latin typeface="Ruda Bold"/>
                <a:ea typeface="Ruda Bold"/>
                <a:cs typeface="Ruda Bold"/>
                <a:sym typeface="Ruda Bold"/>
              </a:rPr>
              <a:t>Aldizan Putra S (221344035)</a:t>
            </a:r>
          </a:p>
          <a:p>
            <a:pPr algn="ctr">
              <a:lnSpc>
                <a:spcPts val="4350"/>
              </a:lnSpc>
            </a:pPr>
            <a:r>
              <a:rPr lang="en-US" b="true" sz="3000" spc="150">
                <a:solidFill>
                  <a:srgbClr val="EBEBE9"/>
                </a:solidFill>
                <a:latin typeface="Ruda Bold"/>
                <a:ea typeface="Ruda Bold"/>
                <a:cs typeface="Ruda Bold"/>
                <a:sym typeface="Ruda Bold"/>
              </a:rPr>
              <a:t>Annisa Juliani D (221344036)</a:t>
            </a:r>
          </a:p>
          <a:p>
            <a:pPr algn="ctr">
              <a:lnSpc>
                <a:spcPts val="4350"/>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658947" y="3212024"/>
            <a:ext cx="15356946" cy="3775305"/>
            <a:chOff x="0" y="0"/>
            <a:chExt cx="4044628" cy="994319"/>
          </a:xfrm>
        </p:grpSpPr>
        <p:sp>
          <p:nvSpPr>
            <p:cNvPr name="Freeform 4" id="4"/>
            <p:cNvSpPr/>
            <p:nvPr/>
          </p:nvSpPr>
          <p:spPr>
            <a:xfrm flipH="false" flipV="false" rot="0">
              <a:off x="0" y="0"/>
              <a:ext cx="4044628" cy="994319"/>
            </a:xfrm>
            <a:custGeom>
              <a:avLst/>
              <a:gdLst/>
              <a:ahLst/>
              <a:cxnLst/>
              <a:rect r="r" b="b" t="t" l="l"/>
              <a:pathLst>
                <a:path h="994319" w="4044628">
                  <a:moveTo>
                    <a:pt x="25711" y="0"/>
                  </a:moveTo>
                  <a:lnTo>
                    <a:pt x="4018917" y="0"/>
                  </a:lnTo>
                  <a:cubicBezTo>
                    <a:pt x="4025736" y="0"/>
                    <a:pt x="4032275" y="2709"/>
                    <a:pt x="4037097" y="7530"/>
                  </a:cubicBezTo>
                  <a:cubicBezTo>
                    <a:pt x="4041919" y="12352"/>
                    <a:pt x="4044628" y="18892"/>
                    <a:pt x="4044628" y="25711"/>
                  </a:cubicBezTo>
                  <a:lnTo>
                    <a:pt x="4044628" y="968608"/>
                  </a:lnTo>
                  <a:cubicBezTo>
                    <a:pt x="4044628" y="975427"/>
                    <a:pt x="4041919" y="981967"/>
                    <a:pt x="4037097" y="986789"/>
                  </a:cubicBezTo>
                  <a:cubicBezTo>
                    <a:pt x="4032275" y="991610"/>
                    <a:pt x="4025736" y="994319"/>
                    <a:pt x="4018917" y="994319"/>
                  </a:cubicBezTo>
                  <a:lnTo>
                    <a:pt x="25711" y="994319"/>
                  </a:lnTo>
                  <a:cubicBezTo>
                    <a:pt x="18892" y="994319"/>
                    <a:pt x="12352" y="991610"/>
                    <a:pt x="7530" y="986789"/>
                  </a:cubicBezTo>
                  <a:cubicBezTo>
                    <a:pt x="2709" y="981967"/>
                    <a:pt x="0" y="975427"/>
                    <a:pt x="0" y="968608"/>
                  </a:cubicBezTo>
                  <a:lnTo>
                    <a:pt x="0" y="25711"/>
                  </a:lnTo>
                  <a:cubicBezTo>
                    <a:pt x="0" y="18892"/>
                    <a:pt x="2709" y="12352"/>
                    <a:pt x="7530" y="7530"/>
                  </a:cubicBezTo>
                  <a:cubicBezTo>
                    <a:pt x="12352" y="2709"/>
                    <a:pt x="18892" y="0"/>
                    <a:pt x="25711" y="0"/>
                  </a:cubicBezTo>
                  <a:close/>
                </a:path>
              </a:pathLst>
            </a:custGeom>
            <a:solidFill>
              <a:srgbClr val="B2D0EC"/>
            </a:solidFill>
          </p:spPr>
        </p:sp>
        <p:sp>
          <p:nvSpPr>
            <p:cNvPr name="TextBox 5" id="5"/>
            <p:cNvSpPr txBox="true"/>
            <p:nvPr/>
          </p:nvSpPr>
          <p:spPr>
            <a:xfrm>
              <a:off x="0" y="-57150"/>
              <a:ext cx="4044628" cy="1051469"/>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967000" y="2201820"/>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3105683" y="1952160"/>
            <a:ext cx="12076634"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TUJUAN</a:t>
            </a:r>
          </a:p>
        </p:txBody>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02</a:t>
            </a:r>
          </a:p>
        </p:txBody>
      </p:sp>
      <p:sp>
        <p:nvSpPr>
          <p:cNvPr name="TextBox 12" id="12"/>
          <p:cNvSpPr txBox="true"/>
          <p:nvPr/>
        </p:nvSpPr>
        <p:spPr>
          <a:xfrm rot="0">
            <a:off x="2177506" y="3389825"/>
            <a:ext cx="14322495" cy="2657475"/>
          </a:xfrm>
          <a:prstGeom prst="rect">
            <a:avLst/>
          </a:prstGeom>
        </p:spPr>
        <p:txBody>
          <a:bodyPr anchor="t" rtlCol="false" tIns="0" lIns="0" bIns="0" rIns="0">
            <a:spAutoFit/>
          </a:bodyPr>
          <a:lstStyle/>
          <a:p>
            <a:pPr algn="l" marL="647700" indent="-323850" lvl="1">
              <a:lnSpc>
                <a:spcPts val="4200"/>
              </a:lnSpc>
              <a:buAutoNum type="arabicPeriod" startAt="1"/>
            </a:pPr>
            <a:r>
              <a:rPr lang="en-US" sz="3000">
                <a:solidFill>
                  <a:srgbClr val="0B5298"/>
                </a:solidFill>
                <a:latin typeface="Ruda"/>
                <a:ea typeface="Ruda"/>
                <a:cs typeface="Ruda"/>
                <a:sym typeface="Ruda"/>
              </a:rPr>
              <a:t>Mengerti dan memahami konsep infrastruktur telekomunikasi berbasis teknologi SDH Standar ITU.G703 </a:t>
            </a:r>
          </a:p>
          <a:p>
            <a:pPr algn="l" marL="647700" indent="-323850" lvl="1">
              <a:lnSpc>
                <a:spcPts val="4200"/>
              </a:lnSpc>
              <a:buAutoNum type="arabicPeriod" startAt="1"/>
            </a:pPr>
            <a:r>
              <a:rPr lang="en-US" sz="3000">
                <a:solidFill>
                  <a:srgbClr val="0B5298"/>
                </a:solidFill>
                <a:latin typeface="Ruda"/>
                <a:ea typeface="Ruda"/>
                <a:cs typeface="Ruda"/>
                <a:sym typeface="Ruda"/>
              </a:rPr>
              <a:t>Memahami tentang sistem transmisi SDH multi layanan</a:t>
            </a:r>
          </a:p>
          <a:p>
            <a:pPr algn="l" marL="647700" indent="-323850" lvl="1">
              <a:lnSpc>
                <a:spcPts val="4200"/>
              </a:lnSpc>
              <a:buAutoNum type="arabicPeriod" startAt="1"/>
            </a:pPr>
            <a:r>
              <a:rPr lang="en-US" sz="3000">
                <a:solidFill>
                  <a:srgbClr val="0B5298"/>
                </a:solidFill>
                <a:latin typeface="Ruda"/>
                <a:ea typeface="Ruda"/>
                <a:cs typeface="Ruda"/>
                <a:sym typeface="Ruda"/>
              </a:rPr>
              <a:t>Memahami topologi jaringan point to point</a:t>
            </a:r>
          </a:p>
          <a:p>
            <a:pPr algn="l" marL="647700" indent="-323850" lvl="1">
              <a:lnSpc>
                <a:spcPts val="4200"/>
              </a:lnSpc>
              <a:buAutoNum type="arabicPeriod" startAt="1"/>
            </a:pPr>
            <a:r>
              <a:rPr lang="en-US" sz="3000">
                <a:solidFill>
                  <a:srgbClr val="0B5298"/>
                </a:solidFill>
                <a:latin typeface="Ruda"/>
                <a:ea typeface="Ruda"/>
                <a:cs typeface="Ruda"/>
                <a:sym typeface="Ruda"/>
              </a:rPr>
              <a:t>Mengkofigurasi dan mensetting perangkat SDH Multiplexer.</a:t>
            </a:r>
          </a:p>
        </p:txBody>
      </p:sp>
      <p:grpSp>
        <p:nvGrpSpPr>
          <p:cNvPr name="Group 13" id="13"/>
          <p:cNvGrpSpPr/>
          <p:nvPr/>
        </p:nvGrpSpPr>
        <p:grpSpPr>
          <a:xfrm rot="0">
            <a:off x="920352" y="463565"/>
            <a:ext cx="6397268" cy="1359730"/>
            <a:chOff x="0" y="0"/>
            <a:chExt cx="8529691" cy="1812973"/>
          </a:xfrm>
        </p:grpSpPr>
        <p:grpSp>
          <p:nvGrpSpPr>
            <p:cNvPr name="Group 14" id="14"/>
            <p:cNvGrpSpPr/>
            <p:nvPr/>
          </p:nvGrpSpPr>
          <p:grpSpPr>
            <a:xfrm rot="0">
              <a:off x="1957668" y="321092"/>
              <a:ext cx="5471577" cy="772857"/>
              <a:chOff x="0" y="0"/>
              <a:chExt cx="1080805" cy="152663"/>
            </a:xfrm>
          </p:grpSpPr>
          <p:sp>
            <p:nvSpPr>
              <p:cNvPr name="Freeform 15" id="15"/>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6" id="16"/>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7" id="17"/>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8" id="18"/>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3093839" y="3076867"/>
            <a:ext cx="13691342" cy="5049151"/>
            <a:chOff x="0" y="0"/>
            <a:chExt cx="3605950" cy="1329817"/>
          </a:xfrm>
        </p:grpSpPr>
        <p:sp>
          <p:nvSpPr>
            <p:cNvPr name="Freeform 4" id="4"/>
            <p:cNvSpPr/>
            <p:nvPr/>
          </p:nvSpPr>
          <p:spPr>
            <a:xfrm flipH="false" flipV="false" rot="0">
              <a:off x="0" y="0"/>
              <a:ext cx="3605950" cy="1329817"/>
            </a:xfrm>
            <a:custGeom>
              <a:avLst/>
              <a:gdLst/>
              <a:ahLst/>
              <a:cxnLst/>
              <a:rect r="r" b="b" t="t" l="l"/>
              <a:pathLst>
                <a:path h="1329817" w="3605950">
                  <a:moveTo>
                    <a:pt x="28839" y="0"/>
                  </a:moveTo>
                  <a:lnTo>
                    <a:pt x="3577112" y="0"/>
                  </a:lnTo>
                  <a:cubicBezTo>
                    <a:pt x="3593039" y="0"/>
                    <a:pt x="3605950" y="12911"/>
                    <a:pt x="3605950" y="28839"/>
                  </a:cubicBezTo>
                  <a:lnTo>
                    <a:pt x="3605950" y="1300979"/>
                  </a:lnTo>
                  <a:cubicBezTo>
                    <a:pt x="3605950" y="1316906"/>
                    <a:pt x="3593039" y="1329817"/>
                    <a:pt x="3577112" y="1329817"/>
                  </a:cubicBezTo>
                  <a:lnTo>
                    <a:pt x="28839" y="1329817"/>
                  </a:lnTo>
                  <a:cubicBezTo>
                    <a:pt x="12911" y="1329817"/>
                    <a:pt x="0" y="1316906"/>
                    <a:pt x="0" y="1300979"/>
                  </a:cubicBezTo>
                  <a:lnTo>
                    <a:pt x="0" y="28839"/>
                  </a:lnTo>
                  <a:cubicBezTo>
                    <a:pt x="0" y="12911"/>
                    <a:pt x="12911" y="0"/>
                    <a:pt x="28839" y="0"/>
                  </a:cubicBezTo>
                  <a:close/>
                </a:path>
              </a:pathLst>
            </a:custGeom>
            <a:solidFill>
              <a:srgbClr val="B2D0EC"/>
            </a:solidFill>
          </p:spPr>
        </p:sp>
        <p:sp>
          <p:nvSpPr>
            <p:cNvPr name="TextBox 5" id="5"/>
            <p:cNvSpPr txBox="true"/>
            <p:nvPr/>
          </p:nvSpPr>
          <p:spPr>
            <a:xfrm>
              <a:off x="0" y="-57150"/>
              <a:ext cx="3605950" cy="1386967"/>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785293" y="1679511"/>
            <a:ext cx="16230600" cy="1035050"/>
          </a:xfrm>
          <a:prstGeom prst="rect">
            <a:avLst/>
          </a:prstGeom>
        </p:spPr>
        <p:txBody>
          <a:bodyPr anchor="t" rtlCol="false" tIns="0" lIns="0" bIns="0" rIns="0">
            <a:spAutoFit/>
          </a:bodyPr>
          <a:lstStyle/>
          <a:p>
            <a:pPr algn="ctr">
              <a:lnSpc>
                <a:spcPts val="8049"/>
              </a:lnSpc>
            </a:pPr>
            <a:r>
              <a:rPr lang="en-US" sz="6999">
                <a:solidFill>
                  <a:srgbClr val="FFFFFF"/>
                </a:solidFill>
                <a:latin typeface="TS Damas Sans"/>
                <a:ea typeface="TS Damas Sans"/>
                <a:cs typeface="TS Damas Sans"/>
                <a:sym typeface="TS Damas Sans"/>
              </a:rPr>
              <a:t>LINGKUP PEKERJAAN </a:t>
            </a:r>
          </a:p>
        </p:txBody>
      </p:sp>
      <p:sp>
        <p:nvSpPr>
          <p:cNvPr name="Freeform 9" id="9"/>
          <p:cNvSpPr/>
          <p:nvPr/>
        </p:nvSpPr>
        <p:spPr>
          <a:xfrm flipH="false" flipV="false" rot="0">
            <a:off x="623490" y="3447986"/>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1" id="11"/>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03</a:t>
            </a:r>
          </a:p>
        </p:txBody>
      </p:sp>
      <p:sp>
        <p:nvSpPr>
          <p:cNvPr name="TextBox 12" id="12"/>
          <p:cNvSpPr txBox="true"/>
          <p:nvPr/>
        </p:nvSpPr>
        <p:spPr>
          <a:xfrm rot="0">
            <a:off x="3093839" y="3705967"/>
            <a:ext cx="13406162" cy="372427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0B5298"/>
                </a:solidFill>
                <a:latin typeface="Ruda"/>
                <a:ea typeface="Ruda"/>
                <a:cs typeface="Ruda"/>
                <a:sym typeface="Ruda"/>
              </a:rPr>
              <a:t> Mengidentifikasi status dan alarm indicator pada front panel perangkat sistem transmisi SDH.</a:t>
            </a:r>
          </a:p>
          <a:p>
            <a:pPr algn="l" marL="647700" indent="-323850" lvl="1">
              <a:lnSpc>
                <a:spcPts val="4200"/>
              </a:lnSpc>
              <a:buFont typeface="Arial"/>
              <a:buChar char="•"/>
            </a:pPr>
            <a:r>
              <a:rPr lang="en-US" sz="3000">
                <a:solidFill>
                  <a:srgbClr val="0B5298"/>
                </a:solidFill>
                <a:latin typeface="Ruda"/>
                <a:ea typeface="Ruda"/>
                <a:cs typeface="Ruda"/>
                <a:sym typeface="Ruda"/>
              </a:rPr>
              <a:t> Mengukur Level Daya Pemancar Optik dan Level Sensitivitas Penerima Optik. </a:t>
            </a:r>
          </a:p>
          <a:p>
            <a:pPr algn="l" marL="647700" indent="-323850" lvl="1">
              <a:lnSpc>
                <a:spcPts val="4200"/>
              </a:lnSpc>
              <a:buFont typeface="Arial"/>
              <a:buChar char="•"/>
            </a:pPr>
            <a:r>
              <a:rPr lang="en-US" sz="3000">
                <a:solidFill>
                  <a:srgbClr val="0B5298"/>
                </a:solidFill>
                <a:latin typeface="Ruda"/>
                <a:ea typeface="Ruda"/>
                <a:cs typeface="Ruda"/>
                <a:sym typeface="Ruda"/>
              </a:rPr>
              <a:t> Mengukur BERT Sinyal Tributary 2 MB.</a:t>
            </a:r>
          </a:p>
          <a:p>
            <a:pPr algn="l" marL="647700" indent="-323850" lvl="1">
              <a:lnSpc>
                <a:spcPts val="4200"/>
              </a:lnSpc>
              <a:buFont typeface="Arial"/>
              <a:buChar char="•"/>
            </a:pPr>
            <a:r>
              <a:rPr lang="en-US" sz="3000">
                <a:solidFill>
                  <a:srgbClr val="0B5298"/>
                </a:solidFill>
                <a:latin typeface="Ruda"/>
                <a:ea typeface="Ruda"/>
                <a:cs typeface="Ruda"/>
                <a:sym typeface="Ruda"/>
              </a:rPr>
              <a:t> Membangun konektivitas Ethernet melalui Fast Ethernet Interface dan Topologi NMS membangun jaringan topologi Point to Point.</a:t>
            </a:r>
          </a:p>
        </p:txBody>
      </p:sp>
      <p:grpSp>
        <p:nvGrpSpPr>
          <p:cNvPr name="Group 13" id="13"/>
          <p:cNvGrpSpPr/>
          <p:nvPr/>
        </p:nvGrpSpPr>
        <p:grpSpPr>
          <a:xfrm rot="0">
            <a:off x="920352" y="463565"/>
            <a:ext cx="6397268" cy="1359730"/>
            <a:chOff x="0" y="0"/>
            <a:chExt cx="8529691" cy="1812973"/>
          </a:xfrm>
        </p:grpSpPr>
        <p:grpSp>
          <p:nvGrpSpPr>
            <p:cNvPr name="Group 14" id="14"/>
            <p:cNvGrpSpPr/>
            <p:nvPr/>
          </p:nvGrpSpPr>
          <p:grpSpPr>
            <a:xfrm rot="0">
              <a:off x="1957668" y="321092"/>
              <a:ext cx="5471577" cy="772857"/>
              <a:chOff x="0" y="0"/>
              <a:chExt cx="1080805" cy="152663"/>
            </a:xfrm>
          </p:grpSpPr>
          <p:sp>
            <p:nvSpPr>
              <p:cNvPr name="Freeform 15" id="15"/>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6" id="16"/>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7" id="17"/>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8" id="18"/>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3932774" y="1806777"/>
            <a:ext cx="9686714" cy="1168400"/>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a:t>
            </a:r>
            <a:r>
              <a:rPr lang="en-US" sz="3999">
                <a:solidFill>
                  <a:srgbClr val="000000"/>
                </a:solidFill>
                <a:latin typeface="TS Damas Sans"/>
                <a:ea typeface="TS Damas Sans"/>
                <a:cs typeface="TS Damas Sans"/>
                <a:sym typeface="TS Damas Sans"/>
              </a:rPr>
              <a:t>ENGIDENTIFIKASI STATUS DAN ALARM INDICATOR PADA FRONT PANEL PERANGKAT SISTEM TRANSMISI SDH</a:t>
            </a:r>
          </a:p>
        </p:txBody>
      </p:sp>
      <p:sp>
        <p:nvSpPr>
          <p:cNvPr name="TextBox 5" id="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03</a:t>
            </a:r>
          </a:p>
        </p:txBody>
      </p:sp>
      <p:sp>
        <p:nvSpPr>
          <p:cNvPr name="TextBox 6" id="6"/>
          <p:cNvSpPr txBox="true"/>
          <p:nvPr/>
        </p:nvSpPr>
        <p:spPr>
          <a:xfrm rot="0">
            <a:off x="361626" y="3758297"/>
            <a:ext cx="9230401" cy="260350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Tanda rangkaian disamping berhasil: </a:t>
            </a:r>
          </a:p>
          <a:p>
            <a:pPr algn="just">
              <a:lnSpc>
                <a:spcPts val="3499"/>
              </a:lnSpc>
            </a:pPr>
            <a:r>
              <a:rPr lang="en-US" sz="2499">
                <a:solidFill>
                  <a:srgbClr val="000000"/>
                </a:solidFill>
                <a:latin typeface="Ruda"/>
                <a:ea typeface="Ruda"/>
                <a:cs typeface="Ruda"/>
                <a:sym typeface="Ruda"/>
              </a:rPr>
              <a:t>Jika menggunakan OPT A maka pada alarm NOP A harus mati dan sebaliknya. Jika sudah terhubung maka SDH1 dan SDH2 dapat berkomunikasi dengan telephone yang sudah terhubung. </a:t>
            </a:r>
          </a:p>
          <a:p>
            <a:pPr algn="just">
              <a:lnSpc>
                <a:spcPts val="3499"/>
              </a:lnSpc>
            </a:pPr>
          </a:p>
        </p:txBody>
      </p:sp>
      <p:grpSp>
        <p:nvGrpSpPr>
          <p:cNvPr name="Group 7" id="7"/>
          <p:cNvGrpSpPr/>
          <p:nvPr/>
        </p:nvGrpSpPr>
        <p:grpSpPr>
          <a:xfrm rot="0">
            <a:off x="361626" y="371169"/>
            <a:ext cx="6397268" cy="1359730"/>
            <a:chOff x="0" y="0"/>
            <a:chExt cx="8529691" cy="1812973"/>
          </a:xfrm>
        </p:grpSpPr>
        <p:grpSp>
          <p:nvGrpSpPr>
            <p:cNvPr name="Group 8" id="8"/>
            <p:cNvGrpSpPr/>
            <p:nvPr/>
          </p:nvGrpSpPr>
          <p:grpSpPr>
            <a:xfrm rot="0">
              <a:off x="1957668" y="321092"/>
              <a:ext cx="5471577" cy="772857"/>
              <a:chOff x="0" y="0"/>
              <a:chExt cx="1080805" cy="152663"/>
            </a:xfrm>
          </p:grpSpPr>
          <p:sp>
            <p:nvSpPr>
              <p:cNvPr name="Freeform 9" id="9"/>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0" id="10"/>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1" id="11"/>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2" id="12"/>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TextBox 13" id="13"/>
          <p:cNvSpPr txBox="true"/>
          <p:nvPr/>
        </p:nvSpPr>
        <p:spPr>
          <a:xfrm rot="0">
            <a:off x="361626" y="6323698"/>
            <a:ext cx="9839174" cy="347980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 </a:t>
            </a:r>
            <a:r>
              <a:rPr lang="en-US" sz="2499">
                <a:solidFill>
                  <a:srgbClr val="000000"/>
                </a:solidFill>
                <a:latin typeface="Ruda"/>
                <a:ea typeface="Ruda"/>
                <a:cs typeface="Ruda"/>
                <a:sym typeface="Ruda"/>
              </a:rPr>
              <a:t>Setti</a:t>
            </a:r>
            <a:r>
              <a:rPr lang="en-US" sz="2499">
                <a:solidFill>
                  <a:srgbClr val="000000"/>
                </a:solidFill>
                <a:latin typeface="Ruda"/>
                <a:ea typeface="Ruda"/>
                <a:cs typeface="Ruda"/>
                <a:sym typeface="Ruda"/>
              </a:rPr>
              <a:t>ng Ethernet pada PC dengan cara:</a:t>
            </a:r>
          </a:p>
          <a:p>
            <a:pPr algn="just">
              <a:lnSpc>
                <a:spcPts val="3499"/>
              </a:lnSpc>
            </a:pPr>
            <a:r>
              <a:rPr lang="en-US" sz="2499">
                <a:solidFill>
                  <a:srgbClr val="000000"/>
                </a:solidFill>
                <a:latin typeface="Ruda"/>
                <a:ea typeface="Ruda"/>
                <a:cs typeface="Ruda"/>
                <a:sym typeface="Ruda"/>
              </a:rPr>
              <a:t>1. Buka Control Panel, lalu klik Network and Internet dan klik Network Connections</a:t>
            </a:r>
          </a:p>
          <a:p>
            <a:pPr algn="just">
              <a:lnSpc>
                <a:spcPts val="3499"/>
              </a:lnSpc>
            </a:pPr>
            <a:r>
              <a:rPr lang="en-US" sz="2499">
                <a:solidFill>
                  <a:srgbClr val="000000"/>
                </a:solidFill>
                <a:latin typeface="Ruda"/>
                <a:ea typeface="Ruda"/>
                <a:cs typeface="Ruda"/>
                <a:sym typeface="Ruda"/>
              </a:rPr>
              <a:t>2. Pilih Ethernet yang digunakan, klik lalu pilih Properties, dan Networking</a:t>
            </a:r>
          </a:p>
          <a:p>
            <a:pPr algn="just">
              <a:lnSpc>
                <a:spcPts val="3499"/>
              </a:lnSpc>
            </a:pPr>
            <a:r>
              <a:rPr lang="en-US" sz="2499">
                <a:solidFill>
                  <a:srgbClr val="000000"/>
                </a:solidFill>
                <a:latin typeface="Ruda"/>
                <a:ea typeface="Ruda"/>
                <a:cs typeface="Ruda"/>
                <a:sym typeface="Ruda"/>
              </a:rPr>
              <a:t>3. Pilih Internet Protocol Version 4 (TCP/IPv4) dan masukkan IP Address, Subnet Mask, Default Gateway, dan DNS Server Addresses</a:t>
            </a:r>
          </a:p>
          <a:p>
            <a:pPr algn="just">
              <a:lnSpc>
                <a:spcPts val="3499"/>
              </a:lnSpc>
            </a:pPr>
          </a:p>
        </p:txBody>
      </p:sp>
      <p:sp>
        <p:nvSpPr>
          <p:cNvPr name="Freeform 14" id="14"/>
          <p:cNvSpPr/>
          <p:nvPr/>
        </p:nvSpPr>
        <p:spPr>
          <a:xfrm flipH="false" flipV="false" rot="0">
            <a:off x="10503625" y="3904274"/>
            <a:ext cx="7378805" cy="5658593"/>
          </a:xfrm>
          <a:custGeom>
            <a:avLst/>
            <a:gdLst/>
            <a:ahLst/>
            <a:cxnLst/>
            <a:rect r="r" b="b" t="t" l="l"/>
            <a:pathLst>
              <a:path h="5658593" w="7378805">
                <a:moveTo>
                  <a:pt x="0" y="0"/>
                </a:moveTo>
                <a:lnTo>
                  <a:pt x="7378804" y="0"/>
                </a:lnTo>
                <a:lnTo>
                  <a:pt x="7378804" y="5658593"/>
                </a:lnTo>
                <a:lnTo>
                  <a:pt x="0" y="5658593"/>
                </a:lnTo>
                <a:lnTo>
                  <a:pt x="0" y="0"/>
                </a:lnTo>
                <a:close/>
              </a:path>
            </a:pathLst>
          </a:custGeom>
          <a:blipFill>
            <a:blip r:embed="rId6"/>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216498" y="789567"/>
            <a:ext cx="7482040" cy="587375"/>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MENYAMBUNGKAN SDH DAN RAY VIEW</a:t>
            </a:r>
          </a:p>
        </p:txBody>
      </p:sp>
      <p:sp>
        <p:nvSpPr>
          <p:cNvPr name="TextBox 5" id="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6" id="6"/>
          <p:cNvSpPr txBox="true"/>
          <p:nvPr/>
        </p:nvSpPr>
        <p:spPr>
          <a:xfrm rot="0">
            <a:off x="597613" y="4701084"/>
            <a:ext cx="3527478" cy="15906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Username : 0001</a:t>
            </a:r>
          </a:p>
          <a:p>
            <a:pPr algn="just">
              <a:lnSpc>
                <a:spcPts val="4200"/>
              </a:lnSpc>
            </a:pPr>
            <a:r>
              <a:rPr lang="en-US" sz="3000">
                <a:solidFill>
                  <a:srgbClr val="000000"/>
                </a:solidFill>
                <a:latin typeface="Ruda"/>
                <a:ea typeface="Ruda"/>
                <a:cs typeface="Ruda"/>
                <a:sym typeface="Ruda"/>
              </a:rPr>
              <a:t>Password : 001</a:t>
            </a:r>
          </a:p>
          <a:p>
            <a:pPr algn="just">
              <a:lnSpc>
                <a:spcPts val="4200"/>
              </a:lnSpc>
            </a:pPr>
          </a:p>
        </p:txBody>
      </p:sp>
      <p:grpSp>
        <p:nvGrpSpPr>
          <p:cNvPr name="Group 7" id="7"/>
          <p:cNvGrpSpPr/>
          <p:nvPr/>
        </p:nvGrpSpPr>
        <p:grpSpPr>
          <a:xfrm rot="0">
            <a:off x="361626" y="371169"/>
            <a:ext cx="6397268" cy="1359730"/>
            <a:chOff x="0" y="0"/>
            <a:chExt cx="8529691" cy="1812973"/>
          </a:xfrm>
        </p:grpSpPr>
        <p:grpSp>
          <p:nvGrpSpPr>
            <p:cNvPr name="Group 8" id="8"/>
            <p:cNvGrpSpPr/>
            <p:nvPr/>
          </p:nvGrpSpPr>
          <p:grpSpPr>
            <a:xfrm rot="0">
              <a:off x="1957668" y="321092"/>
              <a:ext cx="5471577" cy="772857"/>
              <a:chOff x="0" y="0"/>
              <a:chExt cx="1080805" cy="152663"/>
            </a:xfrm>
          </p:grpSpPr>
          <p:sp>
            <p:nvSpPr>
              <p:cNvPr name="Freeform 9" id="9"/>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0" id="10"/>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1" id="11"/>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2" id="12"/>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3" id="13"/>
          <p:cNvSpPr/>
          <p:nvPr/>
        </p:nvSpPr>
        <p:spPr>
          <a:xfrm flipH="false" flipV="false" rot="0">
            <a:off x="361626" y="2302379"/>
            <a:ext cx="5098338" cy="2217570"/>
          </a:xfrm>
          <a:custGeom>
            <a:avLst/>
            <a:gdLst/>
            <a:ahLst/>
            <a:cxnLst/>
            <a:rect r="r" b="b" t="t" l="l"/>
            <a:pathLst>
              <a:path h="2217570" w="5098338">
                <a:moveTo>
                  <a:pt x="0" y="0"/>
                </a:moveTo>
                <a:lnTo>
                  <a:pt x="5098338" y="0"/>
                </a:lnTo>
                <a:lnTo>
                  <a:pt x="5098338" y="2217570"/>
                </a:lnTo>
                <a:lnTo>
                  <a:pt x="0" y="2217570"/>
                </a:lnTo>
                <a:lnTo>
                  <a:pt x="0" y="0"/>
                </a:lnTo>
                <a:close/>
              </a:path>
            </a:pathLst>
          </a:custGeom>
          <a:blipFill>
            <a:blip r:embed="rId6"/>
            <a:stretch>
              <a:fillRect l="0" t="0" r="0" b="0"/>
            </a:stretch>
          </a:blipFill>
        </p:spPr>
      </p:sp>
      <p:sp>
        <p:nvSpPr>
          <p:cNvPr name="Freeform 14" id="14"/>
          <p:cNvSpPr/>
          <p:nvPr/>
        </p:nvSpPr>
        <p:spPr>
          <a:xfrm flipH="false" flipV="false" rot="0">
            <a:off x="5711407" y="2199396"/>
            <a:ext cx="5713431" cy="3006693"/>
          </a:xfrm>
          <a:custGeom>
            <a:avLst/>
            <a:gdLst/>
            <a:ahLst/>
            <a:cxnLst/>
            <a:rect r="r" b="b" t="t" l="l"/>
            <a:pathLst>
              <a:path h="3006693" w="5713431">
                <a:moveTo>
                  <a:pt x="0" y="0"/>
                </a:moveTo>
                <a:lnTo>
                  <a:pt x="5713432" y="0"/>
                </a:lnTo>
                <a:lnTo>
                  <a:pt x="5713432" y="3006694"/>
                </a:lnTo>
                <a:lnTo>
                  <a:pt x="0" y="3006694"/>
                </a:lnTo>
                <a:lnTo>
                  <a:pt x="0" y="0"/>
                </a:lnTo>
                <a:close/>
              </a:path>
            </a:pathLst>
          </a:custGeom>
          <a:blipFill>
            <a:blip r:embed="rId7"/>
            <a:stretch>
              <a:fillRect l="0" t="0" r="0" b="0"/>
            </a:stretch>
          </a:blipFill>
        </p:spPr>
      </p:sp>
      <p:sp>
        <p:nvSpPr>
          <p:cNvPr name="TextBox 15" id="15"/>
          <p:cNvSpPr txBox="true"/>
          <p:nvPr/>
        </p:nvSpPr>
        <p:spPr>
          <a:xfrm rot="0">
            <a:off x="5711407" y="5463084"/>
            <a:ext cx="5532318" cy="10572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Klik kanan dimanapun &gt; Add NE Device</a:t>
            </a:r>
          </a:p>
        </p:txBody>
      </p:sp>
      <p:sp>
        <p:nvSpPr>
          <p:cNvPr name="Freeform 16" id="16"/>
          <p:cNvSpPr/>
          <p:nvPr/>
        </p:nvSpPr>
        <p:spPr>
          <a:xfrm flipH="false" flipV="false" rot="0">
            <a:off x="12042767" y="2548286"/>
            <a:ext cx="3513883" cy="5560305"/>
          </a:xfrm>
          <a:custGeom>
            <a:avLst/>
            <a:gdLst/>
            <a:ahLst/>
            <a:cxnLst/>
            <a:rect r="r" b="b" t="t" l="l"/>
            <a:pathLst>
              <a:path h="5560305" w="3513883">
                <a:moveTo>
                  <a:pt x="0" y="0"/>
                </a:moveTo>
                <a:lnTo>
                  <a:pt x="3513883" y="0"/>
                </a:lnTo>
                <a:lnTo>
                  <a:pt x="3513883" y="5560304"/>
                </a:lnTo>
                <a:lnTo>
                  <a:pt x="0" y="5560304"/>
                </a:lnTo>
                <a:lnTo>
                  <a:pt x="0" y="0"/>
                </a:lnTo>
                <a:close/>
              </a:path>
            </a:pathLst>
          </a:custGeom>
          <a:blipFill>
            <a:blip r:embed="rId8"/>
            <a:stretch>
              <a:fillRect l="-47359" t="0" r="0" b="-721"/>
            </a:stretch>
          </a:blipFill>
        </p:spPr>
      </p:sp>
      <p:sp>
        <p:nvSpPr>
          <p:cNvPr name="Freeform 17" id="17"/>
          <p:cNvSpPr/>
          <p:nvPr/>
        </p:nvSpPr>
        <p:spPr>
          <a:xfrm flipH="false" flipV="false" rot="0">
            <a:off x="14817800" y="5529759"/>
            <a:ext cx="1145733" cy="323670"/>
          </a:xfrm>
          <a:custGeom>
            <a:avLst/>
            <a:gdLst/>
            <a:ahLst/>
            <a:cxnLst/>
            <a:rect r="r" b="b" t="t" l="l"/>
            <a:pathLst>
              <a:path h="323670" w="1145733">
                <a:moveTo>
                  <a:pt x="0" y="0"/>
                </a:moveTo>
                <a:lnTo>
                  <a:pt x="1145733" y="0"/>
                </a:lnTo>
                <a:lnTo>
                  <a:pt x="1145733" y="323670"/>
                </a:lnTo>
                <a:lnTo>
                  <a:pt x="0" y="3236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14817800" y="5206090"/>
            <a:ext cx="1145733" cy="323670"/>
          </a:xfrm>
          <a:custGeom>
            <a:avLst/>
            <a:gdLst/>
            <a:ahLst/>
            <a:cxnLst/>
            <a:rect r="r" b="b" t="t" l="l"/>
            <a:pathLst>
              <a:path h="323670" w="1145733">
                <a:moveTo>
                  <a:pt x="0" y="0"/>
                </a:moveTo>
                <a:lnTo>
                  <a:pt x="1145733" y="0"/>
                </a:lnTo>
                <a:lnTo>
                  <a:pt x="1145733" y="323669"/>
                </a:lnTo>
                <a:lnTo>
                  <a:pt x="0" y="32366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9" id="19"/>
          <p:cNvSpPr/>
          <p:nvPr/>
        </p:nvSpPr>
        <p:spPr>
          <a:xfrm flipH="false" flipV="false" rot="0">
            <a:off x="14817800" y="3496908"/>
            <a:ext cx="1145733" cy="323670"/>
          </a:xfrm>
          <a:custGeom>
            <a:avLst/>
            <a:gdLst/>
            <a:ahLst/>
            <a:cxnLst/>
            <a:rect r="r" b="b" t="t" l="l"/>
            <a:pathLst>
              <a:path h="323670" w="1145733">
                <a:moveTo>
                  <a:pt x="0" y="0"/>
                </a:moveTo>
                <a:lnTo>
                  <a:pt x="1145733" y="0"/>
                </a:lnTo>
                <a:lnTo>
                  <a:pt x="1145733" y="323670"/>
                </a:lnTo>
                <a:lnTo>
                  <a:pt x="0" y="3236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0" id="20"/>
          <p:cNvSpPr txBox="true"/>
          <p:nvPr/>
        </p:nvSpPr>
        <p:spPr>
          <a:xfrm rot="0">
            <a:off x="15963533" y="5497829"/>
            <a:ext cx="1568252" cy="35560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No Telp SDH</a:t>
            </a:r>
          </a:p>
        </p:txBody>
      </p:sp>
      <p:sp>
        <p:nvSpPr>
          <p:cNvPr name="TextBox 21" id="21"/>
          <p:cNvSpPr txBox="true"/>
          <p:nvPr/>
        </p:nvSpPr>
        <p:spPr>
          <a:xfrm rot="0">
            <a:off x="15963533" y="5086350"/>
            <a:ext cx="847626" cy="35560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IP SDH</a:t>
            </a:r>
          </a:p>
        </p:txBody>
      </p:sp>
      <p:sp>
        <p:nvSpPr>
          <p:cNvPr name="TextBox 22" id="22"/>
          <p:cNvSpPr txBox="true"/>
          <p:nvPr/>
        </p:nvSpPr>
        <p:spPr>
          <a:xfrm rot="0">
            <a:off x="15963533" y="3439758"/>
            <a:ext cx="1355427" cy="35560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Nama SDH</a:t>
            </a:r>
          </a:p>
        </p:txBody>
      </p:sp>
      <p:sp>
        <p:nvSpPr>
          <p:cNvPr name="Freeform 23" id="23"/>
          <p:cNvSpPr/>
          <p:nvPr/>
        </p:nvSpPr>
        <p:spPr>
          <a:xfrm flipH="false" flipV="false" rot="0">
            <a:off x="1028700" y="6844209"/>
            <a:ext cx="8237161" cy="2154556"/>
          </a:xfrm>
          <a:custGeom>
            <a:avLst/>
            <a:gdLst/>
            <a:ahLst/>
            <a:cxnLst/>
            <a:rect r="r" b="b" t="t" l="l"/>
            <a:pathLst>
              <a:path h="2154556" w="8237161">
                <a:moveTo>
                  <a:pt x="0" y="0"/>
                </a:moveTo>
                <a:lnTo>
                  <a:pt x="8237161" y="0"/>
                </a:lnTo>
                <a:lnTo>
                  <a:pt x="8237161" y="2154557"/>
                </a:lnTo>
                <a:lnTo>
                  <a:pt x="0" y="2154557"/>
                </a:lnTo>
                <a:lnTo>
                  <a:pt x="0" y="0"/>
                </a:lnTo>
                <a:close/>
              </a:path>
            </a:pathLst>
          </a:custGeom>
          <a:blipFill>
            <a:blip r:embed="rId11"/>
            <a:stretch>
              <a:fillRect l="-22707" t="-60386" r="-14491" b="-81551"/>
            </a:stretch>
          </a:blipFill>
        </p:spPr>
      </p:sp>
      <p:sp>
        <p:nvSpPr>
          <p:cNvPr name="Freeform 24" id="24"/>
          <p:cNvSpPr/>
          <p:nvPr/>
        </p:nvSpPr>
        <p:spPr>
          <a:xfrm flipH="false" flipV="false" rot="0">
            <a:off x="3278341" y="7261840"/>
            <a:ext cx="1693500" cy="1693500"/>
          </a:xfrm>
          <a:custGeom>
            <a:avLst/>
            <a:gdLst/>
            <a:ahLst/>
            <a:cxnLst/>
            <a:rect r="r" b="b" t="t" l="l"/>
            <a:pathLst>
              <a:path h="1693500" w="1693500">
                <a:moveTo>
                  <a:pt x="0" y="0"/>
                </a:moveTo>
                <a:lnTo>
                  <a:pt x="1693500" y="0"/>
                </a:lnTo>
                <a:lnTo>
                  <a:pt x="1693500" y="1693500"/>
                </a:lnTo>
                <a:lnTo>
                  <a:pt x="0" y="169350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25" id="25"/>
          <p:cNvSpPr txBox="true"/>
          <p:nvPr/>
        </p:nvSpPr>
        <p:spPr>
          <a:xfrm rot="0">
            <a:off x="4971841" y="9408341"/>
            <a:ext cx="6282730" cy="355600"/>
          </a:xfrm>
          <a:prstGeom prst="rect">
            <a:avLst/>
          </a:prstGeom>
        </p:spPr>
        <p:txBody>
          <a:bodyPr anchor="t" rtlCol="false" tIns="0" lIns="0" bIns="0" rIns="0">
            <a:spAutoFit/>
          </a:bodyPr>
          <a:lstStyle/>
          <a:p>
            <a:pPr algn="ctr">
              <a:lnSpc>
                <a:spcPts val="2900"/>
              </a:lnSpc>
              <a:spcBef>
                <a:spcPct val="0"/>
              </a:spcBef>
            </a:pPr>
            <a:r>
              <a:rPr lang="en-US" b="true" sz="2000" spc="100">
                <a:solidFill>
                  <a:srgbClr val="000000"/>
                </a:solidFill>
                <a:latin typeface="Ruda Bold"/>
                <a:ea typeface="Ruda Bold"/>
                <a:cs typeface="Ruda Bold"/>
                <a:sym typeface="Ruda Bold"/>
              </a:rPr>
              <a:t>Untuk mengetahui alamat / address telpon sdh</a:t>
            </a:r>
          </a:p>
        </p:txBody>
      </p:sp>
      <p:sp>
        <p:nvSpPr>
          <p:cNvPr name="Freeform 26" id="26"/>
          <p:cNvSpPr/>
          <p:nvPr/>
        </p:nvSpPr>
        <p:spPr>
          <a:xfrm flipH="false" flipV="false" rot="3185931">
            <a:off x="3992728" y="9035928"/>
            <a:ext cx="1072211" cy="302900"/>
          </a:xfrm>
          <a:custGeom>
            <a:avLst/>
            <a:gdLst/>
            <a:ahLst/>
            <a:cxnLst/>
            <a:rect r="r" b="b" t="t" l="l"/>
            <a:pathLst>
              <a:path h="302900" w="1072211">
                <a:moveTo>
                  <a:pt x="0" y="0"/>
                </a:moveTo>
                <a:lnTo>
                  <a:pt x="1072211" y="0"/>
                </a:lnTo>
                <a:lnTo>
                  <a:pt x="1072211" y="302899"/>
                </a:lnTo>
                <a:lnTo>
                  <a:pt x="0" y="3028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611059" y="1928602"/>
            <a:ext cx="14412907" cy="1168400"/>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MENGIDENTIFIKASI STATUS DAN ALARM INDICATOR PADA FRONT PANEL PERANGKAT SISTEM TRANSMISI SDH</a:t>
            </a:r>
          </a:p>
        </p:txBody>
      </p:sp>
      <p:sp>
        <p:nvSpPr>
          <p:cNvPr name="TextBox 5" id="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6" id="6"/>
          <p:cNvSpPr txBox="true"/>
          <p:nvPr/>
        </p:nvSpPr>
        <p:spPr>
          <a:xfrm rot="0">
            <a:off x="597613" y="6746515"/>
            <a:ext cx="8219899" cy="26574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Beberapa alarm lain yang harus di identifikasi adalah alarm yang ada pada bagian front panel, seperti alarm PWR, RUN, UALM, DALM, NOP A/B, RPD A/B, CARD (1,2,3), TALM (1,2,3), ALS dan BUSY</a:t>
            </a:r>
          </a:p>
        </p:txBody>
      </p:sp>
      <p:grpSp>
        <p:nvGrpSpPr>
          <p:cNvPr name="Group 7" id="7"/>
          <p:cNvGrpSpPr/>
          <p:nvPr/>
        </p:nvGrpSpPr>
        <p:grpSpPr>
          <a:xfrm rot="0">
            <a:off x="361626" y="371169"/>
            <a:ext cx="6397268" cy="1359730"/>
            <a:chOff x="0" y="0"/>
            <a:chExt cx="8529691" cy="1812973"/>
          </a:xfrm>
        </p:grpSpPr>
        <p:grpSp>
          <p:nvGrpSpPr>
            <p:cNvPr name="Group 8" id="8"/>
            <p:cNvGrpSpPr/>
            <p:nvPr/>
          </p:nvGrpSpPr>
          <p:grpSpPr>
            <a:xfrm rot="0">
              <a:off x="1957668" y="321092"/>
              <a:ext cx="5471577" cy="772857"/>
              <a:chOff x="0" y="0"/>
              <a:chExt cx="1080805" cy="152663"/>
            </a:xfrm>
          </p:grpSpPr>
          <p:sp>
            <p:nvSpPr>
              <p:cNvPr name="Freeform 9" id="9"/>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0" id="10"/>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1" id="11"/>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2" id="12"/>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TextBox 13" id="13"/>
          <p:cNvSpPr txBox="true"/>
          <p:nvPr/>
        </p:nvSpPr>
        <p:spPr>
          <a:xfrm rot="0">
            <a:off x="9413296" y="6562725"/>
            <a:ext cx="8118489" cy="21240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Identifikasi dilakukan sesuai dengan fungsi-fungsi dari alarm yang disesuaikan dengan warna LED alarm yang mana penjelasannya terdapat pada intruction sheet paket B.</a:t>
            </a:r>
          </a:p>
        </p:txBody>
      </p:sp>
      <p:sp>
        <p:nvSpPr>
          <p:cNvPr name="Freeform 14" id="14"/>
          <p:cNvSpPr/>
          <p:nvPr/>
        </p:nvSpPr>
        <p:spPr>
          <a:xfrm flipH="false" flipV="false" rot="0">
            <a:off x="3803663" y="3275656"/>
            <a:ext cx="10558759" cy="2789429"/>
          </a:xfrm>
          <a:custGeom>
            <a:avLst/>
            <a:gdLst/>
            <a:ahLst/>
            <a:cxnLst/>
            <a:rect r="r" b="b" t="t" l="l"/>
            <a:pathLst>
              <a:path h="2789429" w="10558759">
                <a:moveTo>
                  <a:pt x="0" y="0"/>
                </a:moveTo>
                <a:lnTo>
                  <a:pt x="10558759" y="0"/>
                </a:lnTo>
                <a:lnTo>
                  <a:pt x="10558759" y="2789429"/>
                </a:lnTo>
                <a:lnTo>
                  <a:pt x="0" y="2789429"/>
                </a:lnTo>
                <a:lnTo>
                  <a:pt x="0" y="0"/>
                </a:lnTo>
                <a:close/>
              </a:path>
            </a:pathLst>
          </a:custGeom>
          <a:blipFill>
            <a:blip r:embed="rId6"/>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858246" y="1503564"/>
            <a:ext cx="14412907" cy="587375"/>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MENGUKUR LEVEL SENSITIVITAS PENERIMA OPTIK</a:t>
            </a:r>
          </a:p>
        </p:txBody>
      </p:sp>
      <p:grpSp>
        <p:nvGrpSpPr>
          <p:cNvPr name="Group 5" id="5"/>
          <p:cNvGrpSpPr/>
          <p:nvPr/>
        </p:nvGrpSpPr>
        <p:grpSpPr>
          <a:xfrm rot="0">
            <a:off x="361626" y="371169"/>
            <a:ext cx="6397268" cy="1359730"/>
            <a:chOff x="0" y="0"/>
            <a:chExt cx="8529691" cy="1812973"/>
          </a:xfrm>
        </p:grpSpPr>
        <p:grpSp>
          <p:nvGrpSpPr>
            <p:cNvPr name="Group 6" id="6"/>
            <p:cNvGrpSpPr/>
            <p:nvPr/>
          </p:nvGrpSpPr>
          <p:grpSpPr>
            <a:xfrm rot="0">
              <a:off x="1957668" y="321092"/>
              <a:ext cx="5471577" cy="772857"/>
              <a:chOff x="0" y="0"/>
              <a:chExt cx="1080805" cy="152663"/>
            </a:xfrm>
          </p:grpSpPr>
          <p:sp>
            <p:nvSpPr>
              <p:cNvPr name="Freeform 7" id="7"/>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8" id="8"/>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9" id="9"/>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0" id="10"/>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1" id="11"/>
          <p:cNvSpPr/>
          <p:nvPr/>
        </p:nvSpPr>
        <p:spPr>
          <a:xfrm flipH="false" flipV="false" rot="0">
            <a:off x="1028700" y="2640211"/>
            <a:ext cx="9132054" cy="6816191"/>
          </a:xfrm>
          <a:custGeom>
            <a:avLst/>
            <a:gdLst/>
            <a:ahLst/>
            <a:cxnLst/>
            <a:rect r="r" b="b" t="t" l="l"/>
            <a:pathLst>
              <a:path h="6816191" w="9132054">
                <a:moveTo>
                  <a:pt x="0" y="0"/>
                </a:moveTo>
                <a:lnTo>
                  <a:pt x="9132054" y="0"/>
                </a:lnTo>
                <a:lnTo>
                  <a:pt x="9132054" y="6816191"/>
                </a:lnTo>
                <a:lnTo>
                  <a:pt x="0" y="6816191"/>
                </a:lnTo>
                <a:lnTo>
                  <a:pt x="0" y="0"/>
                </a:lnTo>
                <a:close/>
              </a:path>
            </a:pathLst>
          </a:custGeom>
          <a:blipFill>
            <a:blip r:embed="rId6"/>
            <a:stretch>
              <a:fillRect l="0" t="0" r="0" b="0"/>
            </a:stretch>
          </a:blipFill>
        </p:spPr>
      </p:sp>
      <p:sp>
        <p:nvSpPr>
          <p:cNvPr name="TextBox 12" id="12"/>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13" id="13"/>
          <p:cNvSpPr txBox="true"/>
          <p:nvPr/>
        </p:nvSpPr>
        <p:spPr>
          <a:xfrm rot="0">
            <a:off x="10712012" y="3621406"/>
            <a:ext cx="6547288" cy="5636894"/>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Pada pengukuran ini menggunakan alat ukut optical meter yang diberi tambahan variabel attenuator. </a:t>
            </a:r>
          </a:p>
          <a:p>
            <a:pPr algn="just">
              <a:lnSpc>
                <a:spcPts val="4200"/>
              </a:lnSpc>
            </a:pPr>
            <a:r>
              <a:rPr lang="en-US" sz="3000">
                <a:solidFill>
                  <a:srgbClr val="000000"/>
                </a:solidFill>
                <a:latin typeface="Ruda"/>
                <a:ea typeface="Ruda"/>
                <a:cs typeface="Ruda"/>
                <a:sym typeface="Ruda"/>
              </a:rPr>
              <a:t>Mengecek seberapa kecil data sinyal optik yang masih bisa diterima oleh penerima dengan melihat nilai yang dihasilkan pada optical meter dengan panjang gelombangnya 1310nm. </a:t>
            </a:r>
          </a:p>
          <a:p>
            <a:pPr algn="just">
              <a:lnSpc>
                <a:spcPts val="3360"/>
              </a:lnSpc>
            </a:pPr>
          </a:p>
          <a:p>
            <a:pPr algn="just">
              <a:lnSpc>
                <a:spcPts val="3360"/>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361626" y="371169"/>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361626" y="2245506"/>
            <a:ext cx="7874957" cy="6039077"/>
          </a:xfrm>
          <a:custGeom>
            <a:avLst/>
            <a:gdLst/>
            <a:ahLst/>
            <a:cxnLst/>
            <a:rect r="r" b="b" t="t" l="l"/>
            <a:pathLst>
              <a:path h="6039077" w="7874957">
                <a:moveTo>
                  <a:pt x="0" y="0"/>
                </a:moveTo>
                <a:lnTo>
                  <a:pt x="7874957" y="0"/>
                </a:lnTo>
                <a:lnTo>
                  <a:pt x="7874957" y="6039078"/>
                </a:lnTo>
                <a:lnTo>
                  <a:pt x="0" y="6039078"/>
                </a:lnTo>
                <a:lnTo>
                  <a:pt x="0" y="0"/>
                </a:lnTo>
                <a:close/>
              </a:path>
            </a:pathLst>
          </a:custGeom>
          <a:blipFill>
            <a:blip r:embed="rId6"/>
            <a:stretch>
              <a:fillRect l="0" t="0" r="0" b="0"/>
            </a:stretch>
          </a:blipFill>
        </p:spPr>
      </p:sp>
      <p:sp>
        <p:nvSpPr>
          <p:cNvPr name="Freeform 11" id="11"/>
          <p:cNvSpPr/>
          <p:nvPr/>
        </p:nvSpPr>
        <p:spPr>
          <a:xfrm flipH="false" flipV="false" rot="0">
            <a:off x="806560" y="8799192"/>
            <a:ext cx="9666322" cy="1318135"/>
          </a:xfrm>
          <a:custGeom>
            <a:avLst/>
            <a:gdLst/>
            <a:ahLst/>
            <a:cxnLst/>
            <a:rect r="r" b="b" t="t" l="l"/>
            <a:pathLst>
              <a:path h="1318135" w="9666322">
                <a:moveTo>
                  <a:pt x="0" y="0"/>
                </a:moveTo>
                <a:lnTo>
                  <a:pt x="9666322" y="0"/>
                </a:lnTo>
                <a:lnTo>
                  <a:pt x="9666322" y="1318135"/>
                </a:lnTo>
                <a:lnTo>
                  <a:pt x="0" y="1318135"/>
                </a:lnTo>
                <a:lnTo>
                  <a:pt x="0" y="0"/>
                </a:lnTo>
                <a:close/>
              </a:path>
            </a:pathLst>
          </a:custGeom>
          <a:blipFill>
            <a:blip r:embed="rId7"/>
            <a:stretch>
              <a:fillRect l="0" t="0" r="0" b="0"/>
            </a:stretch>
          </a:blipFill>
        </p:spPr>
      </p:sp>
      <p:sp>
        <p:nvSpPr>
          <p:cNvPr name="Freeform 12" id="12"/>
          <p:cNvSpPr/>
          <p:nvPr/>
        </p:nvSpPr>
        <p:spPr>
          <a:xfrm flipH="false" flipV="false" rot="0">
            <a:off x="8772101" y="3758766"/>
            <a:ext cx="9055324" cy="3069386"/>
          </a:xfrm>
          <a:custGeom>
            <a:avLst/>
            <a:gdLst/>
            <a:ahLst/>
            <a:cxnLst/>
            <a:rect r="r" b="b" t="t" l="l"/>
            <a:pathLst>
              <a:path h="3069386" w="9055324">
                <a:moveTo>
                  <a:pt x="0" y="0"/>
                </a:moveTo>
                <a:lnTo>
                  <a:pt x="9055324" y="0"/>
                </a:lnTo>
                <a:lnTo>
                  <a:pt x="9055324" y="3069386"/>
                </a:lnTo>
                <a:lnTo>
                  <a:pt x="0" y="3069386"/>
                </a:lnTo>
                <a:lnTo>
                  <a:pt x="0" y="0"/>
                </a:lnTo>
                <a:close/>
              </a:path>
            </a:pathLst>
          </a:custGeom>
          <a:blipFill>
            <a:blip r:embed="rId8"/>
            <a:stretch>
              <a:fillRect l="0" t="0" r="0" b="0"/>
            </a:stretch>
          </a:blipFill>
        </p:spPr>
      </p:sp>
      <p:sp>
        <p:nvSpPr>
          <p:cNvPr name="TextBox 13" id="13"/>
          <p:cNvSpPr txBox="true"/>
          <p:nvPr/>
        </p:nvSpPr>
        <p:spPr>
          <a:xfrm rot="0">
            <a:off x="6409910" y="486355"/>
            <a:ext cx="14412907" cy="587375"/>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MENGUKUR BERT SINYAL TRIBUTARY 2 MB</a:t>
            </a:r>
          </a:p>
        </p:txBody>
      </p:sp>
      <p:sp>
        <p:nvSpPr>
          <p:cNvPr name="TextBox 14" id="14"/>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676914" y="2210574"/>
            <a:ext cx="14412907" cy="587375"/>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MENGUKUR BERT SINYAL TRIBUTARY 2 MB</a:t>
            </a:r>
          </a:p>
        </p:txBody>
      </p:sp>
      <p:sp>
        <p:nvSpPr>
          <p:cNvPr name="TextBox 5" id="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6" id="6"/>
          <p:cNvSpPr txBox="true"/>
          <p:nvPr/>
        </p:nvSpPr>
        <p:spPr>
          <a:xfrm rot="0">
            <a:off x="676914" y="3191900"/>
            <a:ext cx="16934171" cy="53244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Untuk melakukan proses pengukuran Bit Error Rate (BER) dari sinyal tributary 2 MB (E1) ini adalah dengan melakukan pengonfigurasian alat terlebih dahulu.</a:t>
            </a:r>
          </a:p>
          <a:p>
            <a:pPr algn="just">
              <a:lnSpc>
                <a:spcPts val="4200"/>
              </a:lnSpc>
            </a:pPr>
          </a:p>
          <a:p>
            <a:pPr algn="just">
              <a:lnSpc>
                <a:spcPts val="4200"/>
              </a:lnSpc>
            </a:pPr>
            <a:r>
              <a:rPr lang="en-US" sz="3000">
                <a:solidFill>
                  <a:srgbClr val="000000"/>
                </a:solidFill>
                <a:latin typeface="Ruda"/>
                <a:ea typeface="Ruda"/>
                <a:cs typeface="Ruda"/>
                <a:sym typeface="Ruda"/>
              </a:rPr>
              <a:t>Proses pengukuran Bit Error Rate (BER) diperlukan proses looping antara port in dan out pada E1 hal ini dilakukan untuk mengecek kondisi setiap E1 dengan melihat alarm yang muncul pada Rayview. Proses looping ini dilakukan pada kedua SDH. Jika sudah tidak ada alarm, hubungkan port I/O di E1 dan perangkat pengukur redaman dan tinjau kenaikan redaman pada cable simulation lalu lihat dan catat perubahan error yang terjadi hingga muncul alarm “LOSS” pada Rayview.</a:t>
            </a:r>
          </a:p>
          <a:p>
            <a:pPr algn="just">
              <a:lnSpc>
                <a:spcPts val="4200"/>
              </a:lnSpc>
            </a:pPr>
          </a:p>
        </p:txBody>
      </p:sp>
      <p:grpSp>
        <p:nvGrpSpPr>
          <p:cNvPr name="Group 7" id="7"/>
          <p:cNvGrpSpPr/>
          <p:nvPr/>
        </p:nvGrpSpPr>
        <p:grpSpPr>
          <a:xfrm rot="0">
            <a:off x="361626" y="371169"/>
            <a:ext cx="6397268" cy="1359730"/>
            <a:chOff x="0" y="0"/>
            <a:chExt cx="8529691" cy="1812973"/>
          </a:xfrm>
        </p:grpSpPr>
        <p:grpSp>
          <p:nvGrpSpPr>
            <p:cNvPr name="Group 8" id="8"/>
            <p:cNvGrpSpPr/>
            <p:nvPr/>
          </p:nvGrpSpPr>
          <p:grpSpPr>
            <a:xfrm rot="0">
              <a:off x="1957668" y="321092"/>
              <a:ext cx="5471577" cy="772857"/>
              <a:chOff x="0" y="0"/>
              <a:chExt cx="1080805" cy="152663"/>
            </a:xfrm>
          </p:grpSpPr>
          <p:sp>
            <p:nvSpPr>
              <p:cNvPr name="Freeform 9" id="9"/>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0" id="10"/>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1" id="11"/>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2" id="12"/>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361626" y="371169"/>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7040768" y="3218643"/>
            <a:ext cx="4206463" cy="5836872"/>
          </a:xfrm>
          <a:custGeom>
            <a:avLst/>
            <a:gdLst/>
            <a:ahLst/>
            <a:cxnLst/>
            <a:rect r="r" b="b" t="t" l="l"/>
            <a:pathLst>
              <a:path h="5836872" w="4206463">
                <a:moveTo>
                  <a:pt x="0" y="0"/>
                </a:moveTo>
                <a:lnTo>
                  <a:pt x="4206464" y="0"/>
                </a:lnTo>
                <a:lnTo>
                  <a:pt x="4206464" y="5836872"/>
                </a:lnTo>
                <a:lnTo>
                  <a:pt x="0" y="5836872"/>
                </a:lnTo>
                <a:lnTo>
                  <a:pt x="0" y="0"/>
                </a:lnTo>
                <a:close/>
              </a:path>
            </a:pathLst>
          </a:custGeom>
          <a:blipFill>
            <a:blip r:embed="rId6"/>
            <a:stretch>
              <a:fillRect l="0" t="0" r="-6035" b="0"/>
            </a:stretch>
          </a:blipFill>
        </p:spPr>
      </p:sp>
      <p:sp>
        <p:nvSpPr>
          <p:cNvPr name="TextBox 11" id="11"/>
          <p:cNvSpPr txBox="true"/>
          <p:nvPr/>
        </p:nvSpPr>
        <p:spPr>
          <a:xfrm rot="0">
            <a:off x="1937547" y="1749948"/>
            <a:ext cx="14412907" cy="1168400"/>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MEMBANGUN KONEKTIVITAS ETHERNET MELALUI FAST ETHERNET INTERFACE DAN TOPOLOGI NMS MEMBANGUN JARINGAN TOPOLOGI POINT TO POINT</a:t>
            </a:r>
          </a:p>
        </p:txBody>
      </p:sp>
      <p:sp>
        <p:nvSpPr>
          <p:cNvPr name="TextBox 12" id="12"/>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1937547" y="1749948"/>
            <a:ext cx="14412907" cy="1168400"/>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MEMBANGUN KONEKTIVITAS ETHERNET MELALUI FAST ETHERNET INTERFACE DAN TOPOLOGI NMS MEMBANGUN JARINGAN TOPOLOGI POINT TO POINT</a:t>
            </a:r>
          </a:p>
        </p:txBody>
      </p:sp>
      <p:sp>
        <p:nvSpPr>
          <p:cNvPr name="TextBox 5" id="5"/>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grpSp>
        <p:nvGrpSpPr>
          <p:cNvPr name="Group 6" id="6"/>
          <p:cNvGrpSpPr/>
          <p:nvPr/>
        </p:nvGrpSpPr>
        <p:grpSpPr>
          <a:xfrm rot="0">
            <a:off x="361626" y="371169"/>
            <a:ext cx="6397268" cy="1359730"/>
            <a:chOff x="0" y="0"/>
            <a:chExt cx="8529691" cy="1812973"/>
          </a:xfrm>
        </p:grpSpPr>
        <p:grpSp>
          <p:nvGrpSpPr>
            <p:cNvPr name="Group 7" id="7"/>
            <p:cNvGrpSpPr/>
            <p:nvPr/>
          </p:nvGrpSpPr>
          <p:grpSpPr>
            <a:xfrm rot="0">
              <a:off x="1957668" y="321092"/>
              <a:ext cx="5471577" cy="772857"/>
              <a:chOff x="0" y="0"/>
              <a:chExt cx="1080805" cy="152663"/>
            </a:xfrm>
          </p:grpSpPr>
          <p:sp>
            <p:nvSpPr>
              <p:cNvPr name="Freeform 8" id="8"/>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9" id="9"/>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0" id="10"/>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1" id="11"/>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TextBox 12" id="12"/>
          <p:cNvSpPr txBox="true"/>
          <p:nvPr/>
        </p:nvSpPr>
        <p:spPr>
          <a:xfrm rot="0">
            <a:off x="676914" y="3232673"/>
            <a:ext cx="16934171" cy="6108700"/>
          </a:xfrm>
          <a:prstGeom prst="rect">
            <a:avLst/>
          </a:prstGeom>
        </p:spPr>
        <p:txBody>
          <a:bodyPr anchor="t" rtlCol="false" tIns="0" lIns="0" bIns="0" rIns="0">
            <a:spAutoFit/>
          </a:bodyPr>
          <a:lstStyle/>
          <a:p>
            <a:pPr algn="just">
              <a:lnSpc>
                <a:spcPts val="3499"/>
              </a:lnSpc>
            </a:pPr>
            <a:r>
              <a:rPr lang="en-US" sz="2499">
                <a:solidFill>
                  <a:srgbClr val="000000"/>
                </a:solidFill>
                <a:latin typeface="Ruda"/>
                <a:ea typeface="Ruda"/>
                <a:cs typeface="Ruda"/>
                <a:sym typeface="Ruda"/>
              </a:rPr>
              <a:t>Untuk membangun konektivitas ethernet, bagian EMU pada SDH1 dan SDH2 dihubungkan ke port ETH di bagian belakang perangkat. SDH memiliki 4 port ETH yang dapat digunakan bebas, dan dalam percobaan ini digunakan ETH1.</a:t>
            </a:r>
          </a:p>
          <a:p>
            <a:pPr algn="just" marL="539749" indent="-269875" lvl="1">
              <a:lnSpc>
                <a:spcPts val="3499"/>
              </a:lnSpc>
              <a:buFont typeface="Arial"/>
              <a:buChar char="•"/>
            </a:pPr>
            <a:r>
              <a:rPr lang="en-US" sz="2499">
                <a:solidFill>
                  <a:srgbClr val="000000"/>
                </a:solidFill>
                <a:latin typeface="Ruda"/>
                <a:ea typeface="Ruda"/>
                <a:cs typeface="Ruda"/>
                <a:sym typeface="Ruda"/>
              </a:rPr>
              <a:t>ETH2 pada SDH1 terhubung ke PC1, dan ETH2 pada SDH2 terhubung ke PC2.</a:t>
            </a:r>
          </a:p>
          <a:p>
            <a:pPr algn="just" marL="539749" indent="-269875" lvl="1">
              <a:lnSpc>
                <a:spcPts val="3499"/>
              </a:lnSpc>
              <a:buFont typeface="Arial"/>
              <a:buChar char="•"/>
            </a:pPr>
            <a:r>
              <a:rPr lang="en-US" sz="2499">
                <a:solidFill>
                  <a:srgbClr val="000000"/>
                </a:solidFill>
                <a:latin typeface="Ruda"/>
                <a:ea typeface="Ruda"/>
                <a:cs typeface="Ruda"/>
                <a:sym typeface="Ruda"/>
              </a:rPr>
              <a:t>Port ETH3 digunakan untuk koneksi internet secara bergantian.</a:t>
            </a:r>
          </a:p>
          <a:p>
            <a:pPr algn="just" marL="539749" indent="-269875" lvl="1">
              <a:lnSpc>
                <a:spcPts val="3499"/>
              </a:lnSpc>
              <a:buFont typeface="Arial"/>
              <a:buChar char="•"/>
            </a:pPr>
            <a:r>
              <a:rPr lang="en-US" sz="2499">
                <a:solidFill>
                  <a:srgbClr val="000000"/>
                </a:solidFill>
                <a:latin typeface="Ruda"/>
                <a:ea typeface="Ruda"/>
                <a:cs typeface="Ruda"/>
                <a:sym typeface="Ruda"/>
              </a:rPr>
              <a:t>Setelah setup perangkat, dilakukan konfigurasi software menggunakan RayView 3.37A1 dengan membangun NMS PAP pada Rayview SMD.</a:t>
            </a:r>
          </a:p>
          <a:p>
            <a:pPr algn="just">
              <a:lnSpc>
                <a:spcPts val="3499"/>
              </a:lnSpc>
            </a:pPr>
            <a:r>
              <a:rPr lang="en-US" sz="2499">
                <a:solidFill>
                  <a:srgbClr val="000000"/>
                </a:solidFill>
                <a:latin typeface="Ruda"/>
                <a:ea typeface="Ruda"/>
                <a:cs typeface="Ruda"/>
                <a:sym typeface="Ruda"/>
              </a:rPr>
              <a:t>Langkah-langkah Pengecekan apakah sudah terhubung atau belum:</a:t>
            </a:r>
          </a:p>
          <a:p>
            <a:pPr algn="just" marL="539749" indent="-269875" lvl="1">
              <a:lnSpc>
                <a:spcPts val="3499"/>
              </a:lnSpc>
              <a:buFont typeface="Arial"/>
              <a:buChar char="•"/>
            </a:pPr>
            <a:r>
              <a:rPr lang="en-US" sz="2499">
                <a:solidFill>
                  <a:srgbClr val="000000"/>
                </a:solidFill>
                <a:latin typeface="Ruda"/>
                <a:ea typeface="Ruda"/>
                <a:cs typeface="Ruda"/>
                <a:sym typeface="Ruda"/>
              </a:rPr>
              <a:t>Melakukan pengujian antar PC (dengan command prompt pada PC apakah sudah saling terhubung antar #NE1 dan #NE2)</a:t>
            </a:r>
          </a:p>
          <a:p>
            <a:pPr algn="just" marL="539749" indent="-269875" lvl="1">
              <a:lnSpc>
                <a:spcPts val="3499"/>
              </a:lnSpc>
              <a:buFont typeface="Arial"/>
              <a:buChar char="•"/>
            </a:pPr>
            <a:r>
              <a:rPr lang="en-US" sz="2499">
                <a:solidFill>
                  <a:srgbClr val="000000"/>
                </a:solidFill>
                <a:latin typeface="Ruda"/>
                <a:ea typeface="Ruda"/>
                <a:cs typeface="Ruda"/>
                <a:sym typeface="Ruda"/>
              </a:rPr>
              <a:t>Melakukan pengujian dengan internet (diuji pada command prompt dengan ping ke IP browser yaitu 8.8.8.8)</a:t>
            </a:r>
          </a:p>
          <a:p>
            <a:pPr algn="just" marL="539749" indent="-269875" lvl="1">
              <a:lnSpc>
                <a:spcPts val="3499"/>
              </a:lnSpc>
              <a:buFont typeface="Arial"/>
              <a:buChar char="•"/>
            </a:pPr>
            <a:r>
              <a:rPr lang="en-US" sz="2499">
                <a:solidFill>
                  <a:srgbClr val="000000"/>
                </a:solidFill>
                <a:latin typeface="Ruda"/>
                <a:ea typeface="Ruda"/>
                <a:cs typeface="Ruda"/>
                <a:sym typeface="Ruda"/>
              </a:rPr>
              <a:t>Melakukan pengujian pada NMS (mengecek SDH pusat terhadap SDH lainnya apakah bisa mengontrol SDH lain pada Rayview)</a:t>
            </a:r>
          </a:p>
          <a:p>
            <a:pPr algn="just">
              <a:lnSpc>
                <a:spcPts val="3499"/>
              </a:lnSpc>
            </a:pP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361626" y="371169"/>
            <a:ext cx="6397268" cy="1359730"/>
            <a:chOff x="0" y="0"/>
            <a:chExt cx="8529691" cy="1812973"/>
          </a:xfrm>
        </p:grpSpPr>
        <p:grpSp>
          <p:nvGrpSpPr>
            <p:cNvPr name="Group 5" id="5"/>
            <p:cNvGrpSpPr/>
            <p:nvPr/>
          </p:nvGrpSpPr>
          <p:grpSpPr>
            <a:xfrm rot="0">
              <a:off x="1957668" y="321092"/>
              <a:ext cx="5471577" cy="772857"/>
              <a:chOff x="0" y="0"/>
              <a:chExt cx="1080805" cy="152663"/>
            </a:xfrm>
          </p:grpSpPr>
          <p:sp>
            <p:nvSpPr>
              <p:cNvPr name="Freeform 6" id="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7" id="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8" id="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9" id="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5"/>
              <a:stretch>
                <a:fillRect l="0" t="0" r="0" b="0"/>
              </a:stretch>
            </a:blipFill>
          </p:spPr>
        </p:sp>
      </p:grpSp>
      <p:sp>
        <p:nvSpPr>
          <p:cNvPr name="Freeform 10" id="10"/>
          <p:cNvSpPr/>
          <p:nvPr/>
        </p:nvSpPr>
        <p:spPr>
          <a:xfrm flipH="false" flipV="false" rot="0">
            <a:off x="676914" y="5143500"/>
            <a:ext cx="7650724" cy="3216521"/>
          </a:xfrm>
          <a:custGeom>
            <a:avLst/>
            <a:gdLst/>
            <a:ahLst/>
            <a:cxnLst/>
            <a:rect r="r" b="b" t="t" l="l"/>
            <a:pathLst>
              <a:path h="3216521" w="7650724">
                <a:moveTo>
                  <a:pt x="0" y="0"/>
                </a:moveTo>
                <a:lnTo>
                  <a:pt x="7650725" y="0"/>
                </a:lnTo>
                <a:lnTo>
                  <a:pt x="7650725" y="3216521"/>
                </a:lnTo>
                <a:lnTo>
                  <a:pt x="0" y="3216521"/>
                </a:lnTo>
                <a:lnTo>
                  <a:pt x="0" y="0"/>
                </a:lnTo>
                <a:close/>
              </a:path>
            </a:pathLst>
          </a:custGeom>
          <a:blipFill>
            <a:blip r:embed="rId6"/>
            <a:stretch>
              <a:fillRect l="0" t="0" r="0" b="0"/>
            </a:stretch>
          </a:blipFill>
        </p:spPr>
      </p:sp>
      <p:sp>
        <p:nvSpPr>
          <p:cNvPr name="Freeform 11" id="11"/>
          <p:cNvSpPr/>
          <p:nvPr/>
        </p:nvSpPr>
        <p:spPr>
          <a:xfrm flipH="false" flipV="false" rot="0">
            <a:off x="8975443" y="5147198"/>
            <a:ext cx="8283857" cy="3308568"/>
          </a:xfrm>
          <a:custGeom>
            <a:avLst/>
            <a:gdLst/>
            <a:ahLst/>
            <a:cxnLst/>
            <a:rect r="r" b="b" t="t" l="l"/>
            <a:pathLst>
              <a:path h="3308568" w="8283857">
                <a:moveTo>
                  <a:pt x="0" y="0"/>
                </a:moveTo>
                <a:lnTo>
                  <a:pt x="8283857" y="0"/>
                </a:lnTo>
                <a:lnTo>
                  <a:pt x="8283857" y="3308568"/>
                </a:lnTo>
                <a:lnTo>
                  <a:pt x="0" y="3308568"/>
                </a:lnTo>
                <a:lnTo>
                  <a:pt x="0" y="0"/>
                </a:lnTo>
                <a:close/>
              </a:path>
            </a:pathLst>
          </a:custGeom>
          <a:blipFill>
            <a:blip r:embed="rId7"/>
            <a:stretch>
              <a:fillRect l="0" t="0" r="0" b="0"/>
            </a:stretch>
          </a:blipFill>
        </p:spPr>
      </p:sp>
      <p:sp>
        <p:nvSpPr>
          <p:cNvPr name="TextBox 12" id="12"/>
          <p:cNvSpPr txBox="true"/>
          <p:nvPr/>
        </p:nvSpPr>
        <p:spPr>
          <a:xfrm rot="0">
            <a:off x="1937547" y="1749948"/>
            <a:ext cx="14412907" cy="1168400"/>
          </a:xfrm>
          <a:prstGeom prst="rect">
            <a:avLst/>
          </a:prstGeom>
        </p:spPr>
        <p:txBody>
          <a:bodyPr anchor="t" rtlCol="false" tIns="0" lIns="0" bIns="0" rIns="0">
            <a:spAutoFit/>
          </a:bodyPr>
          <a:lstStyle/>
          <a:p>
            <a:pPr algn="l">
              <a:lnSpc>
                <a:spcPts val="4599"/>
              </a:lnSpc>
            </a:pPr>
            <a:r>
              <a:rPr lang="en-US" sz="3999">
                <a:solidFill>
                  <a:srgbClr val="000000"/>
                </a:solidFill>
                <a:latin typeface="TS Damas Sans"/>
                <a:ea typeface="TS Damas Sans"/>
                <a:cs typeface="TS Damas Sans"/>
                <a:sym typeface="TS Damas Sans"/>
              </a:rPr>
              <a:t>MEMBANGUN KONEKTIVITAS ETHERNET MELALUI FAST ETHERNET INTERFACE DAN TOPOLOGI NMS MEMBANGUN JARINGAN TOPOLOGI POINT TO POINT</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04</a:t>
            </a:r>
          </a:p>
        </p:txBody>
      </p:sp>
      <p:sp>
        <p:nvSpPr>
          <p:cNvPr name="TextBox 14" id="14"/>
          <p:cNvSpPr txBox="true"/>
          <p:nvPr/>
        </p:nvSpPr>
        <p:spPr>
          <a:xfrm rot="0">
            <a:off x="597613" y="3552825"/>
            <a:ext cx="16934171" cy="1590675"/>
          </a:xfrm>
          <a:prstGeom prst="rect">
            <a:avLst/>
          </a:prstGeom>
        </p:spPr>
        <p:txBody>
          <a:bodyPr anchor="t" rtlCol="false" tIns="0" lIns="0" bIns="0" rIns="0">
            <a:spAutoFit/>
          </a:bodyPr>
          <a:lstStyle/>
          <a:p>
            <a:pPr algn="just">
              <a:lnSpc>
                <a:spcPts val="4200"/>
              </a:lnSpc>
            </a:pPr>
            <a:r>
              <a:rPr lang="en-US" sz="3000">
                <a:solidFill>
                  <a:srgbClr val="000000"/>
                </a:solidFill>
                <a:latin typeface="Ruda"/>
                <a:ea typeface="Ruda"/>
                <a:cs typeface="Ruda"/>
                <a:sym typeface="Ruda"/>
              </a:rPr>
              <a:t>SDH BDG diatur oleh SDH JKT</a:t>
            </a:r>
          </a:p>
          <a:p>
            <a:pPr algn="just">
              <a:lnSpc>
                <a:spcPts val="4200"/>
              </a:lnSpc>
            </a:pPr>
            <a:r>
              <a:rPr lang="en-US" sz="3000">
                <a:solidFill>
                  <a:srgbClr val="000000"/>
                </a:solidFill>
                <a:latin typeface="Ruda"/>
                <a:ea typeface="Ruda"/>
                <a:cs typeface="Ruda"/>
                <a:sym typeface="Ruda"/>
              </a:rPr>
              <a:t>dengan NMS</a:t>
            </a:r>
          </a:p>
          <a:p>
            <a:pPr algn="just">
              <a:lnSpc>
                <a:spcPts val="420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631521" y="3000577"/>
            <a:ext cx="17024958" cy="6609209"/>
            <a:chOff x="0" y="0"/>
            <a:chExt cx="4483940" cy="1740697"/>
          </a:xfrm>
        </p:grpSpPr>
        <p:sp>
          <p:nvSpPr>
            <p:cNvPr name="Freeform 4" id="4"/>
            <p:cNvSpPr/>
            <p:nvPr/>
          </p:nvSpPr>
          <p:spPr>
            <a:xfrm flipH="false" flipV="false" rot="0">
              <a:off x="0" y="0"/>
              <a:ext cx="4483939" cy="1740697"/>
            </a:xfrm>
            <a:custGeom>
              <a:avLst/>
              <a:gdLst/>
              <a:ahLst/>
              <a:cxnLst/>
              <a:rect r="r" b="b" t="t" l="l"/>
              <a:pathLst>
                <a:path h="1740697" w="4483939">
                  <a:moveTo>
                    <a:pt x="23192" y="0"/>
                  </a:moveTo>
                  <a:lnTo>
                    <a:pt x="4460748" y="0"/>
                  </a:lnTo>
                  <a:cubicBezTo>
                    <a:pt x="4473556" y="0"/>
                    <a:pt x="4483939" y="10383"/>
                    <a:pt x="4483939" y="23192"/>
                  </a:cubicBezTo>
                  <a:lnTo>
                    <a:pt x="4483939" y="1717505"/>
                  </a:lnTo>
                  <a:cubicBezTo>
                    <a:pt x="4483939" y="1723656"/>
                    <a:pt x="4481496" y="1729555"/>
                    <a:pt x="4477147" y="1733904"/>
                  </a:cubicBezTo>
                  <a:cubicBezTo>
                    <a:pt x="4472798" y="1738254"/>
                    <a:pt x="4466899" y="1740697"/>
                    <a:pt x="4460748" y="1740697"/>
                  </a:cubicBezTo>
                  <a:lnTo>
                    <a:pt x="23192" y="1740697"/>
                  </a:lnTo>
                  <a:cubicBezTo>
                    <a:pt x="17041" y="1740697"/>
                    <a:pt x="11142" y="1738254"/>
                    <a:pt x="6793" y="1733904"/>
                  </a:cubicBezTo>
                  <a:cubicBezTo>
                    <a:pt x="2443" y="1729555"/>
                    <a:pt x="0" y="1723656"/>
                    <a:pt x="0" y="1717505"/>
                  </a:cubicBezTo>
                  <a:lnTo>
                    <a:pt x="0" y="23192"/>
                  </a:lnTo>
                  <a:cubicBezTo>
                    <a:pt x="0" y="17041"/>
                    <a:pt x="2443" y="11142"/>
                    <a:pt x="6793" y="6793"/>
                  </a:cubicBezTo>
                  <a:cubicBezTo>
                    <a:pt x="11142" y="2443"/>
                    <a:pt x="17041" y="0"/>
                    <a:pt x="23192" y="0"/>
                  </a:cubicBezTo>
                  <a:close/>
                </a:path>
              </a:pathLst>
            </a:custGeom>
            <a:solidFill>
              <a:srgbClr val="B2D0EC"/>
            </a:solidFill>
          </p:spPr>
        </p:sp>
        <p:sp>
          <p:nvSpPr>
            <p:cNvPr name="TextBox 5" id="5"/>
            <p:cNvSpPr txBox="true"/>
            <p:nvPr/>
          </p:nvSpPr>
          <p:spPr>
            <a:xfrm>
              <a:off x="0" y="-57150"/>
              <a:ext cx="4483940" cy="1797847"/>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967000" y="2201820"/>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2357340" y="1454385"/>
            <a:ext cx="13573320" cy="1184275"/>
          </a:xfrm>
          <a:prstGeom prst="rect">
            <a:avLst/>
          </a:prstGeom>
        </p:spPr>
        <p:txBody>
          <a:bodyPr anchor="t" rtlCol="false" tIns="0" lIns="0" bIns="0" rIns="0">
            <a:spAutoFit/>
          </a:bodyPr>
          <a:lstStyle/>
          <a:p>
            <a:pPr algn="ctr">
              <a:lnSpc>
                <a:spcPts val="9200"/>
              </a:lnSpc>
            </a:pPr>
            <a:r>
              <a:rPr lang="en-US" sz="8000">
                <a:solidFill>
                  <a:srgbClr val="FFFFFF"/>
                </a:solidFill>
                <a:latin typeface="TS Damas Sans"/>
                <a:ea typeface="TS Damas Sans"/>
                <a:cs typeface="TS Damas Sans"/>
                <a:sym typeface="TS Damas Sans"/>
              </a:rPr>
              <a:t>KESIMPULAN</a:t>
            </a:r>
          </a:p>
        </p:txBody>
      </p:sp>
      <p:sp>
        <p:nvSpPr>
          <p:cNvPr name="TextBox 10" id="10"/>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06</a:t>
            </a:r>
          </a:p>
        </p:txBody>
      </p:sp>
      <p:sp>
        <p:nvSpPr>
          <p:cNvPr name="TextBox 11" id="11"/>
          <p:cNvSpPr txBox="true"/>
          <p:nvPr/>
        </p:nvSpPr>
        <p:spPr>
          <a:xfrm rot="0">
            <a:off x="1291200" y="3231781"/>
            <a:ext cx="15689479" cy="61087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0B5298"/>
                </a:solidFill>
                <a:latin typeface="Ruda"/>
                <a:ea typeface="Ruda"/>
                <a:cs typeface="Ruda"/>
                <a:sym typeface="Ruda"/>
              </a:rPr>
              <a:t>SDH Multi layanan berhasil jika telepon pada SDH1 dan SDH2 dapat berkomunikasi, ditandai dengan indikator status dan alarm pada panel depan perangkat yang berfungsi baik, tanpa lampu indikator menyala pada NOP A dan NOP B.</a:t>
            </a:r>
          </a:p>
          <a:p>
            <a:pPr algn="l" marL="539749" indent="-269875" lvl="1">
              <a:lnSpc>
                <a:spcPts val="3499"/>
              </a:lnSpc>
              <a:buFont typeface="Arial"/>
              <a:buChar char="•"/>
            </a:pPr>
            <a:r>
              <a:rPr lang="en-US" sz="2499">
                <a:solidFill>
                  <a:srgbClr val="0B5298"/>
                </a:solidFill>
                <a:latin typeface="Ruda"/>
                <a:ea typeface="Ruda"/>
                <a:cs typeface="Ruda"/>
                <a:sym typeface="Ruda"/>
              </a:rPr>
              <a:t>Level daya pemancar dan sensitivitas penerima optik SDH1 dan SDH2 menunjukkan hasil penyambungan pada 1310 nm. Port OPTA SDH2 kurang baik karena daya lebih dari -10 dBm, sedangkan port OPTB SDH1 dan SDH2 dalam kondisi baik.</a:t>
            </a:r>
          </a:p>
          <a:p>
            <a:pPr algn="l" marL="539749" indent="-269875" lvl="1">
              <a:lnSpc>
                <a:spcPts val="3499"/>
              </a:lnSpc>
              <a:buFont typeface="Arial"/>
              <a:buChar char="•"/>
            </a:pPr>
            <a:r>
              <a:rPr lang="en-US" sz="2499">
                <a:solidFill>
                  <a:srgbClr val="0B5298"/>
                </a:solidFill>
                <a:latin typeface="Ruda"/>
                <a:ea typeface="Ruda"/>
                <a:cs typeface="Ruda"/>
                <a:sym typeface="Ruda"/>
              </a:rPr>
              <a:t>Pengukuran BERT pada sinyal tributary 2 MB dilakukan dengan looping untuk evaluasi E1. Semakin besar redaman, semakin tinggi BER yang diterima.</a:t>
            </a:r>
          </a:p>
          <a:p>
            <a:pPr algn="l" marL="539749" indent="-269875" lvl="1">
              <a:lnSpc>
                <a:spcPts val="3499"/>
              </a:lnSpc>
              <a:buFont typeface="Arial"/>
              <a:buChar char="•"/>
            </a:pPr>
            <a:r>
              <a:rPr lang="en-US" sz="2499">
                <a:solidFill>
                  <a:srgbClr val="0B5298"/>
                </a:solidFill>
                <a:latin typeface="Ruda"/>
                <a:ea typeface="Ruda"/>
                <a:cs typeface="Ruda"/>
                <a:sym typeface="Ruda"/>
              </a:rPr>
              <a:t>Uji konektivitas ethernet berhasil ditandai dengan PC1 dan PC2 yang terhubung ke internet melalui uji ping dan pencarian di browser. NMS juga berfungsi dengan indikator hijau dan dapat dikontrol tanpa akses langsung.</a:t>
            </a:r>
          </a:p>
          <a:p>
            <a:pPr algn="l" marL="539749" indent="-269875" lvl="1">
              <a:lnSpc>
                <a:spcPts val="3499"/>
              </a:lnSpc>
              <a:buFont typeface="Arial"/>
              <a:buChar char="•"/>
            </a:pPr>
            <a:r>
              <a:rPr lang="en-US" sz="2499">
                <a:solidFill>
                  <a:srgbClr val="0B5298"/>
                </a:solidFill>
                <a:latin typeface="Ruda"/>
                <a:ea typeface="Ruda"/>
                <a:cs typeface="Ruda"/>
                <a:sym typeface="Ruda"/>
              </a:rPr>
              <a:t>Pengukuran sensitivitas mengacu pada -34 dB, namun hasil -49,27 dBm menunjukkan kemungkinan kesalahan pengukuran, redaman berlebih, atau masalah pada perangkat penerima.</a:t>
            </a:r>
          </a:p>
          <a:p>
            <a:pPr algn="l">
              <a:lnSpc>
                <a:spcPts val="3499"/>
              </a:lnSpc>
            </a:pPr>
          </a:p>
        </p:txBody>
      </p:sp>
      <p:grpSp>
        <p:nvGrpSpPr>
          <p:cNvPr name="Group 12" id="12"/>
          <p:cNvGrpSpPr/>
          <p:nvPr/>
        </p:nvGrpSpPr>
        <p:grpSpPr>
          <a:xfrm rot="0">
            <a:off x="361626" y="371169"/>
            <a:ext cx="6397268" cy="1359730"/>
            <a:chOff x="0" y="0"/>
            <a:chExt cx="8529691" cy="1812973"/>
          </a:xfrm>
        </p:grpSpPr>
        <p:grpSp>
          <p:nvGrpSpPr>
            <p:cNvPr name="Group 13" id="13"/>
            <p:cNvGrpSpPr/>
            <p:nvPr/>
          </p:nvGrpSpPr>
          <p:grpSpPr>
            <a:xfrm rot="0">
              <a:off x="1957668" y="321092"/>
              <a:ext cx="5471577" cy="772857"/>
              <a:chOff x="0" y="0"/>
              <a:chExt cx="1080805" cy="152663"/>
            </a:xfrm>
          </p:grpSpPr>
          <p:sp>
            <p:nvSpPr>
              <p:cNvPr name="Freeform 14" id="14"/>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5" id="15"/>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6" id="16"/>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7" id="17"/>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3204788" y="8961274"/>
            <a:ext cx="4054512" cy="543527"/>
            <a:chOff x="0" y="0"/>
            <a:chExt cx="1067855" cy="143151"/>
          </a:xfrm>
        </p:grpSpPr>
        <p:sp>
          <p:nvSpPr>
            <p:cNvPr name="Freeform 4" id="4"/>
            <p:cNvSpPr/>
            <p:nvPr/>
          </p:nvSpPr>
          <p:spPr>
            <a:xfrm flipH="false" flipV="false" rot="0">
              <a:off x="0" y="0"/>
              <a:ext cx="1067855" cy="143151"/>
            </a:xfrm>
            <a:custGeom>
              <a:avLst/>
              <a:gdLst/>
              <a:ahLst/>
              <a:cxnLst/>
              <a:rect r="r" b="b" t="t" l="l"/>
              <a:pathLst>
                <a:path h="143151" w="1067855">
                  <a:moveTo>
                    <a:pt x="71576" y="0"/>
                  </a:moveTo>
                  <a:lnTo>
                    <a:pt x="996279" y="0"/>
                  </a:lnTo>
                  <a:cubicBezTo>
                    <a:pt x="1015263" y="0"/>
                    <a:pt x="1033468" y="7541"/>
                    <a:pt x="1046891" y="20964"/>
                  </a:cubicBezTo>
                  <a:cubicBezTo>
                    <a:pt x="1060314" y="34387"/>
                    <a:pt x="1067855" y="52593"/>
                    <a:pt x="1067855" y="71576"/>
                  </a:cubicBezTo>
                  <a:lnTo>
                    <a:pt x="1067855" y="71576"/>
                  </a:lnTo>
                  <a:cubicBezTo>
                    <a:pt x="1067855" y="90559"/>
                    <a:pt x="1060314" y="108764"/>
                    <a:pt x="1046891" y="122187"/>
                  </a:cubicBezTo>
                  <a:cubicBezTo>
                    <a:pt x="1033468" y="135610"/>
                    <a:pt x="1015263" y="143151"/>
                    <a:pt x="996279" y="143151"/>
                  </a:cubicBezTo>
                  <a:lnTo>
                    <a:pt x="71576" y="143151"/>
                  </a:lnTo>
                  <a:cubicBezTo>
                    <a:pt x="52593" y="143151"/>
                    <a:pt x="34387" y="135610"/>
                    <a:pt x="20964" y="122187"/>
                  </a:cubicBezTo>
                  <a:cubicBezTo>
                    <a:pt x="7541" y="108764"/>
                    <a:pt x="0" y="90559"/>
                    <a:pt x="0" y="71576"/>
                  </a:cubicBezTo>
                  <a:lnTo>
                    <a:pt x="0" y="71576"/>
                  </a:lnTo>
                  <a:cubicBezTo>
                    <a:pt x="0" y="52593"/>
                    <a:pt x="7541" y="34387"/>
                    <a:pt x="20964" y="20964"/>
                  </a:cubicBezTo>
                  <a:cubicBezTo>
                    <a:pt x="34387" y="7541"/>
                    <a:pt x="52593" y="0"/>
                    <a:pt x="71576" y="0"/>
                  </a:cubicBezTo>
                  <a:close/>
                </a:path>
              </a:pathLst>
            </a:custGeom>
            <a:solidFill>
              <a:srgbClr val="B2D0EC"/>
            </a:solidFill>
          </p:spPr>
        </p:sp>
        <p:sp>
          <p:nvSpPr>
            <p:cNvPr name="TextBox 5" id="5"/>
            <p:cNvSpPr txBox="true"/>
            <p:nvPr/>
          </p:nvSpPr>
          <p:spPr>
            <a:xfrm>
              <a:off x="0" y="-57150"/>
              <a:ext cx="1067855" cy="200301"/>
            </a:xfrm>
            <a:prstGeom prst="rect">
              <a:avLst/>
            </a:prstGeom>
          </p:spPr>
          <p:txBody>
            <a:bodyPr anchor="ctr" rtlCol="false" tIns="50800" lIns="50800" bIns="50800" rIns="50800"/>
            <a:lstStyle/>
            <a:p>
              <a:pPr algn="ctr">
                <a:lnSpc>
                  <a:spcPts val="2900"/>
                </a:lnSpc>
              </a:pPr>
            </a:p>
          </p:txBody>
        </p:sp>
      </p:grpSp>
      <p:sp>
        <p:nvSpPr>
          <p:cNvPr name="Freeform 6" id="6"/>
          <p:cNvSpPr/>
          <p:nvPr/>
        </p:nvSpPr>
        <p:spPr>
          <a:xfrm flipH="false" flipV="false" rot="0">
            <a:off x="-1536499" y="6528729"/>
            <a:ext cx="5655398" cy="5408617"/>
          </a:xfrm>
          <a:custGeom>
            <a:avLst/>
            <a:gdLst/>
            <a:ahLst/>
            <a:cxnLst/>
            <a:rect r="r" b="b" t="t" l="l"/>
            <a:pathLst>
              <a:path h="5408617" w="5655398">
                <a:moveTo>
                  <a:pt x="0" y="0"/>
                </a:moveTo>
                <a:lnTo>
                  <a:pt x="5655398" y="0"/>
                </a:lnTo>
                <a:lnTo>
                  <a:pt x="5655398" y="5408617"/>
                </a:lnTo>
                <a:lnTo>
                  <a:pt x="0" y="540861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16289496" y="314340"/>
            <a:ext cx="6642316" cy="1473387"/>
          </a:xfrm>
          <a:custGeom>
            <a:avLst/>
            <a:gdLst/>
            <a:ahLst/>
            <a:cxnLst/>
            <a:rect r="r" b="b" t="t" l="l"/>
            <a:pathLst>
              <a:path h="1473387" w="6642316">
                <a:moveTo>
                  <a:pt x="0" y="0"/>
                </a:moveTo>
                <a:lnTo>
                  <a:pt x="6642316" y="0"/>
                </a:lnTo>
                <a:lnTo>
                  <a:pt x="6642316" y="1473387"/>
                </a:lnTo>
                <a:lnTo>
                  <a:pt x="0" y="147338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214426" y="2495597"/>
            <a:ext cx="1138683" cy="873680"/>
          </a:xfrm>
          <a:custGeom>
            <a:avLst/>
            <a:gdLst/>
            <a:ahLst/>
            <a:cxnLst/>
            <a:rect r="r" b="b" t="t" l="l"/>
            <a:pathLst>
              <a:path h="873680" w="1138683">
                <a:moveTo>
                  <a:pt x="0" y="0"/>
                </a:moveTo>
                <a:lnTo>
                  <a:pt x="1138683" y="0"/>
                </a:lnTo>
                <a:lnTo>
                  <a:pt x="1138683"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5361319" y="7689177"/>
            <a:ext cx="1138683" cy="873680"/>
          </a:xfrm>
          <a:custGeom>
            <a:avLst/>
            <a:gdLst/>
            <a:ahLst/>
            <a:cxnLst/>
            <a:rect r="r" b="b" t="t" l="l"/>
            <a:pathLst>
              <a:path h="873680" w="1138683">
                <a:moveTo>
                  <a:pt x="0" y="0"/>
                </a:moveTo>
                <a:lnTo>
                  <a:pt x="1138682" y="0"/>
                </a:lnTo>
                <a:lnTo>
                  <a:pt x="1138682" y="873680"/>
                </a:lnTo>
                <a:lnTo>
                  <a:pt x="0" y="87368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590853" y="4009338"/>
            <a:ext cx="15106293" cy="2344524"/>
          </a:xfrm>
          <a:prstGeom prst="rect">
            <a:avLst/>
          </a:prstGeom>
        </p:spPr>
        <p:txBody>
          <a:bodyPr anchor="t" rtlCol="false" tIns="0" lIns="0" bIns="0" rIns="0">
            <a:spAutoFit/>
          </a:bodyPr>
          <a:lstStyle/>
          <a:p>
            <a:pPr algn="ctr">
              <a:lnSpc>
                <a:spcPts val="18301"/>
              </a:lnSpc>
            </a:pPr>
            <a:r>
              <a:rPr lang="en-US" sz="15914">
                <a:solidFill>
                  <a:srgbClr val="FFFFFF"/>
                </a:solidFill>
                <a:latin typeface="TS Damas Sans"/>
                <a:ea typeface="TS Damas Sans"/>
                <a:cs typeface="TS Damas Sans"/>
                <a:sym typeface="TS Damas Sans"/>
              </a:rPr>
              <a:t>TERIMA KASIH</a:t>
            </a:r>
          </a:p>
        </p:txBody>
      </p:sp>
      <p:sp>
        <p:nvSpPr>
          <p:cNvPr name="TextBox 11" id="11"/>
          <p:cNvSpPr txBox="true"/>
          <p:nvPr/>
        </p:nvSpPr>
        <p:spPr>
          <a:xfrm rot="0">
            <a:off x="13301116" y="9051925"/>
            <a:ext cx="3762402" cy="355600"/>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Oleh : Muhammad Patel</a:t>
            </a:r>
          </a:p>
        </p:txBody>
      </p:sp>
      <p:sp>
        <p:nvSpPr>
          <p:cNvPr name="TextBox 12" id="12"/>
          <p:cNvSpPr txBox="true"/>
          <p:nvPr/>
        </p:nvSpPr>
        <p:spPr>
          <a:xfrm rot="0">
            <a:off x="6464796" y="2921602"/>
            <a:ext cx="5358407" cy="790575"/>
          </a:xfrm>
          <a:prstGeom prst="rect">
            <a:avLst/>
          </a:prstGeom>
        </p:spPr>
        <p:txBody>
          <a:bodyPr anchor="t" rtlCol="false" tIns="0" lIns="0" bIns="0" rIns="0">
            <a:spAutoFit/>
          </a:bodyPr>
          <a:lstStyle/>
          <a:p>
            <a:pPr algn="ctr">
              <a:lnSpc>
                <a:spcPts val="6525"/>
              </a:lnSpc>
            </a:pPr>
            <a:r>
              <a:rPr lang="en-US" b="true" sz="4500" spc="1260">
                <a:solidFill>
                  <a:srgbClr val="FFFFFF"/>
                </a:solidFill>
                <a:latin typeface="Ruda Bold"/>
                <a:ea typeface="Ruda Bold"/>
                <a:cs typeface="Ruda Bold"/>
                <a:sym typeface="Ruda Bold"/>
              </a:rPr>
              <a:t>Presentasi</a:t>
            </a:r>
          </a:p>
        </p:txBody>
      </p:sp>
      <p:sp>
        <p:nvSpPr>
          <p:cNvPr name="TextBox 13" id="13"/>
          <p:cNvSpPr txBox="true"/>
          <p:nvPr/>
        </p:nvSpPr>
        <p:spPr>
          <a:xfrm rot="0">
            <a:off x="16500001" y="675267"/>
            <a:ext cx="1031784" cy="701675"/>
          </a:xfrm>
          <a:prstGeom prst="rect">
            <a:avLst/>
          </a:prstGeom>
        </p:spPr>
        <p:txBody>
          <a:bodyPr anchor="t" rtlCol="false" tIns="0" lIns="0" bIns="0" rIns="0">
            <a:spAutoFit/>
          </a:bodyPr>
          <a:lstStyle/>
          <a:p>
            <a:pPr algn="ctr">
              <a:lnSpc>
                <a:spcPts val="5799"/>
              </a:lnSpc>
            </a:pPr>
            <a:r>
              <a:rPr lang="en-US" b="true" sz="3999" spc="199">
                <a:solidFill>
                  <a:srgbClr val="0B5298"/>
                </a:solidFill>
                <a:latin typeface="Ruda Bold"/>
                <a:ea typeface="Ruda Bold"/>
                <a:cs typeface="Ruda Bold"/>
                <a:sym typeface="Ruda Bold"/>
              </a:rPr>
              <a:t>14</a:t>
            </a:r>
          </a:p>
        </p:txBody>
      </p:sp>
      <p:grpSp>
        <p:nvGrpSpPr>
          <p:cNvPr name="Group 14" id="14"/>
          <p:cNvGrpSpPr/>
          <p:nvPr/>
        </p:nvGrpSpPr>
        <p:grpSpPr>
          <a:xfrm rot="0">
            <a:off x="361626" y="371169"/>
            <a:ext cx="6397268" cy="1359730"/>
            <a:chOff x="0" y="0"/>
            <a:chExt cx="8529691" cy="1812973"/>
          </a:xfrm>
        </p:grpSpPr>
        <p:grpSp>
          <p:nvGrpSpPr>
            <p:cNvPr name="Group 15" id="15"/>
            <p:cNvGrpSpPr/>
            <p:nvPr/>
          </p:nvGrpSpPr>
          <p:grpSpPr>
            <a:xfrm rot="0">
              <a:off x="1957668" y="321092"/>
              <a:ext cx="5471577" cy="772857"/>
              <a:chOff x="0" y="0"/>
              <a:chExt cx="1080805" cy="152663"/>
            </a:xfrm>
          </p:grpSpPr>
          <p:sp>
            <p:nvSpPr>
              <p:cNvPr name="Freeform 16" id="16"/>
              <p:cNvSpPr/>
              <p:nvPr/>
            </p:nvSpPr>
            <p:spPr>
              <a:xfrm flipH="false" flipV="false" rot="0">
                <a:off x="0" y="0"/>
                <a:ext cx="1080805" cy="152663"/>
              </a:xfrm>
              <a:custGeom>
                <a:avLst/>
                <a:gdLst/>
                <a:ahLst/>
                <a:cxnLst/>
                <a:rect r="r" b="b" t="t" l="l"/>
                <a:pathLst>
                  <a:path h="152663" w="1080805">
                    <a:moveTo>
                      <a:pt x="76332" y="0"/>
                    </a:moveTo>
                    <a:lnTo>
                      <a:pt x="1004474" y="0"/>
                    </a:lnTo>
                    <a:cubicBezTo>
                      <a:pt x="1046630" y="0"/>
                      <a:pt x="1080805" y="34175"/>
                      <a:pt x="1080805" y="76332"/>
                    </a:cubicBezTo>
                    <a:lnTo>
                      <a:pt x="1080805" y="76332"/>
                    </a:lnTo>
                    <a:cubicBezTo>
                      <a:pt x="1080805" y="96576"/>
                      <a:pt x="1072763" y="115991"/>
                      <a:pt x="1058448" y="130306"/>
                    </a:cubicBezTo>
                    <a:cubicBezTo>
                      <a:pt x="1044133" y="144621"/>
                      <a:pt x="1024718" y="152663"/>
                      <a:pt x="1004474" y="152663"/>
                    </a:cubicBezTo>
                    <a:lnTo>
                      <a:pt x="76332" y="152663"/>
                    </a:lnTo>
                    <a:cubicBezTo>
                      <a:pt x="34175" y="152663"/>
                      <a:pt x="0" y="118488"/>
                      <a:pt x="0" y="76332"/>
                    </a:cubicBezTo>
                    <a:lnTo>
                      <a:pt x="0" y="76332"/>
                    </a:lnTo>
                    <a:cubicBezTo>
                      <a:pt x="0" y="34175"/>
                      <a:pt x="34175" y="0"/>
                      <a:pt x="76332" y="0"/>
                    </a:cubicBezTo>
                    <a:close/>
                  </a:path>
                </a:pathLst>
              </a:custGeom>
              <a:solidFill>
                <a:srgbClr val="B2D0EC"/>
              </a:solidFill>
            </p:spPr>
          </p:sp>
          <p:sp>
            <p:nvSpPr>
              <p:cNvPr name="TextBox 17" id="17"/>
              <p:cNvSpPr txBox="true"/>
              <p:nvPr/>
            </p:nvSpPr>
            <p:spPr>
              <a:xfrm>
                <a:off x="0" y="-57150"/>
                <a:ext cx="1080805" cy="209813"/>
              </a:xfrm>
              <a:prstGeom prst="rect">
                <a:avLst/>
              </a:prstGeom>
            </p:spPr>
            <p:txBody>
              <a:bodyPr anchor="ctr" rtlCol="false" tIns="50800" lIns="50800" bIns="50800" rIns="50800"/>
              <a:lstStyle/>
              <a:p>
                <a:pPr algn="ctr">
                  <a:lnSpc>
                    <a:spcPts val="2900"/>
                  </a:lnSpc>
                </a:pPr>
              </a:p>
            </p:txBody>
          </p:sp>
        </p:grpSp>
        <p:sp>
          <p:nvSpPr>
            <p:cNvPr name="TextBox 18" id="18"/>
            <p:cNvSpPr txBox="true"/>
            <p:nvPr/>
          </p:nvSpPr>
          <p:spPr>
            <a:xfrm rot="0">
              <a:off x="631141" y="451403"/>
              <a:ext cx="7898550" cy="455083"/>
            </a:xfrm>
            <a:prstGeom prst="rect">
              <a:avLst/>
            </a:prstGeom>
          </p:spPr>
          <p:txBody>
            <a:bodyPr anchor="t" rtlCol="false" tIns="0" lIns="0" bIns="0" rIns="0">
              <a:spAutoFit/>
            </a:bodyPr>
            <a:lstStyle/>
            <a:p>
              <a:pPr algn="ctr">
                <a:lnSpc>
                  <a:spcPts val="2900"/>
                </a:lnSpc>
              </a:pPr>
              <a:r>
                <a:rPr lang="en-US" b="true" sz="2000" spc="100">
                  <a:solidFill>
                    <a:srgbClr val="0B5298"/>
                  </a:solidFill>
                  <a:latin typeface="Ruda Bold"/>
                  <a:ea typeface="Ruda Bold"/>
                  <a:cs typeface="Ruda Bold"/>
                  <a:sym typeface="Ruda Bold"/>
                </a:rPr>
                <a:t>Siskom terestrial gel.mikro</a:t>
              </a:r>
            </a:p>
          </p:txBody>
        </p:sp>
        <p:sp>
          <p:nvSpPr>
            <p:cNvPr name="Freeform 19" id="19"/>
            <p:cNvSpPr/>
            <p:nvPr/>
          </p:nvSpPr>
          <p:spPr>
            <a:xfrm flipH="false" flipV="false" rot="0">
              <a:off x="0" y="0"/>
              <a:ext cx="1262283" cy="1812973"/>
            </a:xfrm>
            <a:custGeom>
              <a:avLst/>
              <a:gdLst/>
              <a:ahLst/>
              <a:cxnLst/>
              <a:rect r="r" b="b" t="t" l="l"/>
              <a:pathLst>
                <a:path h="1812973" w="1262283">
                  <a:moveTo>
                    <a:pt x="0" y="0"/>
                  </a:moveTo>
                  <a:lnTo>
                    <a:pt x="1262283" y="0"/>
                  </a:lnTo>
                  <a:lnTo>
                    <a:pt x="1262283" y="1812973"/>
                  </a:lnTo>
                  <a:lnTo>
                    <a:pt x="0" y="1812973"/>
                  </a:lnTo>
                  <a:lnTo>
                    <a:pt x="0" y="0"/>
                  </a:lnTo>
                  <a:close/>
                </a:path>
              </a:pathLst>
            </a:custGeom>
            <a:blipFill>
              <a:blip r:embed="rId9"/>
              <a:stretch>
                <a:fillRect l="0" t="0" r="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DAGnTs8wPqI</dc:identifier>
  <dcterms:modified xsi:type="dcterms:W3CDTF">2011-08-01T06:04:30Z</dcterms:modified>
  <cp:revision>1</cp:revision>
  <dc:title>PPT PAKET B</dc:title>
</cp:coreProperties>
</file>