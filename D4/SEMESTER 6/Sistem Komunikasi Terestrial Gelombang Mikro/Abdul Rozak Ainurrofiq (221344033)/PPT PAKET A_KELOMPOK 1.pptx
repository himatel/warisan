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ileron Heavy" charset="1" panose="00000A00000000000000"/>
      <p:regular r:id="rId19"/>
    </p:embeddedFont>
    <p:embeddedFont>
      <p:font typeface="Work Sans Bold" charset="1" panose="00000000000000000000"/>
      <p:regular r:id="rId20"/>
    </p:embeddedFont>
    <p:embeddedFont>
      <p:font typeface="Work Sans" charset="1" panose="000000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  <p:embeddedFont>
      <p:font typeface="Aileron Bold" charset="1" panose="00000800000000000000"/>
      <p:regular r:id="rId24"/>
    </p:embeddedFont>
    <p:embeddedFont>
      <p:font typeface="Aileron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4995396" y="-1620651"/>
            <a:ext cx="868886" cy="4429816"/>
            <a:chOff x="0" y="0"/>
            <a:chExt cx="228842" cy="11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842" cy="1166700"/>
            </a:xfrm>
            <a:custGeom>
              <a:avLst/>
              <a:gdLst/>
              <a:ahLst/>
              <a:cxnLst/>
              <a:rect r="r" b="b" t="t" l="l"/>
              <a:pathLst>
                <a:path h="1166700" w="228842">
                  <a:moveTo>
                    <a:pt x="114421" y="0"/>
                  </a:moveTo>
                  <a:lnTo>
                    <a:pt x="114421" y="0"/>
                  </a:lnTo>
                  <a:cubicBezTo>
                    <a:pt x="177614" y="0"/>
                    <a:pt x="228842" y="51228"/>
                    <a:pt x="228842" y="114421"/>
                  </a:cubicBezTo>
                  <a:lnTo>
                    <a:pt x="228842" y="1052279"/>
                  </a:lnTo>
                  <a:cubicBezTo>
                    <a:pt x="228842" y="1082626"/>
                    <a:pt x="216787" y="1111729"/>
                    <a:pt x="195329" y="1133187"/>
                  </a:cubicBezTo>
                  <a:cubicBezTo>
                    <a:pt x="173871" y="1154645"/>
                    <a:pt x="144768" y="1166700"/>
                    <a:pt x="114421" y="1166700"/>
                  </a:cubicBezTo>
                  <a:lnTo>
                    <a:pt x="114421" y="1166700"/>
                  </a:lnTo>
                  <a:cubicBezTo>
                    <a:pt x="84075" y="1166700"/>
                    <a:pt x="54971" y="1154645"/>
                    <a:pt x="33513" y="1133187"/>
                  </a:cubicBezTo>
                  <a:cubicBezTo>
                    <a:pt x="12055" y="1111729"/>
                    <a:pt x="0" y="1082626"/>
                    <a:pt x="0" y="1052279"/>
                  </a:cubicBezTo>
                  <a:lnTo>
                    <a:pt x="0" y="114421"/>
                  </a:lnTo>
                  <a:cubicBezTo>
                    <a:pt x="0" y="84075"/>
                    <a:pt x="12055" y="54971"/>
                    <a:pt x="33513" y="33513"/>
                  </a:cubicBezTo>
                  <a:cubicBezTo>
                    <a:pt x="54971" y="12055"/>
                    <a:pt x="84075" y="0"/>
                    <a:pt x="1144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8842" cy="117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6740" y="228600"/>
            <a:ext cx="946712" cy="1359730"/>
          </a:xfrm>
          <a:custGeom>
            <a:avLst/>
            <a:gdLst/>
            <a:ahLst/>
            <a:cxnLst/>
            <a:rect r="r" b="b" t="t" l="l"/>
            <a:pathLst>
              <a:path h="1359730" w="946712">
                <a:moveTo>
                  <a:pt x="0" y="0"/>
                </a:moveTo>
                <a:lnTo>
                  <a:pt x="946712" y="0"/>
                </a:lnTo>
                <a:lnTo>
                  <a:pt x="946712" y="1359730"/>
                </a:lnTo>
                <a:lnTo>
                  <a:pt x="0" y="135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6740" y="2104960"/>
            <a:ext cx="16938007" cy="26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5"/>
              </a:lnSpc>
            </a:pPr>
            <a:r>
              <a:rPr lang="en-US" b="true" sz="5799" spc="-318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Paket A: Sistem Transmisi Serat Optik Menggunakan Sistem Multiplex SDH (Synchronous Digital Hirearchy)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5223" y="295275"/>
            <a:ext cx="493188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300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Siskom terestrial gel.mikro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0307" y="8514651"/>
            <a:ext cx="8004624" cy="134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DOSEN : VITRASIA, ST., MT</a:t>
            </a:r>
          </a:p>
          <a:p>
            <a:pPr algn="l" marL="0" indent="0" lvl="0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             HANNY MADIAWATI,SST.,MT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1688" y="4473181"/>
            <a:ext cx="8004624" cy="441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</a:p>
          <a:p>
            <a:pPr algn="ctr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DISUSUN OLEH: </a:t>
            </a:r>
          </a:p>
          <a:p>
            <a:pPr algn="ctr">
              <a:lnSpc>
                <a:spcPts val="3519"/>
              </a:lnSpc>
            </a:pPr>
          </a:p>
          <a:p>
            <a:pPr algn="ctr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KELAS 3B-TNK/KELOMPOK 1</a:t>
            </a:r>
          </a:p>
          <a:p>
            <a:pPr algn="ctr">
              <a:lnSpc>
                <a:spcPts val="3519"/>
              </a:lnSpc>
            </a:pPr>
          </a:p>
          <a:p>
            <a:pPr algn="ctr" marL="690879" indent="-345439" lvl="1">
              <a:lnSpc>
                <a:spcPts val="3519"/>
              </a:lnSpc>
              <a:buAutoNum type="arabicPeriod" startAt="1"/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ABDUL ROZAK    (221344033)</a:t>
            </a:r>
          </a:p>
          <a:p>
            <a:pPr algn="ctr" marL="690879" indent="-345439" lvl="1">
              <a:lnSpc>
                <a:spcPts val="3519"/>
              </a:lnSpc>
              <a:buAutoNum type="arabicPeriod" startAt="1"/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ADELIA PUSPITA (221344034)</a:t>
            </a:r>
          </a:p>
          <a:p>
            <a:pPr algn="ctr" marL="690879" indent="-345439" lvl="1">
              <a:lnSpc>
                <a:spcPts val="3519"/>
              </a:lnSpc>
              <a:buAutoNum type="arabicPeriod" startAt="1"/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ALDIZAN PUTRA  (221344035)</a:t>
            </a:r>
          </a:p>
          <a:p>
            <a:pPr algn="ctr" marL="690879" indent="-345439" lvl="1">
              <a:lnSpc>
                <a:spcPts val="3519"/>
              </a:lnSpc>
              <a:buAutoNum type="arabicPeriod" startAt="1"/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ANNISA JULIANI  (221344036)</a:t>
            </a:r>
          </a:p>
          <a:p>
            <a:pPr algn="ctr" marL="0" indent="0" lvl="0">
              <a:lnSpc>
                <a:spcPts val="351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25799" y="4051182"/>
            <a:ext cx="12654499" cy="5207118"/>
            <a:chOff x="0" y="0"/>
            <a:chExt cx="2637634" cy="1085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7634" cy="1085343"/>
            </a:xfrm>
            <a:custGeom>
              <a:avLst/>
              <a:gdLst/>
              <a:ahLst/>
              <a:cxnLst/>
              <a:rect r="r" b="b" t="t" l="l"/>
              <a:pathLst>
                <a:path h="1085343" w="2637634">
                  <a:moveTo>
                    <a:pt x="28754" y="0"/>
                  </a:moveTo>
                  <a:lnTo>
                    <a:pt x="2608880" y="0"/>
                  </a:lnTo>
                  <a:cubicBezTo>
                    <a:pt x="2624760" y="0"/>
                    <a:pt x="2637634" y="12874"/>
                    <a:pt x="2637634" y="28754"/>
                  </a:cubicBezTo>
                  <a:lnTo>
                    <a:pt x="2637634" y="1056589"/>
                  </a:lnTo>
                  <a:cubicBezTo>
                    <a:pt x="2637634" y="1064215"/>
                    <a:pt x="2634604" y="1071528"/>
                    <a:pt x="2629212" y="1076921"/>
                  </a:cubicBezTo>
                  <a:cubicBezTo>
                    <a:pt x="2623819" y="1082313"/>
                    <a:pt x="2616506" y="1085343"/>
                    <a:pt x="2608880" y="1085343"/>
                  </a:cubicBezTo>
                  <a:lnTo>
                    <a:pt x="28754" y="1085343"/>
                  </a:lnTo>
                  <a:cubicBezTo>
                    <a:pt x="21128" y="1085343"/>
                    <a:pt x="13814" y="1082313"/>
                    <a:pt x="8422" y="1076921"/>
                  </a:cubicBezTo>
                  <a:cubicBezTo>
                    <a:pt x="3029" y="1071528"/>
                    <a:pt x="0" y="1064215"/>
                    <a:pt x="0" y="1056589"/>
                  </a:cubicBezTo>
                  <a:lnTo>
                    <a:pt x="0" y="28754"/>
                  </a:lnTo>
                  <a:cubicBezTo>
                    <a:pt x="0" y="21128"/>
                    <a:pt x="3029" y="13814"/>
                    <a:pt x="8422" y="8422"/>
                  </a:cubicBezTo>
                  <a:cubicBezTo>
                    <a:pt x="13814" y="3029"/>
                    <a:pt x="21128" y="0"/>
                    <a:pt x="28754" y="0"/>
                  </a:cubicBezTo>
                  <a:close/>
                </a:path>
              </a:pathLst>
            </a:custGeom>
            <a:solidFill>
              <a:srgbClr val="E3E2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37634" cy="1123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55715" y="9561168"/>
            <a:ext cx="6776569" cy="152535"/>
            <a:chOff x="0" y="0"/>
            <a:chExt cx="1805489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54895" cy="406400"/>
            </a:xfrm>
            <a:custGeom>
              <a:avLst/>
              <a:gdLst/>
              <a:ahLst/>
              <a:cxnLst/>
              <a:rect r="r" b="b" t="t" l="l"/>
              <a:pathLst>
                <a:path h="406400" w="18054895">
                  <a:moveTo>
                    <a:pt x="17851695" y="0"/>
                  </a:moveTo>
                  <a:cubicBezTo>
                    <a:pt x="17963921" y="0"/>
                    <a:pt x="18054895" y="90976"/>
                    <a:pt x="18054895" y="203200"/>
                  </a:cubicBezTo>
                  <a:cubicBezTo>
                    <a:pt x="18054895" y="315424"/>
                    <a:pt x="17963921" y="406400"/>
                    <a:pt x="178516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3E2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05489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73666" y="2933077"/>
            <a:ext cx="13540829" cy="603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3461" indent="-441731" lvl="1">
              <a:lnSpc>
                <a:spcPts val="5319"/>
              </a:lnSpc>
              <a:buAutoNum type="arabicPeriod" startAt="1"/>
            </a:pPr>
            <a:r>
              <a:rPr lang="en-US" sz="4091" spc="564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Mengerti dan memahami  konsep infrastruktur telekomunikasi berbasis teknologi microwave, PDH/SDH Standar ITU.G703 </a:t>
            </a:r>
          </a:p>
          <a:p>
            <a:pPr algn="l" marL="883461" indent="-441731" lvl="1">
              <a:lnSpc>
                <a:spcPts val="5319"/>
              </a:lnSpc>
              <a:buAutoNum type="arabicPeriod" startAt="1"/>
            </a:pPr>
            <a:r>
              <a:rPr lang="en-US" sz="4091" spc="564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Memahami tentang sistem transmisi PDH&amp;SDH</a:t>
            </a:r>
          </a:p>
          <a:p>
            <a:pPr algn="l" marL="883461" indent="-441731" lvl="1">
              <a:lnSpc>
                <a:spcPts val="5319"/>
              </a:lnSpc>
              <a:buAutoNum type="arabicPeriod" startAt="1"/>
            </a:pPr>
            <a:r>
              <a:rPr lang="en-US" sz="4091" spc="564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Mengkofigurasi dan menseting perangkat SDH Multiplexer</a:t>
            </a:r>
          </a:p>
          <a:p>
            <a:pPr algn="l">
              <a:lnSpc>
                <a:spcPts val="53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76350"/>
            <a:ext cx="14279849" cy="174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0"/>
              </a:lnSpc>
            </a:pPr>
            <a:r>
              <a:rPr lang="en-US" sz="13100" spc="-720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Tujuan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4318" y="3110516"/>
            <a:ext cx="1848111" cy="694492"/>
            <a:chOff x="0" y="0"/>
            <a:chExt cx="108147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03456"/>
            <a:ext cx="14279849" cy="174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0"/>
              </a:lnSpc>
            </a:pPr>
            <a:r>
              <a:rPr lang="en-US" sz="13100" spc="-720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Lingkup Pekerjaan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8790" y="3325365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04803" y="3100991"/>
            <a:ext cx="1312714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MEMBUAT DIAGRAM SETUP SISTEM SISTEM TRANSMISI SERAT OPTIK DAN BLOK DIAGRAM  SDH MULTIPLEXER SECARA LENGKAP DAN INFORMATIF.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4318" y="4176114"/>
            <a:ext cx="1848111" cy="694492"/>
            <a:chOff x="0" y="0"/>
            <a:chExt cx="108147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08790" y="4390963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04803" y="4166589"/>
            <a:ext cx="1312714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MENGAMATI DAN MENGURAIKAN ALARM DAN STATUS PERANGKAT SDH VIA APLIKASI RAYVIEW.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44318" y="5232556"/>
            <a:ext cx="1848111" cy="694492"/>
            <a:chOff x="0" y="0"/>
            <a:chExt cx="108147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08790" y="5447405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4803" y="5223031"/>
            <a:ext cx="1312714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MENGUKUR BIT ERROR RATE (BER) DAN OBJECTIVE PERFORMANCE RADIO LINK G821 PADA SETIAP E1 SDH SEPERTI ERROR SECOND, SEVERE ERROR SECOND, DAN AVAILABILITY.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44318" y="6412824"/>
            <a:ext cx="1848111" cy="694492"/>
            <a:chOff x="0" y="0"/>
            <a:chExt cx="108147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08790" y="6627672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04803" y="6583857"/>
            <a:ext cx="131271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MEMBANGUN TELEPON REMOTE MENGUNAKAN SUB/EX-SUB/END INTERFACE.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44318" y="7507366"/>
            <a:ext cx="1848111" cy="694492"/>
            <a:chOff x="0" y="0"/>
            <a:chExt cx="108147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908790" y="7722214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04803" y="7739359"/>
            <a:ext cx="131271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MENGUKUR LEVEL SINYAL (DBM) KANAL VOICE 4WIRE EM SIGNALLING INTERFACE.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44318" y="8563808"/>
            <a:ext cx="1848111" cy="694492"/>
            <a:chOff x="0" y="0"/>
            <a:chExt cx="108147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470" cy="406400"/>
            </a:xfrm>
            <a:custGeom>
              <a:avLst/>
              <a:gdLst/>
              <a:ahLst/>
              <a:cxnLst/>
              <a:rect r="r" b="b" t="t" l="l"/>
              <a:pathLst>
                <a:path h="406400" w="1081470">
                  <a:moveTo>
                    <a:pt x="878270" y="0"/>
                  </a:moveTo>
                  <a:cubicBezTo>
                    <a:pt x="990494" y="0"/>
                    <a:pt x="1081470" y="90976"/>
                    <a:pt x="1081470" y="203200"/>
                  </a:cubicBezTo>
                  <a:cubicBezTo>
                    <a:pt x="1081470" y="315424"/>
                    <a:pt x="990494" y="406400"/>
                    <a:pt x="8782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081470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08790" y="8778656"/>
            <a:ext cx="13191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04803" y="8734841"/>
            <a:ext cx="131271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 MENGUKUR KINERJA POINT TO POINT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222" y="2537147"/>
            <a:ext cx="16343507" cy="2383592"/>
          </a:xfrm>
          <a:custGeom>
            <a:avLst/>
            <a:gdLst/>
            <a:ahLst/>
            <a:cxnLst/>
            <a:rect r="r" b="b" t="t" l="l"/>
            <a:pathLst>
              <a:path h="2383592" w="16343507">
                <a:moveTo>
                  <a:pt x="0" y="0"/>
                </a:moveTo>
                <a:lnTo>
                  <a:pt x="16343507" y="0"/>
                </a:lnTo>
                <a:lnTo>
                  <a:pt x="16343507" y="2383593"/>
                </a:lnTo>
                <a:lnTo>
                  <a:pt x="0" y="2383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69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65849" y="4001980"/>
            <a:ext cx="1456554" cy="484545"/>
          </a:xfrm>
          <a:custGeom>
            <a:avLst/>
            <a:gdLst/>
            <a:ahLst/>
            <a:cxnLst/>
            <a:rect r="r" b="b" t="t" l="l"/>
            <a:pathLst>
              <a:path h="484545" w="1456554">
                <a:moveTo>
                  <a:pt x="0" y="0"/>
                </a:moveTo>
                <a:lnTo>
                  <a:pt x="1456553" y="0"/>
                </a:lnTo>
                <a:lnTo>
                  <a:pt x="1456553" y="484544"/>
                </a:lnTo>
                <a:lnTo>
                  <a:pt x="0" y="48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6" t="-5961" r="-1516" b="-63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29331" y="4028510"/>
            <a:ext cx="1461155" cy="458014"/>
          </a:xfrm>
          <a:custGeom>
            <a:avLst/>
            <a:gdLst/>
            <a:ahLst/>
            <a:cxnLst/>
            <a:rect r="r" b="b" t="t" l="l"/>
            <a:pathLst>
              <a:path h="458014" w="1461155">
                <a:moveTo>
                  <a:pt x="0" y="0"/>
                </a:moveTo>
                <a:lnTo>
                  <a:pt x="1461155" y="0"/>
                </a:lnTo>
                <a:lnTo>
                  <a:pt x="1461155" y="458014"/>
                </a:lnTo>
                <a:lnTo>
                  <a:pt x="0" y="458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2" t="-10741" r="-3435" b="-1509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9728" y="6318885"/>
            <a:ext cx="16783050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Hubungkan OPTA output ke OPTB input dan OPTA input ke OPTB output, pada alarm NOP A pada SDH A akan mati, begitupun alarm NOP B pada SDH B akan mati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Hubungkan port EMU pada SDH ke laptop menggunakan kabel lan, lalu setting ip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Cek koneksi dengan melakukan ping, pertama ping ip pc A, lalu ping ip gatewayA, selanjutnya ping ip gateway B, lalu ping ip pc B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Fixed phone dapat diketahui nomornya dengan melihat address pada SDH, lalu dapat melakukan panggilan ke telephone pada SDH lain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6169" y="481013"/>
            <a:ext cx="1667313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 spc="-63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Membuat diagram setup sistem Sistem Transmisi Serat Optik dan blok diagram SDH multiplexer secara lengkap dan informatif.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120" y="2291402"/>
            <a:ext cx="212657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#NE 1</a:t>
            </a:r>
          </a:p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#JKT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463955" y="2291402"/>
            <a:ext cx="212657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#NE 1</a:t>
            </a:r>
          </a:p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#BDG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17965" y="2291402"/>
            <a:ext cx="212657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76781" y="2291402"/>
            <a:ext cx="212657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#03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7640" y="5047612"/>
            <a:ext cx="360411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IP PC: 192.168.1.123</a:t>
            </a:r>
          </a:p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IP GW: 192.168.1.120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0614" y="5047612"/>
            <a:ext cx="360411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IP PC: 192.168.1.124</a:t>
            </a:r>
          </a:p>
          <a:p>
            <a:pPr algn="just">
              <a:lnSpc>
                <a:spcPts val="3359"/>
              </a:lnSpc>
            </a:pPr>
            <a:r>
              <a:rPr lang="en-US" sz="2400" spc="-48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IP GW: 192.168.1.121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024" y="3526646"/>
            <a:ext cx="3698068" cy="1720883"/>
          </a:xfrm>
          <a:custGeom>
            <a:avLst/>
            <a:gdLst/>
            <a:ahLst/>
            <a:cxnLst/>
            <a:rect r="r" b="b" t="t" l="l"/>
            <a:pathLst>
              <a:path h="1720883" w="3698068">
                <a:moveTo>
                  <a:pt x="0" y="0"/>
                </a:moveTo>
                <a:lnTo>
                  <a:pt x="3698067" y="0"/>
                </a:lnTo>
                <a:lnTo>
                  <a:pt x="3698067" y="1720883"/>
                </a:lnTo>
                <a:lnTo>
                  <a:pt x="0" y="172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4005" y="6920793"/>
            <a:ext cx="4038087" cy="3122232"/>
          </a:xfrm>
          <a:custGeom>
            <a:avLst/>
            <a:gdLst/>
            <a:ahLst/>
            <a:cxnLst/>
            <a:rect r="r" b="b" t="t" l="l"/>
            <a:pathLst>
              <a:path h="3122232" w="4038087">
                <a:moveTo>
                  <a:pt x="0" y="0"/>
                </a:moveTo>
                <a:lnTo>
                  <a:pt x="4038086" y="0"/>
                </a:lnTo>
                <a:lnTo>
                  <a:pt x="4038086" y="3122232"/>
                </a:lnTo>
                <a:lnTo>
                  <a:pt x="0" y="312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60469" y="3961549"/>
            <a:ext cx="5524531" cy="5918486"/>
          </a:xfrm>
          <a:custGeom>
            <a:avLst/>
            <a:gdLst/>
            <a:ahLst/>
            <a:cxnLst/>
            <a:rect r="r" b="b" t="t" l="l"/>
            <a:pathLst>
              <a:path h="5918486" w="5524531">
                <a:moveTo>
                  <a:pt x="0" y="0"/>
                </a:moveTo>
                <a:lnTo>
                  <a:pt x="5524531" y="0"/>
                </a:lnTo>
                <a:lnTo>
                  <a:pt x="5524531" y="5918487"/>
                </a:lnTo>
                <a:lnTo>
                  <a:pt x="0" y="5918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85090" y="3667227"/>
            <a:ext cx="5348056" cy="1729314"/>
          </a:xfrm>
          <a:custGeom>
            <a:avLst/>
            <a:gdLst/>
            <a:ahLst/>
            <a:cxnLst/>
            <a:rect r="r" b="b" t="t" l="l"/>
            <a:pathLst>
              <a:path h="1729314" w="5348056">
                <a:moveTo>
                  <a:pt x="0" y="0"/>
                </a:moveTo>
                <a:lnTo>
                  <a:pt x="5348057" y="0"/>
                </a:lnTo>
                <a:lnTo>
                  <a:pt x="5348057" y="1729314"/>
                </a:lnTo>
                <a:lnTo>
                  <a:pt x="0" y="1729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21" t="-8129" r="-4034" b="-129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6489" y="1977881"/>
            <a:ext cx="533313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Buka aplikasi Rayview,   masukan username: 0001 dan password: 0001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6169" y="481013"/>
            <a:ext cx="1667313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 spc="-63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Megamati dan menguraikan alarm dan status perangkat SDH via aplikasi RayView.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307" y="1975587"/>
            <a:ext cx="5854855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3. Nama isi dengan singkatan kota besar, NE IP isi dengan  IP SDH, dan NE Address isi dengan No Telephone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3554" y="5466604"/>
            <a:ext cx="390339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2. setelah masuk klik kanan dan pilih ne device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66702" y="1975587"/>
            <a:ext cx="586574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4. Klik 2 kali dimana saja, indikator harus hijau dan alarm harus sama dengan aslinya.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1554" y="537185"/>
            <a:ext cx="10408892" cy="4176568"/>
          </a:xfrm>
          <a:custGeom>
            <a:avLst/>
            <a:gdLst/>
            <a:ahLst/>
            <a:cxnLst/>
            <a:rect r="r" b="b" t="t" l="l"/>
            <a:pathLst>
              <a:path h="4176568" w="10408892">
                <a:moveTo>
                  <a:pt x="0" y="0"/>
                </a:moveTo>
                <a:lnTo>
                  <a:pt x="10408892" y="0"/>
                </a:lnTo>
                <a:lnTo>
                  <a:pt x="10408892" y="4176569"/>
                </a:lnTo>
                <a:lnTo>
                  <a:pt x="0" y="4176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9171" y="8090049"/>
            <a:ext cx="11301259" cy="1723442"/>
          </a:xfrm>
          <a:custGeom>
            <a:avLst/>
            <a:gdLst/>
            <a:ahLst/>
            <a:cxnLst/>
            <a:rect r="r" b="b" t="t" l="l"/>
            <a:pathLst>
              <a:path h="1723442" w="11301259">
                <a:moveTo>
                  <a:pt x="0" y="0"/>
                </a:moveTo>
                <a:lnTo>
                  <a:pt x="11301259" y="0"/>
                </a:lnTo>
                <a:lnTo>
                  <a:pt x="11301259" y="1723442"/>
                </a:lnTo>
                <a:lnTo>
                  <a:pt x="0" y="172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6525" y="613385"/>
            <a:ext cx="4880897" cy="317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 spc="-230" b="true">
                <a:solidFill>
                  <a:srgbClr val="E3E2DE"/>
                </a:solidFill>
                <a:latin typeface="Aileron Bold"/>
                <a:ea typeface="Aileron Bold"/>
                <a:cs typeface="Aileron Bold"/>
                <a:sym typeface="Aileron Bold"/>
              </a:rPr>
              <a:t>Pengukuran Bit Error Rate (BER) Dan Objective Performance Radio Link G821 Pada Setiap E1 SDH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401" y="3834740"/>
            <a:ext cx="4763732" cy="566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 marL="604524" indent="-302262" lvl="1">
              <a:lnSpc>
                <a:spcPts val="2800"/>
              </a:lnSpc>
              <a:buAutoNum type="arabicPeriod" startAt="1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Pastikan semua perangkat terhubung dengan benar.</a:t>
            </a:r>
          </a:p>
          <a:p>
            <a:pPr algn="l" marL="604524" indent="-302262" lvl="1">
              <a:lnSpc>
                <a:spcPts val="2800"/>
              </a:lnSpc>
              <a:buAutoNum type="arabicPeriod" startAt="1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Hubungkan Multiplexer Polban A ke Multiplexer Polban B menggunakan kabel patchcord.</a:t>
            </a:r>
          </a:p>
          <a:p>
            <a:pPr algn="l" marL="604524" indent="-302262" lvl="1">
              <a:lnSpc>
                <a:spcPts val="2800"/>
              </a:lnSpc>
              <a:buAutoNum type="arabicPeriod" startAt="1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Sambungkan SDH Polban A dengan SDH Polban B untuk menghasilkan sinyal output.</a:t>
            </a:r>
          </a:p>
          <a:p>
            <a:pPr algn="l" marL="604524" indent="-302262" lvl="1">
              <a:lnSpc>
                <a:spcPts val="2800"/>
              </a:lnSpc>
              <a:buAutoNum type="arabicPeriod" startAt="1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Atur Data Tester:</a:t>
            </a:r>
          </a:p>
          <a:p>
            <a:pPr algn="l" marL="1209049" indent="-403016" lvl="2">
              <a:lnSpc>
                <a:spcPts val="2800"/>
              </a:lnSpc>
              <a:buFont typeface="Arial"/>
              <a:buChar char="⚬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Line Code: HDB3</a:t>
            </a:r>
          </a:p>
          <a:p>
            <a:pPr algn="l" marL="1209049" indent="-403016" lvl="2">
              <a:lnSpc>
                <a:spcPts val="2800"/>
              </a:lnSpc>
              <a:buFont typeface="Arial"/>
              <a:buChar char="⚬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Framing: PCM 30</a:t>
            </a:r>
          </a:p>
          <a:p>
            <a:pPr algn="l" marL="1209049" indent="-403016" lvl="2">
              <a:lnSpc>
                <a:spcPts val="2800"/>
              </a:lnSpc>
              <a:buFont typeface="Arial"/>
              <a:buChar char="⚬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Mode: Rx/Tx</a:t>
            </a:r>
          </a:p>
          <a:p>
            <a:pPr algn="l" marL="1209049" indent="-403016" lvl="2">
              <a:lnSpc>
                <a:spcPts val="2800"/>
              </a:lnSpc>
              <a:buFont typeface="Arial"/>
              <a:buChar char="⚬"/>
            </a:pPr>
            <a:r>
              <a:rPr lang="en-US" sz="2800" spc="-61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Termination: 75/120 Ω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09597" y="4761379"/>
            <a:ext cx="11832807" cy="319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5.</a:t>
            </a: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Hubungkan setiap E1 di Polban A ke Data Tester.</a:t>
            </a:r>
          </a:p>
          <a:p>
            <a:pPr algn="l">
              <a:lnSpc>
                <a:spcPts val="2800"/>
              </a:lnSpc>
            </a:pP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6.</a:t>
            </a: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Lakukan looping pada masing-masing E1 SDH di Polban B menggunakan      konektor   BNC male to male.</a:t>
            </a:r>
          </a:p>
          <a:p>
            <a:pPr algn="l">
              <a:lnSpc>
                <a:spcPts val="2800"/>
              </a:lnSpc>
            </a:pP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7.</a:t>
            </a: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Amati hasil pada Data Tester:</a:t>
            </a:r>
          </a:p>
          <a:p>
            <a:pPr algn="l" marL="1209049" indent="-403016" lvl="2">
              <a:lnSpc>
                <a:spcPts val="2800"/>
              </a:lnSpc>
              <a:buAutoNum type="alphaLcPeriod" startAt="1"/>
            </a:pP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Jika hasil menunjukkan "OK", berarti sinyal pada E1 sudah memenuhi standar kualitas.</a:t>
            </a:r>
          </a:p>
          <a:p>
            <a:pPr algn="l" marL="1209049" indent="-403016" lvl="2">
              <a:lnSpc>
                <a:spcPts val="2800"/>
              </a:lnSpc>
              <a:buFont typeface="Arial"/>
              <a:buChar char="⚬"/>
            </a:pPr>
            <a:r>
              <a:rPr lang="en-US" sz="2800" spc="-56">
                <a:solidFill>
                  <a:srgbClr val="E3E2DE"/>
                </a:solidFill>
                <a:latin typeface="Aileron"/>
                <a:ea typeface="Aileron"/>
                <a:cs typeface="Aileron"/>
                <a:sym typeface="Aileron"/>
              </a:rPr>
              <a:t>Jika muncul alarm, lakukan troubleshooting untuk mencari penyebabnya.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6169" y="1023938"/>
            <a:ext cx="17061275" cy="7890839"/>
          </a:xfrm>
          <a:custGeom>
            <a:avLst/>
            <a:gdLst/>
            <a:ahLst/>
            <a:cxnLst/>
            <a:rect r="r" b="b" t="t" l="l"/>
            <a:pathLst>
              <a:path h="7890839" w="17061275">
                <a:moveTo>
                  <a:pt x="0" y="0"/>
                </a:moveTo>
                <a:lnTo>
                  <a:pt x="17061275" y="0"/>
                </a:lnTo>
                <a:lnTo>
                  <a:pt x="17061275" y="7890839"/>
                </a:lnTo>
                <a:lnTo>
                  <a:pt x="0" y="7890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169" y="481013"/>
            <a:ext cx="1441356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 spc="-60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Membangun telepon remote mengunakan Sub/Ex-Sub/End interface.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5443" y="492125"/>
            <a:ext cx="16657115" cy="876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277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Konfigurasi Multiplexer Polban A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Nyalakan terlebih dahulu multiplexer pada masing-masing titik.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Pilihlah channel Sub/E yang diinginkan terlebih dahulu. (misal Sub/E channel 1). 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perhatikan warna kabel yang terhubung ke Sub/E yang dipilih. (misal Sub/E channel 1 terdapat warna biru (TX) dan merah (RX).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cek dan temukan warna yang sesuai tadi (misal warna biru dan merah )pada box terminal 1 disamping multiplexer (yang dimana terdapat 2 buah box terminal).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Jika sudah ketemu maka jumper box terminal 1 ke terminal 2 (yang berada di samping box terminal 1) menggunakan kabel RG 45 pilih warna nya sesuai keinginan yang terpenting warna kabel jumpernya sama dengan yang sudah dihubungkan pada box terminal 1.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Jika sudah dijumper, maka sambungkan kabel telepon yang akan di gunakan ke box terminal 2 yang sudah terhubung jumper dengan box terminal 1.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cek terlebih dahulu telepon tersebut memiliki nomor telepon berapa dengan cara mencoba menelepon meggunakan telepon tersebut dari range nomor 100-130, </a:t>
            </a:r>
            <a:r>
              <a:rPr lang="en-US" sz="2499" spc="277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jika pada saat menelepon terjadi dering dial-in/memanggil maka itu bukan nomor telepon tersebut dan jika menelepon terjadi dering busy/sibuk maka itu nomor telepon tersebut.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Ulangi langkah 2-7 untuk telepon yang kedua (dan seterusnya jika diminta).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7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Maka konfigurasi pada multiplexer polban A sudah beres.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475" y="468593"/>
            <a:ext cx="17291050" cy="922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 spc="266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Konfigurasi Multiplexer Polban B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Nyalakan terlebih dahulu multiplexer pada masing-masing titik.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Pilihlah channel Sub/E yang sama pada Multiplexer polban A. (misal Sub/E channel 1). 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perhatikan warna kabel yang terhubung ke Sub/E yang dipilih. (misal Sub/E channel 1 terdapat warna biru (TX) dan merah (RX).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cek dan temukan warna yang sesuai tadi (misal warna biru dan merah )pada box terminal 1 disamping multiplexer (yang dimana terdapat 2 buah box terminal).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Jika sudah ketemu maka jumper box terminal 1 ke terminal 2 (yang berada di samping box terminal 1) menggunakan kabel RG 45 pilih warna nya sesuai keinginan yang terpenting warna kabel jumpernya sama dengan yang sudah dihubungkan pada box terminal 1.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Jika sudah dijumper, maka sambungkan kabel telepon yang akan di gunakan ke box terminal 2 yang sudah terhubung jumper dengan box terminal 1.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Lalu cek terlebih dahulu telepon tersebut memiliki nomor telepon berapa dengan cara mencoba menelepon meggunakan telepon tersebut dari range nomor 100-130, </a:t>
            </a:r>
            <a:r>
              <a:rPr lang="en-US" sz="2400" spc="266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jika pada saat menelepon terjadi dering dial-in/memanggil maka itu bukan nomor telepon tersebut dan jika menelepon terjadi dering busy/sibuk maka itu nomor telepon tersebut.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ulangi langkah 2-7 untuk telepon yang kedua (dan seterusnya jika diminta).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maka konfigurasi pada multiplexer polban B sudah beres.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terakhir coba telepon dari Multiplexer polban B ke A dan juga sebaliknya.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jika dapat saling berkomunikasi maka membangun telepon remote mengunakan Sub/Ex-Sub/End interface </a:t>
            </a:r>
            <a:r>
              <a:rPr lang="en-US" b="true" sz="2400" spc="266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Berhasil</a:t>
            </a:r>
            <a:r>
              <a:rPr lang="en-US" sz="2400" spc="266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46001"/>
            <a:ext cx="16230600" cy="5025869"/>
          </a:xfrm>
          <a:custGeom>
            <a:avLst/>
            <a:gdLst/>
            <a:ahLst/>
            <a:cxnLst/>
            <a:rect r="r" b="b" t="t" l="l"/>
            <a:pathLst>
              <a:path h="5025869" w="16230600">
                <a:moveTo>
                  <a:pt x="0" y="0"/>
                </a:moveTo>
                <a:lnTo>
                  <a:pt x="16230600" y="0"/>
                </a:lnTo>
                <a:lnTo>
                  <a:pt x="16230600" y="5025869"/>
                </a:lnTo>
                <a:lnTo>
                  <a:pt x="0" y="5025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14720"/>
            <a:ext cx="16230600" cy="388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1"/>
              </a:lnSpc>
            </a:pPr>
          </a:p>
          <a:p>
            <a:pPr algn="just">
              <a:lnSpc>
                <a:spcPts val="4067"/>
              </a:lnSpc>
            </a:pPr>
            <a:r>
              <a:rPr lang="en-US" sz="2905" spc="322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Pengukuran level sinyal pada kanal voice 4 wire EM dilakukan dengan menghubungkan Tx1-Tx2 dan Rx1-Rx2 pada channel E/M di Polban A lalu dihubungkan ke alat Transmission Test Set.</a:t>
            </a:r>
          </a:p>
          <a:p>
            <a:pPr algn="just">
              <a:lnSpc>
                <a:spcPts val="4067"/>
              </a:lnSpc>
            </a:pPr>
            <a:r>
              <a:rPr lang="en-US" sz="2905" spc="322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Tx pada kanal E/M dihubungkan ke TTS yang diatur menjadi Rx. Begitu juga sebaliknya.</a:t>
            </a:r>
          </a:p>
          <a:p>
            <a:pPr algn="just">
              <a:lnSpc>
                <a:spcPts val="3927"/>
              </a:lnSpc>
            </a:pPr>
            <a:r>
              <a:rPr lang="en-US" sz="2805" spc="311">
                <a:solidFill>
                  <a:srgbClr val="E3E2DE"/>
                </a:solidFill>
                <a:latin typeface="Poppins"/>
                <a:ea typeface="Poppins"/>
                <a:cs typeface="Poppins"/>
                <a:sym typeface="Poppins"/>
              </a:rPr>
              <a:t>Di sisi Polban B, pengukuran dilakukan dengan menyambungkan Tx1-Rx1 dan Tx2-Rx2 pada channel E/M.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6901"/>
            <a:ext cx="162730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PENGUKURAN LEVEL SINYAL (DBM) KANAL VOICE 4 WIRE EM SIGNALLING INTERFACE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139" y="6492098"/>
            <a:ext cx="11158036" cy="1599707"/>
          </a:xfrm>
          <a:custGeom>
            <a:avLst/>
            <a:gdLst/>
            <a:ahLst/>
            <a:cxnLst/>
            <a:rect r="r" b="b" t="t" l="l"/>
            <a:pathLst>
              <a:path h="1599707" w="11158036">
                <a:moveTo>
                  <a:pt x="0" y="0"/>
                </a:moveTo>
                <a:lnTo>
                  <a:pt x="11158036" y="0"/>
                </a:lnTo>
                <a:lnTo>
                  <a:pt x="11158036" y="1599707"/>
                </a:lnTo>
                <a:lnTo>
                  <a:pt x="0" y="1599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3" t="-596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20029" y="7350619"/>
            <a:ext cx="3951447" cy="2568730"/>
          </a:xfrm>
          <a:custGeom>
            <a:avLst/>
            <a:gdLst/>
            <a:ahLst/>
            <a:cxnLst/>
            <a:rect r="r" b="b" t="t" l="l"/>
            <a:pathLst>
              <a:path h="2568730" w="3951447">
                <a:moveTo>
                  <a:pt x="0" y="0"/>
                </a:moveTo>
                <a:lnTo>
                  <a:pt x="3951447" y="0"/>
                </a:lnTo>
                <a:lnTo>
                  <a:pt x="3951447" y="2568729"/>
                </a:lnTo>
                <a:lnTo>
                  <a:pt x="0" y="25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475" y="488407"/>
            <a:ext cx="17291050" cy="514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321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Pengukuran Leve Daya Kanal 4 Wire E/M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Atur Level daya pada pengirim menjadi 0 dBm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Atur frekuensi pada pengirim dari 300 - 3600 Hz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Amati level daya dan frekuensi pada penerima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Frekuensi dan level daya pada pengirim dan penerima harus sama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Level daya pada penerima boleh kurang dari pada pengirim karena adanya redaman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Jika frekuensi pada pengirim dan penerima tidak sama maka kanal tidak berfungsi dengan baik</a:t>
            </a:r>
          </a:p>
          <a:p>
            <a:pPr algn="just" marL="626107" indent="-313054" lvl="1">
              <a:lnSpc>
                <a:spcPts val="4059"/>
              </a:lnSpc>
              <a:buAutoNum type="arabicPeriod" startAt="1"/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 Ulangi langkah-langkah tersebut untuk semua kanal pada E/M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01979" y="5938378"/>
            <a:ext cx="4987546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spc="321">
                <a:solidFill>
                  <a:srgbClr val="2657C1"/>
                </a:solidFill>
                <a:latin typeface="Poppins"/>
                <a:ea typeface="Poppins"/>
                <a:cs typeface="Poppins"/>
                <a:sym typeface="Poppins"/>
              </a:rPr>
              <a:t>Respon yang didapat: Bell Curve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06126" y="608770"/>
            <a:ext cx="10771147" cy="4501682"/>
          </a:xfrm>
          <a:custGeom>
            <a:avLst/>
            <a:gdLst/>
            <a:ahLst/>
            <a:cxnLst/>
            <a:rect r="r" b="b" t="t" l="l"/>
            <a:pathLst>
              <a:path h="4501682" w="10771147">
                <a:moveTo>
                  <a:pt x="0" y="0"/>
                </a:moveTo>
                <a:lnTo>
                  <a:pt x="10771146" y="0"/>
                </a:lnTo>
                <a:lnTo>
                  <a:pt x="10771146" y="4501682"/>
                </a:lnTo>
                <a:lnTo>
                  <a:pt x="0" y="4501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728" y="409554"/>
            <a:ext cx="6420267" cy="470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199" spc="-50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Mengukur  kinerja Point to Point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0728" y="5572125"/>
            <a:ext cx="16866545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Pastikan semua </a:t>
            </a: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PERANGKAT TERHUBUNG DENGAN BENAR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MASTER: IP GATEWAY 169.254.1.2, IP PC 169.254.1.5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SLAVE: IP GATEWAY 169.254.1.3, IP PC 169.254.1.8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HUBUNGKAN MASING-MASING ANTENA KE KOMPUTER ATAU DEVICE UNTUK KONFIGURASI IP.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UJI KONEKSI ANTARA PC 1 DAN MASTER DENGAN MELAKUKAN PING KE IP PC MASTER (169.254.1.5) DARI PC JIKA BERHASIL, LANJUTKAN DENGAN PING KE IP GATEWAY MASTER (169.254.1.2).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UJI KONEKSI ANTARA PC 1 DAN PC 2 MELALUI SLAVE DENGAN MELAKUKAN PING KE IP GATEWAY SLAVE (169.254.1.3) DARI PC 1. JIKA BERHASIL, LANJUTKAN DENGAN PING KE IP PC SLAVE (169.254.1.8).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JIKA TERJADI KEGAGALAN KONEKSI, PERIKSA KEMBALI: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KONFIGURASI IP PADA MASING-MASING PERANGKAT.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KABEL JARINGAN ATAU KONEKSI NIRKABEL ANTARA PERANGKAT.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FIREWALL ATAU PENGATURAN KEAMANAN PADA PC.</a:t>
            </a:r>
          </a:p>
          <a:p>
            <a:pPr algn="l" marL="0" indent="0" lvl="1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2981" y="3048325"/>
            <a:ext cx="12702039" cy="416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16"/>
              </a:lnSpc>
            </a:pPr>
            <a:r>
              <a:rPr lang="en-US" b="true" sz="18520" spc="-370">
                <a:solidFill>
                  <a:srgbClr val="2657C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So Much!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18918335" y="282866"/>
            <a:ext cx="178381" cy="6477187"/>
            <a:chOff x="0" y="0"/>
            <a:chExt cx="46981" cy="17059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81" cy="1705926"/>
            </a:xfrm>
            <a:custGeom>
              <a:avLst/>
              <a:gdLst/>
              <a:ahLst/>
              <a:cxnLst/>
              <a:rect r="r" b="b" t="t" l="l"/>
              <a:pathLst>
                <a:path h="1705926" w="46981">
                  <a:moveTo>
                    <a:pt x="0" y="0"/>
                  </a:moveTo>
                  <a:lnTo>
                    <a:pt x="46981" y="0"/>
                  </a:lnTo>
                  <a:lnTo>
                    <a:pt x="46981" y="1705926"/>
                  </a:lnTo>
                  <a:lnTo>
                    <a:pt x="0" y="1705926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6981" cy="177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75854" y="4808332"/>
            <a:ext cx="178381" cy="6477187"/>
            <a:chOff x="0" y="0"/>
            <a:chExt cx="46981" cy="17059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981" cy="1705926"/>
            </a:xfrm>
            <a:custGeom>
              <a:avLst/>
              <a:gdLst/>
              <a:ahLst/>
              <a:cxnLst/>
              <a:rect r="r" b="b" t="t" l="l"/>
              <a:pathLst>
                <a:path h="1705926" w="46981">
                  <a:moveTo>
                    <a:pt x="0" y="0"/>
                  </a:moveTo>
                  <a:lnTo>
                    <a:pt x="46981" y="0"/>
                  </a:lnTo>
                  <a:lnTo>
                    <a:pt x="46981" y="1705926"/>
                  </a:lnTo>
                  <a:lnTo>
                    <a:pt x="0" y="1705926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6981" cy="177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DAGim5Iw34Y</dc:identifier>
  <dcterms:modified xsi:type="dcterms:W3CDTF">2011-08-01T06:04:30Z</dcterms:modified>
  <cp:revision>1</cp:revision>
  <dc:title>KELOMPOK1_3BTNK_PAKET A</dc:title>
</cp:coreProperties>
</file>