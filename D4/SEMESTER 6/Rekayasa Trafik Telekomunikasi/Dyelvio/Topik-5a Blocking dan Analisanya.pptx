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4149" autoAdjust="0"/>
    <p:restoredTop sz="94660"/>
  </p:normalViewPr>
  <p:slideViewPr>
    <p:cSldViewPr>
      <p:cViewPr varScale="1">
        <p:scale>
          <a:sx n="70" d="100"/>
          <a:sy n="70" d="100"/>
        </p:scale>
        <p:origin x="89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4375403"/>
            <a:ext cx="12188952" cy="24825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4733" y="2672302"/>
            <a:ext cx="8989697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BLOCKING DAN ANALISA BLOCKING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16023" y="2672302"/>
            <a:ext cx="2019988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-2" dirty="0">
                <a:solidFill>
                  <a:srgbClr val="FFFFFF"/>
                </a:solidFill>
                <a:latin typeface="Century Gothic"/>
                <a:cs typeface="Century Gothic"/>
              </a:rPr>
              <a:t>TRAFFIC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0805" y="3467633"/>
            <a:ext cx="1312586" cy="482904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700"/>
              </a:lnSpc>
            </a:pPr>
            <a:r>
              <a:rPr sz="3600" spc="0" dirty="0">
                <a:solidFill>
                  <a:srgbClr val="FFFFFF"/>
                </a:solidFill>
                <a:latin typeface="Calibri"/>
                <a:cs typeface="Calibri"/>
              </a:rPr>
              <a:t>Modul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80615" y="3467633"/>
            <a:ext cx="441398" cy="482904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700"/>
              </a:lnSpc>
            </a:pP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5.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30195" y="3467633"/>
            <a:ext cx="1788677" cy="482904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700"/>
              </a:lnSpc>
            </a:pPr>
            <a:r>
              <a:rPr sz="3600" spc="-32" dirty="0">
                <a:solidFill>
                  <a:srgbClr val="FFFFFF"/>
                </a:solidFill>
                <a:latin typeface="Calibri"/>
                <a:cs typeface="Calibri"/>
              </a:rPr>
              <a:t>Rekayasa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8769" y="3467633"/>
            <a:ext cx="4039005" cy="482904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700"/>
              </a:lnSpc>
            </a:pPr>
            <a:r>
              <a:rPr sz="3600" spc="-39" dirty="0">
                <a:solidFill>
                  <a:srgbClr val="FFFFFF"/>
                </a:solidFill>
                <a:latin typeface="Calibri"/>
                <a:cs typeface="Calibri"/>
              </a:rPr>
              <a:t>Trafik Telekomunikasi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4232" y="1440179"/>
            <a:ext cx="9392412" cy="4988052"/>
          </a:xfrm>
          <a:custGeom>
            <a:avLst/>
            <a:gdLst/>
            <a:ahLst/>
            <a:cxnLst/>
            <a:rect l="l" t="t" r="r" b="b"/>
            <a:pathLst>
              <a:path w="9392412" h="4988052">
                <a:moveTo>
                  <a:pt x="0" y="4988052"/>
                </a:moveTo>
                <a:lnTo>
                  <a:pt x="9392412" y="4988052"/>
                </a:lnTo>
                <a:lnTo>
                  <a:pt x="9392412" y="0"/>
                </a:lnTo>
                <a:lnTo>
                  <a:pt x="0" y="0"/>
                </a:lnTo>
                <a:lnTo>
                  <a:pt x="0" y="4988052"/>
                </a:lnTo>
                <a:close/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44016" y="461228"/>
            <a:ext cx="2087631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dirty="0">
                <a:solidFill>
                  <a:srgbClr val="FFFFFF"/>
                </a:solidFill>
                <a:latin typeface="Century Gothic"/>
                <a:cs typeface="Century Gothic"/>
              </a:rPr>
              <a:t>OUTLINE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4016" y="1611627"/>
            <a:ext cx="9392412" cy="4988052"/>
          </a:xfrm>
          <a:prstGeom prst="rect">
            <a:avLst/>
          </a:prstGeom>
        </p:spPr>
        <p:txBody>
          <a:bodyPr wrap="square" lIns="0" tIns="38735" rIns="0" bIns="0" rtlCol="0">
            <a:noAutofit/>
          </a:bodyPr>
          <a:lstStyle/>
          <a:p>
            <a:pPr marL="91744">
              <a:lnSpc>
                <a:spcPct val="102172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Kongesti Trafik</a:t>
            </a:r>
            <a:endParaRPr sz="2400" dirty="0">
              <a:latin typeface="Century Gothic"/>
              <a:cs typeface="Century Gothic"/>
            </a:endParaRPr>
          </a:p>
          <a:p>
            <a:pPr marL="91744">
              <a:lnSpc>
                <a:spcPct val="102172"/>
              </a:lnSpc>
              <a:spcBef>
                <a:spcPts val="540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Keadaan Panggilan yang diblok:</a:t>
            </a:r>
            <a:endParaRPr sz="2400" dirty="0">
              <a:latin typeface="Century Gothic"/>
              <a:cs typeface="Century Gothic"/>
            </a:endParaRPr>
          </a:p>
          <a:p>
            <a:pPr marL="548894">
              <a:lnSpc>
                <a:spcPct val="102172"/>
              </a:lnSpc>
              <a:spcBef>
                <a:spcPts val="534"/>
              </a:spcBef>
            </a:pPr>
            <a:r>
              <a:rPr sz="2200" spc="13" dirty="0">
                <a:solidFill>
                  <a:srgbClr val="FFFFFF"/>
                </a:solidFill>
                <a:latin typeface="Century Gothic"/>
                <a:cs typeface="Century Gothic"/>
              </a:rPr>
              <a:t>a.  Loss System</a:t>
            </a:r>
            <a:endParaRPr sz="2200" dirty="0">
              <a:latin typeface="Century Gothic"/>
              <a:cs typeface="Century Gothic"/>
            </a:endParaRPr>
          </a:p>
          <a:p>
            <a:pPr marL="548894">
              <a:lnSpc>
                <a:spcPct val="102172"/>
              </a:lnSpc>
              <a:spcBef>
                <a:spcPts val="542"/>
              </a:spcBef>
            </a:pPr>
            <a:r>
              <a:rPr sz="2200" spc="12" dirty="0">
                <a:solidFill>
                  <a:srgbClr val="FFFFFF"/>
                </a:solidFill>
                <a:latin typeface="Century Gothic"/>
                <a:cs typeface="Century Gothic"/>
              </a:rPr>
              <a:t>b.  Delay System</a:t>
            </a:r>
            <a:endParaRPr sz="2200" dirty="0">
              <a:latin typeface="Century Gothic"/>
              <a:cs typeface="Century Gothic"/>
            </a:endParaRPr>
          </a:p>
          <a:p>
            <a:pPr marL="548894">
              <a:lnSpc>
                <a:spcPct val="102172"/>
              </a:lnSpc>
              <a:spcBef>
                <a:spcPts val="542"/>
              </a:spcBef>
            </a:pPr>
            <a:r>
              <a:rPr sz="2200" spc="14" dirty="0">
                <a:solidFill>
                  <a:srgbClr val="FFFFFF"/>
                </a:solidFill>
                <a:latin typeface="Century Gothic"/>
                <a:cs typeface="Century Gothic"/>
              </a:rPr>
              <a:t>c.  Overflow System</a:t>
            </a:r>
            <a:endParaRPr sz="2200" dirty="0">
              <a:latin typeface="Century Gothic"/>
              <a:cs typeface="Century Gothic"/>
            </a:endParaRPr>
          </a:p>
          <a:p>
            <a:pPr marL="91744">
              <a:lnSpc>
                <a:spcPct val="102172"/>
              </a:lnSpc>
              <a:spcBef>
                <a:spcPts val="547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Model Blocked Call</a:t>
            </a:r>
            <a:endParaRPr sz="2400" dirty="0">
              <a:latin typeface="Century Gothic"/>
              <a:cs typeface="Century Gothic"/>
            </a:endParaRPr>
          </a:p>
          <a:p>
            <a:pPr marL="91744">
              <a:lnSpc>
                <a:spcPct val="102172"/>
              </a:lnSpc>
              <a:spcBef>
                <a:spcPts val="537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Blocked Call pada Model Sistim Pure Blocking / Loss System</a:t>
            </a:r>
            <a:endParaRPr sz="2400" dirty="0">
              <a:latin typeface="Century Gothic"/>
              <a:cs typeface="Century Gothic"/>
            </a:endParaRPr>
          </a:p>
          <a:p>
            <a:pPr marL="548894">
              <a:lnSpc>
                <a:spcPct val="102172"/>
              </a:lnSpc>
              <a:spcBef>
                <a:spcPts val="537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GoS dan Probabilitas Blocking</a:t>
            </a:r>
            <a:endParaRPr sz="2400" dirty="0">
              <a:latin typeface="Century Gothic"/>
              <a:cs typeface="Century Gothic"/>
            </a:endParaRPr>
          </a:p>
          <a:p>
            <a:pPr marL="91744">
              <a:lnSpc>
                <a:spcPct val="102172"/>
              </a:lnSpc>
              <a:spcBef>
                <a:spcPts val="539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Analisa Teletrafik pada Loss System</a:t>
            </a:r>
            <a:endParaRPr sz="2400" dirty="0">
              <a:latin typeface="Century Gothic"/>
              <a:cs typeface="Century Gothic"/>
            </a:endParaRPr>
          </a:p>
          <a:p>
            <a:pPr marL="91744">
              <a:lnSpc>
                <a:spcPct val="102172"/>
              </a:lnSpc>
              <a:spcBef>
                <a:spcPts val="537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Cara Membaca Tabel Erlang</a:t>
            </a:r>
            <a:endParaRPr sz="2400" dirty="0">
              <a:latin typeface="Century Gothic"/>
              <a:cs typeface="Century Gothic"/>
            </a:endParaRPr>
          </a:p>
          <a:p>
            <a:pPr marL="91744">
              <a:lnSpc>
                <a:spcPct val="102172"/>
              </a:lnSpc>
              <a:spcBef>
                <a:spcPts val="537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Latihan Soal</a:t>
            </a:r>
            <a:endParaRPr sz="24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5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437888" y="4206240"/>
            <a:ext cx="2663952" cy="1310640"/>
          </a:xfrm>
          <a:custGeom>
            <a:avLst/>
            <a:gdLst/>
            <a:ahLst/>
            <a:cxnLst/>
            <a:rect l="l" t="t" r="r" b="b"/>
            <a:pathLst>
              <a:path w="2663952" h="1310639">
                <a:moveTo>
                  <a:pt x="0" y="1310640"/>
                </a:moveTo>
                <a:lnTo>
                  <a:pt x="2663952" y="1310640"/>
                </a:lnTo>
                <a:lnTo>
                  <a:pt x="2663952" y="0"/>
                </a:lnTo>
                <a:lnTo>
                  <a:pt x="0" y="0"/>
                </a:lnTo>
                <a:lnTo>
                  <a:pt x="0" y="13106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437888" y="4206240"/>
            <a:ext cx="2663952" cy="1310640"/>
          </a:xfrm>
          <a:custGeom>
            <a:avLst/>
            <a:gdLst/>
            <a:ahLst/>
            <a:cxnLst/>
            <a:rect l="l" t="t" r="r" b="b"/>
            <a:pathLst>
              <a:path w="2663952" h="1310639">
                <a:moveTo>
                  <a:pt x="0" y="1310640"/>
                </a:moveTo>
                <a:lnTo>
                  <a:pt x="2663952" y="1310640"/>
                </a:lnTo>
                <a:lnTo>
                  <a:pt x="2663952" y="0"/>
                </a:lnTo>
                <a:lnTo>
                  <a:pt x="0" y="0"/>
                </a:lnTo>
                <a:lnTo>
                  <a:pt x="0" y="1310640"/>
                </a:lnTo>
                <a:close/>
              </a:path>
            </a:pathLst>
          </a:custGeom>
          <a:ln w="12192">
            <a:solidFill>
              <a:srgbClr val="A31F1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26080" y="4509516"/>
            <a:ext cx="5834634" cy="0"/>
          </a:xfrm>
          <a:custGeom>
            <a:avLst/>
            <a:gdLst/>
            <a:ahLst/>
            <a:cxnLst/>
            <a:rect l="l" t="t" r="r" b="b"/>
            <a:pathLst>
              <a:path w="5834634">
                <a:moveTo>
                  <a:pt x="0" y="0"/>
                </a:moveTo>
                <a:lnTo>
                  <a:pt x="5834634" y="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926080" y="5300472"/>
            <a:ext cx="5834634" cy="0"/>
          </a:xfrm>
          <a:custGeom>
            <a:avLst/>
            <a:gdLst/>
            <a:ahLst/>
            <a:cxnLst/>
            <a:rect l="l" t="t" r="r" b="b"/>
            <a:pathLst>
              <a:path w="5834634">
                <a:moveTo>
                  <a:pt x="0" y="0"/>
                </a:moveTo>
                <a:lnTo>
                  <a:pt x="5834634" y="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02152" y="4206240"/>
            <a:ext cx="216408" cy="1455420"/>
          </a:xfrm>
          <a:custGeom>
            <a:avLst/>
            <a:gdLst/>
            <a:ahLst/>
            <a:cxnLst/>
            <a:rect l="l" t="t" r="r" b="b"/>
            <a:pathLst>
              <a:path w="216408" h="1455419">
                <a:moveTo>
                  <a:pt x="0" y="727710"/>
                </a:moveTo>
                <a:lnTo>
                  <a:pt x="358" y="668019"/>
                </a:lnTo>
                <a:lnTo>
                  <a:pt x="1414" y="609659"/>
                </a:lnTo>
                <a:lnTo>
                  <a:pt x="3141" y="552815"/>
                </a:lnTo>
                <a:lnTo>
                  <a:pt x="5510" y="497677"/>
                </a:lnTo>
                <a:lnTo>
                  <a:pt x="8495" y="444430"/>
                </a:lnTo>
                <a:lnTo>
                  <a:pt x="12066" y="393262"/>
                </a:lnTo>
                <a:lnTo>
                  <a:pt x="16197" y="344360"/>
                </a:lnTo>
                <a:lnTo>
                  <a:pt x="20860" y="297911"/>
                </a:lnTo>
                <a:lnTo>
                  <a:pt x="26027" y="254102"/>
                </a:lnTo>
                <a:lnTo>
                  <a:pt x="31670" y="213121"/>
                </a:lnTo>
                <a:lnTo>
                  <a:pt x="37762" y="175155"/>
                </a:lnTo>
                <a:lnTo>
                  <a:pt x="51181" y="109015"/>
                </a:lnTo>
                <a:lnTo>
                  <a:pt x="66061" y="57179"/>
                </a:lnTo>
                <a:lnTo>
                  <a:pt x="82182" y="21146"/>
                </a:lnTo>
                <a:lnTo>
                  <a:pt x="108204" y="0"/>
                </a:lnTo>
                <a:lnTo>
                  <a:pt x="117086" y="2411"/>
                </a:lnTo>
                <a:lnTo>
                  <a:pt x="142426" y="37094"/>
                </a:lnTo>
                <a:lnTo>
                  <a:pt x="157955" y="81215"/>
                </a:lnTo>
                <a:lnTo>
                  <a:pt x="172132" y="140390"/>
                </a:lnTo>
                <a:lnTo>
                  <a:pt x="184737" y="213121"/>
                </a:lnTo>
                <a:lnTo>
                  <a:pt x="190380" y="254102"/>
                </a:lnTo>
                <a:lnTo>
                  <a:pt x="195547" y="297911"/>
                </a:lnTo>
                <a:lnTo>
                  <a:pt x="200210" y="344360"/>
                </a:lnTo>
                <a:lnTo>
                  <a:pt x="204341" y="393262"/>
                </a:lnTo>
                <a:lnTo>
                  <a:pt x="207912" y="444430"/>
                </a:lnTo>
                <a:lnTo>
                  <a:pt x="210897" y="497677"/>
                </a:lnTo>
                <a:lnTo>
                  <a:pt x="213266" y="552815"/>
                </a:lnTo>
                <a:lnTo>
                  <a:pt x="214993" y="609659"/>
                </a:lnTo>
                <a:lnTo>
                  <a:pt x="216049" y="668019"/>
                </a:lnTo>
                <a:lnTo>
                  <a:pt x="216408" y="727710"/>
                </a:lnTo>
                <a:lnTo>
                  <a:pt x="216049" y="787400"/>
                </a:lnTo>
                <a:lnTo>
                  <a:pt x="214993" y="845760"/>
                </a:lnTo>
                <a:lnTo>
                  <a:pt x="213266" y="902604"/>
                </a:lnTo>
                <a:lnTo>
                  <a:pt x="210897" y="957742"/>
                </a:lnTo>
                <a:lnTo>
                  <a:pt x="207912" y="1010989"/>
                </a:lnTo>
                <a:lnTo>
                  <a:pt x="204341" y="1062157"/>
                </a:lnTo>
                <a:lnTo>
                  <a:pt x="200210" y="1111059"/>
                </a:lnTo>
                <a:lnTo>
                  <a:pt x="195547" y="1157508"/>
                </a:lnTo>
                <a:lnTo>
                  <a:pt x="190380" y="1201317"/>
                </a:lnTo>
                <a:lnTo>
                  <a:pt x="184737" y="1242298"/>
                </a:lnTo>
                <a:lnTo>
                  <a:pt x="178645" y="1280264"/>
                </a:lnTo>
                <a:lnTo>
                  <a:pt x="165226" y="1346404"/>
                </a:lnTo>
                <a:lnTo>
                  <a:pt x="150346" y="1398240"/>
                </a:lnTo>
                <a:lnTo>
                  <a:pt x="134225" y="1434273"/>
                </a:lnTo>
                <a:lnTo>
                  <a:pt x="108204" y="1455420"/>
                </a:lnTo>
                <a:lnTo>
                  <a:pt x="99321" y="1453008"/>
                </a:lnTo>
                <a:lnTo>
                  <a:pt x="73981" y="1418325"/>
                </a:lnTo>
                <a:lnTo>
                  <a:pt x="58452" y="1374204"/>
                </a:lnTo>
                <a:lnTo>
                  <a:pt x="44275" y="1315029"/>
                </a:lnTo>
                <a:lnTo>
                  <a:pt x="31670" y="1242298"/>
                </a:lnTo>
                <a:lnTo>
                  <a:pt x="26027" y="1201317"/>
                </a:lnTo>
                <a:lnTo>
                  <a:pt x="20860" y="1157508"/>
                </a:lnTo>
                <a:lnTo>
                  <a:pt x="16197" y="1111059"/>
                </a:lnTo>
                <a:lnTo>
                  <a:pt x="12066" y="1062157"/>
                </a:lnTo>
                <a:lnTo>
                  <a:pt x="8495" y="1010989"/>
                </a:lnTo>
                <a:lnTo>
                  <a:pt x="5510" y="957742"/>
                </a:lnTo>
                <a:lnTo>
                  <a:pt x="3141" y="902604"/>
                </a:lnTo>
                <a:lnTo>
                  <a:pt x="1414" y="845760"/>
                </a:lnTo>
                <a:lnTo>
                  <a:pt x="358" y="787400"/>
                </a:lnTo>
                <a:lnTo>
                  <a:pt x="0" y="72771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50708" y="4137659"/>
            <a:ext cx="216408" cy="1453896"/>
          </a:xfrm>
          <a:custGeom>
            <a:avLst/>
            <a:gdLst/>
            <a:ahLst/>
            <a:cxnLst/>
            <a:rect l="l" t="t" r="r" b="b"/>
            <a:pathLst>
              <a:path w="216407" h="1453896">
                <a:moveTo>
                  <a:pt x="0" y="726948"/>
                </a:moveTo>
                <a:lnTo>
                  <a:pt x="358" y="667331"/>
                </a:lnTo>
                <a:lnTo>
                  <a:pt x="1414" y="609041"/>
                </a:lnTo>
                <a:lnTo>
                  <a:pt x="3141" y="552265"/>
                </a:lnTo>
                <a:lnTo>
                  <a:pt x="5510" y="497189"/>
                </a:lnTo>
                <a:lnTo>
                  <a:pt x="8495" y="444001"/>
                </a:lnTo>
                <a:lnTo>
                  <a:pt x="12066" y="392889"/>
                </a:lnTo>
                <a:lnTo>
                  <a:pt x="16197" y="344038"/>
                </a:lnTo>
                <a:lnTo>
                  <a:pt x="20860" y="297637"/>
                </a:lnTo>
                <a:lnTo>
                  <a:pt x="26027" y="253872"/>
                </a:lnTo>
                <a:lnTo>
                  <a:pt x="31670" y="212931"/>
                </a:lnTo>
                <a:lnTo>
                  <a:pt x="37762" y="175001"/>
                </a:lnTo>
                <a:lnTo>
                  <a:pt x="51181" y="108921"/>
                </a:lnTo>
                <a:lnTo>
                  <a:pt x="66061" y="57132"/>
                </a:lnTo>
                <a:lnTo>
                  <a:pt x="82182" y="21129"/>
                </a:lnTo>
                <a:lnTo>
                  <a:pt x="108204" y="0"/>
                </a:lnTo>
                <a:lnTo>
                  <a:pt x="117086" y="2410"/>
                </a:lnTo>
                <a:lnTo>
                  <a:pt x="142426" y="37063"/>
                </a:lnTo>
                <a:lnTo>
                  <a:pt x="157955" y="81147"/>
                </a:lnTo>
                <a:lnTo>
                  <a:pt x="172132" y="140268"/>
                </a:lnTo>
                <a:lnTo>
                  <a:pt x="184737" y="212931"/>
                </a:lnTo>
                <a:lnTo>
                  <a:pt x="190380" y="253872"/>
                </a:lnTo>
                <a:lnTo>
                  <a:pt x="195547" y="297637"/>
                </a:lnTo>
                <a:lnTo>
                  <a:pt x="200210" y="344038"/>
                </a:lnTo>
                <a:lnTo>
                  <a:pt x="204341" y="392889"/>
                </a:lnTo>
                <a:lnTo>
                  <a:pt x="207912" y="444001"/>
                </a:lnTo>
                <a:lnTo>
                  <a:pt x="210897" y="497189"/>
                </a:lnTo>
                <a:lnTo>
                  <a:pt x="213266" y="552265"/>
                </a:lnTo>
                <a:lnTo>
                  <a:pt x="214993" y="609041"/>
                </a:lnTo>
                <a:lnTo>
                  <a:pt x="216049" y="667331"/>
                </a:lnTo>
                <a:lnTo>
                  <a:pt x="216408" y="726948"/>
                </a:lnTo>
                <a:lnTo>
                  <a:pt x="216049" y="786564"/>
                </a:lnTo>
                <a:lnTo>
                  <a:pt x="214993" y="844854"/>
                </a:lnTo>
                <a:lnTo>
                  <a:pt x="213266" y="901630"/>
                </a:lnTo>
                <a:lnTo>
                  <a:pt x="210897" y="956706"/>
                </a:lnTo>
                <a:lnTo>
                  <a:pt x="207912" y="1009894"/>
                </a:lnTo>
                <a:lnTo>
                  <a:pt x="204341" y="1061006"/>
                </a:lnTo>
                <a:lnTo>
                  <a:pt x="200210" y="1109857"/>
                </a:lnTo>
                <a:lnTo>
                  <a:pt x="195547" y="1156258"/>
                </a:lnTo>
                <a:lnTo>
                  <a:pt x="190380" y="1200023"/>
                </a:lnTo>
                <a:lnTo>
                  <a:pt x="184737" y="1240964"/>
                </a:lnTo>
                <a:lnTo>
                  <a:pt x="178645" y="1278894"/>
                </a:lnTo>
                <a:lnTo>
                  <a:pt x="165226" y="1344974"/>
                </a:lnTo>
                <a:lnTo>
                  <a:pt x="150346" y="1396763"/>
                </a:lnTo>
                <a:lnTo>
                  <a:pt x="134225" y="1432766"/>
                </a:lnTo>
                <a:lnTo>
                  <a:pt x="108204" y="1453896"/>
                </a:lnTo>
                <a:lnTo>
                  <a:pt x="99321" y="1451485"/>
                </a:lnTo>
                <a:lnTo>
                  <a:pt x="73981" y="1416832"/>
                </a:lnTo>
                <a:lnTo>
                  <a:pt x="58452" y="1372748"/>
                </a:lnTo>
                <a:lnTo>
                  <a:pt x="44275" y="1313627"/>
                </a:lnTo>
                <a:lnTo>
                  <a:pt x="31670" y="1240964"/>
                </a:lnTo>
                <a:lnTo>
                  <a:pt x="26027" y="1200023"/>
                </a:lnTo>
                <a:lnTo>
                  <a:pt x="20860" y="1156258"/>
                </a:lnTo>
                <a:lnTo>
                  <a:pt x="16197" y="1109857"/>
                </a:lnTo>
                <a:lnTo>
                  <a:pt x="12066" y="1061006"/>
                </a:lnTo>
                <a:lnTo>
                  <a:pt x="8495" y="1009894"/>
                </a:lnTo>
                <a:lnTo>
                  <a:pt x="5510" y="956706"/>
                </a:lnTo>
                <a:lnTo>
                  <a:pt x="3141" y="901630"/>
                </a:lnTo>
                <a:lnTo>
                  <a:pt x="1414" y="844854"/>
                </a:lnTo>
                <a:lnTo>
                  <a:pt x="358" y="786564"/>
                </a:lnTo>
                <a:lnTo>
                  <a:pt x="0" y="726948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4540" y="1027017"/>
            <a:ext cx="4218486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KONGESTI TRAFIK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4540" y="2240288"/>
            <a:ext cx="10610392" cy="333271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b="1" u="heavy" spc="-5" dirty="0">
                <a:solidFill>
                  <a:srgbClr val="FFFFFF"/>
                </a:solidFill>
                <a:latin typeface="Century Gothic"/>
                <a:cs typeface="Century Gothic"/>
              </a:rPr>
              <a:t>Kongesti </a:t>
            </a:r>
            <a:r>
              <a:rPr sz="2400" spc="-5" dirty="0">
                <a:solidFill>
                  <a:srgbClr val="FFFFFF"/>
                </a:solidFill>
                <a:latin typeface="Century Gothic"/>
                <a:cs typeface="Century Gothic"/>
              </a:rPr>
              <a:t>adalah suatu keadaan dimana semua server sedang dalam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4540" y="2569472"/>
            <a:ext cx="10678751" cy="788947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241300" marR="46180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keadaan diduduki serempak pada satu waktu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51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Penanganan terhadap panggilan-panggilan yang datang pada saat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3140" y="3354081"/>
            <a:ext cx="3156021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kongesti bergantung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61790" y="3354081"/>
            <a:ext cx="1255703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kepada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30139" y="3354081"/>
            <a:ext cx="959917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sistem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00927" y="3354081"/>
            <a:ext cx="1156169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operasi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71358" y="3354081"/>
            <a:ext cx="942143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server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24506" y="3354081"/>
            <a:ext cx="1542444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yang ada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27491" y="4711356"/>
            <a:ext cx="1314120" cy="254000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>
              <a:lnSpc>
                <a:spcPts val="1975"/>
              </a:lnSpc>
            </a:pP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Jalur keluar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3945" y="4727104"/>
            <a:ext cx="1353936" cy="254000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>
              <a:lnSpc>
                <a:spcPts val="1975"/>
              </a:lnSpc>
            </a:pPr>
            <a:r>
              <a:rPr sz="1800" spc="-1" dirty="0">
                <a:solidFill>
                  <a:srgbClr val="FFFFFF"/>
                </a:solidFill>
                <a:latin typeface="Century Gothic"/>
                <a:cs typeface="Century Gothic"/>
              </a:rPr>
              <a:t>Jalur masuk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52622" y="5777521"/>
            <a:ext cx="357946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b="1" dirty="0">
                <a:solidFill>
                  <a:srgbClr val="FFFFFF"/>
                </a:solidFill>
                <a:latin typeface="Century Gothic"/>
                <a:cs typeface="Century Gothic"/>
              </a:rPr>
              <a:t>m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48676" y="5777521"/>
            <a:ext cx="254258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b="1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24830" y="5784477"/>
            <a:ext cx="723451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b="1" dirty="0">
                <a:solidFill>
                  <a:srgbClr val="FFFFFF"/>
                </a:solidFill>
                <a:latin typeface="Century Gothic"/>
                <a:cs typeface="Century Gothic"/>
              </a:rPr>
              <a:t>m&gt;n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6080" y="4206240"/>
            <a:ext cx="1511808" cy="3032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4437888" y="4206240"/>
            <a:ext cx="2663952" cy="3032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7101840" y="4206240"/>
            <a:ext cx="1658874" cy="3032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2926080" y="4509516"/>
            <a:ext cx="1511808" cy="790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4437888" y="4509516"/>
            <a:ext cx="2663952" cy="790955"/>
          </a:xfrm>
          <a:prstGeom prst="rect">
            <a:avLst/>
          </a:prstGeom>
        </p:spPr>
        <p:txBody>
          <a:bodyPr wrap="square" lIns="0" tIns="57785" rIns="0" bIns="0" rtlCol="0">
            <a:noAutofit/>
          </a:bodyPr>
          <a:lstStyle/>
          <a:p>
            <a:pPr marL="1121984" marR="1100367" algn="ctr">
              <a:lnSpc>
                <a:spcPct val="102172"/>
              </a:lnSpc>
            </a:pPr>
            <a:r>
              <a:rPr sz="3200" dirty="0">
                <a:latin typeface="Century Gothic"/>
                <a:cs typeface="Century Gothic"/>
              </a:rPr>
              <a:t>G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1840" y="4509516"/>
            <a:ext cx="1658874" cy="790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2926080" y="5300472"/>
            <a:ext cx="1511808" cy="2164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37888" y="5300472"/>
            <a:ext cx="2663952" cy="2164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7101840" y="5300472"/>
            <a:ext cx="1658874" cy="2164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2267753" y="2363342"/>
            <a:ext cx="8512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4733" y="798443"/>
            <a:ext cx="10505950" cy="456691"/>
          </a:xfrm>
          <a:prstGeom prst="rect">
            <a:avLst/>
          </a:prstGeom>
        </p:spPr>
        <p:txBody>
          <a:bodyPr wrap="square" lIns="0" tIns="22828" rIns="0" bIns="0" rtlCol="0">
            <a:noAutofit/>
          </a:bodyPr>
          <a:lstStyle/>
          <a:p>
            <a:pPr marL="12700">
              <a:lnSpc>
                <a:spcPts val="3595"/>
              </a:lnSpc>
            </a:pPr>
            <a:r>
              <a:rPr sz="3400" spc="-13" dirty="0">
                <a:solidFill>
                  <a:srgbClr val="FFFFFF"/>
                </a:solidFill>
                <a:latin typeface="Century Gothic"/>
                <a:cs typeface="Century Gothic"/>
              </a:rPr>
              <a:t>PANGGILAN YANG DI BLOK (BLOCKED CALL) (1/2)</a:t>
            </a:r>
            <a:endParaRPr sz="3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016" y="1875309"/>
            <a:ext cx="9548151" cy="2844295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46180">
              <a:lnSpc>
                <a:spcPts val="3010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Pada sistim blocking, sebuah blocked call (call yang</a:t>
            </a:r>
            <a:endParaRPr sz="2800">
              <a:latin typeface="Century Gothic"/>
              <a:cs typeface="Century Gothic"/>
            </a:endParaRPr>
          </a:p>
          <a:p>
            <a:pPr marL="241300" marR="46180">
              <a:lnSpc>
                <a:spcPts val="3025"/>
              </a:lnSpc>
              <a:spcBef>
                <a:spcPts val="0"/>
              </a:spcBef>
            </a:pP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diblok) adalah call yang tidak segera mendapat</a:t>
            </a:r>
            <a:endParaRPr sz="2800">
              <a:latin typeface="Century Gothic"/>
              <a:cs typeface="Century Gothic"/>
            </a:endParaRPr>
          </a:p>
          <a:p>
            <a:pPr marL="241300" marR="46180">
              <a:lnSpc>
                <a:spcPts val="3025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layanan.</a:t>
            </a:r>
            <a:endParaRPr sz="2800">
              <a:latin typeface="Century Gothic"/>
              <a:cs typeface="Century Gothic"/>
            </a:endParaRPr>
          </a:p>
          <a:p>
            <a:pPr marL="12700" marR="46180">
              <a:lnSpc>
                <a:spcPct val="102172"/>
              </a:lnSpc>
              <a:spcBef>
                <a:spcPts val="447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Call-call dinyatakan diblok apabila call-call tersebut:</a:t>
            </a:r>
            <a:endParaRPr sz="2800">
              <a:latin typeface="Century Gothic"/>
              <a:cs typeface="Century Gothic"/>
            </a:endParaRPr>
          </a:p>
          <a:p>
            <a:pPr marL="469900" marR="46180">
              <a:lnSpc>
                <a:spcPct val="102172"/>
              </a:lnSpc>
              <a:spcBef>
                <a:spcPts val="150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Di-rutekan ke trunk group lain</a:t>
            </a:r>
            <a:endParaRPr sz="2400">
              <a:latin typeface="Century Gothic"/>
              <a:cs typeface="Century Gothic"/>
            </a:endParaRPr>
          </a:p>
          <a:p>
            <a:pPr marL="469900" marR="46180">
              <a:lnSpc>
                <a:spcPct val="102172"/>
              </a:lnSpc>
              <a:spcBef>
                <a:spcPts val="140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Diletakkan pada grup antrian</a:t>
            </a:r>
            <a:endParaRPr sz="2400">
              <a:latin typeface="Century Gothic"/>
              <a:cs typeface="Century Gothic"/>
            </a:endParaRPr>
          </a:p>
          <a:p>
            <a:pPr marL="469900">
              <a:lnSpc>
                <a:spcPct val="102172"/>
              </a:lnSpc>
              <a:spcBef>
                <a:spcPts val="150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Diberikan tanda berupa nada atau informasi ke pemanggil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123" y="953256"/>
            <a:ext cx="5792641" cy="456691"/>
          </a:xfrm>
          <a:prstGeom prst="rect">
            <a:avLst/>
          </a:prstGeom>
        </p:spPr>
        <p:txBody>
          <a:bodyPr wrap="square" lIns="0" tIns="22828" rIns="0" bIns="0" rtlCol="0">
            <a:noAutofit/>
          </a:bodyPr>
          <a:lstStyle/>
          <a:p>
            <a:pPr marL="12700">
              <a:lnSpc>
                <a:spcPts val="3595"/>
              </a:lnSpc>
            </a:pPr>
            <a:r>
              <a:rPr sz="3400" spc="-15" dirty="0">
                <a:solidFill>
                  <a:srgbClr val="FFFFFF"/>
                </a:solidFill>
                <a:latin typeface="Century Gothic"/>
                <a:cs typeface="Century Gothic"/>
              </a:rPr>
              <a:t>PANGGILAN YANG DI BLOK</a:t>
            </a:r>
            <a:endParaRPr sz="3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2216" y="953256"/>
            <a:ext cx="2228653" cy="456691"/>
          </a:xfrm>
          <a:prstGeom prst="rect">
            <a:avLst/>
          </a:prstGeom>
        </p:spPr>
        <p:txBody>
          <a:bodyPr wrap="square" lIns="0" tIns="22828" rIns="0" bIns="0" rtlCol="0">
            <a:noAutofit/>
          </a:bodyPr>
          <a:lstStyle/>
          <a:p>
            <a:pPr marL="12700">
              <a:lnSpc>
                <a:spcPts val="3595"/>
              </a:lnSpc>
            </a:pP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(BLOCKED</a:t>
            </a:r>
            <a:endParaRPr sz="3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1322" y="953256"/>
            <a:ext cx="1316244" cy="456691"/>
          </a:xfrm>
          <a:prstGeom prst="rect">
            <a:avLst/>
          </a:prstGeom>
        </p:spPr>
        <p:txBody>
          <a:bodyPr wrap="square" lIns="0" tIns="22828" rIns="0" bIns="0" rtlCol="0">
            <a:noAutofit/>
          </a:bodyPr>
          <a:lstStyle/>
          <a:p>
            <a:pPr marL="12700">
              <a:lnSpc>
                <a:spcPts val="3595"/>
              </a:lnSpc>
            </a:pPr>
            <a:r>
              <a:rPr sz="3400" spc="-1" dirty="0">
                <a:solidFill>
                  <a:srgbClr val="FFFFFF"/>
                </a:solidFill>
                <a:latin typeface="Century Gothic"/>
                <a:cs typeface="Century Gothic"/>
              </a:rPr>
              <a:t>CALL)</a:t>
            </a:r>
            <a:endParaRPr sz="3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61829" y="953256"/>
            <a:ext cx="1075031" cy="456691"/>
          </a:xfrm>
          <a:prstGeom prst="rect">
            <a:avLst/>
          </a:prstGeom>
        </p:spPr>
        <p:txBody>
          <a:bodyPr wrap="square" lIns="0" tIns="22828" rIns="0" bIns="0" rtlCol="0">
            <a:noAutofit/>
          </a:bodyPr>
          <a:lstStyle/>
          <a:p>
            <a:pPr marL="12700">
              <a:lnSpc>
                <a:spcPts val="3595"/>
              </a:lnSpc>
            </a:pP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(2/2)</a:t>
            </a:r>
            <a:endParaRPr sz="3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016" y="1875309"/>
            <a:ext cx="4567272" cy="1919622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58420" marR="53800">
              <a:lnSpc>
                <a:spcPts val="3010"/>
              </a:lnSpc>
            </a:pP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Ada 3 jenis Blocked Call:</a:t>
            </a:r>
            <a:endParaRPr sz="2800">
              <a:latin typeface="Century Gothic"/>
              <a:cs typeface="Century Gothic"/>
            </a:endParaRPr>
          </a:p>
          <a:p>
            <a:pPr marL="12700" marR="53800">
              <a:lnSpc>
                <a:spcPct val="102172"/>
              </a:lnSpc>
              <a:spcBef>
                <a:spcPts val="463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b="1" spc="-3" dirty="0">
                <a:solidFill>
                  <a:srgbClr val="FFFFFF"/>
                </a:solidFill>
                <a:latin typeface="Century Gothic"/>
                <a:cs typeface="Century Gothic"/>
              </a:rPr>
              <a:t>Lost Calls Cleared (LCC)</a:t>
            </a:r>
            <a:endParaRPr sz="2800">
              <a:latin typeface="Century Gothic"/>
              <a:cs typeface="Century Gothic"/>
            </a:endParaRPr>
          </a:p>
          <a:p>
            <a:pPr marL="12700" marR="53800">
              <a:lnSpc>
                <a:spcPct val="102172"/>
              </a:lnSpc>
              <a:spcBef>
                <a:spcPts val="586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Lost Calls Held (LCH)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588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Loss Calls Delayed (LCD)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48455" y="4139183"/>
            <a:ext cx="3968496" cy="24582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6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981293"/>
            <a:ext cx="10703853" cy="3209841"/>
          </a:xfrm>
          <a:prstGeom prst="rect">
            <a:avLst/>
          </a:prstGeom>
        </p:spPr>
        <p:txBody>
          <a:bodyPr wrap="square" lIns="0" tIns="27051" rIns="0" bIns="0" rtlCol="0">
            <a:noAutofit/>
          </a:bodyPr>
          <a:lstStyle/>
          <a:p>
            <a:pPr marL="23672" marR="43356">
              <a:lnSpc>
                <a:spcPts val="4260"/>
              </a:lnSpc>
            </a:pPr>
            <a:r>
              <a:rPr sz="4000" spc="-9" dirty="0">
                <a:solidFill>
                  <a:srgbClr val="FFFFFF"/>
                </a:solidFill>
                <a:latin typeface="Century Gothic"/>
                <a:cs typeface="Century Gothic"/>
              </a:rPr>
              <a:t>LOSS SYSTEM (LOST CALL CLEARED)</a:t>
            </a:r>
            <a:endParaRPr sz="4000">
              <a:latin typeface="Century Gothic"/>
              <a:cs typeface="Century Gothic"/>
            </a:endParaRPr>
          </a:p>
          <a:p>
            <a:pPr marL="241300" marR="255989" indent="-228600">
              <a:lnSpc>
                <a:spcPts val="2590"/>
              </a:lnSpc>
              <a:spcBef>
                <a:spcPts val="3373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Pada sistem ini, panggilan yang datang saat seluruh sirkit sibuk, akan ditolak akan dibuang dari sistem.</a:t>
            </a:r>
            <a:endParaRPr sz="2400">
              <a:latin typeface="Century Gothic"/>
              <a:cs typeface="Century Gothic"/>
            </a:endParaRPr>
          </a:p>
          <a:p>
            <a:pPr marL="12700" marR="43356">
              <a:lnSpc>
                <a:spcPct val="102172"/>
              </a:lnSpc>
              <a:spcBef>
                <a:spcPts val="526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Bila ada panggilan ulang (repeated call), dianggap panggilan yang</a:t>
            </a:r>
            <a:endParaRPr sz="2400">
              <a:latin typeface="Century Gothic"/>
              <a:cs typeface="Century Gothic"/>
            </a:endParaRPr>
          </a:p>
          <a:p>
            <a:pPr marL="241300" marR="43356">
              <a:lnSpc>
                <a:spcPts val="2595"/>
              </a:lnSpc>
              <a:spcBef>
                <a:spcPts val="129"/>
              </a:spcBef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baru.</a:t>
            </a:r>
            <a:endParaRPr sz="2400">
              <a:latin typeface="Century Gothic"/>
              <a:cs typeface="Century Gothic"/>
            </a:endParaRPr>
          </a:p>
          <a:p>
            <a:pPr marL="241300" indent="-228600">
              <a:lnSpc>
                <a:spcPts val="2590"/>
              </a:lnSpc>
              <a:spcBef>
                <a:spcPts val="987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sz="2400" spc="29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400" spc="25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em</a:t>
            </a:r>
            <a:r>
              <a:rPr sz="24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-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nya d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gun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kan</a:t>
            </a:r>
            <a:r>
              <a:rPr sz="2400" spc="-3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un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uk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menent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kan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14" dirty="0">
                <a:solidFill>
                  <a:srgbClr val="FFFFFF"/>
                </a:solidFill>
                <a:latin typeface="Century Gothic"/>
                <a:cs typeface="Century Gothic"/>
              </a:rPr>
              <a:t>j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m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lah</a:t>
            </a:r>
            <a:r>
              <a:rPr sz="24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lur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n an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ar sen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ral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42604" y="3810000"/>
            <a:ext cx="5672996" cy="289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7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104737"/>
            <a:ext cx="8976615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9" dirty="0">
                <a:solidFill>
                  <a:srgbClr val="FFFFFF"/>
                </a:solidFill>
                <a:latin typeface="Century Gothic"/>
                <a:cs typeface="Century Gothic"/>
              </a:rPr>
              <a:t>DELAY SYSTEM (LOST CALL DELAYED)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240288"/>
            <a:ext cx="10311637" cy="1773682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 marR="56056">
              <a:lnSpc>
                <a:spcPts val="2595"/>
              </a:lnSpc>
            </a:pPr>
            <a:r>
              <a:rPr sz="2400" spc="96" dirty="0">
                <a:solidFill>
                  <a:srgbClr val="FFFFFF"/>
                </a:solidFill>
                <a:latin typeface="Arial"/>
                <a:cs typeface="Arial"/>
              </a:rPr>
              <a:t>• 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Panggilan yang datang saat seluruh sirkit sibuk,maka</a:t>
            </a:r>
            <a:endParaRPr sz="2400">
              <a:latin typeface="Century Gothic"/>
              <a:cs typeface="Century Gothic"/>
            </a:endParaRPr>
          </a:p>
          <a:p>
            <a:pPr marL="241300" marR="56056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panggilanpanggilan tersebut akan menunggu di buffer yang</a:t>
            </a:r>
            <a:endParaRPr sz="2400">
              <a:latin typeface="Century Gothic"/>
              <a:cs typeface="Century Gothic"/>
            </a:endParaRPr>
          </a:p>
          <a:p>
            <a:pPr marL="241300" marR="56056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disediakan sampai ada sirkit yang bebas.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51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Sistem ini digunakan untuk komunikasi data yang tidak memerlukan</a:t>
            </a:r>
            <a:endParaRPr sz="2400">
              <a:latin typeface="Century Gothic"/>
              <a:cs typeface="Century Gothic"/>
            </a:endParaRPr>
          </a:p>
          <a:p>
            <a:pPr marL="241300" marR="56056">
              <a:lnSpc>
                <a:spcPts val="2595"/>
              </a:lnSpc>
              <a:spcBef>
                <a:spcPts val="129"/>
              </a:spcBef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komunikasi ‘real time’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26080" y="3860292"/>
            <a:ext cx="5152644" cy="2705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8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125188"/>
            <a:ext cx="9224359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OVERFLOW SYSTEM (LOST CALL HELD)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240288"/>
            <a:ext cx="10464890" cy="1773682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 marR="45720">
              <a:lnSpc>
                <a:spcPts val="2595"/>
              </a:lnSpc>
            </a:pPr>
            <a:r>
              <a:rPr sz="2400" spc="96" dirty="0">
                <a:solidFill>
                  <a:srgbClr val="FFFFFF"/>
                </a:solidFill>
                <a:latin typeface="Arial"/>
                <a:cs typeface="Arial"/>
              </a:rPr>
              <a:t>• 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Panggilan-panggilan yang tidak bisa dilayani kerena seluruh group</a:t>
            </a:r>
            <a:endParaRPr sz="2400">
              <a:latin typeface="Century Gothic"/>
              <a:cs typeface="Century Gothic"/>
            </a:endParaRPr>
          </a:p>
          <a:p>
            <a:pPr marL="241300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sirkit ke suatu arah dalam kondisi diduduki, maka diluapkan ke group</a:t>
            </a:r>
            <a:endParaRPr sz="2400">
              <a:latin typeface="Century Gothic"/>
              <a:cs typeface="Century Gothic"/>
            </a:endParaRPr>
          </a:p>
          <a:p>
            <a:pPr marL="241300" marR="45720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sirkit arah lain (alternative route)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ct val="102172"/>
              </a:lnSpc>
              <a:spcBef>
                <a:spcPts val="51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Sistim ini digunakan untuk mendisain suatu MEA (multi exchange</a:t>
            </a:r>
            <a:endParaRPr sz="2400">
              <a:latin typeface="Century Gothic"/>
              <a:cs typeface="Century Gothic"/>
            </a:endParaRPr>
          </a:p>
          <a:p>
            <a:pPr marL="241300" marR="45720">
              <a:lnSpc>
                <a:spcPts val="2595"/>
              </a:lnSpc>
              <a:spcBef>
                <a:spcPts val="129"/>
              </a:spcBef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Area)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924923" y="4082796"/>
            <a:ext cx="179197" cy="376428"/>
          </a:xfrm>
          <a:custGeom>
            <a:avLst/>
            <a:gdLst/>
            <a:ahLst/>
            <a:cxnLst/>
            <a:rect l="l" t="t" r="r" b="b"/>
            <a:pathLst>
              <a:path w="179197" h="376427">
                <a:moveTo>
                  <a:pt x="89661" y="0"/>
                </a:moveTo>
                <a:lnTo>
                  <a:pt x="72032" y="3638"/>
                </a:lnTo>
                <a:lnTo>
                  <a:pt x="55573" y="14083"/>
                </a:lnTo>
                <a:lnTo>
                  <a:pt x="40619" y="30634"/>
                </a:lnTo>
                <a:lnTo>
                  <a:pt x="27501" y="52586"/>
                </a:lnTo>
                <a:lnTo>
                  <a:pt x="21736" y="65368"/>
                </a:lnTo>
                <a:lnTo>
                  <a:pt x="16555" y="79238"/>
                </a:lnTo>
                <a:lnTo>
                  <a:pt x="12000" y="94106"/>
                </a:lnTo>
                <a:lnTo>
                  <a:pt x="8113" y="109886"/>
                </a:lnTo>
                <a:lnTo>
                  <a:pt x="4935" y="126489"/>
                </a:lnTo>
                <a:lnTo>
                  <a:pt x="2509" y="143827"/>
                </a:lnTo>
                <a:lnTo>
                  <a:pt x="875" y="161813"/>
                </a:lnTo>
                <a:lnTo>
                  <a:pt x="76" y="180360"/>
                </a:lnTo>
                <a:lnTo>
                  <a:pt x="0" y="188213"/>
                </a:lnTo>
                <a:lnTo>
                  <a:pt x="439" y="206966"/>
                </a:lnTo>
                <a:lnTo>
                  <a:pt x="1731" y="225196"/>
                </a:lnTo>
                <a:lnTo>
                  <a:pt x="3833" y="242815"/>
                </a:lnTo>
                <a:lnTo>
                  <a:pt x="6703" y="259734"/>
                </a:lnTo>
                <a:lnTo>
                  <a:pt x="10300" y="275867"/>
                </a:lnTo>
                <a:lnTo>
                  <a:pt x="14583" y="291124"/>
                </a:lnTo>
                <a:lnTo>
                  <a:pt x="19509" y="305420"/>
                </a:lnTo>
                <a:lnTo>
                  <a:pt x="25036" y="318665"/>
                </a:lnTo>
                <a:lnTo>
                  <a:pt x="31124" y="330771"/>
                </a:lnTo>
                <a:lnTo>
                  <a:pt x="37730" y="341652"/>
                </a:lnTo>
                <a:lnTo>
                  <a:pt x="52330" y="359383"/>
                </a:lnTo>
                <a:lnTo>
                  <a:pt x="68504" y="371155"/>
                </a:lnTo>
                <a:lnTo>
                  <a:pt x="85917" y="376266"/>
                </a:lnTo>
                <a:lnTo>
                  <a:pt x="89661" y="376427"/>
                </a:lnTo>
                <a:lnTo>
                  <a:pt x="98582" y="375503"/>
                </a:lnTo>
                <a:lnTo>
                  <a:pt x="115636" y="368370"/>
                </a:lnTo>
                <a:lnTo>
                  <a:pt x="131361" y="354777"/>
                </a:lnTo>
                <a:lnTo>
                  <a:pt x="145423" y="335428"/>
                </a:lnTo>
                <a:lnTo>
                  <a:pt x="151725" y="323815"/>
                </a:lnTo>
                <a:lnTo>
                  <a:pt x="157485" y="311027"/>
                </a:lnTo>
                <a:lnTo>
                  <a:pt x="162662" y="297152"/>
                </a:lnTo>
                <a:lnTo>
                  <a:pt x="167213" y="282277"/>
                </a:lnTo>
                <a:lnTo>
                  <a:pt x="171097" y="266490"/>
                </a:lnTo>
                <a:lnTo>
                  <a:pt x="174271" y="249880"/>
                </a:lnTo>
                <a:lnTo>
                  <a:pt x="176695" y="232535"/>
                </a:lnTo>
                <a:lnTo>
                  <a:pt x="178326" y="214542"/>
                </a:lnTo>
                <a:lnTo>
                  <a:pt x="179121" y="195989"/>
                </a:lnTo>
                <a:lnTo>
                  <a:pt x="179196" y="188213"/>
                </a:lnTo>
                <a:lnTo>
                  <a:pt x="178756" y="169456"/>
                </a:lnTo>
                <a:lnTo>
                  <a:pt x="177464" y="151222"/>
                </a:lnTo>
                <a:lnTo>
                  <a:pt x="175362" y="133599"/>
                </a:lnTo>
                <a:lnTo>
                  <a:pt x="172491" y="116676"/>
                </a:lnTo>
                <a:lnTo>
                  <a:pt x="168894" y="100540"/>
                </a:lnTo>
                <a:lnTo>
                  <a:pt x="164612" y="85279"/>
                </a:lnTo>
                <a:lnTo>
                  <a:pt x="159688" y="70982"/>
                </a:lnTo>
                <a:lnTo>
                  <a:pt x="154162" y="57736"/>
                </a:lnTo>
                <a:lnTo>
                  <a:pt x="148078" y="45629"/>
                </a:lnTo>
                <a:lnTo>
                  <a:pt x="141477" y="34748"/>
                </a:lnTo>
                <a:lnTo>
                  <a:pt x="126891" y="17021"/>
                </a:lnTo>
                <a:lnTo>
                  <a:pt x="110740" y="5256"/>
                </a:lnTo>
                <a:lnTo>
                  <a:pt x="93359" y="157"/>
                </a:lnTo>
                <a:lnTo>
                  <a:pt x="89661" y="0"/>
                </a:lnTo>
                <a:close/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69480" y="4082796"/>
            <a:ext cx="2745105" cy="376428"/>
          </a:xfrm>
          <a:custGeom>
            <a:avLst/>
            <a:gdLst/>
            <a:ahLst/>
            <a:cxnLst/>
            <a:rect l="l" t="t" r="r" b="b"/>
            <a:pathLst>
              <a:path w="2745104" h="376427">
                <a:moveTo>
                  <a:pt x="2745104" y="0"/>
                </a:moveTo>
                <a:lnTo>
                  <a:pt x="89534" y="0"/>
                </a:lnTo>
                <a:lnTo>
                  <a:pt x="80614" y="924"/>
                </a:lnTo>
                <a:lnTo>
                  <a:pt x="47835" y="21650"/>
                </a:lnTo>
                <a:lnTo>
                  <a:pt x="21711" y="65400"/>
                </a:lnTo>
                <a:lnTo>
                  <a:pt x="8099" y="109937"/>
                </a:lnTo>
                <a:lnTo>
                  <a:pt x="870" y="161885"/>
                </a:lnTo>
                <a:lnTo>
                  <a:pt x="0" y="188213"/>
                </a:lnTo>
                <a:lnTo>
                  <a:pt x="440" y="206971"/>
                </a:lnTo>
                <a:lnTo>
                  <a:pt x="6705" y="259751"/>
                </a:lnTo>
                <a:lnTo>
                  <a:pt x="19508" y="305445"/>
                </a:lnTo>
                <a:lnTo>
                  <a:pt x="37719" y="341679"/>
                </a:lnTo>
                <a:lnTo>
                  <a:pt x="68456" y="371171"/>
                </a:lnTo>
                <a:lnTo>
                  <a:pt x="89534" y="376427"/>
                </a:lnTo>
                <a:lnTo>
                  <a:pt x="2745104" y="37642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12841" y="4299077"/>
            <a:ext cx="1901952" cy="86868"/>
          </a:xfrm>
          <a:custGeom>
            <a:avLst/>
            <a:gdLst/>
            <a:ahLst/>
            <a:cxnLst/>
            <a:rect l="l" t="t" r="r" b="b"/>
            <a:pathLst>
              <a:path w="1901952" h="86867">
                <a:moveTo>
                  <a:pt x="1829562" y="58039"/>
                </a:moveTo>
                <a:lnTo>
                  <a:pt x="1815084" y="58026"/>
                </a:lnTo>
                <a:lnTo>
                  <a:pt x="1815083" y="86868"/>
                </a:lnTo>
                <a:lnTo>
                  <a:pt x="1901952" y="43561"/>
                </a:lnTo>
                <a:lnTo>
                  <a:pt x="1829562" y="58039"/>
                </a:lnTo>
                <a:close/>
              </a:path>
              <a:path w="1901952" h="86867">
                <a:moveTo>
                  <a:pt x="1829562" y="29083"/>
                </a:moveTo>
                <a:lnTo>
                  <a:pt x="1815083" y="0"/>
                </a:lnTo>
                <a:lnTo>
                  <a:pt x="1815084" y="29070"/>
                </a:lnTo>
                <a:lnTo>
                  <a:pt x="1829562" y="29083"/>
                </a:lnTo>
                <a:close/>
              </a:path>
              <a:path w="1901952" h="86867">
                <a:moveTo>
                  <a:pt x="0" y="27559"/>
                </a:moveTo>
                <a:lnTo>
                  <a:pt x="0" y="56515"/>
                </a:lnTo>
                <a:lnTo>
                  <a:pt x="1815084" y="58026"/>
                </a:lnTo>
                <a:lnTo>
                  <a:pt x="1829562" y="58039"/>
                </a:lnTo>
                <a:lnTo>
                  <a:pt x="1901952" y="43561"/>
                </a:lnTo>
                <a:lnTo>
                  <a:pt x="1815083" y="0"/>
                </a:lnTo>
                <a:lnTo>
                  <a:pt x="1829562" y="29083"/>
                </a:lnTo>
                <a:lnTo>
                  <a:pt x="1815084" y="29070"/>
                </a:lnTo>
                <a:lnTo>
                  <a:pt x="0" y="275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51810" y="4282313"/>
            <a:ext cx="1804416" cy="86868"/>
          </a:xfrm>
          <a:custGeom>
            <a:avLst/>
            <a:gdLst/>
            <a:ahLst/>
            <a:cxnLst/>
            <a:rect l="l" t="t" r="r" b="b"/>
            <a:pathLst>
              <a:path w="1804415" h="86867">
                <a:moveTo>
                  <a:pt x="1732026" y="58038"/>
                </a:moveTo>
                <a:lnTo>
                  <a:pt x="1717547" y="58026"/>
                </a:lnTo>
                <a:lnTo>
                  <a:pt x="1717548" y="86867"/>
                </a:lnTo>
                <a:lnTo>
                  <a:pt x="1804416" y="43560"/>
                </a:lnTo>
                <a:lnTo>
                  <a:pt x="1732026" y="58038"/>
                </a:lnTo>
                <a:close/>
              </a:path>
              <a:path w="1804415" h="86867">
                <a:moveTo>
                  <a:pt x="1732026" y="29082"/>
                </a:moveTo>
                <a:lnTo>
                  <a:pt x="1717548" y="0"/>
                </a:lnTo>
                <a:lnTo>
                  <a:pt x="1717547" y="29070"/>
                </a:lnTo>
                <a:lnTo>
                  <a:pt x="1732026" y="29082"/>
                </a:lnTo>
                <a:close/>
              </a:path>
              <a:path w="1804415" h="86867">
                <a:moveTo>
                  <a:pt x="0" y="27558"/>
                </a:moveTo>
                <a:lnTo>
                  <a:pt x="0" y="56514"/>
                </a:lnTo>
                <a:lnTo>
                  <a:pt x="1717547" y="58026"/>
                </a:lnTo>
                <a:lnTo>
                  <a:pt x="1732026" y="58038"/>
                </a:lnTo>
                <a:lnTo>
                  <a:pt x="1804416" y="43560"/>
                </a:lnTo>
                <a:lnTo>
                  <a:pt x="1717548" y="0"/>
                </a:lnTo>
                <a:lnTo>
                  <a:pt x="1732026" y="29082"/>
                </a:lnTo>
                <a:lnTo>
                  <a:pt x="1717547" y="29070"/>
                </a:lnTo>
                <a:lnTo>
                  <a:pt x="0" y="275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48328" y="4507357"/>
            <a:ext cx="3496310" cy="1021715"/>
          </a:xfrm>
          <a:custGeom>
            <a:avLst/>
            <a:gdLst/>
            <a:ahLst/>
            <a:cxnLst/>
            <a:rect l="l" t="t" r="r" b="b"/>
            <a:pathLst>
              <a:path w="3496310" h="1021714">
                <a:moveTo>
                  <a:pt x="457962" y="51943"/>
                </a:moveTo>
                <a:lnTo>
                  <a:pt x="531240" y="42037"/>
                </a:lnTo>
                <a:lnTo>
                  <a:pt x="434975" y="29210"/>
                </a:lnTo>
                <a:lnTo>
                  <a:pt x="444400" y="56681"/>
                </a:lnTo>
                <a:lnTo>
                  <a:pt x="457962" y="51943"/>
                </a:lnTo>
                <a:close/>
              </a:path>
              <a:path w="3496310" h="1021714">
                <a:moveTo>
                  <a:pt x="463169" y="111379"/>
                </a:moveTo>
                <a:lnTo>
                  <a:pt x="467487" y="79248"/>
                </a:lnTo>
                <a:lnTo>
                  <a:pt x="453798" y="84069"/>
                </a:lnTo>
                <a:lnTo>
                  <a:pt x="463169" y="111379"/>
                </a:lnTo>
                <a:close/>
              </a:path>
              <a:path w="3496310" h="1021714">
                <a:moveTo>
                  <a:pt x="37591" y="497332"/>
                </a:moveTo>
                <a:lnTo>
                  <a:pt x="47243" y="521843"/>
                </a:lnTo>
                <a:lnTo>
                  <a:pt x="37428" y="496637"/>
                </a:lnTo>
                <a:lnTo>
                  <a:pt x="37591" y="497332"/>
                </a:lnTo>
                <a:close/>
              </a:path>
              <a:path w="3496310" h="1021714">
                <a:moveTo>
                  <a:pt x="3488436" y="443611"/>
                </a:moveTo>
                <a:lnTo>
                  <a:pt x="3486220" y="470075"/>
                </a:lnTo>
                <a:lnTo>
                  <a:pt x="3486530" y="468757"/>
                </a:lnTo>
                <a:lnTo>
                  <a:pt x="3488436" y="443611"/>
                </a:lnTo>
                <a:close/>
              </a:path>
              <a:path w="3496310" h="1021714">
                <a:moveTo>
                  <a:pt x="2988794" y="27946"/>
                </a:moveTo>
                <a:lnTo>
                  <a:pt x="2997200" y="0"/>
                </a:lnTo>
                <a:lnTo>
                  <a:pt x="2901441" y="16637"/>
                </a:lnTo>
                <a:lnTo>
                  <a:pt x="2972181" y="83185"/>
                </a:lnTo>
                <a:lnTo>
                  <a:pt x="2980455" y="55673"/>
                </a:lnTo>
                <a:lnTo>
                  <a:pt x="2966466" y="51308"/>
                </a:lnTo>
                <a:lnTo>
                  <a:pt x="2975102" y="23622"/>
                </a:lnTo>
                <a:lnTo>
                  <a:pt x="2988794" y="27946"/>
                </a:lnTo>
                <a:close/>
              </a:path>
              <a:path w="3496310" h="1021714">
                <a:moveTo>
                  <a:pt x="3440938" y="316992"/>
                </a:moveTo>
                <a:lnTo>
                  <a:pt x="3467480" y="359029"/>
                </a:lnTo>
                <a:lnTo>
                  <a:pt x="3483355" y="401320"/>
                </a:lnTo>
                <a:lnTo>
                  <a:pt x="3488436" y="443611"/>
                </a:lnTo>
                <a:lnTo>
                  <a:pt x="3486530" y="468757"/>
                </a:lnTo>
                <a:lnTo>
                  <a:pt x="3469386" y="523621"/>
                </a:lnTo>
                <a:lnTo>
                  <a:pt x="3436239" y="575691"/>
                </a:lnTo>
                <a:lnTo>
                  <a:pt x="3387090" y="626491"/>
                </a:lnTo>
                <a:lnTo>
                  <a:pt x="3356610" y="651383"/>
                </a:lnTo>
                <a:lnTo>
                  <a:pt x="3322447" y="675767"/>
                </a:lnTo>
                <a:lnTo>
                  <a:pt x="3284601" y="699770"/>
                </a:lnTo>
                <a:lnTo>
                  <a:pt x="3243326" y="723011"/>
                </a:lnTo>
                <a:lnTo>
                  <a:pt x="3198495" y="745490"/>
                </a:lnTo>
                <a:lnTo>
                  <a:pt x="3150362" y="767461"/>
                </a:lnTo>
                <a:lnTo>
                  <a:pt x="3099181" y="788543"/>
                </a:lnTo>
                <a:lnTo>
                  <a:pt x="3044697" y="808736"/>
                </a:lnTo>
                <a:lnTo>
                  <a:pt x="2987421" y="828294"/>
                </a:lnTo>
                <a:lnTo>
                  <a:pt x="2927222" y="846836"/>
                </a:lnTo>
                <a:lnTo>
                  <a:pt x="2864231" y="864362"/>
                </a:lnTo>
                <a:lnTo>
                  <a:pt x="2798826" y="881126"/>
                </a:lnTo>
                <a:lnTo>
                  <a:pt x="2730754" y="896747"/>
                </a:lnTo>
                <a:lnTo>
                  <a:pt x="2660269" y="911352"/>
                </a:lnTo>
                <a:lnTo>
                  <a:pt x="2587497" y="924941"/>
                </a:lnTo>
                <a:lnTo>
                  <a:pt x="2512567" y="937387"/>
                </a:lnTo>
                <a:lnTo>
                  <a:pt x="2435479" y="948563"/>
                </a:lnTo>
                <a:lnTo>
                  <a:pt x="2356612" y="958723"/>
                </a:lnTo>
                <a:lnTo>
                  <a:pt x="2275840" y="967486"/>
                </a:lnTo>
                <a:lnTo>
                  <a:pt x="2193290" y="975106"/>
                </a:lnTo>
                <a:lnTo>
                  <a:pt x="2109216" y="981329"/>
                </a:lnTo>
                <a:lnTo>
                  <a:pt x="1936241" y="989838"/>
                </a:lnTo>
                <a:lnTo>
                  <a:pt x="1758441" y="992759"/>
                </a:lnTo>
                <a:lnTo>
                  <a:pt x="1580642" y="989838"/>
                </a:lnTo>
                <a:lnTo>
                  <a:pt x="1407795" y="981329"/>
                </a:lnTo>
                <a:lnTo>
                  <a:pt x="1323847" y="975106"/>
                </a:lnTo>
                <a:lnTo>
                  <a:pt x="1241297" y="967486"/>
                </a:lnTo>
                <a:lnTo>
                  <a:pt x="1160526" y="958596"/>
                </a:lnTo>
                <a:lnTo>
                  <a:pt x="1081532" y="948563"/>
                </a:lnTo>
                <a:lnTo>
                  <a:pt x="1004569" y="937260"/>
                </a:lnTo>
                <a:lnTo>
                  <a:pt x="929639" y="924814"/>
                </a:lnTo>
                <a:lnTo>
                  <a:pt x="856869" y="911225"/>
                </a:lnTo>
                <a:lnTo>
                  <a:pt x="786383" y="896620"/>
                </a:lnTo>
                <a:lnTo>
                  <a:pt x="718312" y="880999"/>
                </a:lnTo>
                <a:lnTo>
                  <a:pt x="652779" y="864362"/>
                </a:lnTo>
                <a:lnTo>
                  <a:pt x="589788" y="846709"/>
                </a:lnTo>
                <a:lnTo>
                  <a:pt x="529589" y="828167"/>
                </a:lnTo>
                <a:lnTo>
                  <a:pt x="472185" y="808609"/>
                </a:lnTo>
                <a:lnTo>
                  <a:pt x="417829" y="788289"/>
                </a:lnTo>
                <a:lnTo>
                  <a:pt x="366521" y="767207"/>
                </a:lnTo>
                <a:lnTo>
                  <a:pt x="318388" y="745236"/>
                </a:lnTo>
                <a:lnTo>
                  <a:pt x="273557" y="722630"/>
                </a:lnTo>
                <a:lnTo>
                  <a:pt x="232028" y="699389"/>
                </a:lnTo>
                <a:lnTo>
                  <a:pt x="194309" y="675386"/>
                </a:lnTo>
                <a:lnTo>
                  <a:pt x="159893" y="650875"/>
                </a:lnTo>
                <a:lnTo>
                  <a:pt x="129539" y="625856"/>
                </a:lnTo>
                <a:lnTo>
                  <a:pt x="80263" y="574421"/>
                </a:lnTo>
                <a:lnTo>
                  <a:pt x="47243" y="521843"/>
                </a:lnTo>
                <a:lnTo>
                  <a:pt x="37428" y="496637"/>
                </a:lnTo>
                <a:lnTo>
                  <a:pt x="31178" y="470103"/>
                </a:lnTo>
                <a:lnTo>
                  <a:pt x="28956" y="441833"/>
                </a:lnTo>
                <a:lnTo>
                  <a:pt x="29463" y="429514"/>
                </a:lnTo>
                <a:lnTo>
                  <a:pt x="31114" y="416433"/>
                </a:lnTo>
                <a:lnTo>
                  <a:pt x="37083" y="390652"/>
                </a:lnTo>
                <a:lnTo>
                  <a:pt x="47116" y="364871"/>
                </a:lnTo>
                <a:lnTo>
                  <a:pt x="53720" y="351917"/>
                </a:lnTo>
                <a:lnTo>
                  <a:pt x="61213" y="339090"/>
                </a:lnTo>
                <a:lnTo>
                  <a:pt x="69850" y="326009"/>
                </a:lnTo>
                <a:lnTo>
                  <a:pt x="79375" y="313182"/>
                </a:lnTo>
                <a:lnTo>
                  <a:pt x="89915" y="300482"/>
                </a:lnTo>
                <a:lnTo>
                  <a:pt x="101472" y="287655"/>
                </a:lnTo>
                <a:lnTo>
                  <a:pt x="114172" y="274828"/>
                </a:lnTo>
                <a:lnTo>
                  <a:pt x="127634" y="262255"/>
                </a:lnTo>
                <a:lnTo>
                  <a:pt x="142366" y="249682"/>
                </a:lnTo>
                <a:lnTo>
                  <a:pt x="157987" y="237109"/>
                </a:lnTo>
                <a:lnTo>
                  <a:pt x="174497" y="224790"/>
                </a:lnTo>
                <a:lnTo>
                  <a:pt x="192024" y="212471"/>
                </a:lnTo>
                <a:lnTo>
                  <a:pt x="210565" y="200152"/>
                </a:lnTo>
                <a:lnTo>
                  <a:pt x="229996" y="188087"/>
                </a:lnTo>
                <a:lnTo>
                  <a:pt x="250444" y="176149"/>
                </a:lnTo>
                <a:lnTo>
                  <a:pt x="271906" y="164338"/>
                </a:lnTo>
                <a:lnTo>
                  <a:pt x="294131" y="152781"/>
                </a:lnTo>
                <a:lnTo>
                  <a:pt x="317372" y="141224"/>
                </a:lnTo>
                <a:lnTo>
                  <a:pt x="341502" y="129921"/>
                </a:lnTo>
                <a:lnTo>
                  <a:pt x="366649" y="118745"/>
                </a:lnTo>
                <a:lnTo>
                  <a:pt x="392556" y="107823"/>
                </a:lnTo>
                <a:lnTo>
                  <a:pt x="419481" y="97028"/>
                </a:lnTo>
                <a:lnTo>
                  <a:pt x="447294" y="86360"/>
                </a:lnTo>
                <a:lnTo>
                  <a:pt x="453798" y="84069"/>
                </a:lnTo>
                <a:lnTo>
                  <a:pt x="467487" y="79248"/>
                </a:lnTo>
                <a:lnTo>
                  <a:pt x="463169" y="111379"/>
                </a:lnTo>
                <a:lnTo>
                  <a:pt x="531240" y="42037"/>
                </a:lnTo>
                <a:lnTo>
                  <a:pt x="457962" y="51943"/>
                </a:lnTo>
                <a:lnTo>
                  <a:pt x="444400" y="56681"/>
                </a:lnTo>
                <a:lnTo>
                  <a:pt x="436879" y="59309"/>
                </a:lnTo>
                <a:lnTo>
                  <a:pt x="408685" y="70104"/>
                </a:lnTo>
                <a:lnTo>
                  <a:pt x="381381" y="81153"/>
                </a:lnTo>
                <a:lnTo>
                  <a:pt x="354838" y="92329"/>
                </a:lnTo>
                <a:lnTo>
                  <a:pt x="329183" y="103759"/>
                </a:lnTo>
                <a:lnTo>
                  <a:pt x="304545" y="115316"/>
                </a:lnTo>
                <a:lnTo>
                  <a:pt x="280796" y="127000"/>
                </a:lnTo>
                <a:lnTo>
                  <a:pt x="257937" y="139065"/>
                </a:lnTo>
                <a:lnTo>
                  <a:pt x="235838" y="151130"/>
                </a:lnTo>
                <a:lnTo>
                  <a:pt x="214756" y="163449"/>
                </a:lnTo>
                <a:lnTo>
                  <a:pt x="194563" y="176022"/>
                </a:lnTo>
                <a:lnTo>
                  <a:pt x="175387" y="188722"/>
                </a:lnTo>
                <a:lnTo>
                  <a:pt x="157225" y="201549"/>
                </a:lnTo>
                <a:lnTo>
                  <a:pt x="139826" y="214503"/>
                </a:lnTo>
                <a:lnTo>
                  <a:pt x="123443" y="227711"/>
                </a:lnTo>
                <a:lnTo>
                  <a:pt x="107950" y="241046"/>
                </a:lnTo>
                <a:lnTo>
                  <a:pt x="93471" y="254508"/>
                </a:lnTo>
                <a:lnTo>
                  <a:pt x="80009" y="268224"/>
                </a:lnTo>
                <a:lnTo>
                  <a:pt x="67563" y="282067"/>
                </a:lnTo>
                <a:lnTo>
                  <a:pt x="56133" y="295910"/>
                </a:lnTo>
                <a:lnTo>
                  <a:pt x="45593" y="310134"/>
                </a:lnTo>
                <a:lnTo>
                  <a:pt x="36321" y="324358"/>
                </a:lnTo>
                <a:lnTo>
                  <a:pt x="27812" y="338836"/>
                </a:lnTo>
                <a:lnTo>
                  <a:pt x="20446" y="353441"/>
                </a:lnTo>
                <a:lnTo>
                  <a:pt x="14224" y="368300"/>
                </a:lnTo>
                <a:lnTo>
                  <a:pt x="5079" y="398018"/>
                </a:lnTo>
                <a:lnTo>
                  <a:pt x="634" y="428244"/>
                </a:lnTo>
                <a:lnTo>
                  <a:pt x="0" y="444119"/>
                </a:lnTo>
                <a:lnTo>
                  <a:pt x="2285" y="473202"/>
                </a:lnTo>
                <a:lnTo>
                  <a:pt x="2666" y="475361"/>
                </a:lnTo>
                <a:lnTo>
                  <a:pt x="9397" y="504063"/>
                </a:lnTo>
                <a:lnTo>
                  <a:pt x="10032" y="505968"/>
                </a:lnTo>
                <a:lnTo>
                  <a:pt x="21843" y="535940"/>
                </a:lnTo>
                <a:lnTo>
                  <a:pt x="30860" y="468757"/>
                </a:lnTo>
                <a:lnTo>
                  <a:pt x="31241" y="470916"/>
                </a:lnTo>
                <a:lnTo>
                  <a:pt x="36956" y="495427"/>
                </a:lnTo>
                <a:lnTo>
                  <a:pt x="38100" y="565150"/>
                </a:lnTo>
                <a:lnTo>
                  <a:pt x="58419" y="593598"/>
                </a:lnTo>
                <a:lnTo>
                  <a:pt x="111125" y="648208"/>
                </a:lnTo>
                <a:lnTo>
                  <a:pt x="143128" y="674370"/>
                </a:lnTo>
                <a:lnTo>
                  <a:pt x="178688" y="699770"/>
                </a:lnTo>
                <a:lnTo>
                  <a:pt x="217931" y="724535"/>
                </a:lnTo>
                <a:lnTo>
                  <a:pt x="260476" y="748538"/>
                </a:lnTo>
                <a:lnTo>
                  <a:pt x="306324" y="771652"/>
                </a:lnTo>
                <a:lnTo>
                  <a:pt x="355472" y="794004"/>
                </a:lnTo>
                <a:lnTo>
                  <a:pt x="407669" y="815467"/>
                </a:lnTo>
                <a:lnTo>
                  <a:pt x="462914" y="836041"/>
                </a:lnTo>
                <a:lnTo>
                  <a:pt x="521081" y="855853"/>
                </a:lnTo>
                <a:lnTo>
                  <a:pt x="582040" y="874649"/>
                </a:lnTo>
                <a:lnTo>
                  <a:pt x="645668" y="892429"/>
                </a:lnTo>
                <a:lnTo>
                  <a:pt x="711834" y="909193"/>
                </a:lnTo>
                <a:lnTo>
                  <a:pt x="780541" y="925068"/>
                </a:lnTo>
                <a:lnTo>
                  <a:pt x="851534" y="939800"/>
                </a:lnTo>
                <a:lnTo>
                  <a:pt x="924940" y="953389"/>
                </a:lnTo>
                <a:lnTo>
                  <a:pt x="1000378" y="965962"/>
                </a:lnTo>
                <a:lnTo>
                  <a:pt x="1077976" y="977265"/>
                </a:lnTo>
                <a:lnTo>
                  <a:pt x="1157351" y="987425"/>
                </a:lnTo>
                <a:lnTo>
                  <a:pt x="1238631" y="996315"/>
                </a:lnTo>
                <a:lnTo>
                  <a:pt x="1321689" y="1003935"/>
                </a:lnTo>
                <a:lnTo>
                  <a:pt x="1406398" y="1010285"/>
                </a:lnTo>
                <a:lnTo>
                  <a:pt x="1580133" y="1018794"/>
                </a:lnTo>
                <a:lnTo>
                  <a:pt x="1758950" y="1021715"/>
                </a:lnTo>
                <a:lnTo>
                  <a:pt x="1937765" y="1018794"/>
                </a:lnTo>
                <a:lnTo>
                  <a:pt x="2111375" y="1010285"/>
                </a:lnTo>
                <a:lnTo>
                  <a:pt x="2195957" y="1003935"/>
                </a:lnTo>
                <a:lnTo>
                  <a:pt x="2279015" y="996315"/>
                </a:lnTo>
                <a:lnTo>
                  <a:pt x="2360295" y="987425"/>
                </a:lnTo>
                <a:lnTo>
                  <a:pt x="2439797" y="977265"/>
                </a:lnTo>
                <a:lnTo>
                  <a:pt x="2517266" y="965835"/>
                </a:lnTo>
                <a:lnTo>
                  <a:pt x="2592832" y="953389"/>
                </a:lnTo>
                <a:lnTo>
                  <a:pt x="2666111" y="939673"/>
                </a:lnTo>
                <a:lnTo>
                  <a:pt x="2737231" y="924941"/>
                </a:lnTo>
                <a:lnTo>
                  <a:pt x="2805938" y="909193"/>
                </a:lnTo>
                <a:lnTo>
                  <a:pt x="2872104" y="892302"/>
                </a:lnTo>
                <a:lnTo>
                  <a:pt x="2935732" y="874522"/>
                </a:lnTo>
                <a:lnTo>
                  <a:pt x="2996691" y="855726"/>
                </a:lnTo>
                <a:lnTo>
                  <a:pt x="3054858" y="835914"/>
                </a:lnTo>
                <a:lnTo>
                  <a:pt x="3110229" y="815213"/>
                </a:lnTo>
                <a:lnTo>
                  <a:pt x="3162427" y="793750"/>
                </a:lnTo>
                <a:lnTo>
                  <a:pt x="3211576" y="771398"/>
                </a:lnTo>
                <a:lnTo>
                  <a:pt x="3257550" y="748157"/>
                </a:lnTo>
                <a:lnTo>
                  <a:pt x="3300222" y="724154"/>
                </a:lnTo>
                <a:lnTo>
                  <a:pt x="3339338" y="699389"/>
                </a:lnTo>
                <a:lnTo>
                  <a:pt x="3375025" y="673862"/>
                </a:lnTo>
                <a:lnTo>
                  <a:pt x="3407029" y="647446"/>
                </a:lnTo>
                <a:lnTo>
                  <a:pt x="3435350" y="620395"/>
                </a:lnTo>
                <a:lnTo>
                  <a:pt x="3480180" y="563753"/>
                </a:lnTo>
                <a:lnTo>
                  <a:pt x="3479800" y="497332"/>
                </a:lnTo>
                <a:lnTo>
                  <a:pt x="3480435" y="495427"/>
                </a:lnTo>
                <a:lnTo>
                  <a:pt x="3486150" y="470916"/>
                </a:lnTo>
                <a:lnTo>
                  <a:pt x="3496310" y="534162"/>
                </a:lnTo>
                <a:lnTo>
                  <a:pt x="3507358" y="505968"/>
                </a:lnTo>
                <a:lnTo>
                  <a:pt x="3507993" y="504063"/>
                </a:lnTo>
                <a:lnTo>
                  <a:pt x="3514725" y="475361"/>
                </a:lnTo>
                <a:lnTo>
                  <a:pt x="3515105" y="473202"/>
                </a:lnTo>
                <a:lnTo>
                  <a:pt x="3517391" y="442341"/>
                </a:lnTo>
                <a:lnTo>
                  <a:pt x="3516629" y="425831"/>
                </a:lnTo>
                <a:lnTo>
                  <a:pt x="3511041" y="393065"/>
                </a:lnTo>
                <a:lnTo>
                  <a:pt x="3500247" y="360934"/>
                </a:lnTo>
                <a:lnTo>
                  <a:pt x="3484245" y="329438"/>
                </a:lnTo>
                <a:lnTo>
                  <a:pt x="3474339" y="313944"/>
                </a:lnTo>
                <a:lnTo>
                  <a:pt x="3463416" y="298704"/>
                </a:lnTo>
                <a:lnTo>
                  <a:pt x="3451098" y="283591"/>
                </a:lnTo>
                <a:lnTo>
                  <a:pt x="3437763" y="268605"/>
                </a:lnTo>
                <a:lnTo>
                  <a:pt x="3423157" y="253873"/>
                </a:lnTo>
                <a:lnTo>
                  <a:pt x="3407410" y="239268"/>
                </a:lnTo>
                <a:lnTo>
                  <a:pt x="3390646" y="224917"/>
                </a:lnTo>
                <a:lnTo>
                  <a:pt x="3372739" y="210693"/>
                </a:lnTo>
                <a:lnTo>
                  <a:pt x="3353689" y="196723"/>
                </a:lnTo>
                <a:lnTo>
                  <a:pt x="3333368" y="182880"/>
                </a:lnTo>
                <a:lnTo>
                  <a:pt x="3312160" y="169418"/>
                </a:lnTo>
                <a:lnTo>
                  <a:pt x="3289807" y="155956"/>
                </a:lnTo>
                <a:lnTo>
                  <a:pt x="3266440" y="142748"/>
                </a:lnTo>
                <a:lnTo>
                  <a:pt x="3241929" y="129794"/>
                </a:lnTo>
                <a:lnTo>
                  <a:pt x="3216402" y="116967"/>
                </a:lnTo>
                <a:lnTo>
                  <a:pt x="3189859" y="104521"/>
                </a:lnTo>
                <a:lnTo>
                  <a:pt x="3162172" y="92202"/>
                </a:lnTo>
                <a:lnTo>
                  <a:pt x="3133597" y="80010"/>
                </a:lnTo>
                <a:lnTo>
                  <a:pt x="3104007" y="68199"/>
                </a:lnTo>
                <a:lnTo>
                  <a:pt x="3073272" y="56642"/>
                </a:lnTo>
                <a:lnTo>
                  <a:pt x="3041650" y="45339"/>
                </a:lnTo>
                <a:lnTo>
                  <a:pt x="3008884" y="34290"/>
                </a:lnTo>
                <a:lnTo>
                  <a:pt x="2988794" y="27946"/>
                </a:lnTo>
                <a:lnTo>
                  <a:pt x="2975102" y="23622"/>
                </a:lnTo>
                <a:lnTo>
                  <a:pt x="2966466" y="51308"/>
                </a:lnTo>
                <a:lnTo>
                  <a:pt x="2980455" y="55673"/>
                </a:lnTo>
                <a:lnTo>
                  <a:pt x="3000247" y="61849"/>
                </a:lnTo>
                <a:lnTo>
                  <a:pt x="3032379" y="72771"/>
                </a:lnTo>
                <a:lnTo>
                  <a:pt x="3063494" y="83947"/>
                </a:lnTo>
                <a:lnTo>
                  <a:pt x="3093720" y="95377"/>
                </a:lnTo>
                <a:lnTo>
                  <a:pt x="3122803" y="106934"/>
                </a:lnTo>
                <a:lnTo>
                  <a:pt x="3150997" y="118872"/>
                </a:lnTo>
                <a:lnTo>
                  <a:pt x="3178047" y="130937"/>
                </a:lnTo>
                <a:lnTo>
                  <a:pt x="3204083" y="143129"/>
                </a:lnTo>
                <a:lnTo>
                  <a:pt x="3228975" y="155702"/>
                </a:lnTo>
                <a:lnTo>
                  <a:pt x="3252851" y="168275"/>
                </a:lnTo>
                <a:lnTo>
                  <a:pt x="3275584" y="181102"/>
                </a:lnTo>
                <a:lnTo>
                  <a:pt x="3297174" y="194183"/>
                </a:lnTo>
                <a:lnTo>
                  <a:pt x="3317875" y="207391"/>
                </a:lnTo>
                <a:lnTo>
                  <a:pt x="3337305" y="220599"/>
                </a:lnTo>
                <a:lnTo>
                  <a:pt x="3355593" y="234061"/>
                </a:lnTo>
                <a:lnTo>
                  <a:pt x="3372612" y="247650"/>
                </a:lnTo>
                <a:lnTo>
                  <a:pt x="3388614" y="261239"/>
                </a:lnTo>
                <a:lnTo>
                  <a:pt x="3403600" y="275082"/>
                </a:lnTo>
                <a:lnTo>
                  <a:pt x="3417189" y="288925"/>
                </a:lnTo>
                <a:lnTo>
                  <a:pt x="3429507" y="302895"/>
                </a:lnTo>
                <a:lnTo>
                  <a:pt x="3440938" y="316992"/>
                </a:lnTo>
                <a:close/>
              </a:path>
              <a:path w="3496310" h="1021714">
                <a:moveTo>
                  <a:pt x="3480435" y="495427"/>
                </a:moveTo>
                <a:lnTo>
                  <a:pt x="3479800" y="497332"/>
                </a:lnTo>
                <a:lnTo>
                  <a:pt x="3480180" y="563753"/>
                </a:lnTo>
                <a:lnTo>
                  <a:pt x="3496310" y="534162"/>
                </a:lnTo>
                <a:lnTo>
                  <a:pt x="3486150" y="470916"/>
                </a:lnTo>
                <a:lnTo>
                  <a:pt x="3480435" y="495427"/>
                </a:lnTo>
                <a:close/>
              </a:path>
              <a:path w="3496310" h="1021714">
                <a:moveTo>
                  <a:pt x="38100" y="565150"/>
                </a:moveTo>
                <a:lnTo>
                  <a:pt x="36956" y="495427"/>
                </a:lnTo>
                <a:lnTo>
                  <a:pt x="31241" y="470916"/>
                </a:lnTo>
                <a:lnTo>
                  <a:pt x="30860" y="468757"/>
                </a:lnTo>
                <a:lnTo>
                  <a:pt x="21843" y="535940"/>
                </a:lnTo>
                <a:lnTo>
                  <a:pt x="38100" y="565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14722" y="5515229"/>
            <a:ext cx="739140" cy="355803"/>
          </a:xfrm>
          <a:custGeom>
            <a:avLst/>
            <a:gdLst/>
            <a:ahLst/>
            <a:cxnLst/>
            <a:rect l="l" t="t" r="r" b="b"/>
            <a:pathLst>
              <a:path w="739139" h="355803">
                <a:moveTo>
                  <a:pt x="71755" y="335622"/>
                </a:moveTo>
                <a:lnTo>
                  <a:pt x="59563" y="309346"/>
                </a:lnTo>
                <a:lnTo>
                  <a:pt x="0" y="352933"/>
                </a:lnTo>
                <a:lnTo>
                  <a:pt x="97028" y="355803"/>
                </a:lnTo>
                <a:lnTo>
                  <a:pt x="71755" y="335622"/>
                </a:lnTo>
                <a:close/>
              </a:path>
              <a:path w="739139" h="355803">
                <a:moveTo>
                  <a:pt x="97028" y="355803"/>
                </a:moveTo>
                <a:lnTo>
                  <a:pt x="84880" y="329536"/>
                </a:lnTo>
                <a:lnTo>
                  <a:pt x="739140" y="26162"/>
                </a:lnTo>
                <a:lnTo>
                  <a:pt x="726948" y="0"/>
                </a:lnTo>
                <a:lnTo>
                  <a:pt x="72722" y="303246"/>
                </a:lnTo>
                <a:lnTo>
                  <a:pt x="60579" y="276987"/>
                </a:lnTo>
                <a:lnTo>
                  <a:pt x="0" y="352933"/>
                </a:lnTo>
                <a:lnTo>
                  <a:pt x="59563" y="309346"/>
                </a:lnTo>
                <a:lnTo>
                  <a:pt x="71755" y="335622"/>
                </a:lnTo>
                <a:lnTo>
                  <a:pt x="97028" y="3558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1670" y="5531866"/>
            <a:ext cx="600456" cy="289242"/>
          </a:xfrm>
          <a:custGeom>
            <a:avLst/>
            <a:gdLst/>
            <a:ahLst/>
            <a:cxnLst/>
            <a:rect l="l" t="t" r="r" b="b"/>
            <a:pathLst>
              <a:path w="600455" h="289242">
                <a:moveTo>
                  <a:pt x="528573" y="268960"/>
                </a:moveTo>
                <a:lnTo>
                  <a:pt x="515480" y="262952"/>
                </a:lnTo>
                <a:lnTo>
                  <a:pt x="503427" y="289242"/>
                </a:lnTo>
                <a:lnTo>
                  <a:pt x="600455" y="286004"/>
                </a:lnTo>
                <a:lnTo>
                  <a:pt x="528573" y="268960"/>
                </a:lnTo>
                <a:close/>
              </a:path>
              <a:path w="600455" h="289242">
                <a:moveTo>
                  <a:pt x="540638" y="242646"/>
                </a:moveTo>
                <a:lnTo>
                  <a:pt x="539622" y="210286"/>
                </a:lnTo>
                <a:lnTo>
                  <a:pt x="527544" y="236633"/>
                </a:lnTo>
                <a:lnTo>
                  <a:pt x="540638" y="242646"/>
                </a:lnTo>
                <a:close/>
              </a:path>
              <a:path w="600455" h="289242">
                <a:moveTo>
                  <a:pt x="12191" y="0"/>
                </a:moveTo>
                <a:lnTo>
                  <a:pt x="0" y="26416"/>
                </a:lnTo>
                <a:lnTo>
                  <a:pt x="515480" y="262952"/>
                </a:lnTo>
                <a:lnTo>
                  <a:pt x="528573" y="268960"/>
                </a:lnTo>
                <a:lnTo>
                  <a:pt x="600455" y="286004"/>
                </a:lnTo>
                <a:lnTo>
                  <a:pt x="539622" y="210286"/>
                </a:lnTo>
                <a:lnTo>
                  <a:pt x="540638" y="242646"/>
                </a:lnTo>
                <a:lnTo>
                  <a:pt x="527544" y="236633"/>
                </a:lnTo>
                <a:lnTo>
                  <a:pt x="121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8" y="3429000"/>
            <a:ext cx="9576816" cy="2927604"/>
          </a:xfrm>
          <a:custGeom>
            <a:avLst/>
            <a:gdLst/>
            <a:ahLst/>
            <a:cxnLst/>
            <a:rect l="l" t="t" r="r" b="b"/>
            <a:pathLst>
              <a:path w="9576816" h="2927604">
                <a:moveTo>
                  <a:pt x="0" y="2927604"/>
                </a:moveTo>
                <a:lnTo>
                  <a:pt x="9576816" y="2927604"/>
                </a:lnTo>
                <a:lnTo>
                  <a:pt x="9576816" y="0"/>
                </a:lnTo>
                <a:lnTo>
                  <a:pt x="0" y="0"/>
                </a:lnTo>
                <a:lnTo>
                  <a:pt x="0" y="2927604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9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40" y="1012662"/>
            <a:ext cx="7875073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10" dirty="0">
                <a:solidFill>
                  <a:srgbClr val="FFFFFF"/>
                </a:solidFill>
                <a:latin typeface="Century Gothic"/>
                <a:cs typeface="Century Gothic"/>
              </a:rPr>
              <a:t>PENANGANAN BLOCKED CALLS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240288"/>
            <a:ext cx="10517572" cy="988568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Penanganan block call menentukan model yang akan dipilih karena</a:t>
            </a:r>
            <a:endParaRPr sz="2400">
              <a:latin typeface="Century Gothic"/>
              <a:cs typeface="Century Gothic"/>
            </a:endParaRPr>
          </a:p>
          <a:p>
            <a:pPr marL="241300" marR="46180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penanganan block call yang berbeda menghasilkan beban trafik</a:t>
            </a:r>
            <a:endParaRPr sz="2400">
              <a:latin typeface="Century Gothic"/>
              <a:cs typeface="Century Gothic"/>
            </a:endParaRPr>
          </a:p>
          <a:p>
            <a:pPr marL="241300" marR="46180">
              <a:lnSpc>
                <a:spcPts val="2590"/>
              </a:lnSpc>
            </a:pP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yang berbeda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09828" y="3429000"/>
            <a:ext cx="9576816" cy="2927604"/>
          </a:xfrm>
          <a:prstGeom prst="rect">
            <a:avLst/>
          </a:prstGeom>
        </p:spPr>
        <p:txBody>
          <a:bodyPr wrap="square" lIns="0" tIns="10300" rIns="0" bIns="0" rtlCol="0">
            <a:noAutofit/>
          </a:bodyPr>
          <a:lstStyle/>
          <a:p>
            <a:pPr>
              <a:lnSpc>
                <a:spcPts val="1400"/>
              </a:lnSpc>
            </a:pPr>
            <a:endParaRPr sz="1400"/>
          </a:p>
          <a:p>
            <a:pPr marR="1621852" algn="r">
              <a:lnSpc>
                <a:spcPts val="2670"/>
              </a:lnSpc>
              <a:spcBef>
                <a:spcPts val="133"/>
              </a:spcBef>
            </a:pPr>
            <a:r>
              <a:rPr sz="2200" i="1" spc="-7" dirty="0">
                <a:solidFill>
                  <a:srgbClr val="FFFFFF"/>
                </a:solidFill>
                <a:latin typeface="Century Gothic"/>
                <a:cs typeface="Century Gothic"/>
              </a:rPr>
              <a:t>Trunk</a:t>
            </a:r>
            <a:endParaRPr sz="2200">
              <a:latin typeface="Century Gothic"/>
              <a:cs typeface="Century Gothic"/>
            </a:endParaRPr>
          </a:p>
          <a:p>
            <a:pPr marL="230428">
              <a:lnSpc>
                <a:spcPts val="3535"/>
              </a:lnSpc>
              <a:spcBef>
                <a:spcPts val="43"/>
              </a:spcBef>
            </a:pPr>
            <a:r>
              <a:rPr sz="3300" spc="0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F=f</a:t>
            </a:r>
            <a:r>
              <a:rPr sz="3300" spc="14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3300" spc="0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rst</a:t>
            </a:r>
            <a:r>
              <a:rPr sz="3300" spc="-27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3300" spc="0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3300" spc="9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tt</a:t>
            </a:r>
            <a:r>
              <a:rPr sz="3300" spc="0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em</a:t>
            </a:r>
            <a:r>
              <a:rPr sz="3300" spc="4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p</a:t>
            </a:r>
            <a:r>
              <a:rPr sz="3300" spc="0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t             </a:t>
            </a:r>
            <a:r>
              <a:rPr sz="3300" spc="504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3300" spc="0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O=of</a:t>
            </a:r>
            <a:r>
              <a:rPr sz="3300" spc="-9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3300" spc="0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ered                      </a:t>
            </a:r>
            <a:r>
              <a:rPr sz="3300" spc="606" baseline="25951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00" spc="0" dirty="0">
                <a:solidFill>
                  <a:srgbClr val="FFFFFF"/>
                </a:solidFill>
                <a:latin typeface="Century Gothic"/>
                <a:cs typeface="Century Gothic"/>
              </a:rPr>
              <a:t>C=carr</a:t>
            </a:r>
            <a:r>
              <a:rPr sz="22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200" spc="0" dirty="0">
                <a:solidFill>
                  <a:srgbClr val="FFFFFF"/>
                </a:solidFill>
                <a:latin typeface="Century Gothic"/>
                <a:cs typeface="Century Gothic"/>
              </a:rPr>
              <a:t>ed</a:t>
            </a:r>
            <a:r>
              <a:rPr sz="2200" spc="-97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00" spc="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200" spc="0" dirty="0">
                <a:solidFill>
                  <a:srgbClr val="FFFFFF"/>
                </a:solidFill>
                <a:latin typeface="Century Gothic"/>
                <a:cs typeface="Century Gothic"/>
              </a:rPr>
              <a:t>raf</a:t>
            </a:r>
            <a:r>
              <a:rPr sz="2200" spc="-9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200" spc="1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200" spc="0" dirty="0">
                <a:solidFill>
                  <a:srgbClr val="FFFFFF"/>
                </a:solidFill>
                <a:latin typeface="Century Gothic"/>
                <a:cs typeface="Century Gothic"/>
              </a:rPr>
              <a:t>c</a:t>
            </a:r>
            <a:endParaRPr sz="2200">
              <a:latin typeface="Century Gothic"/>
              <a:cs typeface="Century Gothic"/>
            </a:endParaRPr>
          </a:p>
          <a:p>
            <a:pPr marL="1612138">
              <a:lnSpc>
                <a:spcPct val="102172"/>
              </a:lnSpc>
              <a:spcBef>
                <a:spcPts val="2043"/>
              </a:spcBef>
            </a:pPr>
            <a:r>
              <a:rPr sz="2200" spc="-2" dirty="0">
                <a:solidFill>
                  <a:srgbClr val="FFFFFF"/>
                </a:solidFill>
                <a:latin typeface="Century Gothic"/>
                <a:cs typeface="Century Gothic"/>
              </a:rPr>
              <a:t>Call held</a:t>
            </a:r>
            <a:endParaRPr sz="2200">
              <a:latin typeface="Century Gothic"/>
              <a:cs typeface="Century Gothic"/>
            </a:endParaRPr>
          </a:p>
          <a:p>
            <a:pPr marL="2151253">
              <a:lnSpc>
                <a:spcPts val="2697"/>
              </a:lnSpc>
              <a:spcBef>
                <a:spcPts val="4606"/>
              </a:spcBef>
            </a:pPr>
            <a:r>
              <a:rPr sz="2200" spc="0" dirty="0">
                <a:solidFill>
                  <a:srgbClr val="FFFFFF"/>
                </a:solidFill>
                <a:latin typeface="Century Gothic"/>
                <a:cs typeface="Century Gothic"/>
              </a:rPr>
              <a:t>Ca</a:t>
            </a:r>
            <a:r>
              <a:rPr sz="2200" spc="4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200" spc="0" dirty="0">
                <a:solidFill>
                  <a:srgbClr val="FFFFFF"/>
                </a:solidFill>
                <a:latin typeface="Century Gothic"/>
                <a:cs typeface="Century Gothic"/>
              </a:rPr>
              <a:t>ls</a:t>
            </a:r>
            <a:r>
              <a:rPr sz="2200" spc="-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00" spc="-9" dirty="0">
                <a:solidFill>
                  <a:srgbClr val="FFFFFF"/>
                </a:solidFill>
                <a:latin typeface="Century Gothic"/>
                <a:cs typeface="Century Gothic"/>
              </a:rPr>
              <a:t>c</a:t>
            </a:r>
            <a:r>
              <a:rPr sz="2200" spc="0" dirty="0">
                <a:solidFill>
                  <a:srgbClr val="FFFFFF"/>
                </a:solidFill>
                <a:latin typeface="Century Gothic"/>
                <a:cs typeface="Century Gothic"/>
              </a:rPr>
              <a:t>leared                    </a:t>
            </a:r>
            <a:r>
              <a:rPr sz="2200" spc="588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3300" spc="0" baseline="8650" dirty="0">
                <a:solidFill>
                  <a:srgbClr val="FFFFFF"/>
                </a:solidFill>
                <a:latin typeface="Century Gothic"/>
                <a:cs typeface="Century Gothic"/>
              </a:rPr>
              <a:t>Ca</a:t>
            </a:r>
            <a:r>
              <a:rPr sz="3300" spc="4" baseline="8650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3300" spc="0" baseline="8650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3300" spc="-41" baseline="86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3300" spc="-9" baseline="865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3300" spc="0" baseline="8650" dirty="0">
                <a:solidFill>
                  <a:srgbClr val="FFFFFF"/>
                </a:solidFill>
                <a:latin typeface="Century Gothic"/>
                <a:cs typeface="Century Gothic"/>
              </a:rPr>
              <a:t>ela</a:t>
            </a:r>
            <a:r>
              <a:rPr sz="3300" spc="-4" baseline="8650" dirty="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sz="3300" spc="0" baseline="8650" dirty="0">
                <a:solidFill>
                  <a:srgbClr val="FFFFFF"/>
                </a:solidFill>
                <a:latin typeface="Century Gothic"/>
                <a:cs typeface="Century Gothic"/>
              </a:rPr>
              <a:t>ed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8568" y="1018758"/>
            <a:ext cx="6020204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12" dirty="0">
                <a:solidFill>
                  <a:srgbClr val="FFFFFF"/>
                </a:solidFill>
                <a:latin typeface="Century Gothic"/>
                <a:cs typeface="Century Gothic"/>
              </a:rPr>
              <a:t>MODEL BLOCKED CALLS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260" y="2241700"/>
            <a:ext cx="376558" cy="1403150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>
              <a:lnSpc>
                <a:spcPts val="3010"/>
              </a:lnSpc>
            </a:pP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1.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448"/>
              </a:spcBef>
            </a:pP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2.</a:t>
            </a:r>
            <a:endParaRPr sz="2800">
              <a:latin typeface="Century Gothic"/>
              <a:cs typeface="Century Gothic"/>
            </a:endParaRPr>
          </a:p>
          <a:p>
            <a:pPr marL="12700" marR="33">
              <a:lnSpc>
                <a:spcPts val="3420"/>
              </a:lnSpc>
              <a:spcBef>
                <a:spcPts val="757"/>
              </a:spcBef>
            </a:pP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3.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5372" y="2241700"/>
            <a:ext cx="1481299" cy="1403150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12134">
              <a:lnSpc>
                <a:spcPts val="3010"/>
              </a:lnSpc>
            </a:pPr>
            <a:r>
              <a:rPr sz="2800" spc="1" dirty="0">
                <a:solidFill>
                  <a:srgbClr val="FFFFFF"/>
                </a:solidFill>
                <a:latin typeface="Century Gothic"/>
                <a:cs typeface="Century Gothic"/>
              </a:rPr>
              <a:t>Blocked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448"/>
              </a:spcBef>
            </a:pPr>
            <a:r>
              <a:rPr sz="2800" spc="1" dirty="0">
                <a:solidFill>
                  <a:srgbClr val="FFFFFF"/>
                </a:solidFill>
                <a:latin typeface="Century Gothic"/>
                <a:cs typeface="Century Gothic"/>
              </a:rPr>
              <a:t>Blocked</a:t>
            </a:r>
            <a:endParaRPr sz="2800">
              <a:latin typeface="Century Gothic"/>
              <a:cs typeface="Century Gothic"/>
            </a:endParaRPr>
          </a:p>
          <a:p>
            <a:pPr marL="12700" marR="11251">
              <a:lnSpc>
                <a:spcPts val="3420"/>
              </a:lnSpc>
              <a:spcBef>
                <a:spcPts val="757"/>
              </a:spcBef>
            </a:pP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Blocked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4273" y="2241700"/>
            <a:ext cx="902959" cy="1403150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12134">
              <a:lnSpc>
                <a:spcPts val="3010"/>
              </a:lnSpc>
            </a:pP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Calls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448"/>
              </a:spcBef>
            </a:pP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Calls</a:t>
            </a:r>
            <a:endParaRPr sz="2800">
              <a:latin typeface="Century Gothic"/>
              <a:cs typeface="Century Gothic"/>
            </a:endParaRPr>
          </a:p>
          <a:p>
            <a:pPr marL="13622" marR="11891">
              <a:lnSpc>
                <a:spcPts val="3420"/>
              </a:lnSpc>
              <a:spcBef>
                <a:spcPts val="757"/>
              </a:spcBef>
            </a:pP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Calls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6076" y="2241700"/>
            <a:ext cx="2637648" cy="1403150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72">
              <a:lnSpc>
                <a:spcPts val="3010"/>
              </a:lnSpc>
            </a:pPr>
            <a:r>
              <a:rPr sz="2800" spc="-6" dirty="0">
                <a:solidFill>
                  <a:srgbClr val="FFFFFF"/>
                </a:solidFill>
                <a:latin typeface="Century Gothic"/>
                <a:cs typeface="Century Gothic"/>
              </a:rPr>
              <a:t>Cleared (BCC)</a:t>
            </a:r>
            <a:endParaRPr sz="2800">
              <a:latin typeface="Century Gothic"/>
              <a:cs typeface="Century Gothic"/>
            </a:endParaRPr>
          </a:p>
          <a:p>
            <a:pPr marL="12772" marR="53263">
              <a:lnSpc>
                <a:spcPct val="102172"/>
              </a:lnSpc>
              <a:spcBef>
                <a:spcPts val="448"/>
              </a:spcBef>
            </a:pPr>
            <a:r>
              <a:rPr sz="2800" spc="-4" dirty="0">
                <a:solidFill>
                  <a:srgbClr val="FFFFFF"/>
                </a:solidFill>
                <a:latin typeface="Century Gothic"/>
                <a:cs typeface="Century Gothic"/>
              </a:rPr>
              <a:t>Held (BCH)</a:t>
            </a:r>
            <a:endParaRPr sz="2800">
              <a:latin typeface="Century Gothic"/>
              <a:cs typeface="Century Gothic"/>
            </a:endParaRPr>
          </a:p>
          <a:p>
            <a:pPr marL="12700" marR="53263">
              <a:lnSpc>
                <a:spcPts val="3420"/>
              </a:lnSpc>
              <a:spcBef>
                <a:spcPts val="757"/>
              </a:spcBef>
            </a:pPr>
            <a:r>
              <a:rPr sz="2800" spc="-6" dirty="0">
                <a:solidFill>
                  <a:srgbClr val="FFFFFF"/>
                </a:solidFill>
                <a:latin typeface="Century Gothic"/>
                <a:cs typeface="Century Gothic"/>
              </a:rPr>
              <a:t>Wait (BCW)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5105" y="1451181"/>
            <a:ext cx="7813722" cy="482904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1. BLOCKED CALLS CLEARED (BCC)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6032" y="2692953"/>
            <a:ext cx="202946" cy="380492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3182" y="2689375"/>
            <a:ext cx="7713760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Blocked Calls </a:t>
            </a:r>
            <a:r>
              <a:rPr sz="2800" u="heavy" spc="-25" dirty="0">
                <a:solidFill>
                  <a:srgbClr val="FFFFFF"/>
                </a:solidFill>
                <a:latin typeface="Century Gothic"/>
                <a:cs typeface="Century Gothic"/>
              </a:rPr>
              <a:t>meninggalkan sistim </a:t>
            </a: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 dan </a:t>
            </a:r>
            <a:r>
              <a:rPr sz="2800" u="heavy" spc="-25" dirty="0">
                <a:solidFill>
                  <a:srgbClr val="FFFFFF"/>
                </a:solidFill>
                <a:latin typeface="Century Gothic"/>
                <a:cs typeface="Century Gothic"/>
              </a:rPr>
              <a:t>tidak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3182" y="3073423"/>
            <a:ext cx="2897033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u="heavy" spc="-5" dirty="0">
                <a:solidFill>
                  <a:srgbClr val="FFFFFF"/>
                </a:solidFill>
                <a:latin typeface="Century Gothic"/>
                <a:cs typeface="Century Gothic"/>
              </a:rPr>
              <a:t>dilayani kembali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6032" y="3546393"/>
            <a:ext cx="202946" cy="380491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3182" y="3542815"/>
            <a:ext cx="7962542" cy="1148968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>
              <a:lnSpc>
                <a:spcPts val="3010"/>
              </a:lnSpc>
            </a:pPr>
            <a:r>
              <a:rPr sz="2800" spc="-6" dirty="0">
                <a:solidFill>
                  <a:srgbClr val="FFFFFF"/>
                </a:solidFill>
                <a:latin typeface="Century Gothic"/>
                <a:cs typeface="Century Gothic"/>
              </a:rPr>
              <a:t>Model pendekatan BCC ini cocok digunakan</a:t>
            </a:r>
            <a:endParaRPr sz="2800">
              <a:latin typeface="Century Gothic"/>
              <a:cs typeface="Century Gothic"/>
            </a:endParaRPr>
          </a:p>
          <a:p>
            <a:pPr marL="12700" marR="53263">
              <a:lnSpc>
                <a:spcPts val="3025"/>
              </a:lnSpc>
              <a:spcBef>
                <a:spcPts val="0"/>
              </a:spcBef>
            </a:pP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pada call-call yang diletakkan pada </a:t>
            </a:r>
            <a:r>
              <a:rPr sz="2800" u="heavy" spc="-2" dirty="0">
                <a:solidFill>
                  <a:srgbClr val="FFFFFF"/>
                </a:solidFill>
                <a:latin typeface="Century Gothic"/>
                <a:cs typeface="Century Gothic"/>
              </a:rPr>
              <a:t>pilihan</a:t>
            </a:r>
            <a:endParaRPr sz="2800">
              <a:latin typeface="Century Gothic"/>
              <a:cs typeface="Century Gothic"/>
            </a:endParaRPr>
          </a:p>
          <a:p>
            <a:pPr marL="12700" marR="53263">
              <a:lnSpc>
                <a:spcPts val="3015"/>
              </a:lnSpc>
            </a:pPr>
            <a:r>
              <a:rPr sz="2800" u="heavy" spc="-5" dirty="0">
                <a:solidFill>
                  <a:srgbClr val="FFFFFF"/>
                </a:solidFill>
                <a:latin typeface="Century Gothic"/>
                <a:cs typeface="Century Gothic"/>
              </a:rPr>
              <a:t>pertama trunk grup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96439" y="2853690"/>
            <a:ext cx="10336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7472976" y="2853690"/>
            <a:ext cx="9825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946863" y="3237738"/>
            <a:ext cx="9834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114212" y="4475607"/>
            <a:ext cx="10168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053689" y="4475607"/>
            <a:ext cx="9832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object 141"/>
          <p:cNvSpPr txBox="1"/>
          <p:nvPr/>
        </p:nvSpPr>
        <p:spPr>
          <a:xfrm>
            <a:off x="4416298" y="4999482"/>
            <a:ext cx="813307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704844" y="4703064"/>
            <a:ext cx="4191000" cy="685800"/>
          </a:xfrm>
          <a:prstGeom prst="rect">
            <a:avLst/>
          </a:prstGeom>
        </p:spPr>
        <p:txBody>
          <a:bodyPr wrap="square" lIns="0" tIns="2514" rIns="0" bIns="0" rtlCol="0">
            <a:noAutofit/>
          </a:bodyPr>
          <a:lstStyle/>
          <a:p>
            <a:pPr>
              <a:lnSpc>
                <a:spcPts val="950"/>
              </a:lnSpc>
            </a:pPr>
            <a:endParaRPr sz="950"/>
          </a:p>
          <a:p>
            <a:pPr marL="1092707">
              <a:lnSpc>
                <a:spcPct val="102172"/>
              </a:lnSpc>
              <a:spcBef>
                <a:spcPts val="2000"/>
              </a:spcBef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3705605" y="2722626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3705605" y="2036826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4090416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4468368" y="2722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4846320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233416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609844" y="2722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989320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371844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752844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7132320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7519416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4086605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EF522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4086605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229606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229606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705605" y="3637026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705605" y="2951226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090416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468368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846320" y="36370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233416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609844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989320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371844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752844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132320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7519416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467606" y="32560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B8B4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467606" y="32560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372606" y="32560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38A5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372606" y="32560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3704844" y="1845564"/>
            <a:ext cx="3810000" cy="76200"/>
          </a:xfrm>
          <a:custGeom>
            <a:avLst/>
            <a:gdLst/>
            <a:ahLst/>
            <a:cxnLst/>
            <a:rect l="l" t="t" r="r" b="b"/>
            <a:pathLst>
              <a:path w="3810000" h="76200">
                <a:moveTo>
                  <a:pt x="63500" y="31750"/>
                </a:moveTo>
                <a:lnTo>
                  <a:pt x="63500" y="44450"/>
                </a:lnTo>
                <a:lnTo>
                  <a:pt x="3746500" y="44450"/>
                </a:lnTo>
                <a:lnTo>
                  <a:pt x="3810000" y="38100"/>
                </a:lnTo>
                <a:lnTo>
                  <a:pt x="3733800" y="0"/>
                </a:lnTo>
                <a:lnTo>
                  <a:pt x="3746500" y="31750"/>
                </a:lnTo>
                <a:lnTo>
                  <a:pt x="63500" y="31750"/>
                </a:lnTo>
                <a:close/>
              </a:path>
              <a:path w="3810000" h="76200">
                <a:moveTo>
                  <a:pt x="3746500" y="44450"/>
                </a:moveTo>
                <a:lnTo>
                  <a:pt x="3733799" y="44449"/>
                </a:lnTo>
                <a:lnTo>
                  <a:pt x="3733800" y="76200"/>
                </a:lnTo>
                <a:lnTo>
                  <a:pt x="3810000" y="38100"/>
                </a:lnTo>
                <a:lnTo>
                  <a:pt x="3746500" y="44450"/>
                </a:lnTo>
                <a:close/>
              </a:path>
              <a:path w="3810000" h="76200">
                <a:moveTo>
                  <a:pt x="3746500" y="31750"/>
                </a:moveTo>
                <a:lnTo>
                  <a:pt x="3733800" y="0"/>
                </a:lnTo>
                <a:lnTo>
                  <a:pt x="3733799" y="31749"/>
                </a:lnTo>
                <a:lnTo>
                  <a:pt x="3746500" y="31750"/>
                </a:lnTo>
                <a:close/>
              </a:path>
              <a:path w="3810000" h="76200">
                <a:moveTo>
                  <a:pt x="76200" y="31749"/>
                </a:move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199" y="44449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705605" y="5391912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705605" y="4694682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090416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468368" y="5380482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8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846320" y="5380482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8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233416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609844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989320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371844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752844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132320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519416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086605" y="4999482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467606" y="4999482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704844" y="4703064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0" y="685800"/>
                </a:moveTo>
                <a:lnTo>
                  <a:pt x="4191000" y="685800"/>
                </a:lnTo>
                <a:lnTo>
                  <a:pt x="41910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705605" y="5389626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705605" y="4703826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090416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468368" y="5389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846320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233416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609844" y="5389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989320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371844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752844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132320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519416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086605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EF522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086605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229606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229606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372606" y="50086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38A5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372606" y="50086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257044" y="2231136"/>
            <a:ext cx="153924" cy="1328928"/>
          </a:xfrm>
          <a:custGeom>
            <a:avLst/>
            <a:gdLst/>
            <a:ahLst/>
            <a:cxnLst/>
            <a:rect l="l" t="t" r="r" b="b"/>
            <a:pathLst>
              <a:path w="153924" h="1328927">
                <a:moveTo>
                  <a:pt x="153924" y="1328927"/>
                </a:moveTo>
                <a:lnTo>
                  <a:pt x="115864" y="1327259"/>
                </a:lnTo>
                <a:lnTo>
                  <a:pt x="88415" y="1322851"/>
                </a:lnTo>
                <a:lnTo>
                  <a:pt x="76962" y="1316100"/>
                </a:lnTo>
                <a:lnTo>
                  <a:pt x="76962" y="677290"/>
                </a:lnTo>
                <a:lnTo>
                  <a:pt x="74339" y="673947"/>
                </a:lnTo>
                <a:lnTo>
                  <a:pt x="66926" y="670938"/>
                </a:lnTo>
                <a:lnTo>
                  <a:pt x="55402" y="668374"/>
                </a:lnTo>
                <a:lnTo>
                  <a:pt x="40448" y="666367"/>
                </a:lnTo>
                <a:lnTo>
                  <a:pt x="22743" y="665030"/>
                </a:lnTo>
                <a:lnTo>
                  <a:pt x="2969" y="664473"/>
                </a:lnTo>
                <a:lnTo>
                  <a:pt x="0" y="664463"/>
                </a:lnTo>
                <a:lnTo>
                  <a:pt x="20015" y="664028"/>
                </a:lnTo>
                <a:lnTo>
                  <a:pt x="53450" y="660878"/>
                </a:lnTo>
                <a:lnTo>
                  <a:pt x="76905" y="652133"/>
                </a:lnTo>
                <a:lnTo>
                  <a:pt x="76962" y="651636"/>
                </a:lnTo>
                <a:lnTo>
                  <a:pt x="76962" y="12826"/>
                </a:lnTo>
                <a:lnTo>
                  <a:pt x="79584" y="9483"/>
                </a:lnTo>
                <a:lnTo>
                  <a:pt x="86997" y="6474"/>
                </a:lnTo>
                <a:lnTo>
                  <a:pt x="98521" y="3910"/>
                </a:lnTo>
                <a:lnTo>
                  <a:pt x="113475" y="1903"/>
                </a:lnTo>
                <a:lnTo>
                  <a:pt x="131180" y="566"/>
                </a:lnTo>
                <a:lnTo>
                  <a:pt x="150954" y="9"/>
                </a:lnTo>
                <a:lnTo>
                  <a:pt x="153924" y="0"/>
                </a:lnTo>
              </a:path>
            </a:pathLst>
          </a:custGeom>
          <a:ln w="9144">
            <a:solidFill>
              <a:srgbClr val="DADAD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4725162" y="618637"/>
            <a:ext cx="1458795" cy="1303021"/>
          </a:xfrm>
          <a:prstGeom prst="rect">
            <a:avLst/>
          </a:prstGeom>
        </p:spPr>
        <p:txBody>
          <a:bodyPr wrap="square" lIns="0" tIns="32353" rIns="0" bIns="0" rtlCol="0">
            <a:noAutofit/>
          </a:bodyPr>
          <a:lstStyle/>
          <a:p>
            <a:pPr marL="12700">
              <a:lnSpc>
                <a:spcPts val="5095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BCC</a:t>
            </a:r>
            <a:endParaRPr sz="4800">
              <a:latin typeface="Century Gothic"/>
              <a:cs typeface="Century Gothic"/>
            </a:endParaRPr>
          </a:p>
          <a:p>
            <a:pPr marL="367157" marR="91485">
              <a:lnSpc>
                <a:spcPct val="102172"/>
              </a:lnSpc>
              <a:spcBef>
                <a:spcPts val="3148"/>
              </a:spcBef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10 minutes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445258" y="2175531"/>
            <a:ext cx="1243708" cy="523747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62140" marR="174763" algn="ctr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Source #1</a:t>
            </a:r>
            <a:endParaRPr sz="1400">
              <a:latin typeface="Century Gothic"/>
              <a:cs typeface="Century Gothic"/>
            </a:endParaRPr>
          </a:p>
          <a:p>
            <a:pPr algn="ctr">
              <a:lnSpc>
                <a:spcPct val="102172"/>
              </a:lnSpc>
              <a:spcBef>
                <a:spcPts val="725"/>
              </a:spcBef>
            </a:pPr>
            <a:r>
              <a:rPr sz="14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Offered Traffic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32738" y="2614062"/>
            <a:ext cx="863308" cy="203707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u="heavy" spc="-1" dirty="0">
                <a:solidFill>
                  <a:srgbClr val="FFFFFF"/>
                </a:solidFill>
                <a:latin typeface="Century Gothic"/>
                <a:cs typeface="Century Gothic"/>
              </a:rPr>
              <a:t>2 sources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128254" y="2708931"/>
            <a:ext cx="1760061" cy="747768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Total Traffic Offered:</a:t>
            </a:r>
            <a:endParaRPr sz="1400">
              <a:latin typeface="Century Gothic"/>
              <a:cs typeface="Century Gothic"/>
            </a:endParaRPr>
          </a:p>
          <a:p>
            <a:pPr marL="12700" marR="345781">
              <a:lnSpc>
                <a:spcPts val="1598"/>
              </a:lnSpc>
              <a:spcBef>
                <a:spcPts val="221"/>
              </a:spcBef>
            </a:pPr>
            <a:r>
              <a:rPr sz="1400" b="1" spc="5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425" b="1" spc="5" baseline="-20032" dirty="0">
                <a:solidFill>
                  <a:srgbClr val="FFFFFF"/>
                </a:solidFill>
                <a:latin typeface="Century Gothic"/>
                <a:cs typeface="Century Gothic"/>
              </a:rPr>
              <a:t>O </a:t>
            </a:r>
            <a:r>
              <a:rPr sz="1400" b="1" spc="5" dirty="0">
                <a:solidFill>
                  <a:srgbClr val="FFFFFF"/>
                </a:solidFill>
                <a:latin typeface="Century Gothic"/>
                <a:cs typeface="Century Gothic"/>
              </a:rPr>
              <a:t>= 0.4 E + 0.3 E </a:t>
            </a:r>
            <a:endParaRPr sz="1400">
              <a:latin typeface="Century Gothic"/>
              <a:cs typeface="Century Gothic"/>
            </a:endParaRPr>
          </a:p>
          <a:p>
            <a:pPr marL="12700" marR="345781">
              <a:lnSpc>
                <a:spcPts val="1598"/>
              </a:lnSpc>
              <a:spcBef>
                <a:spcPts val="408"/>
              </a:spcBef>
            </a:pPr>
            <a:r>
              <a:rPr sz="1400" b="1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425" b="1" spc="14" baseline="-20032" dirty="0">
                <a:solidFill>
                  <a:srgbClr val="FFFFFF"/>
                </a:solidFill>
                <a:latin typeface="Century Gothic"/>
                <a:cs typeface="Century Gothic"/>
              </a:rPr>
              <a:t>O </a:t>
            </a:r>
            <a:r>
              <a:rPr sz="1400" b="1" spc="14" dirty="0">
                <a:solidFill>
                  <a:srgbClr val="FFFFFF"/>
                </a:solidFill>
                <a:latin typeface="Century Gothic"/>
                <a:cs typeface="Century Gothic"/>
              </a:rPr>
              <a:t>= 0.7 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445258" y="3089931"/>
            <a:ext cx="1243708" cy="524001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62140" marR="174763" algn="ctr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Source #2</a:t>
            </a:r>
            <a:endParaRPr sz="1400">
              <a:latin typeface="Century Gothic"/>
              <a:cs typeface="Century Gothic"/>
            </a:endParaRPr>
          </a:p>
          <a:p>
            <a:pPr algn="ctr">
              <a:lnSpc>
                <a:spcPct val="102172"/>
              </a:lnSpc>
              <a:spcBef>
                <a:spcPts val="727"/>
              </a:spcBef>
            </a:pPr>
            <a:r>
              <a:rPr sz="14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Offered Traffic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351901" y="4030232"/>
            <a:ext cx="2413288" cy="208287"/>
          </a:xfrm>
          <a:prstGeom prst="rect">
            <a:avLst/>
          </a:prstGeom>
        </p:spPr>
        <p:txBody>
          <a:bodyPr wrap="square" lIns="0" tIns="10128" rIns="0" bIns="0" rtlCol="0">
            <a:noAutofit/>
          </a:bodyPr>
          <a:lstStyle/>
          <a:p>
            <a:pPr marL="12700">
              <a:lnSpc>
                <a:spcPts val="1595"/>
              </a:lnSpc>
            </a:pP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r>
              <a:rPr sz="1425" b="1" spc="3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st </a:t>
            </a: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call arrives and is served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38834" y="4357899"/>
            <a:ext cx="1407283" cy="203708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u="heavy" spc="-1" dirty="0">
                <a:solidFill>
                  <a:srgbClr val="FFFFFF"/>
                </a:solidFill>
                <a:latin typeface="Century Gothic"/>
                <a:cs typeface="Century Gothic"/>
              </a:rPr>
              <a:t>Only one server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351901" y="4411232"/>
            <a:ext cx="1746620" cy="818141"/>
          </a:xfrm>
          <a:prstGeom prst="rect">
            <a:avLst/>
          </a:prstGeom>
        </p:spPr>
        <p:txBody>
          <a:bodyPr wrap="square" lIns="0" tIns="10128" rIns="0" bIns="0" rtlCol="0">
            <a:noAutofit/>
          </a:bodyPr>
          <a:lstStyle/>
          <a:p>
            <a:pPr marL="12700" marR="26746">
              <a:lnSpc>
                <a:spcPts val="1595"/>
              </a:lnSpc>
            </a:pPr>
            <a:r>
              <a:rPr sz="1400" b="1" spc="7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1425" b="1" spc="7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nd </a:t>
            </a:r>
            <a:r>
              <a:rPr sz="1400" b="1" spc="7" dirty="0">
                <a:solidFill>
                  <a:srgbClr val="FFFFFF"/>
                </a:solidFill>
                <a:latin typeface="Century Gothic"/>
                <a:cs typeface="Century Gothic"/>
              </a:rPr>
              <a:t>call arrives but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220"/>
              </a:spcBef>
            </a:pPr>
            <a:r>
              <a:rPr sz="14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server already busy</a:t>
            </a:r>
            <a:endParaRPr sz="1400">
              <a:latin typeface="Century Gothic"/>
              <a:cs typeface="Century Gothic"/>
            </a:endParaRPr>
          </a:p>
          <a:p>
            <a:pPr marL="12700" marR="26746">
              <a:lnSpc>
                <a:spcPts val="1316"/>
              </a:lnSpc>
              <a:spcBef>
                <a:spcPts val="1069"/>
              </a:spcBef>
            </a:pPr>
            <a:r>
              <a:rPr sz="1400" b="1" spc="8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1425" b="1" spc="8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nd </a:t>
            </a:r>
            <a:r>
              <a:rPr sz="1400" b="1" spc="8" dirty="0">
                <a:solidFill>
                  <a:srgbClr val="FFFFFF"/>
                </a:solidFill>
                <a:latin typeface="Century Gothic"/>
                <a:cs typeface="Century Gothic"/>
              </a:rPr>
              <a:t>call is cleared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998724" y="4833387"/>
            <a:ext cx="682114" cy="523748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55206" marR="69328" algn="ctr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Traffic</a:t>
            </a:r>
            <a:endParaRPr sz="1400">
              <a:latin typeface="Century Gothic"/>
              <a:cs typeface="Century Gothic"/>
            </a:endParaRPr>
          </a:p>
          <a:p>
            <a:pPr algn="ctr">
              <a:lnSpc>
                <a:spcPct val="102172"/>
              </a:lnSpc>
              <a:spcBef>
                <a:spcPts val="725"/>
              </a:spcBef>
            </a:pPr>
            <a:r>
              <a:rPr sz="1400" b="1" spc="-2" dirty="0">
                <a:solidFill>
                  <a:srgbClr val="FFFFFF"/>
                </a:solidFill>
                <a:latin typeface="Century Gothic"/>
                <a:cs typeface="Century Gothic"/>
              </a:rPr>
              <a:t>Carried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403598" y="5109739"/>
            <a:ext cx="152009" cy="203707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351901" y="5402086"/>
            <a:ext cx="2440821" cy="208287"/>
          </a:xfrm>
          <a:prstGeom prst="rect">
            <a:avLst/>
          </a:prstGeom>
        </p:spPr>
        <p:txBody>
          <a:bodyPr wrap="square" lIns="0" tIns="10128" rIns="0" bIns="0" rtlCol="0">
            <a:noAutofit/>
          </a:bodyPr>
          <a:lstStyle/>
          <a:p>
            <a:pPr marL="12700">
              <a:lnSpc>
                <a:spcPts val="1595"/>
              </a:lnSpc>
            </a:pPr>
            <a:r>
              <a:rPr sz="1400" b="1" spc="4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r>
              <a:rPr sz="1425" b="1" spc="4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rd </a:t>
            </a:r>
            <a:r>
              <a:rPr sz="1400" b="1" spc="4" dirty="0">
                <a:solidFill>
                  <a:srgbClr val="FFFFFF"/>
                </a:solidFill>
                <a:latin typeface="Century Gothic"/>
                <a:cs typeface="Century Gothic"/>
              </a:rPr>
              <a:t>call arrives and is served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985897" y="5720914"/>
            <a:ext cx="1885975" cy="491736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 marR="31545">
              <a:lnSpc>
                <a:spcPts val="1560"/>
              </a:lnSpc>
            </a:pPr>
            <a:r>
              <a:rPr sz="14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Total Traffic Carried: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ts val="1598"/>
              </a:lnSpc>
              <a:spcBef>
                <a:spcPts val="221"/>
              </a:spcBef>
            </a:pPr>
            <a:r>
              <a:rPr sz="1400" b="1" spc="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425" b="1" spc="4" baseline="-20032" dirty="0">
                <a:solidFill>
                  <a:srgbClr val="FFFFFF"/>
                </a:solidFill>
                <a:latin typeface="Century Gothic"/>
                <a:cs typeface="Century Gothic"/>
              </a:rPr>
              <a:t>C </a:t>
            </a:r>
            <a:r>
              <a:rPr sz="1400" b="1" spc="4" dirty="0">
                <a:solidFill>
                  <a:srgbClr val="FFFFFF"/>
                </a:solidFill>
                <a:latin typeface="Century Gothic"/>
                <a:cs typeface="Century Gothic"/>
              </a:rPr>
              <a:t>= 0.2+0.2+0.1=0.5 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351901" y="5783086"/>
            <a:ext cx="2431499" cy="208287"/>
          </a:xfrm>
          <a:prstGeom prst="rect">
            <a:avLst/>
          </a:prstGeom>
        </p:spPr>
        <p:txBody>
          <a:bodyPr wrap="square" lIns="0" tIns="10128" rIns="0" bIns="0" rtlCol="0">
            <a:noAutofit/>
          </a:bodyPr>
          <a:lstStyle/>
          <a:p>
            <a:pPr marL="12700">
              <a:lnSpc>
                <a:spcPts val="1595"/>
              </a:lnSpc>
            </a:pP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425" b="1" spc="3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th </a:t>
            </a: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call arrives and is served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729341" y="6303374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12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705605" y="4694682"/>
            <a:ext cx="4191000" cy="3093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54"/>
          <p:cNvSpPr txBox="1"/>
          <p:nvPr/>
        </p:nvSpPr>
        <p:spPr>
          <a:xfrm>
            <a:off x="3705605" y="5004054"/>
            <a:ext cx="381000" cy="385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4086605" y="5004054"/>
            <a:ext cx="381000" cy="385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52"/>
          <p:cNvSpPr txBox="1"/>
          <p:nvPr/>
        </p:nvSpPr>
        <p:spPr>
          <a:xfrm>
            <a:off x="4467606" y="5004054"/>
            <a:ext cx="381000" cy="385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4848606" y="5004054"/>
            <a:ext cx="381000" cy="385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5229606" y="5004054"/>
            <a:ext cx="762000" cy="385572"/>
          </a:xfrm>
          <a:prstGeom prst="rect">
            <a:avLst/>
          </a:prstGeom>
        </p:spPr>
        <p:txBody>
          <a:bodyPr wrap="square" lIns="0" tIns="3276" rIns="0" bIns="0" rtlCol="0">
            <a:noAutofit/>
          </a:bodyPr>
          <a:lstStyle/>
          <a:p>
            <a:pPr>
              <a:lnSpc>
                <a:spcPts val="650"/>
              </a:lnSpc>
            </a:pPr>
            <a:endParaRPr sz="650"/>
          </a:p>
          <a:p>
            <a:pPr marL="303872" marR="306117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991606" y="5004054"/>
            <a:ext cx="381000" cy="385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8" name="object 48"/>
          <p:cNvSpPr txBox="1"/>
          <p:nvPr/>
        </p:nvSpPr>
        <p:spPr>
          <a:xfrm>
            <a:off x="6372606" y="5004054"/>
            <a:ext cx="381000" cy="385572"/>
          </a:xfrm>
          <a:prstGeom prst="rect">
            <a:avLst/>
          </a:prstGeom>
        </p:spPr>
        <p:txBody>
          <a:bodyPr wrap="square" lIns="0" tIns="3276" rIns="0" bIns="0" rtlCol="0">
            <a:noAutofit/>
          </a:bodyPr>
          <a:lstStyle/>
          <a:p>
            <a:pPr>
              <a:lnSpc>
                <a:spcPts val="650"/>
              </a:lnSpc>
            </a:pPr>
            <a:endParaRPr sz="650"/>
          </a:p>
          <a:p>
            <a:pPr marL="113372" marR="115617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53606" y="5004054"/>
            <a:ext cx="1143000" cy="385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6" name="object 46"/>
          <p:cNvSpPr txBox="1"/>
          <p:nvPr/>
        </p:nvSpPr>
        <p:spPr>
          <a:xfrm>
            <a:off x="3705605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5" name="object 45"/>
          <p:cNvSpPr txBox="1"/>
          <p:nvPr/>
        </p:nvSpPr>
        <p:spPr>
          <a:xfrm>
            <a:off x="4086605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4" name="object 44"/>
          <p:cNvSpPr txBox="1"/>
          <p:nvPr/>
        </p:nvSpPr>
        <p:spPr>
          <a:xfrm>
            <a:off x="4467606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3" name="object 43"/>
          <p:cNvSpPr txBox="1"/>
          <p:nvPr/>
        </p:nvSpPr>
        <p:spPr>
          <a:xfrm>
            <a:off x="4848606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2" name="object 42"/>
          <p:cNvSpPr txBox="1"/>
          <p:nvPr/>
        </p:nvSpPr>
        <p:spPr>
          <a:xfrm>
            <a:off x="5229606" y="53896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1" name="object 41"/>
          <p:cNvSpPr txBox="1"/>
          <p:nvPr/>
        </p:nvSpPr>
        <p:spPr>
          <a:xfrm>
            <a:off x="5609844" y="5389626"/>
            <a:ext cx="381761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0" name="object 40"/>
          <p:cNvSpPr txBox="1"/>
          <p:nvPr/>
        </p:nvSpPr>
        <p:spPr>
          <a:xfrm>
            <a:off x="5991606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9" name="object 39"/>
          <p:cNvSpPr txBox="1"/>
          <p:nvPr/>
        </p:nvSpPr>
        <p:spPr>
          <a:xfrm>
            <a:off x="6372606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8" name="object 38"/>
          <p:cNvSpPr txBox="1"/>
          <p:nvPr/>
        </p:nvSpPr>
        <p:spPr>
          <a:xfrm>
            <a:off x="6753606" y="5389626"/>
            <a:ext cx="378714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7" name="object 37"/>
          <p:cNvSpPr txBox="1"/>
          <p:nvPr/>
        </p:nvSpPr>
        <p:spPr>
          <a:xfrm>
            <a:off x="7132320" y="5389626"/>
            <a:ext cx="387096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6" name="object 36"/>
          <p:cNvSpPr txBox="1"/>
          <p:nvPr/>
        </p:nvSpPr>
        <p:spPr>
          <a:xfrm>
            <a:off x="7519416" y="53896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5" name="object 35"/>
          <p:cNvSpPr txBox="1"/>
          <p:nvPr/>
        </p:nvSpPr>
        <p:spPr>
          <a:xfrm>
            <a:off x="3705605" y="2951226"/>
            <a:ext cx="4191000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3705605" y="3256026"/>
            <a:ext cx="762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4467606" y="3256026"/>
            <a:ext cx="762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303850" marR="305924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29606" y="3256026"/>
            <a:ext cx="1143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6372606" y="3256026"/>
            <a:ext cx="381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113350" marR="115424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53606" y="3256026"/>
            <a:ext cx="1143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3705605" y="3637026"/>
            <a:ext cx="38481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8" name="object 28"/>
          <p:cNvSpPr txBox="1"/>
          <p:nvPr/>
        </p:nvSpPr>
        <p:spPr>
          <a:xfrm>
            <a:off x="4090416" y="36370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7" name="object 27"/>
          <p:cNvSpPr txBox="1"/>
          <p:nvPr/>
        </p:nvSpPr>
        <p:spPr>
          <a:xfrm>
            <a:off x="4467606" y="3637026"/>
            <a:ext cx="378714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6" name="object 26"/>
          <p:cNvSpPr txBox="1"/>
          <p:nvPr/>
        </p:nvSpPr>
        <p:spPr>
          <a:xfrm>
            <a:off x="4846320" y="3637026"/>
            <a:ext cx="38328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5" name="object 25"/>
          <p:cNvSpPr txBox="1"/>
          <p:nvPr/>
        </p:nvSpPr>
        <p:spPr>
          <a:xfrm>
            <a:off x="5229606" y="36370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4" name="object 24"/>
          <p:cNvSpPr txBox="1"/>
          <p:nvPr/>
        </p:nvSpPr>
        <p:spPr>
          <a:xfrm>
            <a:off x="5609844" y="3637026"/>
            <a:ext cx="37947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3" name="object 23"/>
          <p:cNvSpPr txBox="1"/>
          <p:nvPr/>
        </p:nvSpPr>
        <p:spPr>
          <a:xfrm>
            <a:off x="5989320" y="3637026"/>
            <a:ext cx="38328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2" name="object 22"/>
          <p:cNvSpPr txBox="1"/>
          <p:nvPr/>
        </p:nvSpPr>
        <p:spPr>
          <a:xfrm>
            <a:off x="6372606" y="36370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1" name="object 21"/>
          <p:cNvSpPr txBox="1"/>
          <p:nvPr/>
        </p:nvSpPr>
        <p:spPr>
          <a:xfrm>
            <a:off x="6753606" y="3637026"/>
            <a:ext cx="378714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0" name="object 20"/>
          <p:cNvSpPr txBox="1"/>
          <p:nvPr/>
        </p:nvSpPr>
        <p:spPr>
          <a:xfrm>
            <a:off x="7132320" y="3637026"/>
            <a:ext cx="387096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9" name="object 19"/>
          <p:cNvSpPr txBox="1"/>
          <p:nvPr/>
        </p:nvSpPr>
        <p:spPr>
          <a:xfrm>
            <a:off x="7519416" y="36370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8" name="object 18"/>
          <p:cNvSpPr txBox="1"/>
          <p:nvPr/>
        </p:nvSpPr>
        <p:spPr>
          <a:xfrm>
            <a:off x="3705605" y="2036826"/>
            <a:ext cx="4191000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3705605" y="2341626"/>
            <a:ext cx="381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4086605" y="2341626"/>
            <a:ext cx="762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303618" marR="306371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48606" y="2341626"/>
            <a:ext cx="381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5229606" y="2341626"/>
            <a:ext cx="762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303872" marR="306117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1606" y="2341626"/>
            <a:ext cx="1905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3705605" y="2722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1" name="object 11"/>
          <p:cNvSpPr txBox="1"/>
          <p:nvPr/>
        </p:nvSpPr>
        <p:spPr>
          <a:xfrm>
            <a:off x="4086605" y="2722626"/>
            <a:ext cx="381762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0" name="object 10"/>
          <p:cNvSpPr txBox="1"/>
          <p:nvPr/>
        </p:nvSpPr>
        <p:spPr>
          <a:xfrm>
            <a:off x="4468368" y="27226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9" name="object 9"/>
          <p:cNvSpPr txBox="1"/>
          <p:nvPr/>
        </p:nvSpPr>
        <p:spPr>
          <a:xfrm>
            <a:off x="4848606" y="2722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8" name="object 8"/>
          <p:cNvSpPr txBox="1"/>
          <p:nvPr/>
        </p:nvSpPr>
        <p:spPr>
          <a:xfrm>
            <a:off x="5229606" y="27226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7" name="object 7"/>
          <p:cNvSpPr txBox="1"/>
          <p:nvPr/>
        </p:nvSpPr>
        <p:spPr>
          <a:xfrm>
            <a:off x="5609844" y="2722626"/>
            <a:ext cx="381761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6" name="object 6"/>
          <p:cNvSpPr txBox="1"/>
          <p:nvPr/>
        </p:nvSpPr>
        <p:spPr>
          <a:xfrm>
            <a:off x="5991606" y="27226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5" name="object 5"/>
          <p:cNvSpPr txBox="1"/>
          <p:nvPr/>
        </p:nvSpPr>
        <p:spPr>
          <a:xfrm>
            <a:off x="6371844" y="2722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" name="object 4"/>
          <p:cNvSpPr txBox="1"/>
          <p:nvPr/>
        </p:nvSpPr>
        <p:spPr>
          <a:xfrm>
            <a:off x="6752844" y="2722626"/>
            <a:ext cx="37947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" name="object 3"/>
          <p:cNvSpPr txBox="1"/>
          <p:nvPr/>
        </p:nvSpPr>
        <p:spPr>
          <a:xfrm>
            <a:off x="7132320" y="2722626"/>
            <a:ext cx="387096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" name="object 2"/>
          <p:cNvSpPr txBox="1"/>
          <p:nvPr/>
        </p:nvSpPr>
        <p:spPr>
          <a:xfrm>
            <a:off x="7519416" y="27226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13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016" y="1247104"/>
            <a:ext cx="7588854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7" dirty="0">
                <a:solidFill>
                  <a:srgbClr val="FFFFFF"/>
                </a:solidFill>
                <a:latin typeface="Century Gothic"/>
                <a:cs typeface="Century Gothic"/>
              </a:rPr>
              <a:t>2. BLOCKED CALLS HELD (BCH)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016" y="2828059"/>
            <a:ext cx="8748421" cy="1228423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>
              <a:lnSpc>
                <a:spcPts val="3010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8" dirty="0">
                <a:solidFill>
                  <a:srgbClr val="FFFFFF"/>
                </a:solidFill>
                <a:latin typeface="Century Gothic"/>
                <a:cs typeface="Century Gothic"/>
              </a:rPr>
              <a:t>Blocked calls masih berada di dalam sistim pada</a:t>
            </a:r>
            <a:endParaRPr sz="2800">
              <a:latin typeface="Century Gothic"/>
              <a:cs typeface="Century Gothic"/>
            </a:endParaRPr>
          </a:p>
          <a:p>
            <a:pPr marL="241300" marR="53800">
              <a:lnSpc>
                <a:spcPts val="3025"/>
              </a:lnSpc>
              <a:spcBef>
                <a:spcPts val="0"/>
              </a:spcBef>
            </a:pP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durasi waktu tertentu</a:t>
            </a:r>
            <a:endParaRPr sz="2800">
              <a:latin typeface="Century Gothic"/>
              <a:cs typeface="Century Gothic"/>
            </a:endParaRPr>
          </a:p>
          <a:p>
            <a:pPr marL="12700" marR="53800">
              <a:lnSpc>
                <a:spcPct val="102172"/>
              </a:lnSpc>
              <a:spcBef>
                <a:spcPts val="38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Jika server sudah free, call </a:t>
            </a:r>
            <a:r>
              <a:rPr sz="28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segera diambil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 dan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016" y="4056784"/>
            <a:ext cx="8699405" cy="1688893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241300" marR="52698">
              <a:lnSpc>
                <a:spcPts val="3010"/>
              </a:lnSpc>
            </a:pP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dilayani</a:t>
            </a:r>
            <a:endParaRPr sz="2800">
              <a:latin typeface="Century Gothic"/>
              <a:cs typeface="Century Gothic"/>
            </a:endParaRPr>
          </a:p>
          <a:p>
            <a:pPr marL="241300" indent="-228600">
              <a:lnSpc>
                <a:spcPts val="3020"/>
              </a:lnSpc>
              <a:spcBef>
                <a:spcPts val="591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sz="28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Bukan</a:t>
            </a:r>
            <a:r>
              <a:rPr sz="2800" spc="-68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m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del</a:t>
            </a:r>
            <a:r>
              <a:rPr sz="2800" spc="-87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yang</a:t>
            </a:r>
            <a:r>
              <a:rPr sz="2800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bagus</a:t>
            </a:r>
            <a:r>
              <a:rPr sz="2800" spc="-6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di</a:t>
            </a:r>
            <a:r>
              <a:rPr sz="2800" spc="-2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2800" spc="4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800" spc="-77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nyata</a:t>
            </a:r>
            <a:r>
              <a:rPr sz="2800" spc="-4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hanya co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c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ok</a:t>
            </a:r>
            <a:r>
              <a:rPr sz="2800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untuk pendekat</a:t>
            </a: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800" spc="-1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matemat</a:t>
            </a: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800" spc="-14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sa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j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a)</a:t>
            </a:r>
            <a:endParaRPr sz="2800">
              <a:latin typeface="Century Gothic"/>
              <a:cs typeface="Century Gothic"/>
            </a:endParaRPr>
          </a:p>
          <a:p>
            <a:pPr marL="12700" marR="52698">
              <a:lnSpc>
                <a:spcPct val="102172"/>
              </a:lnSpc>
              <a:spcBef>
                <a:spcPts val="53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Memberi kesempatan coba ulang panggilan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191191" y="3836670"/>
            <a:ext cx="10356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object 143"/>
          <p:cNvSpPr txBox="1"/>
          <p:nvPr/>
        </p:nvSpPr>
        <p:spPr>
          <a:xfrm>
            <a:off x="4416298" y="4999482"/>
            <a:ext cx="813307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3704844" y="4703064"/>
            <a:ext cx="4191000" cy="685800"/>
          </a:xfrm>
          <a:prstGeom prst="rect">
            <a:avLst/>
          </a:prstGeom>
        </p:spPr>
        <p:txBody>
          <a:bodyPr wrap="square" lIns="0" tIns="2514" rIns="0" bIns="0" rtlCol="0">
            <a:noAutofit/>
          </a:bodyPr>
          <a:lstStyle/>
          <a:p>
            <a:pPr>
              <a:lnSpc>
                <a:spcPts val="950"/>
              </a:lnSpc>
            </a:pPr>
            <a:endParaRPr sz="950"/>
          </a:p>
          <a:p>
            <a:pPr marL="1092707">
              <a:lnSpc>
                <a:spcPct val="102172"/>
              </a:lnSpc>
              <a:spcBef>
                <a:spcPts val="2000"/>
              </a:spcBef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705605" y="2722626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705605" y="2036826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4090416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4468368" y="2722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846320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233416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5609844" y="2722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989320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371844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752844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132320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519416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4086605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EF522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086605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229606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229606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705605" y="3637026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705605" y="2951226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090416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468368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846320" y="36370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233416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609844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989320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371844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752844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7132320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7519416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467606" y="32560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B8B4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467606" y="32560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372606" y="32560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38A5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372606" y="32560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704844" y="1845564"/>
            <a:ext cx="3810000" cy="76200"/>
          </a:xfrm>
          <a:custGeom>
            <a:avLst/>
            <a:gdLst/>
            <a:ahLst/>
            <a:cxnLst/>
            <a:rect l="l" t="t" r="r" b="b"/>
            <a:pathLst>
              <a:path w="3810000" h="76200">
                <a:moveTo>
                  <a:pt x="63500" y="31750"/>
                </a:moveTo>
                <a:lnTo>
                  <a:pt x="63500" y="44450"/>
                </a:lnTo>
                <a:lnTo>
                  <a:pt x="3746500" y="44450"/>
                </a:lnTo>
                <a:lnTo>
                  <a:pt x="3810000" y="38100"/>
                </a:lnTo>
                <a:lnTo>
                  <a:pt x="3733800" y="0"/>
                </a:lnTo>
                <a:lnTo>
                  <a:pt x="3746500" y="31750"/>
                </a:lnTo>
                <a:lnTo>
                  <a:pt x="63500" y="31750"/>
                </a:lnTo>
                <a:close/>
              </a:path>
              <a:path w="3810000" h="76200">
                <a:moveTo>
                  <a:pt x="3746500" y="44450"/>
                </a:moveTo>
                <a:lnTo>
                  <a:pt x="3733799" y="44449"/>
                </a:lnTo>
                <a:lnTo>
                  <a:pt x="3733800" y="76200"/>
                </a:lnTo>
                <a:lnTo>
                  <a:pt x="3810000" y="38100"/>
                </a:lnTo>
                <a:lnTo>
                  <a:pt x="3746500" y="44450"/>
                </a:lnTo>
                <a:close/>
              </a:path>
              <a:path w="3810000" h="76200">
                <a:moveTo>
                  <a:pt x="3746500" y="31750"/>
                </a:moveTo>
                <a:lnTo>
                  <a:pt x="3733800" y="0"/>
                </a:lnTo>
                <a:lnTo>
                  <a:pt x="3733799" y="31749"/>
                </a:lnTo>
                <a:lnTo>
                  <a:pt x="3746500" y="31750"/>
                </a:lnTo>
                <a:close/>
              </a:path>
              <a:path w="3810000" h="76200">
                <a:moveTo>
                  <a:pt x="76200" y="31749"/>
                </a:move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199" y="44449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705605" y="5391912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705605" y="4694682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090416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468368" y="5380482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8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846320" y="5380482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8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233416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609844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989320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371844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752844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132320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519416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086605" y="4999482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467606" y="4999482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704844" y="4703064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0" y="685800"/>
                </a:moveTo>
                <a:lnTo>
                  <a:pt x="4191000" y="685800"/>
                </a:lnTo>
                <a:lnTo>
                  <a:pt x="41910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705605" y="5389626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705605" y="4703826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090416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468368" y="5389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846320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233416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609844" y="5389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989320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371844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752844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132320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519416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086605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EF522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086605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229606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229606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372606" y="50086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38A5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372606" y="50086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856226" y="5013198"/>
            <a:ext cx="381000" cy="380999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0999"/>
                </a:moveTo>
                <a:lnTo>
                  <a:pt x="381000" y="380999"/>
                </a:lnTo>
                <a:lnTo>
                  <a:pt x="381000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solidFill>
            <a:srgbClr val="B8B4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856226" y="5013198"/>
            <a:ext cx="381000" cy="380999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0999"/>
                </a:moveTo>
                <a:lnTo>
                  <a:pt x="381000" y="380999"/>
                </a:lnTo>
                <a:lnTo>
                  <a:pt x="381000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257044" y="2231136"/>
            <a:ext cx="153924" cy="1328928"/>
          </a:xfrm>
          <a:custGeom>
            <a:avLst/>
            <a:gdLst/>
            <a:ahLst/>
            <a:cxnLst/>
            <a:rect l="l" t="t" r="r" b="b"/>
            <a:pathLst>
              <a:path w="153924" h="1328927">
                <a:moveTo>
                  <a:pt x="153924" y="1328927"/>
                </a:moveTo>
                <a:lnTo>
                  <a:pt x="115864" y="1327259"/>
                </a:lnTo>
                <a:lnTo>
                  <a:pt x="88415" y="1322851"/>
                </a:lnTo>
                <a:lnTo>
                  <a:pt x="76962" y="1316100"/>
                </a:lnTo>
                <a:lnTo>
                  <a:pt x="76962" y="677290"/>
                </a:lnTo>
                <a:lnTo>
                  <a:pt x="74339" y="673947"/>
                </a:lnTo>
                <a:lnTo>
                  <a:pt x="66926" y="670938"/>
                </a:lnTo>
                <a:lnTo>
                  <a:pt x="55402" y="668374"/>
                </a:lnTo>
                <a:lnTo>
                  <a:pt x="40448" y="666367"/>
                </a:lnTo>
                <a:lnTo>
                  <a:pt x="22743" y="665030"/>
                </a:lnTo>
                <a:lnTo>
                  <a:pt x="2969" y="664473"/>
                </a:lnTo>
                <a:lnTo>
                  <a:pt x="0" y="664463"/>
                </a:lnTo>
                <a:lnTo>
                  <a:pt x="20015" y="664028"/>
                </a:lnTo>
                <a:lnTo>
                  <a:pt x="53450" y="660878"/>
                </a:lnTo>
                <a:lnTo>
                  <a:pt x="76905" y="652133"/>
                </a:lnTo>
                <a:lnTo>
                  <a:pt x="76962" y="651636"/>
                </a:lnTo>
                <a:lnTo>
                  <a:pt x="76962" y="12826"/>
                </a:lnTo>
                <a:lnTo>
                  <a:pt x="79584" y="9483"/>
                </a:lnTo>
                <a:lnTo>
                  <a:pt x="86997" y="6474"/>
                </a:lnTo>
                <a:lnTo>
                  <a:pt x="98521" y="3910"/>
                </a:lnTo>
                <a:lnTo>
                  <a:pt x="113475" y="1903"/>
                </a:lnTo>
                <a:lnTo>
                  <a:pt x="131180" y="566"/>
                </a:lnTo>
                <a:lnTo>
                  <a:pt x="150954" y="9"/>
                </a:lnTo>
                <a:lnTo>
                  <a:pt x="153924" y="0"/>
                </a:lnTo>
              </a:path>
            </a:pathLst>
          </a:custGeom>
          <a:ln w="9144">
            <a:solidFill>
              <a:srgbClr val="DADAD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4764786" y="618637"/>
            <a:ext cx="1379579" cy="1303021"/>
          </a:xfrm>
          <a:prstGeom prst="rect">
            <a:avLst/>
          </a:prstGeom>
        </p:spPr>
        <p:txBody>
          <a:bodyPr wrap="square" lIns="0" tIns="32353" rIns="0" bIns="0" rtlCol="0">
            <a:noAutofit/>
          </a:bodyPr>
          <a:lstStyle/>
          <a:p>
            <a:pPr marL="12700">
              <a:lnSpc>
                <a:spcPts val="5095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BCH</a:t>
            </a:r>
            <a:endParaRPr sz="4800">
              <a:latin typeface="Century Gothic"/>
              <a:cs typeface="Century Gothic"/>
            </a:endParaRPr>
          </a:p>
          <a:p>
            <a:pPr marL="327533" marR="91485">
              <a:lnSpc>
                <a:spcPct val="102172"/>
              </a:lnSpc>
              <a:spcBef>
                <a:spcPts val="3148"/>
              </a:spcBef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10 minutes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445258" y="2175531"/>
            <a:ext cx="1243708" cy="523747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62140" marR="174763" algn="ctr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Source #1</a:t>
            </a:r>
            <a:endParaRPr sz="1400">
              <a:latin typeface="Century Gothic"/>
              <a:cs typeface="Century Gothic"/>
            </a:endParaRPr>
          </a:p>
          <a:p>
            <a:pPr algn="ctr">
              <a:lnSpc>
                <a:spcPct val="102172"/>
              </a:lnSpc>
              <a:spcBef>
                <a:spcPts val="725"/>
              </a:spcBef>
            </a:pPr>
            <a:r>
              <a:rPr sz="14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Offered Traffic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32738" y="2614062"/>
            <a:ext cx="863308" cy="203707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u="heavy" spc="-1" dirty="0">
                <a:solidFill>
                  <a:srgbClr val="FFFFFF"/>
                </a:solidFill>
                <a:latin typeface="Century Gothic"/>
                <a:cs typeface="Century Gothic"/>
              </a:rPr>
              <a:t>2 sources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128254" y="2708931"/>
            <a:ext cx="1760061" cy="747768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Total Traffic Offered:</a:t>
            </a:r>
            <a:endParaRPr sz="1400">
              <a:latin typeface="Century Gothic"/>
              <a:cs typeface="Century Gothic"/>
            </a:endParaRPr>
          </a:p>
          <a:p>
            <a:pPr marL="12700" marR="345781">
              <a:lnSpc>
                <a:spcPts val="1598"/>
              </a:lnSpc>
              <a:spcBef>
                <a:spcPts val="221"/>
              </a:spcBef>
            </a:pPr>
            <a:r>
              <a:rPr sz="1400" b="1" spc="5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425" b="1" spc="5" baseline="-20032" dirty="0">
                <a:solidFill>
                  <a:srgbClr val="FFFFFF"/>
                </a:solidFill>
                <a:latin typeface="Century Gothic"/>
                <a:cs typeface="Century Gothic"/>
              </a:rPr>
              <a:t>O </a:t>
            </a:r>
            <a:r>
              <a:rPr sz="1400" b="1" spc="5" dirty="0">
                <a:solidFill>
                  <a:srgbClr val="FFFFFF"/>
                </a:solidFill>
                <a:latin typeface="Century Gothic"/>
                <a:cs typeface="Century Gothic"/>
              </a:rPr>
              <a:t>= 0.4 E + 0.3 E </a:t>
            </a:r>
            <a:endParaRPr sz="1400">
              <a:latin typeface="Century Gothic"/>
              <a:cs typeface="Century Gothic"/>
            </a:endParaRPr>
          </a:p>
          <a:p>
            <a:pPr marL="12700" marR="345781">
              <a:lnSpc>
                <a:spcPts val="1598"/>
              </a:lnSpc>
              <a:spcBef>
                <a:spcPts val="408"/>
              </a:spcBef>
            </a:pPr>
            <a:r>
              <a:rPr sz="1400" b="1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425" b="1" spc="14" baseline="-20032" dirty="0">
                <a:solidFill>
                  <a:srgbClr val="FFFFFF"/>
                </a:solidFill>
                <a:latin typeface="Century Gothic"/>
                <a:cs typeface="Century Gothic"/>
              </a:rPr>
              <a:t>O </a:t>
            </a:r>
            <a:r>
              <a:rPr sz="1400" b="1" spc="14" dirty="0">
                <a:solidFill>
                  <a:srgbClr val="FFFFFF"/>
                </a:solidFill>
                <a:latin typeface="Century Gothic"/>
                <a:cs typeface="Century Gothic"/>
              </a:rPr>
              <a:t>= 0.7 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445258" y="3089931"/>
            <a:ext cx="1243708" cy="524001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62140" marR="174763" algn="ctr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Source #2</a:t>
            </a:r>
            <a:endParaRPr sz="1400">
              <a:latin typeface="Century Gothic"/>
              <a:cs typeface="Century Gothic"/>
            </a:endParaRPr>
          </a:p>
          <a:p>
            <a:pPr algn="ctr">
              <a:lnSpc>
                <a:spcPct val="102172"/>
              </a:lnSpc>
              <a:spcBef>
                <a:spcPts val="727"/>
              </a:spcBef>
            </a:pPr>
            <a:r>
              <a:rPr sz="14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Offered Traffic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351901" y="3991497"/>
            <a:ext cx="2657124" cy="894722"/>
          </a:xfrm>
          <a:prstGeom prst="rect">
            <a:avLst/>
          </a:prstGeom>
        </p:spPr>
        <p:txBody>
          <a:bodyPr wrap="square" lIns="0" tIns="10128" rIns="0" bIns="0" rtlCol="0">
            <a:noAutofit/>
          </a:bodyPr>
          <a:lstStyle/>
          <a:p>
            <a:pPr marL="12700" marR="27433">
              <a:lnSpc>
                <a:spcPts val="1595"/>
              </a:lnSpc>
            </a:pP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r>
              <a:rPr sz="1425" b="1" spc="3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st </a:t>
            </a: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call arrives and is served</a:t>
            </a:r>
            <a:endParaRPr sz="1400">
              <a:latin typeface="Century Gothic"/>
              <a:cs typeface="Century Gothic"/>
            </a:endParaRPr>
          </a:p>
          <a:p>
            <a:pPr marL="12700" marR="27433">
              <a:lnSpc>
                <a:spcPts val="1316"/>
              </a:lnSpc>
              <a:spcBef>
                <a:spcPts val="1018"/>
              </a:spcBef>
            </a:pPr>
            <a:r>
              <a:rPr sz="1400" b="1" spc="19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1425" b="1" spc="19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nd </a:t>
            </a:r>
            <a:r>
              <a:rPr sz="1400" b="1" spc="19" dirty="0">
                <a:solidFill>
                  <a:srgbClr val="FFFFFF"/>
                </a:solidFill>
                <a:latin typeface="Century Gothic"/>
                <a:cs typeface="Century Gothic"/>
              </a:rPr>
              <a:t>call arrives but server</a:t>
            </a:r>
            <a:endParaRPr sz="1400">
              <a:latin typeface="Century Gothic"/>
              <a:cs typeface="Century Gothic"/>
            </a:endParaRPr>
          </a:p>
          <a:p>
            <a:pPr marL="44703">
              <a:lnSpc>
                <a:spcPts val="1316"/>
              </a:lnSpc>
              <a:spcBef>
                <a:spcPts val="1273"/>
              </a:spcBef>
            </a:pP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1425" b="1" spc="3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nd </a:t>
            </a: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call is held until server free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38834" y="4357899"/>
            <a:ext cx="1407283" cy="203708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u="heavy" spc="-1" dirty="0">
                <a:solidFill>
                  <a:srgbClr val="FFFFFF"/>
                </a:solidFill>
                <a:latin typeface="Century Gothic"/>
                <a:cs typeface="Century Gothic"/>
              </a:rPr>
              <a:t>Only one server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603829" y="4276586"/>
            <a:ext cx="457276" cy="203708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spc="-2" dirty="0">
                <a:solidFill>
                  <a:srgbClr val="FFFFFF"/>
                </a:solidFill>
                <a:latin typeface="Century Gothic"/>
                <a:cs typeface="Century Gothic"/>
              </a:rPr>
              <a:t>busy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998724" y="4833387"/>
            <a:ext cx="682114" cy="523748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55206" marR="69328" algn="ctr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Traffic</a:t>
            </a:r>
            <a:endParaRPr sz="1400">
              <a:latin typeface="Century Gothic"/>
              <a:cs typeface="Century Gothic"/>
            </a:endParaRPr>
          </a:p>
          <a:p>
            <a:pPr algn="ctr">
              <a:lnSpc>
                <a:spcPct val="102172"/>
              </a:lnSpc>
              <a:spcBef>
                <a:spcPts val="725"/>
              </a:spcBef>
            </a:pPr>
            <a:r>
              <a:rPr sz="1400" b="1" spc="-2" dirty="0">
                <a:solidFill>
                  <a:srgbClr val="FFFFFF"/>
                </a:solidFill>
                <a:latin typeface="Century Gothic"/>
                <a:cs typeface="Century Gothic"/>
              </a:rPr>
              <a:t>Carried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354059" y="5069219"/>
            <a:ext cx="1468511" cy="208287"/>
          </a:xfrm>
          <a:prstGeom prst="rect">
            <a:avLst/>
          </a:prstGeom>
        </p:spPr>
        <p:txBody>
          <a:bodyPr wrap="square" lIns="0" tIns="10128" rIns="0" bIns="0" rtlCol="0">
            <a:noAutofit/>
          </a:bodyPr>
          <a:lstStyle/>
          <a:p>
            <a:pPr marL="12700">
              <a:lnSpc>
                <a:spcPts val="1595"/>
              </a:lnSpc>
            </a:pPr>
            <a:r>
              <a:rPr sz="1400" b="1" spc="8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1425" b="1" spc="8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nd </a:t>
            </a:r>
            <a:r>
              <a:rPr sz="1400" b="1" spc="8" dirty="0">
                <a:solidFill>
                  <a:srgbClr val="FFFFFF"/>
                </a:solidFill>
                <a:latin typeface="Century Gothic"/>
                <a:cs typeface="Century Gothic"/>
              </a:rPr>
              <a:t>call is served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403598" y="5109739"/>
            <a:ext cx="152009" cy="203707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329422" y="5503889"/>
            <a:ext cx="2453978" cy="568256"/>
          </a:xfrm>
          <a:prstGeom prst="rect">
            <a:avLst/>
          </a:prstGeom>
        </p:spPr>
        <p:txBody>
          <a:bodyPr wrap="square" lIns="0" tIns="10128" rIns="0" bIns="0" rtlCol="0">
            <a:noAutofit/>
          </a:bodyPr>
          <a:lstStyle/>
          <a:p>
            <a:pPr marL="12700" marR="13157">
              <a:lnSpc>
                <a:spcPts val="1595"/>
              </a:lnSpc>
            </a:pPr>
            <a:r>
              <a:rPr sz="1400" b="1" spc="4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r>
              <a:rPr sz="1425" b="1" spc="4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rd </a:t>
            </a:r>
            <a:r>
              <a:rPr sz="1400" b="1" spc="4" dirty="0">
                <a:solidFill>
                  <a:srgbClr val="FFFFFF"/>
                </a:solidFill>
                <a:latin typeface="Century Gothic"/>
                <a:cs typeface="Century Gothic"/>
              </a:rPr>
              <a:t>call arrives and is served</a:t>
            </a:r>
            <a:endParaRPr sz="1400">
              <a:latin typeface="Century Gothic"/>
              <a:cs typeface="Century Gothic"/>
            </a:endParaRPr>
          </a:p>
          <a:p>
            <a:pPr marL="35178">
              <a:lnSpc>
                <a:spcPts val="1316"/>
              </a:lnSpc>
              <a:spcBef>
                <a:spcPts val="1038"/>
              </a:spcBef>
            </a:pP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425" b="1" spc="3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th </a:t>
            </a: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call arrives and is served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85897" y="5720914"/>
            <a:ext cx="2240808" cy="491736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 marR="31545">
              <a:lnSpc>
                <a:spcPts val="1560"/>
              </a:lnSpc>
            </a:pPr>
            <a:r>
              <a:rPr sz="14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Total Traffic Carried: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ts val="1598"/>
              </a:lnSpc>
              <a:spcBef>
                <a:spcPts val="221"/>
              </a:spcBef>
            </a:pP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425" b="1" spc="3" baseline="-20032" dirty="0">
                <a:solidFill>
                  <a:srgbClr val="FFFFFF"/>
                </a:solidFill>
                <a:latin typeface="Century Gothic"/>
                <a:cs typeface="Century Gothic"/>
              </a:rPr>
              <a:t>C </a:t>
            </a: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= 0.2+0.1+0.2+0.1=0.6 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729341" y="6303374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14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705605" y="4694682"/>
            <a:ext cx="4191000" cy="3093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54"/>
          <p:cNvSpPr txBox="1"/>
          <p:nvPr/>
        </p:nvSpPr>
        <p:spPr>
          <a:xfrm>
            <a:off x="3705605" y="5004054"/>
            <a:ext cx="381000" cy="385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4086605" y="5004054"/>
            <a:ext cx="381000" cy="385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52"/>
          <p:cNvSpPr txBox="1"/>
          <p:nvPr/>
        </p:nvSpPr>
        <p:spPr>
          <a:xfrm>
            <a:off x="4467606" y="5004054"/>
            <a:ext cx="384810" cy="385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4852416" y="5004054"/>
            <a:ext cx="381000" cy="385572"/>
          </a:xfrm>
          <a:prstGeom prst="rect">
            <a:avLst/>
          </a:prstGeom>
        </p:spPr>
        <p:txBody>
          <a:bodyPr wrap="square" lIns="0" tIns="1498" rIns="0" bIns="0" rtlCol="0">
            <a:noAutofit/>
          </a:bodyPr>
          <a:lstStyle/>
          <a:p>
            <a:pPr>
              <a:lnSpc>
                <a:spcPts val="700"/>
              </a:lnSpc>
            </a:pPr>
            <a:endParaRPr sz="700"/>
          </a:p>
          <a:p>
            <a:pPr marL="117436" marR="111553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233416" y="5004054"/>
            <a:ext cx="758189" cy="385572"/>
          </a:xfrm>
          <a:prstGeom prst="rect">
            <a:avLst/>
          </a:prstGeom>
        </p:spPr>
        <p:txBody>
          <a:bodyPr wrap="square" lIns="0" tIns="3276" rIns="0" bIns="0" rtlCol="0">
            <a:noAutofit/>
          </a:bodyPr>
          <a:lstStyle/>
          <a:p>
            <a:pPr>
              <a:lnSpc>
                <a:spcPts val="650"/>
              </a:lnSpc>
            </a:pPr>
            <a:endParaRPr sz="650"/>
          </a:p>
          <a:p>
            <a:pPr marL="300062" marR="306117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991606" y="5004054"/>
            <a:ext cx="381000" cy="385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8" name="object 48"/>
          <p:cNvSpPr txBox="1"/>
          <p:nvPr/>
        </p:nvSpPr>
        <p:spPr>
          <a:xfrm>
            <a:off x="6372606" y="5004054"/>
            <a:ext cx="381000" cy="385572"/>
          </a:xfrm>
          <a:prstGeom prst="rect">
            <a:avLst/>
          </a:prstGeom>
        </p:spPr>
        <p:txBody>
          <a:bodyPr wrap="square" lIns="0" tIns="3276" rIns="0" bIns="0" rtlCol="0">
            <a:noAutofit/>
          </a:bodyPr>
          <a:lstStyle/>
          <a:p>
            <a:pPr>
              <a:lnSpc>
                <a:spcPts val="650"/>
              </a:lnSpc>
            </a:pPr>
            <a:endParaRPr sz="650"/>
          </a:p>
          <a:p>
            <a:pPr marL="113372" marR="115617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53606" y="5004054"/>
            <a:ext cx="1143000" cy="385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6" name="object 46"/>
          <p:cNvSpPr txBox="1"/>
          <p:nvPr/>
        </p:nvSpPr>
        <p:spPr>
          <a:xfrm>
            <a:off x="3705605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5" name="object 45"/>
          <p:cNvSpPr txBox="1"/>
          <p:nvPr/>
        </p:nvSpPr>
        <p:spPr>
          <a:xfrm>
            <a:off x="4086605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4" name="object 44"/>
          <p:cNvSpPr txBox="1"/>
          <p:nvPr/>
        </p:nvSpPr>
        <p:spPr>
          <a:xfrm>
            <a:off x="4467606" y="5389626"/>
            <a:ext cx="38481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3" name="object 43"/>
          <p:cNvSpPr txBox="1"/>
          <p:nvPr/>
        </p:nvSpPr>
        <p:spPr>
          <a:xfrm>
            <a:off x="4852416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2" name="object 42"/>
          <p:cNvSpPr txBox="1"/>
          <p:nvPr/>
        </p:nvSpPr>
        <p:spPr>
          <a:xfrm>
            <a:off x="5233416" y="5389626"/>
            <a:ext cx="37642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1" name="object 41"/>
          <p:cNvSpPr txBox="1"/>
          <p:nvPr/>
        </p:nvSpPr>
        <p:spPr>
          <a:xfrm>
            <a:off x="5609844" y="5389626"/>
            <a:ext cx="381761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0" name="object 40"/>
          <p:cNvSpPr txBox="1"/>
          <p:nvPr/>
        </p:nvSpPr>
        <p:spPr>
          <a:xfrm>
            <a:off x="5991606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9" name="object 39"/>
          <p:cNvSpPr txBox="1"/>
          <p:nvPr/>
        </p:nvSpPr>
        <p:spPr>
          <a:xfrm>
            <a:off x="6372606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8" name="object 38"/>
          <p:cNvSpPr txBox="1"/>
          <p:nvPr/>
        </p:nvSpPr>
        <p:spPr>
          <a:xfrm>
            <a:off x="6753606" y="5389626"/>
            <a:ext cx="378714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7" name="object 37"/>
          <p:cNvSpPr txBox="1"/>
          <p:nvPr/>
        </p:nvSpPr>
        <p:spPr>
          <a:xfrm>
            <a:off x="7132320" y="5389626"/>
            <a:ext cx="387096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6" name="object 36"/>
          <p:cNvSpPr txBox="1"/>
          <p:nvPr/>
        </p:nvSpPr>
        <p:spPr>
          <a:xfrm>
            <a:off x="7519416" y="53896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5" name="object 35"/>
          <p:cNvSpPr txBox="1"/>
          <p:nvPr/>
        </p:nvSpPr>
        <p:spPr>
          <a:xfrm>
            <a:off x="3705605" y="2951226"/>
            <a:ext cx="4191000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3705605" y="3256026"/>
            <a:ext cx="762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4467606" y="3256026"/>
            <a:ext cx="762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303850" marR="305924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29606" y="3256026"/>
            <a:ext cx="1143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6372606" y="3256026"/>
            <a:ext cx="381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113350" marR="115424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53606" y="3256026"/>
            <a:ext cx="1143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3705605" y="3637026"/>
            <a:ext cx="38481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8" name="object 28"/>
          <p:cNvSpPr txBox="1"/>
          <p:nvPr/>
        </p:nvSpPr>
        <p:spPr>
          <a:xfrm>
            <a:off x="4090416" y="36370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7" name="object 27"/>
          <p:cNvSpPr txBox="1"/>
          <p:nvPr/>
        </p:nvSpPr>
        <p:spPr>
          <a:xfrm>
            <a:off x="4467606" y="3637026"/>
            <a:ext cx="378714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6" name="object 26"/>
          <p:cNvSpPr txBox="1"/>
          <p:nvPr/>
        </p:nvSpPr>
        <p:spPr>
          <a:xfrm>
            <a:off x="4846320" y="3637026"/>
            <a:ext cx="38328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5" name="object 25"/>
          <p:cNvSpPr txBox="1"/>
          <p:nvPr/>
        </p:nvSpPr>
        <p:spPr>
          <a:xfrm>
            <a:off x="5229606" y="36370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4" name="object 24"/>
          <p:cNvSpPr txBox="1"/>
          <p:nvPr/>
        </p:nvSpPr>
        <p:spPr>
          <a:xfrm>
            <a:off x="5609844" y="3637026"/>
            <a:ext cx="37947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3" name="object 23"/>
          <p:cNvSpPr txBox="1"/>
          <p:nvPr/>
        </p:nvSpPr>
        <p:spPr>
          <a:xfrm>
            <a:off x="5989320" y="3637026"/>
            <a:ext cx="38328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2" name="object 22"/>
          <p:cNvSpPr txBox="1"/>
          <p:nvPr/>
        </p:nvSpPr>
        <p:spPr>
          <a:xfrm>
            <a:off x="6372606" y="36370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1" name="object 21"/>
          <p:cNvSpPr txBox="1"/>
          <p:nvPr/>
        </p:nvSpPr>
        <p:spPr>
          <a:xfrm>
            <a:off x="6753606" y="3637026"/>
            <a:ext cx="378714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0" name="object 20"/>
          <p:cNvSpPr txBox="1"/>
          <p:nvPr/>
        </p:nvSpPr>
        <p:spPr>
          <a:xfrm>
            <a:off x="7132320" y="3637026"/>
            <a:ext cx="387096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9" name="object 19"/>
          <p:cNvSpPr txBox="1"/>
          <p:nvPr/>
        </p:nvSpPr>
        <p:spPr>
          <a:xfrm>
            <a:off x="7519416" y="36370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8" name="object 18"/>
          <p:cNvSpPr txBox="1"/>
          <p:nvPr/>
        </p:nvSpPr>
        <p:spPr>
          <a:xfrm>
            <a:off x="3705605" y="2036826"/>
            <a:ext cx="4191000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3705605" y="2341626"/>
            <a:ext cx="381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4086605" y="2341626"/>
            <a:ext cx="762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303618" marR="306371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48606" y="2341626"/>
            <a:ext cx="381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5229606" y="2341626"/>
            <a:ext cx="762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303872" marR="306117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1606" y="2341626"/>
            <a:ext cx="1905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3705605" y="2722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1" name="object 11"/>
          <p:cNvSpPr txBox="1"/>
          <p:nvPr/>
        </p:nvSpPr>
        <p:spPr>
          <a:xfrm>
            <a:off x="4086605" y="2722626"/>
            <a:ext cx="381762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0" name="object 10"/>
          <p:cNvSpPr txBox="1"/>
          <p:nvPr/>
        </p:nvSpPr>
        <p:spPr>
          <a:xfrm>
            <a:off x="4468368" y="27226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9" name="object 9"/>
          <p:cNvSpPr txBox="1"/>
          <p:nvPr/>
        </p:nvSpPr>
        <p:spPr>
          <a:xfrm>
            <a:off x="4848606" y="2722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8" name="object 8"/>
          <p:cNvSpPr txBox="1"/>
          <p:nvPr/>
        </p:nvSpPr>
        <p:spPr>
          <a:xfrm>
            <a:off x="5229606" y="27226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7" name="object 7"/>
          <p:cNvSpPr txBox="1"/>
          <p:nvPr/>
        </p:nvSpPr>
        <p:spPr>
          <a:xfrm>
            <a:off x="5609844" y="2722626"/>
            <a:ext cx="381761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6" name="object 6"/>
          <p:cNvSpPr txBox="1"/>
          <p:nvPr/>
        </p:nvSpPr>
        <p:spPr>
          <a:xfrm>
            <a:off x="5991606" y="27226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5" name="object 5"/>
          <p:cNvSpPr txBox="1"/>
          <p:nvPr/>
        </p:nvSpPr>
        <p:spPr>
          <a:xfrm>
            <a:off x="6371844" y="2722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" name="object 4"/>
          <p:cNvSpPr txBox="1"/>
          <p:nvPr/>
        </p:nvSpPr>
        <p:spPr>
          <a:xfrm>
            <a:off x="6752844" y="2722626"/>
            <a:ext cx="37947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" name="object 3"/>
          <p:cNvSpPr txBox="1"/>
          <p:nvPr/>
        </p:nvSpPr>
        <p:spPr>
          <a:xfrm>
            <a:off x="7132320" y="2722626"/>
            <a:ext cx="387096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" name="object 2"/>
          <p:cNvSpPr txBox="1"/>
          <p:nvPr/>
        </p:nvSpPr>
        <p:spPr>
          <a:xfrm>
            <a:off x="7519416" y="27226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15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3348" y="1535140"/>
            <a:ext cx="7690122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5" dirty="0">
                <a:solidFill>
                  <a:srgbClr val="FFFFFF"/>
                </a:solidFill>
                <a:latin typeface="Century Gothic"/>
                <a:cs typeface="Century Gothic"/>
              </a:rPr>
              <a:t>3. BLOCKED CALLS WAIT (BCW)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9068" y="3011955"/>
            <a:ext cx="8979056" cy="2069338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52698">
              <a:lnSpc>
                <a:spcPts val="3010"/>
              </a:lnSpc>
            </a:pPr>
            <a:r>
              <a:rPr sz="2250" spc="192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6" dirty="0">
                <a:solidFill>
                  <a:srgbClr val="FFFFFF"/>
                </a:solidFill>
                <a:latin typeface="Century Gothic"/>
                <a:cs typeface="Century Gothic"/>
              </a:rPr>
              <a:t>Blocked call memasuki buffer antrian dan</a:t>
            </a:r>
            <a:endParaRPr sz="2800">
              <a:latin typeface="Century Gothic"/>
              <a:cs typeface="Century Gothic"/>
            </a:endParaRPr>
          </a:p>
          <a:p>
            <a:pPr marL="201968" marR="1815994" algn="ctr">
              <a:lnSpc>
                <a:spcPts val="3025"/>
              </a:lnSpc>
              <a:spcBef>
                <a:spcPts val="0"/>
              </a:spcBef>
            </a:pPr>
            <a:r>
              <a:rPr sz="2800" spc="-10" dirty="0">
                <a:solidFill>
                  <a:srgbClr val="FFFFFF"/>
                </a:solidFill>
                <a:latin typeface="Century Gothic"/>
                <a:cs typeface="Century Gothic"/>
              </a:rPr>
              <a:t>menunggu sampai server siap melayani</a:t>
            </a:r>
            <a:endParaRPr sz="2800">
              <a:latin typeface="Century Gothic"/>
              <a:cs typeface="Century Gothic"/>
            </a:endParaRPr>
          </a:p>
          <a:p>
            <a:pPr marL="241300" indent="-228600">
              <a:lnSpc>
                <a:spcPts val="3030"/>
              </a:lnSpc>
              <a:spcBef>
                <a:spcPts val="583"/>
              </a:spcBef>
              <a:tabLst>
                <a:tab pos="241300" algn="l"/>
              </a:tabLst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•	</a:t>
            </a:r>
            <a:r>
              <a:rPr sz="2800" spc="-5" dirty="0">
                <a:solidFill>
                  <a:srgbClr val="FFFFFF"/>
                </a:solidFill>
                <a:latin typeface="Century Gothic"/>
                <a:cs typeface="Century Gothic"/>
              </a:rPr>
              <a:t>Pada saat server siap dipakai, waktu pendudukan jalur (holding time) dimulai</a:t>
            </a:r>
            <a:endParaRPr sz="2800">
              <a:latin typeface="Century Gothic"/>
              <a:cs typeface="Century Gothic"/>
            </a:endParaRPr>
          </a:p>
          <a:p>
            <a:pPr marL="12700" marR="52698">
              <a:lnSpc>
                <a:spcPts val="3420"/>
              </a:lnSpc>
              <a:spcBef>
                <a:spcPts val="219"/>
              </a:spcBef>
            </a:pPr>
            <a:r>
              <a:rPr sz="2250" spc="192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8" dirty="0">
                <a:solidFill>
                  <a:srgbClr val="FFFFFF"/>
                </a:solidFill>
                <a:latin typeface="Century Gothic"/>
                <a:cs typeface="Century Gothic"/>
              </a:rPr>
              <a:t>Ada </a:t>
            </a:r>
            <a:r>
              <a:rPr sz="2800" u="heavy" spc="-8" dirty="0">
                <a:solidFill>
                  <a:srgbClr val="FFFFFF"/>
                </a:solidFill>
                <a:latin typeface="Century Gothic"/>
                <a:cs typeface="Century Gothic"/>
              </a:rPr>
              <a:t>delay waktu </a:t>
            </a:r>
            <a:r>
              <a:rPr sz="2800" spc="-8" dirty="0">
                <a:solidFill>
                  <a:srgbClr val="FFFFFF"/>
                </a:solidFill>
                <a:latin typeface="Century Gothic"/>
                <a:cs typeface="Century Gothic"/>
              </a:rPr>
              <a:t>yang dialami oleh call untuk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7668" y="5084849"/>
            <a:ext cx="1429645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dilayani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5775" y="4865116"/>
            <a:ext cx="1011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399056" y="4865116"/>
            <a:ext cx="9814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object 143"/>
          <p:cNvSpPr txBox="1"/>
          <p:nvPr/>
        </p:nvSpPr>
        <p:spPr>
          <a:xfrm>
            <a:off x="4416298" y="4999482"/>
            <a:ext cx="813307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3704844" y="4703064"/>
            <a:ext cx="4191000" cy="685800"/>
          </a:xfrm>
          <a:prstGeom prst="rect">
            <a:avLst/>
          </a:prstGeom>
        </p:spPr>
        <p:txBody>
          <a:bodyPr wrap="square" lIns="0" tIns="2514" rIns="0" bIns="0" rtlCol="0">
            <a:noAutofit/>
          </a:bodyPr>
          <a:lstStyle/>
          <a:p>
            <a:pPr>
              <a:lnSpc>
                <a:spcPts val="950"/>
              </a:lnSpc>
            </a:pPr>
            <a:endParaRPr sz="950"/>
          </a:p>
          <a:p>
            <a:pPr marL="1092707">
              <a:lnSpc>
                <a:spcPct val="102172"/>
              </a:lnSpc>
              <a:spcBef>
                <a:spcPts val="2000"/>
              </a:spcBef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0" y="-18288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705605" y="2722626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705605" y="2036826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4090416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4468368" y="2722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846320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233416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5609844" y="2722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989320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371844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752844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132320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519416" y="2645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4086605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EF522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086605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229606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229606" y="2341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705605" y="3637026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705605" y="2951226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090416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468368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846320" y="36370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233416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609844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989320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371844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752844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7132320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7519416" y="35600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467606" y="32560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B8B4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467606" y="32560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372606" y="32560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38A5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372606" y="32560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704844" y="1845564"/>
            <a:ext cx="3810000" cy="76200"/>
          </a:xfrm>
          <a:custGeom>
            <a:avLst/>
            <a:gdLst/>
            <a:ahLst/>
            <a:cxnLst/>
            <a:rect l="l" t="t" r="r" b="b"/>
            <a:pathLst>
              <a:path w="3810000" h="76200">
                <a:moveTo>
                  <a:pt x="63500" y="31750"/>
                </a:moveTo>
                <a:lnTo>
                  <a:pt x="63500" y="44450"/>
                </a:lnTo>
                <a:lnTo>
                  <a:pt x="3746500" y="44450"/>
                </a:lnTo>
                <a:lnTo>
                  <a:pt x="3810000" y="38100"/>
                </a:lnTo>
                <a:lnTo>
                  <a:pt x="3733800" y="0"/>
                </a:lnTo>
                <a:lnTo>
                  <a:pt x="3746500" y="31750"/>
                </a:lnTo>
                <a:lnTo>
                  <a:pt x="63500" y="31750"/>
                </a:lnTo>
                <a:close/>
              </a:path>
              <a:path w="3810000" h="76200">
                <a:moveTo>
                  <a:pt x="3746500" y="44450"/>
                </a:moveTo>
                <a:lnTo>
                  <a:pt x="3733799" y="44449"/>
                </a:lnTo>
                <a:lnTo>
                  <a:pt x="3733800" y="76200"/>
                </a:lnTo>
                <a:lnTo>
                  <a:pt x="3810000" y="38100"/>
                </a:lnTo>
                <a:lnTo>
                  <a:pt x="3746500" y="44450"/>
                </a:lnTo>
                <a:close/>
              </a:path>
              <a:path w="3810000" h="76200">
                <a:moveTo>
                  <a:pt x="3746500" y="31750"/>
                </a:moveTo>
                <a:lnTo>
                  <a:pt x="3733800" y="0"/>
                </a:lnTo>
                <a:lnTo>
                  <a:pt x="3733799" y="31749"/>
                </a:lnTo>
                <a:lnTo>
                  <a:pt x="3746500" y="31750"/>
                </a:lnTo>
                <a:close/>
              </a:path>
              <a:path w="3810000" h="76200">
                <a:moveTo>
                  <a:pt x="76200" y="31749"/>
                </a:move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199" y="44449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705605" y="5391912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705605" y="4694682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090416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468368" y="5380482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8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846320" y="5380482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8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233416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609844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989320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371844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752844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132320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519416" y="5388864"/>
            <a:ext cx="0" cy="67056"/>
          </a:xfrm>
          <a:custGeom>
            <a:avLst/>
            <a:gdLst/>
            <a:ahLst/>
            <a:cxnLst/>
            <a:rect l="l" t="t" r="r" b="b"/>
            <a:pathLst>
              <a:path h="67056">
                <a:moveTo>
                  <a:pt x="0" y="0"/>
                </a:moveTo>
                <a:lnTo>
                  <a:pt x="0" y="6705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086605" y="4999482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467606" y="4999482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704844" y="4703064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0" y="685800"/>
                </a:moveTo>
                <a:lnTo>
                  <a:pt x="4191000" y="685800"/>
                </a:lnTo>
                <a:lnTo>
                  <a:pt x="41910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705605" y="5389626"/>
            <a:ext cx="4191000" cy="0"/>
          </a:xfrm>
          <a:custGeom>
            <a:avLst/>
            <a:gdLst/>
            <a:ahLst/>
            <a:cxnLst/>
            <a:rect l="l" t="t" r="r" b="b"/>
            <a:pathLst>
              <a:path w="4191000">
                <a:moveTo>
                  <a:pt x="0" y="0"/>
                </a:moveTo>
                <a:lnTo>
                  <a:pt x="41910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705605" y="4703826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090416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468368" y="5389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846320" y="5394198"/>
            <a:ext cx="0" cy="70865"/>
          </a:xfrm>
          <a:custGeom>
            <a:avLst/>
            <a:gdLst/>
            <a:ahLst/>
            <a:cxnLst/>
            <a:rect l="l" t="t" r="r" b="b"/>
            <a:pathLst>
              <a:path h="70865">
                <a:moveTo>
                  <a:pt x="0" y="0"/>
                </a:moveTo>
                <a:lnTo>
                  <a:pt x="0" y="70865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233416" y="5394198"/>
            <a:ext cx="0" cy="70865"/>
          </a:xfrm>
          <a:custGeom>
            <a:avLst/>
            <a:gdLst/>
            <a:ahLst/>
            <a:cxnLst/>
            <a:rect l="l" t="t" r="r" b="b"/>
            <a:pathLst>
              <a:path h="70865">
                <a:moveTo>
                  <a:pt x="0" y="0"/>
                </a:moveTo>
                <a:lnTo>
                  <a:pt x="0" y="70865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609844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989320" y="5389626"/>
            <a:ext cx="0" cy="75437"/>
          </a:xfrm>
          <a:custGeom>
            <a:avLst/>
            <a:gdLst/>
            <a:ahLst/>
            <a:cxnLst/>
            <a:rect l="l" t="t" r="r" b="b"/>
            <a:pathLst>
              <a:path h="75437">
                <a:moveTo>
                  <a:pt x="0" y="0"/>
                </a:moveTo>
                <a:lnTo>
                  <a:pt x="0" y="7543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371844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752844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132320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519416" y="531266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086605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EF522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086605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621274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621274" y="500862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383274" y="50086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38A5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383274" y="50086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828794" y="5013198"/>
            <a:ext cx="762000" cy="380999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0999"/>
                </a:moveTo>
                <a:lnTo>
                  <a:pt x="762000" y="380999"/>
                </a:lnTo>
                <a:lnTo>
                  <a:pt x="762000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solidFill>
            <a:srgbClr val="B8B4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828794" y="5013198"/>
            <a:ext cx="762000" cy="380999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0999"/>
                </a:moveTo>
                <a:lnTo>
                  <a:pt x="762000" y="380999"/>
                </a:lnTo>
                <a:lnTo>
                  <a:pt x="762000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257044" y="2231136"/>
            <a:ext cx="153924" cy="1328928"/>
          </a:xfrm>
          <a:custGeom>
            <a:avLst/>
            <a:gdLst/>
            <a:ahLst/>
            <a:cxnLst/>
            <a:rect l="l" t="t" r="r" b="b"/>
            <a:pathLst>
              <a:path w="153924" h="1328927">
                <a:moveTo>
                  <a:pt x="153924" y="1328927"/>
                </a:moveTo>
                <a:lnTo>
                  <a:pt x="115864" y="1327259"/>
                </a:lnTo>
                <a:lnTo>
                  <a:pt x="88415" y="1322851"/>
                </a:lnTo>
                <a:lnTo>
                  <a:pt x="76962" y="1316100"/>
                </a:lnTo>
                <a:lnTo>
                  <a:pt x="76962" y="677290"/>
                </a:lnTo>
                <a:lnTo>
                  <a:pt x="74339" y="673947"/>
                </a:lnTo>
                <a:lnTo>
                  <a:pt x="66926" y="670938"/>
                </a:lnTo>
                <a:lnTo>
                  <a:pt x="55402" y="668374"/>
                </a:lnTo>
                <a:lnTo>
                  <a:pt x="40448" y="666367"/>
                </a:lnTo>
                <a:lnTo>
                  <a:pt x="22743" y="665030"/>
                </a:lnTo>
                <a:lnTo>
                  <a:pt x="2969" y="664473"/>
                </a:lnTo>
                <a:lnTo>
                  <a:pt x="0" y="664463"/>
                </a:lnTo>
                <a:lnTo>
                  <a:pt x="20015" y="664028"/>
                </a:lnTo>
                <a:lnTo>
                  <a:pt x="53450" y="660878"/>
                </a:lnTo>
                <a:lnTo>
                  <a:pt x="76905" y="652133"/>
                </a:lnTo>
                <a:lnTo>
                  <a:pt x="76962" y="651636"/>
                </a:lnTo>
                <a:lnTo>
                  <a:pt x="76962" y="12826"/>
                </a:lnTo>
                <a:lnTo>
                  <a:pt x="79584" y="9483"/>
                </a:lnTo>
                <a:lnTo>
                  <a:pt x="86997" y="6474"/>
                </a:lnTo>
                <a:lnTo>
                  <a:pt x="98521" y="3910"/>
                </a:lnTo>
                <a:lnTo>
                  <a:pt x="113475" y="1903"/>
                </a:lnTo>
                <a:lnTo>
                  <a:pt x="131180" y="566"/>
                </a:lnTo>
                <a:lnTo>
                  <a:pt x="150954" y="9"/>
                </a:lnTo>
                <a:lnTo>
                  <a:pt x="153924" y="0"/>
                </a:lnTo>
              </a:path>
            </a:pathLst>
          </a:custGeom>
          <a:ln w="9144">
            <a:solidFill>
              <a:srgbClr val="DADAD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4680966" y="618637"/>
            <a:ext cx="1548434" cy="1303021"/>
          </a:xfrm>
          <a:prstGeom prst="rect">
            <a:avLst/>
          </a:prstGeom>
        </p:spPr>
        <p:txBody>
          <a:bodyPr wrap="square" lIns="0" tIns="32353" rIns="0" bIns="0" rtlCol="0">
            <a:noAutofit/>
          </a:bodyPr>
          <a:lstStyle/>
          <a:p>
            <a:pPr marL="12700">
              <a:lnSpc>
                <a:spcPts val="5095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BCW</a:t>
            </a:r>
            <a:endParaRPr sz="4800">
              <a:latin typeface="Century Gothic"/>
              <a:cs typeface="Century Gothic"/>
            </a:endParaRPr>
          </a:p>
          <a:p>
            <a:pPr marL="411353" marR="91485">
              <a:lnSpc>
                <a:spcPct val="102172"/>
              </a:lnSpc>
              <a:spcBef>
                <a:spcPts val="3148"/>
              </a:spcBef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10 minutes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445258" y="2175531"/>
            <a:ext cx="1243708" cy="523747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62140" marR="174763" algn="ctr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Source #1</a:t>
            </a:r>
            <a:endParaRPr sz="1400">
              <a:latin typeface="Century Gothic"/>
              <a:cs typeface="Century Gothic"/>
            </a:endParaRPr>
          </a:p>
          <a:p>
            <a:pPr algn="ctr">
              <a:lnSpc>
                <a:spcPct val="102172"/>
              </a:lnSpc>
              <a:spcBef>
                <a:spcPts val="725"/>
              </a:spcBef>
            </a:pPr>
            <a:r>
              <a:rPr sz="14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Offered Traffic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32738" y="2614062"/>
            <a:ext cx="863308" cy="203707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u="heavy" spc="-1" dirty="0">
                <a:solidFill>
                  <a:srgbClr val="FFFFFF"/>
                </a:solidFill>
                <a:latin typeface="Century Gothic"/>
                <a:cs typeface="Century Gothic"/>
              </a:rPr>
              <a:t>2 sources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128254" y="2708931"/>
            <a:ext cx="1760061" cy="747768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Total Traffic Offered:</a:t>
            </a:r>
            <a:endParaRPr sz="1400">
              <a:latin typeface="Century Gothic"/>
              <a:cs typeface="Century Gothic"/>
            </a:endParaRPr>
          </a:p>
          <a:p>
            <a:pPr marL="12700" marR="345781">
              <a:lnSpc>
                <a:spcPts val="1598"/>
              </a:lnSpc>
              <a:spcBef>
                <a:spcPts val="221"/>
              </a:spcBef>
            </a:pPr>
            <a:r>
              <a:rPr sz="1400" b="1" spc="5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425" b="1" spc="5" baseline="-20032" dirty="0">
                <a:solidFill>
                  <a:srgbClr val="FFFFFF"/>
                </a:solidFill>
                <a:latin typeface="Century Gothic"/>
                <a:cs typeface="Century Gothic"/>
              </a:rPr>
              <a:t>O </a:t>
            </a:r>
            <a:r>
              <a:rPr sz="1400" b="1" spc="5" dirty="0">
                <a:solidFill>
                  <a:srgbClr val="FFFFFF"/>
                </a:solidFill>
                <a:latin typeface="Century Gothic"/>
                <a:cs typeface="Century Gothic"/>
              </a:rPr>
              <a:t>= 0.4 E + 0.3 E </a:t>
            </a:r>
            <a:endParaRPr sz="1400">
              <a:latin typeface="Century Gothic"/>
              <a:cs typeface="Century Gothic"/>
            </a:endParaRPr>
          </a:p>
          <a:p>
            <a:pPr marL="12700" marR="345781">
              <a:lnSpc>
                <a:spcPts val="1598"/>
              </a:lnSpc>
              <a:spcBef>
                <a:spcPts val="408"/>
              </a:spcBef>
            </a:pPr>
            <a:r>
              <a:rPr sz="1400" b="1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425" b="1" spc="14" baseline="-20032" dirty="0">
                <a:solidFill>
                  <a:srgbClr val="FFFFFF"/>
                </a:solidFill>
                <a:latin typeface="Century Gothic"/>
                <a:cs typeface="Century Gothic"/>
              </a:rPr>
              <a:t>O </a:t>
            </a:r>
            <a:r>
              <a:rPr sz="1400" b="1" spc="14" dirty="0">
                <a:solidFill>
                  <a:srgbClr val="FFFFFF"/>
                </a:solidFill>
                <a:latin typeface="Century Gothic"/>
                <a:cs typeface="Century Gothic"/>
              </a:rPr>
              <a:t>= 0.7 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445258" y="3089931"/>
            <a:ext cx="1243708" cy="524001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62140" marR="174763" algn="ctr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Source #2</a:t>
            </a:r>
            <a:endParaRPr sz="1400">
              <a:latin typeface="Century Gothic"/>
              <a:cs typeface="Century Gothic"/>
            </a:endParaRPr>
          </a:p>
          <a:p>
            <a:pPr algn="ctr">
              <a:lnSpc>
                <a:spcPct val="102172"/>
              </a:lnSpc>
              <a:spcBef>
                <a:spcPts val="727"/>
              </a:spcBef>
            </a:pPr>
            <a:r>
              <a:rPr sz="14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Offered Traffic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351901" y="3991497"/>
            <a:ext cx="2683819" cy="894722"/>
          </a:xfrm>
          <a:prstGeom prst="rect">
            <a:avLst/>
          </a:prstGeom>
        </p:spPr>
        <p:txBody>
          <a:bodyPr wrap="square" lIns="0" tIns="10128" rIns="0" bIns="0" rtlCol="0">
            <a:noAutofit/>
          </a:bodyPr>
          <a:lstStyle/>
          <a:p>
            <a:pPr marL="12700" marR="27433">
              <a:lnSpc>
                <a:spcPts val="1595"/>
              </a:lnSpc>
            </a:pP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r>
              <a:rPr sz="1425" b="1" spc="3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st </a:t>
            </a: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call arrives and is served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ts val="1316"/>
              </a:lnSpc>
              <a:spcBef>
                <a:spcPts val="1018"/>
              </a:spcBef>
            </a:pPr>
            <a:r>
              <a:rPr sz="1400" b="1" spc="16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1425" b="1" spc="16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nd </a:t>
            </a:r>
            <a:r>
              <a:rPr sz="1400" b="1" spc="16" dirty="0">
                <a:solidFill>
                  <a:srgbClr val="FFFFFF"/>
                </a:solidFill>
                <a:latin typeface="Century Gothic"/>
                <a:cs typeface="Century Gothic"/>
              </a:rPr>
              <a:t>call arrives but server busy</a:t>
            </a:r>
            <a:endParaRPr sz="1400">
              <a:latin typeface="Century Gothic"/>
              <a:cs typeface="Century Gothic"/>
            </a:endParaRPr>
          </a:p>
          <a:p>
            <a:pPr marL="44703" marR="27433">
              <a:lnSpc>
                <a:spcPts val="1316"/>
              </a:lnSpc>
              <a:spcBef>
                <a:spcPts val="1273"/>
              </a:spcBef>
            </a:pPr>
            <a:r>
              <a:rPr sz="1400" b="1" spc="28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1425" b="1" spc="28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nd </a:t>
            </a:r>
            <a:r>
              <a:rPr sz="1400" b="1" spc="28" dirty="0">
                <a:solidFill>
                  <a:srgbClr val="FFFFFF"/>
                </a:solidFill>
                <a:latin typeface="Century Gothic"/>
                <a:cs typeface="Century Gothic"/>
              </a:rPr>
              <a:t>call waits until server free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38834" y="4357899"/>
            <a:ext cx="1407283" cy="203708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u="heavy" spc="-1" dirty="0">
                <a:solidFill>
                  <a:srgbClr val="FFFFFF"/>
                </a:solidFill>
                <a:latin typeface="Century Gothic"/>
                <a:cs typeface="Century Gothic"/>
              </a:rPr>
              <a:t>Only one server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998724" y="4833387"/>
            <a:ext cx="682114" cy="523748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55206" marR="69328" algn="ctr">
              <a:lnSpc>
                <a:spcPts val="1560"/>
              </a:lnSpc>
            </a:pPr>
            <a:r>
              <a:rPr sz="1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Traffic</a:t>
            </a:r>
            <a:endParaRPr sz="1400">
              <a:latin typeface="Century Gothic"/>
              <a:cs typeface="Century Gothic"/>
            </a:endParaRPr>
          </a:p>
          <a:p>
            <a:pPr algn="ctr">
              <a:lnSpc>
                <a:spcPct val="102172"/>
              </a:lnSpc>
              <a:spcBef>
                <a:spcPts val="725"/>
              </a:spcBef>
            </a:pPr>
            <a:r>
              <a:rPr sz="1400" b="1" spc="-2" dirty="0">
                <a:solidFill>
                  <a:srgbClr val="FFFFFF"/>
                </a:solidFill>
                <a:latin typeface="Century Gothic"/>
                <a:cs typeface="Century Gothic"/>
              </a:rPr>
              <a:t>Carried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354059" y="5069219"/>
            <a:ext cx="1468511" cy="208287"/>
          </a:xfrm>
          <a:prstGeom prst="rect">
            <a:avLst/>
          </a:prstGeom>
        </p:spPr>
        <p:txBody>
          <a:bodyPr wrap="square" lIns="0" tIns="10128" rIns="0" bIns="0" rtlCol="0">
            <a:noAutofit/>
          </a:bodyPr>
          <a:lstStyle/>
          <a:p>
            <a:pPr marL="12700">
              <a:lnSpc>
                <a:spcPts val="1595"/>
              </a:lnSpc>
            </a:pPr>
            <a:r>
              <a:rPr sz="1400" b="1" spc="8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1425" b="1" spc="8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nd </a:t>
            </a:r>
            <a:r>
              <a:rPr sz="1400" b="1" spc="8" dirty="0">
                <a:solidFill>
                  <a:srgbClr val="FFFFFF"/>
                </a:solidFill>
                <a:latin typeface="Century Gothic"/>
                <a:cs typeface="Century Gothic"/>
              </a:rPr>
              <a:t>call is served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403598" y="5109739"/>
            <a:ext cx="152009" cy="203707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146040" y="5114311"/>
            <a:ext cx="152009" cy="203708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>
              <a:lnSpc>
                <a:spcPts val="1560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329422" y="5503889"/>
            <a:ext cx="2974139" cy="568256"/>
          </a:xfrm>
          <a:prstGeom prst="rect">
            <a:avLst/>
          </a:prstGeom>
        </p:spPr>
        <p:txBody>
          <a:bodyPr wrap="square" lIns="0" tIns="10128" rIns="0" bIns="0" rtlCol="0">
            <a:noAutofit/>
          </a:bodyPr>
          <a:lstStyle/>
          <a:p>
            <a:pPr marL="12700">
              <a:lnSpc>
                <a:spcPts val="1595"/>
              </a:lnSpc>
            </a:pP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r>
              <a:rPr sz="1425" b="1" spc="3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rd </a:t>
            </a: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call arrives, waits and is served</a:t>
            </a:r>
            <a:endParaRPr sz="1400">
              <a:latin typeface="Century Gothic"/>
              <a:cs typeface="Century Gothic"/>
            </a:endParaRPr>
          </a:p>
          <a:p>
            <a:pPr marL="35178" marR="27433">
              <a:lnSpc>
                <a:spcPts val="1316"/>
              </a:lnSpc>
              <a:spcBef>
                <a:spcPts val="1038"/>
              </a:spcBef>
            </a:pP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425" b="1" spc="3" baseline="22894" dirty="0">
                <a:solidFill>
                  <a:srgbClr val="FFFFFF"/>
                </a:solidFill>
                <a:latin typeface="Century Gothic"/>
                <a:cs typeface="Century Gothic"/>
              </a:rPr>
              <a:t>th </a:t>
            </a: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call arrives and is served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85897" y="5720914"/>
            <a:ext cx="2240808" cy="491736"/>
          </a:xfrm>
          <a:prstGeom prst="rect">
            <a:avLst/>
          </a:prstGeom>
        </p:spPr>
        <p:txBody>
          <a:bodyPr wrap="square" lIns="0" tIns="9906" rIns="0" bIns="0" rtlCol="0">
            <a:noAutofit/>
          </a:bodyPr>
          <a:lstStyle/>
          <a:p>
            <a:pPr marL="12700" marR="31545">
              <a:lnSpc>
                <a:spcPts val="1560"/>
              </a:lnSpc>
            </a:pPr>
            <a:r>
              <a:rPr sz="1400" b="1" spc="-1" dirty="0">
                <a:solidFill>
                  <a:srgbClr val="FFFFFF"/>
                </a:solidFill>
                <a:latin typeface="Century Gothic"/>
                <a:cs typeface="Century Gothic"/>
              </a:rPr>
              <a:t>Total Traffic Carried: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ts val="1598"/>
              </a:lnSpc>
              <a:spcBef>
                <a:spcPts val="221"/>
              </a:spcBef>
            </a:pP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425" b="1" spc="3" baseline="-20032" dirty="0">
                <a:solidFill>
                  <a:srgbClr val="FFFFFF"/>
                </a:solidFill>
                <a:latin typeface="Century Gothic"/>
                <a:cs typeface="Century Gothic"/>
              </a:rPr>
              <a:t>C </a:t>
            </a:r>
            <a:r>
              <a:rPr sz="1400" b="1" spc="3" dirty="0">
                <a:solidFill>
                  <a:srgbClr val="FFFFFF"/>
                </a:solidFill>
                <a:latin typeface="Century Gothic"/>
                <a:cs typeface="Century Gothic"/>
              </a:rPr>
              <a:t>= 0.2+0.2+0.2+0.1=0.7 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729341" y="6303374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16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705605" y="4694682"/>
            <a:ext cx="4191000" cy="31165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54"/>
          <p:cNvSpPr txBox="1"/>
          <p:nvPr/>
        </p:nvSpPr>
        <p:spPr>
          <a:xfrm>
            <a:off x="3705605" y="5006340"/>
            <a:ext cx="381000" cy="3832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4086605" y="5006340"/>
            <a:ext cx="381000" cy="3832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52"/>
          <p:cNvSpPr txBox="1"/>
          <p:nvPr/>
        </p:nvSpPr>
        <p:spPr>
          <a:xfrm>
            <a:off x="4467606" y="5006340"/>
            <a:ext cx="371094" cy="3832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4838700" y="5006340"/>
            <a:ext cx="390905" cy="3832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5229606" y="5006340"/>
            <a:ext cx="376428" cy="3832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9" name="object 49"/>
          <p:cNvSpPr txBox="1"/>
          <p:nvPr/>
        </p:nvSpPr>
        <p:spPr>
          <a:xfrm>
            <a:off x="5606034" y="5006340"/>
            <a:ext cx="777239" cy="383286"/>
          </a:xfrm>
          <a:prstGeom prst="rect">
            <a:avLst/>
          </a:prstGeom>
        </p:spPr>
        <p:txBody>
          <a:bodyPr wrap="square" lIns="0" tIns="990" rIns="0" bIns="0" rtlCol="0">
            <a:noAutofit/>
          </a:bodyPr>
          <a:lstStyle/>
          <a:p>
            <a:pPr>
              <a:lnSpc>
                <a:spcPts val="650"/>
              </a:lnSpc>
            </a:pPr>
            <a:endParaRPr sz="650"/>
          </a:p>
          <a:p>
            <a:pPr marL="318858" marR="306371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83274" y="5006340"/>
            <a:ext cx="381000" cy="383286"/>
          </a:xfrm>
          <a:prstGeom prst="rect">
            <a:avLst/>
          </a:prstGeom>
        </p:spPr>
        <p:txBody>
          <a:bodyPr wrap="square" lIns="0" tIns="990" rIns="0" bIns="0" rtlCol="0">
            <a:noAutofit/>
          </a:bodyPr>
          <a:lstStyle/>
          <a:p>
            <a:pPr>
              <a:lnSpc>
                <a:spcPts val="650"/>
              </a:lnSpc>
            </a:pPr>
            <a:endParaRPr sz="650"/>
          </a:p>
          <a:p>
            <a:pPr marL="113372" marR="115617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64274" y="5006340"/>
            <a:ext cx="1132331" cy="3832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6" name="object 46"/>
          <p:cNvSpPr txBox="1"/>
          <p:nvPr/>
        </p:nvSpPr>
        <p:spPr>
          <a:xfrm>
            <a:off x="3705605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5" name="object 45"/>
          <p:cNvSpPr txBox="1"/>
          <p:nvPr/>
        </p:nvSpPr>
        <p:spPr>
          <a:xfrm>
            <a:off x="4086605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4" name="object 44"/>
          <p:cNvSpPr txBox="1"/>
          <p:nvPr/>
        </p:nvSpPr>
        <p:spPr>
          <a:xfrm>
            <a:off x="4467606" y="5389626"/>
            <a:ext cx="371094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3" name="object 43"/>
          <p:cNvSpPr txBox="1"/>
          <p:nvPr/>
        </p:nvSpPr>
        <p:spPr>
          <a:xfrm>
            <a:off x="4838700" y="5389626"/>
            <a:ext cx="39090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2" name="object 42"/>
          <p:cNvSpPr txBox="1"/>
          <p:nvPr/>
        </p:nvSpPr>
        <p:spPr>
          <a:xfrm>
            <a:off x="5229606" y="5389626"/>
            <a:ext cx="37642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1" name="object 41"/>
          <p:cNvSpPr txBox="1"/>
          <p:nvPr/>
        </p:nvSpPr>
        <p:spPr>
          <a:xfrm>
            <a:off x="5606034" y="5389626"/>
            <a:ext cx="383286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0" name="object 40"/>
          <p:cNvSpPr txBox="1"/>
          <p:nvPr/>
        </p:nvSpPr>
        <p:spPr>
          <a:xfrm>
            <a:off x="5989320" y="5389626"/>
            <a:ext cx="393953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9" name="object 39"/>
          <p:cNvSpPr txBox="1"/>
          <p:nvPr/>
        </p:nvSpPr>
        <p:spPr>
          <a:xfrm>
            <a:off x="6383274" y="5389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8" name="object 38"/>
          <p:cNvSpPr txBox="1"/>
          <p:nvPr/>
        </p:nvSpPr>
        <p:spPr>
          <a:xfrm>
            <a:off x="6764274" y="5389626"/>
            <a:ext cx="368046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7" name="object 37"/>
          <p:cNvSpPr txBox="1"/>
          <p:nvPr/>
        </p:nvSpPr>
        <p:spPr>
          <a:xfrm>
            <a:off x="7132320" y="5389626"/>
            <a:ext cx="387096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6" name="object 36"/>
          <p:cNvSpPr txBox="1"/>
          <p:nvPr/>
        </p:nvSpPr>
        <p:spPr>
          <a:xfrm>
            <a:off x="7519416" y="53896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5" name="object 35"/>
          <p:cNvSpPr txBox="1"/>
          <p:nvPr/>
        </p:nvSpPr>
        <p:spPr>
          <a:xfrm>
            <a:off x="3705605" y="2951226"/>
            <a:ext cx="4191000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3705605" y="3256026"/>
            <a:ext cx="762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4467606" y="3256026"/>
            <a:ext cx="762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303850" marR="305924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29606" y="3256026"/>
            <a:ext cx="1143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6372606" y="3256026"/>
            <a:ext cx="381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113350" marR="115424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53606" y="3256026"/>
            <a:ext cx="1143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3705605" y="3637026"/>
            <a:ext cx="38481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8" name="object 28"/>
          <p:cNvSpPr txBox="1"/>
          <p:nvPr/>
        </p:nvSpPr>
        <p:spPr>
          <a:xfrm>
            <a:off x="4090416" y="36370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7" name="object 27"/>
          <p:cNvSpPr txBox="1"/>
          <p:nvPr/>
        </p:nvSpPr>
        <p:spPr>
          <a:xfrm>
            <a:off x="4467606" y="3637026"/>
            <a:ext cx="378714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6" name="object 26"/>
          <p:cNvSpPr txBox="1"/>
          <p:nvPr/>
        </p:nvSpPr>
        <p:spPr>
          <a:xfrm>
            <a:off x="4846320" y="3637026"/>
            <a:ext cx="38328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5" name="object 25"/>
          <p:cNvSpPr txBox="1"/>
          <p:nvPr/>
        </p:nvSpPr>
        <p:spPr>
          <a:xfrm>
            <a:off x="5229606" y="36370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4" name="object 24"/>
          <p:cNvSpPr txBox="1"/>
          <p:nvPr/>
        </p:nvSpPr>
        <p:spPr>
          <a:xfrm>
            <a:off x="5609844" y="3637026"/>
            <a:ext cx="37947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3" name="object 23"/>
          <p:cNvSpPr txBox="1"/>
          <p:nvPr/>
        </p:nvSpPr>
        <p:spPr>
          <a:xfrm>
            <a:off x="5989320" y="3637026"/>
            <a:ext cx="38328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2" name="object 22"/>
          <p:cNvSpPr txBox="1"/>
          <p:nvPr/>
        </p:nvSpPr>
        <p:spPr>
          <a:xfrm>
            <a:off x="6372606" y="36370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1" name="object 21"/>
          <p:cNvSpPr txBox="1"/>
          <p:nvPr/>
        </p:nvSpPr>
        <p:spPr>
          <a:xfrm>
            <a:off x="6753606" y="3637026"/>
            <a:ext cx="378714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0" name="object 20"/>
          <p:cNvSpPr txBox="1"/>
          <p:nvPr/>
        </p:nvSpPr>
        <p:spPr>
          <a:xfrm>
            <a:off x="7132320" y="3637026"/>
            <a:ext cx="387096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9" name="object 19"/>
          <p:cNvSpPr txBox="1"/>
          <p:nvPr/>
        </p:nvSpPr>
        <p:spPr>
          <a:xfrm>
            <a:off x="7519416" y="36370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8" name="object 18"/>
          <p:cNvSpPr txBox="1"/>
          <p:nvPr/>
        </p:nvSpPr>
        <p:spPr>
          <a:xfrm>
            <a:off x="3705605" y="2036826"/>
            <a:ext cx="4191000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3705605" y="2341626"/>
            <a:ext cx="381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4086605" y="2341626"/>
            <a:ext cx="762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303618" marR="306371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48606" y="2341626"/>
            <a:ext cx="381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5229606" y="2341626"/>
            <a:ext cx="762000" cy="381000"/>
          </a:xfrm>
          <a:prstGeom prst="rect">
            <a:avLst/>
          </a:prstGeom>
        </p:spPr>
        <p:txBody>
          <a:bodyPr wrap="square" lIns="0" tIns="454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303872" marR="306117" algn="ctr">
              <a:lnSpc>
                <a:spcPct val="102172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1606" y="2341626"/>
            <a:ext cx="19050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3705605" y="2722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1" name="object 11"/>
          <p:cNvSpPr txBox="1"/>
          <p:nvPr/>
        </p:nvSpPr>
        <p:spPr>
          <a:xfrm>
            <a:off x="4086605" y="2722626"/>
            <a:ext cx="381762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10" name="object 10"/>
          <p:cNvSpPr txBox="1"/>
          <p:nvPr/>
        </p:nvSpPr>
        <p:spPr>
          <a:xfrm>
            <a:off x="4468368" y="27226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9" name="object 9"/>
          <p:cNvSpPr txBox="1"/>
          <p:nvPr/>
        </p:nvSpPr>
        <p:spPr>
          <a:xfrm>
            <a:off x="4848606" y="2722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8" name="object 8"/>
          <p:cNvSpPr txBox="1"/>
          <p:nvPr/>
        </p:nvSpPr>
        <p:spPr>
          <a:xfrm>
            <a:off x="5229606" y="27226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7" name="object 7"/>
          <p:cNvSpPr txBox="1"/>
          <p:nvPr/>
        </p:nvSpPr>
        <p:spPr>
          <a:xfrm>
            <a:off x="5609844" y="2722626"/>
            <a:ext cx="381761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6" name="object 6"/>
          <p:cNvSpPr txBox="1"/>
          <p:nvPr/>
        </p:nvSpPr>
        <p:spPr>
          <a:xfrm>
            <a:off x="5991606" y="2722626"/>
            <a:ext cx="380238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5" name="object 5"/>
          <p:cNvSpPr txBox="1"/>
          <p:nvPr/>
        </p:nvSpPr>
        <p:spPr>
          <a:xfrm>
            <a:off x="6371844" y="2722626"/>
            <a:ext cx="381000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4" name="object 4"/>
          <p:cNvSpPr txBox="1"/>
          <p:nvPr/>
        </p:nvSpPr>
        <p:spPr>
          <a:xfrm>
            <a:off x="6752844" y="2722626"/>
            <a:ext cx="379475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3" name="object 3"/>
          <p:cNvSpPr txBox="1"/>
          <p:nvPr/>
        </p:nvSpPr>
        <p:spPr>
          <a:xfrm>
            <a:off x="7132320" y="2722626"/>
            <a:ext cx="387096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  <p:sp>
        <p:nvSpPr>
          <p:cNvPr id="2" name="object 2"/>
          <p:cNvSpPr txBox="1"/>
          <p:nvPr/>
        </p:nvSpPr>
        <p:spPr>
          <a:xfrm>
            <a:off x="7519416" y="2722626"/>
            <a:ext cx="377189" cy="75437"/>
          </a:xfrm>
          <a:prstGeom prst="rect">
            <a:avLst/>
          </a:prstGeom>
        </p:spPr>
        <p:txBody>
          <a:bodyPr wrap="square" lIns="0" tIns="558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sz="5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17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666" y="1070796"/>
            <a:ext cx="10182492" cy="432307"/>
          </a:xfrm>
          <a:prstGeom prst="rect">
            <a:avLst/>
          </a:prstGeom>
        </p:spPr>
        <p:txBody>
          <a:bodyPr wrap="square" lIns="0" tIns="21621" rIns="0" bIns="0" rtlCol="0">
            <a:noAutofit/>
          </a:bodyPr>
          <a:lstStyle/>
          <a:p>
            <a:pPr marL="12700">
              <a:lnSpc>
                <a:spcPts val="3404"/>
              </a:lnSpc>
            </a:pPr>
            <a:r>
              <a:rPr sz="3200" spc="0" dirty="0">
                <a:solidFill>
                  <a:srgbClr val="FFFFFF"/>
                </a:solidFill>
                <a:latin typeface="Century Gothic"/>
                <a:cs typeface="Century Gothic"/>
              </a:rPr>
              <a:t>BLOCK CALL PADA MODEL SISTIM PURE BLOCKING /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5431" y="1070796"/>
            <a:ext cx="1033371" cy="432307"/>
          </a:xfrm>
          <a:prstGeom prst="rect">
            <a:avLst/>
          </a:prstGeom>
        </p:spPr>
        <p:txBody>
          <a:bodyPr wrap="square" lIns="0" tIns="21621" rIns="0" bIns="0" rtlCol="0">
            <a:noAutofit/>
          </a:bodyPr>
          <a:lstStyle/>
          <a:p>
            <a:pPr marL="12700">
              <a:lnSpc>
                <a:spcPts val="3404"/>
              </a:lnSpc>
            </a:pPr>
            <a:r>
              <a:rPr sz="3200" dirty="0">
                <a:solidFill>
                  <a:srgbClr val="FFFFFF"/>
                </a:solidFill>
                <a:latin typeface="Century Gothic"/>
                <a:cs typeface="Century Gothic"/>
              </a:rPr>
              <a:t>LOSS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0610" y="1916314"/>
            <a:ext cx="9805283" cy="3345611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 marR="45720">
              <a:lnSpc>
                <a:spcPts val="2600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Pada model sistim loss beberapa call akan hilang (dibuang)</a:t>
            </a:r>
            <a:endParaRPr sz="2400">
              <a:latin typeface="Century Gothic"/>
              <a:cs typeface="Century Gothic"/>
            </a:endParaRPr>
          </a:p>
          <a:p>
            <a:pPr marL="241300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apabila ketika call datang pada sebuah sentral, </a:t>
            </a:r>
            <a:r>
              <a:rPr sz="2400" i="1" spc="0" dirty="0">
                <a:solidFill>
                  <a:srgbClr val="FFFFFF"/>
                </a:solidFill>
                <a:latin typeface="Century Gothic"/>
                <a:cs typeface="Century Gothic"/>
              </a:rPr>
              <a:t>n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saluran pada</a:t>
            </a:r>
            <a:endParaRPr sz="2400">
              <a:latin typeface="Century Gothic"/>
              <a:cs typeface="Century Gothic"/>
            </a:endParaRPr>
          </a:p>
          <a:p>
            <a:pPr marL="241300" marR="45720">
              <a:lnSpc>
                <a:spcPts val="2590"/>
              </a:lnSpc>
            </a:pP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sentral tersebut sedang sibuk (digunakan)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ct val="102172"/>
              </a:lnSpc>
              <a:spcBef>
                <a:spcPts val="51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Kondisi demikian dikatakan sebagai call mengalami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blocking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ct val="102172"/>
              </a:lnSpc>
              <a:spcBef>
                <a:spcPts val="64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Ada 2 tipe blocking:</a:t>
            </a:r>
            <a:endParaRPr sz="2400">
              <a:latin typeface="Century Gothic"/>
              <a:cs typeface="Century Gothic"/>
            </a:endParaRPr>
          </a:p>
          <a:p>
            <a:pPr marL="469874" marR="45720">
              <a:lnSpc>
                <a:spcPct val="102172"/>
              </a:lnSpc>
              <a:spcBef>
                <a:spcPts val="15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b="1" spc="23" dirty="0">
                <a:solidFill>
                  <a:srgbClr val="FFFFFF"/>
                </a:solidFill>
                <a:latin typeface="Century Gothic"/>
                <a:cs typeface="Century Gothic"/>
              </a:rPr>
              <a:t>Call Blocking</a:t>
            </a:r>
            <a:r>
              <a:rPr sz="2400" spc="23" dirty="0">
                <a:solidFill>
                  <a:srgbClr val="FFFFFF"/>
                </a:solidFill>
                <a:latin typeface="Century Gothic"/>
                <a:cs typeface="Century Gothic"/>
              </a:rPr>
              <a:t>, </a:t>
            </a:r>
            <a:r>
              <a:rPr sz="2400" i="1" spc="23" dirty="0">
                <a:solidFill>
                  <a:srgbClr val="FFFFFF"/>
                </a:solidFill>
                <a:latin typeface="Century Gothic"/>
                <a:cs typeface="Century Gothic"/>
              </a:rPr>
              <a:t>Bc </a:t>
            </a:r>
            <a:r>
              <a:rPr sz="2400" spc="23" dirty="0">
                <a:solidFill>
                  <a:srgbClr val="FFFFFF"/>
                </a:solidFill>
                <a:latin typeface="Century Gothic"/>
                <a:cs typeface="Century Gothic"/>
              </a:rPr>
              <a:t>= probabilitas bahwa call yang datang</a:t>
            </a:r>
            <a:endParaRPr sz="2400">
              <a:latin typeface="Century Gothic"/>
              <a:cs typeface="Century Gothic"/>
            </a:endParaRPr>
          </a:p>
          <a:p>
            <a:pPr marL="698474" marR="45720">
              <a:lnSpc>
                <a:spcPts val="2590"/>
              </a:lnSpc>
              <a:spcBef>
                <a:spcPts val="129"/>
              </a:spcBef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2400" i="1" spc="0" dirty="0">
                <a:solidFill>
                  <a:srgbClr val="FFFFFF"/>
                </a:solidFill>
                <a:latin typeface="Century Gothic"/>
                <a:cs typeface="Century Gothic"/>
              </a:rPr>
              <a:t>arriving call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) menemukan </a:t>
            </a:r>
            <a:r>
              <a:rPr sz="2400" i="1" spc="0" dirty="0">
                <a:solidFill>
                  <a:srgbClr val="FFFFFF"/>
                </a:solidFill>
                <a:latin typeface="Century Gothic"/>
                <a:cs typeface="Century Gothic"/>
              </a:rPr>
              <a:t>n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saluran yang sibuk</a:t>
            </a:r>
            <a:endParaRPr sz="2400">
              <a:latin typeface="Century Gothic"/>
              <a:cs typeface="Century Gothic"/>
            </a:endParaRPr>
          </a:p>
          <a:p>
            <a:pPr marL="469874" marR="45720">
              <a:lnSpc>
                <a:spcPct val="102172"/>
              </a:lnSpc>
              <a:spcBef>
                <a:spcPts val="20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Time blocking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, Bt = probabilitas bahwa  ada </a:t>
            </a:r>
            <a:r>
              <a:rPr sz="2400" i="1" spc="0" dirty="0">
                <a:solidFill>
                  <a:srgbClr val="FFFFFF"/>
                </a:solidFill>
                <a:latin typeface="Century Gothic"/>
                <a:cs typeface="Century Gothic"/>
              </a:rPr>
              <a:t>n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saluran yang</a:t>
            </a:r>
            <a:endParaRPr sz="2400">
              <a:latin typeface="Century Gothic"/>
              <a:cs typeface="Century Gothic"/>
            </a:endParaRPr>
          </a:p>
          <a:p>
            <a:pPr marL="698474" marR="45720">
              <a:lnSpc>
                <a:spcPts val="2590"/>
              </a:lnSpc>
              <a:spcBef>
                <a:spcPts val="129"/>
              </a:spcBef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sibuk di sembarang waktu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-443346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18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6790" y="1134328"/>
            <a:ext cx="4840116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8" dirty="0">
                <a:solidFill>
                  <a:srgbClr val="FFFFFF"/>
                </a:solidFill>
                <a:latin typeface="Century Gothic"/>
                <a:cs typeface="Century Gothic"/>
              </a:rPr>
              <a:t>GRADE OF SERVICE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88454" y="1134328"/>
            <a:ext cx="1261314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(1/2)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2240288"/>
            <a:ext cx="10691344" cy="288778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 marR="56056">
              <a:lnSpc>
                <a:spcPts val="2595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Dalam Loss system (sistem rugi), trafik yang dibawa atau dilayani oleh</a:t>
            </a:r>
            <a:endParaRPr sz="2400" dirty="0">
              <a:latin typeface="Century Gothic"/>
              <a:cs typeface="Century Gothic"/>
            </a:endParaRPr>
          </a:p>
          <a:p>
            <a:pPr marL="241300" marR="56056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jaringan lebih kecil dari trafik yang ditawarkan sesungguhnya ke</a:t>
            </a:r>
            <a:endParaRPr sz="2400" dirty="0">
              <a:latin typeface="Century Gothic"/>
              <a:cs typeface="Century Gothic"/>
            </a:endParaRPr>
          </a:p>
          <a:p>
            <a:pPr marL="241300" marR="56056">
              <a:lnSpc>
                <a:spcPts val="2590"/>
              </a:lnSpc>
            </a:pPr>
            <a:r>
              <a:rPr sz="2400" spc="2" dirty="0">
                <a:solidFill>
                  <a:srgbClr val="FFFFFF"/>
                </a:solidFill>
                <a:latin typeface="Century Gothic"/>
                <a:cs typeface="Century Gothic"/>
              </a:rPr>
              <a:t>jaringan</a:t>
            </a:r>
            <a:endParaRPr sz="2400" dirty="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51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Kelebihan trafik yang tidak mampu dilayani oleh jaringan akan ditolak</a:t>
            </a:r>
            <a:endParaRPr sz="2400" dirty="0">
              <a:latin typeface="Century Gothic"/>
              <a:cs typeface="Century Gothic"/>
            </a:endParaRPr>
          </a:p>
          <a:p>
            <a:pPr marL="241300" marR="56056">
              <a:lnSpc>
                <a:spcPts val="2595"/>
              </a:lnSpc>
              <a:spcBef>
                <a:spcPts val="129"/>
              </a:spcBef>
            </a:pPr>
            <a:r>
              <a:rPr sz="2400" spc="3" dirty="0">
                <a:solidFill>
                  <a:srgbClr val="FFFFFF"/>
                </a:solidFill>
                <a:latin typeface="Century Gothic"/>
                <a:cs typeface="Century Gothic"/>
              </a:rPr>
              <a:t>atau dibuang.</a:t>
            </a:r>
            <a:endParaRPr sz="2400" dirty="0">
              <a:latin typeface="Century Gothic"/>
              <a:cs typeface="Century Gothic"/>
            </a:endParaRPr>
          </a:p>
          <a:p>
            <a:pPr marL="241300" marR="294718" indent="-228600">
              <a:lnSpc>
                <a:spcPts val="2590"/>
              </a:lnSpc>
              <a:spcBef>
                <a:spcPts val="987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Jumlah trafik yang ditolak oleh jaringan digunakan sebagai indeks dari kualitas pelayanan dari jaringan yang disebut dengan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Grade of Service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(GoS)</a:t>
            </a: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1442" y="5864797"/>
            <a:ext cx="5904004" cy="396993"/>
          </a:xfrm>
          <a:prstGeom prst="rect">
            <a:avLst/>
          </a:prstGeom>
        </p:spPr>
        <p:txBody>
          <a:bodyPr wrap="square" lIns="0" tIns="19558" rIns="0" bIns="0" rtlCol="0">
            <a:noAutofit/>
          </a:bodyPr>
          <a:lstStyle/>
          <a:p>
            <a:pPr marL="12700">
              <a:lnSpc>
                <a:spcPts val="3080"/>
              </a:lnSpc>
            </a:pPr>
            <a:r>
              <a:rPr sz="2950" dirty="0">
                <a:latin typeface="Times New Roman"/>
                <a:cs typeface="Times New Roman"/>
              </a:rPr>
              <a:t>ju</a:t>
            </a:r>
            <a:r>
              <a:rPr sz="2950" spc="-54" dirty="0">
                <a:latin typeface="Times New Roman"/>
                <a:cs typeface="Times New Roman"/>
              </a:rPr>
              <a:t>m</a:t>
            </a:r>
            <a:r>
              <a:rPr sz="2950" spc="-39" dirty="0">
                <a:latin typeface="Times New Roman"/>
                <a:cs typeface="Times New Roman"/>
              </a:rPr>
              <a:t>l</a:t>
            </a:r>
            <a:r>
              <a:rPr sz="2950" spc="-25" dirty="0">
                <a:latin typeface="Times New Roman"/>
                <a:cs typeface="Times New Roman"/>
              </a:rPr>
              <a:t>a</a:t>
            </a:r>
            <a:r>
              <a:rPr sz="2950" spc="0" dirty="0">
                <a:latin typeface="Times New Roman"/>
                <a:cs typeface="Times New Roman"/>
              </a:rPr>
              <a:t>h</a:t>
            </a:r>
            <a:r>
              <a:rPr sz="2950" spc="47" dirty="0">
                <a:latin typeface="Times New Roman"/>
                <a:cs typeface="Times New Roman"/>
              </a:rPr>
              <a:t> </a:t>
            </a:r>
            <a:r>
              <a:rPr sz="2950" spc="0" dirty="0">
                <a:latin typeface="Times New Roman"/>
                <a:cs typeface="Times New Roman"/>
              </a:rPr>
              <a:t>t</a:t>
            </a:r>
            <a:r>
              <a:rPr sz="2950" spc="-14" dirty="0">
                <a:latin typeface="Times New Roman"/>
                <a:cs typeface="Times New Roman"/>
              </a:rPr>
              <a:t>r</a:t>
            </a:r>
            <a:r>
              <a:rPr sz="2950" spc="-25" dirty="0">
                <a:latin typeface="Times New Roman"/>
                <a:cs typeface="Times New Roman"/>
              </a:rPr>
              <a:t>a</a:t>
            </a:r>
            <a:r>
              <a:rPr sz="2950" spc="-19" dirty="0">
                <a:latin typeface="Times New Roman"/>
                <a:cs typeface="Times New Roman"/>
              </a:rPr>
              <a:t>f</a:t>
            </a:r>
            <a:r>
              <a:rPr sz="2950" spc="0" dirty="0">
                <a:latin typeface="Times New Roman"/>
                <a:cs typeface="Times New Roman"/>
              </a:rPr>
              <a:t>ik</a:t>
            </a:r>
            <a:r>
              <a:rPr sz="2950" spc="53" dirty="0">
                <a:latin typeface="Times New Roman"/>
                <a:cs typeface="Times New Roman"/>
              </a:rPr>
              <a:t> </a:t>
            </a:r>
            <a:r>
              <a:rPr sz="2950" spc="-109" dirty="0">
                <a:latin typeface="Times New Roman"/>
                <a:cs typeface="Times New Roman"/>
              </a:rPr>
              <a:t>y</a:t>
            </a:r>
            <a:r>
              <a:rPr sz="2950" spc="-25" dirty="0">
                <a:latin typeface="Times New Roman"/>
                <a:cs typeface="Times New Roman"/>
              </a:rPr>
              <a:t>a</a:t>
            </a:r>
            <a:r>
              <a:rPr sz="2950" spc="0" dirty="0">
                <a:latin typeface="Times New Roman"/>
                <a:cs typeface="Times New Roman"/>
              </a:rPr>
              <a:t>ng</a:t>
            </a:r>
            <a:r>
              <a:rPr sz="2950" spc="-11" dirty="0">
                <a:latin typeface="Times New Roman"/>
                <a:cs typeface="Times New Roman"/>
              </a:rPr>
              <a:t> </a:t>
            </a:r>
            <a:r>
              <a:rPr sz="2950" spc="-14" dirty="0">
                <a:latin typeface="Times New Roman"/>
                <a:cs typeface="Times New Roman"/>
              </a:rPr>
              <a:t>d</a:t>
            </a:r>
            <a:r>
              <a:rPr sz="2950" spc="0" dirty="0">
                <a:latin typeface="Times New Roman"/>
                <a:cs typeface="Times New Roman"/>
              </a:rPr>
              <a:t>i</a:t>
            </a:r>
            <a:r>
              <a:rPr sz="2950" spc="4" dirty="0">
                <a:latin typeface="Times New Roman"/>
                <a:cs typeface="Times New Roman"/>
              </a:rPr>
              <a:t>t</a:t>
            </a:r>
            <a:r>
              <a:rPr sz="2950" spc="-25" dirty="0">
                <a:latin typeface="Times New Roman"/>
                <a:cs typeface="Times New Roman"/>
              </a:rPr>
              <a:t>awa</a:t>
            </a:r>
            <a:r>
              <a:rPr sz="2950" spc="-19" dirty="0">
                <a:latin typeface="Times New Roman"/>
                <a:cs typeface="Times New Roman"/>
              </a:rPr>
              <a:t>r</a:t>
            </a:r>
            <a:r>
              <a:rPr sz="2950" spc="0" dirty="0">
                <a:latin typeface="Times New Roman"/>
                <a:cs typeface="Times New Roman"/>
              </a:rPr>
              <a:t>k</a:t>
            </a:r>
            <a:r>
              <a:rPr sz="2950" spc="-34" dirty="0">
                <a:latin typeface="Times New Roman"/>
                <a:cs typeface="Times New Roman"/>
              </a:rPr>
              <a:t>a</a:t>
            </a:r>
            <a:r>
              <a:rPr sz="2950" spc="0" dirty="0">
                <a:latin typeface="Times New Roman"/>
                <a:cs typeface="Times New Roman"/>
              </a:rPr>
              <a:t>n</a:t>
            </a:r>
            <a:r>
              <a:rPr sz="2950" spc="50" dirty="0">
                <a:latin typeface="Times New Roman"/>
                <a:cs typeface="Times New Roman"/>
              </a:rPr>
              <a:t> </a:t>
            </a:r>
            <a:r>
              <a:rPr sz="2950" spc="-19" dirty="0">
                <a:latin typeface="Times New Roman"/>
                <a:cs typeface="Times New Roman"/>
              </a:rPr>
              <a:t>(</a:t>
            </a:r>
            <a:r>
              <a:rPr sz="2950" spc="0" dirty="0">
                <a:latin typeface="Times New Roman"/>
                <a:cs typeface="Times New Roman"/>
              </a:rPr>
              <a:t>o</a:t>
            </a:r>
            <a:r>
              <a:rPr sz="2950" spc="-29" dirty="0">
                <a:latin typeface="Times New Roman"/>
                <a:cs typeface="Times New Roman"/>
              </a:rPr>
              <a:t>f</a:t>
            </a:r>
            <a:r>
              <a:rPr sz="2950" spc="-19" dirty="0">
                <a:latin typeface="Times New Roman"/>
                <a:cs typeface="Times New Roman"/>
              </a:rPr>
              <a:t>f</a:t>
            </a:r>
            <a:r>
              <a:rPr sz="2950" spc="-11" dirty="0">
                <a:latin typeface="Times New Roman"/>
                <a:cs typeface="Times New Roman"/>
              </a:rPr>
              <a:t>e</a:t>
            </a:r>
            <a:r>
              <a:rPr sz="2950" spc="-19" dirty="0">
                <a:latin typeface="Times New Roman"/>
                <a:cs typeface="Times New Roman"/>
              </a:rPr>
              <a:t>r</a:t>
            </a:r>
            <a:r>
              <a:rPr sz="2950" spc="-11" dirty="0">
                <a:latin typeface="Times New Roman"/>
                <a:cs typeface="Times New Roman"/>
              </a:rPr>
              <a:t>e</a:t>
            </a:r>
            <a:r>
              <a:rPr sz="2950" spc="0" dirty="0">
                <a:latin typeface="Times New Roman"/>
                <a:cs typeface="Times New Roman"/>
              </a:rPr>
              <a:t>d)</a:t>
            </a:r>
            <a:endParaRPr sz="2950" dirty="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350008" y="4922810"/>
            <a:ext cx="9095210" cy="1442938"/>
          </a:xfrm>
          <a:prstGeom prst="rect">
            <a:avLst/>
          </a:prstGeom>
        </p:spPr>
        <p:txBody>
          <a:bodyPr wrap="square" lIns="0" tIns="48895" rIns="0" bIns="0" rtlCol="0">
            <a:noAutofit/>
          </a:bodyPr>
          <a:lstStyle/>
          <a:p>
            <a:pPr marL="56605">
              <a:lnSpc>
                <a:spcPts val="3401"/>
              </a:lnSpc>
            </a:pPr>
            <a:r>
              <a:rPr sz="4425" i="1" spc="-19" baseline="-36357" dirty="0">
                <a:latin typeface="Times New Roman"/>
                <a:cs typeface="Times New Roman"/>
              </a:rPr>
              <a:t>GO</a:t>
            </a:r>
            <a:r>
              <a:rPr sz="4425" i="1" spc="0" baseline="-36357" dirty="0">
                <a:latin typeface="Times New Roman"/>
                <a:cs typeface="Times New Roman"/>
              </a:rPr>
              <a:t>S</a:t>
            </a:r>
            <a:r>
              <a:rPr sz="4425" i="1" spc="219" baseline="-36357" dirty="0">
                <a:latin typeface="Times New Roman"/>
                <a:cs typeface="Times New Roman"/>
              </a:rPr>
              <a:t> </a:t>
            </a:r>
            <a:r>
              <a:rPr sz="4425" spc="0" baseline="-34126" dirty="0">
                <a:latin typeface="Symbol"/>
                <a:cs typeface="Symbol"/>
              </a:rPr>
              <a:t></a:t>
            </a:r>
            <a:r>
              <a:rPr sz="4425" spc="0" baseline="-36357" dirty="0">
                <a:latin typeface="Times New Roman"/>
                <a:cs typeface="Times New Roman"/>
              </a:rPr>
              <a:t>     </a:t>
            </a:r>
            <a:r>
              <a:rPr sz="4425" spc="269" baseline="-36357" dirty="0">
                <a:latin typeface="Times New Roman"/>
                <a:cs typeface="Times New Roman"/>
              </a:rPr>
              <a:t> </a:t>
            </a:r>
            <a:r>
              <a:rPr sz="2950" spc="0" dirty="0">
                <a:latin typeface="Times New Roman"/>
                <a:cs typeface="Times New Roman"/>
              </a:rPr>
              <a:t>ju</a:t>
            </a:r>
            <a:r>
              <a:rPr sz="2950" spc="-54" dirty="0">
                <a:latin typeface="Times New Roman"/>
                <a:cs typeface="Times New Roman"/>
              </a:rPr>
              <a:t>m</a:t>
            </a:r>
            <a:r>
              <a:rPr sz="2950" spc="-39" dirty="0">
                <a:latin typeface="Times New Roman"/>
                <a:cs typeface="Times New Roman"/>
              </a:rPr>
              <a:t>l</a:t>
            </a:r>
            <a:r>
              <a:rPr sz="2950" spc="-25" dirty="0">
                <a:latin typeface="Times New Roman"/>
                <a:cs typeface="Times New Roman"/>
              </a:rPr>
              <a:t>a</a:t>
            </a:r>
            <a:r>
              <a:rPr sz="2950" spc="0" dirty="0">
                <a:latin typeface="Times New Roman"/>
                <a:cs typeface="Times New Roman"/>
              </a:rPr>
              <a:t>h</a:t>
            </a:r>
            <a:r>
              <a:rPr sz="2950" spc="47" dirty="0">
                <a:latin typeface="Times New Roman"/>
                <a:cs typeface="Times New Roman"/>
              </a:rPr>
              <a:t> </a:t>
            </a:r>
            <a:r>
              <a:rPr sz="2950" spc="0" dirty="0">
                <a:latin typeface="Times New Roman"/>
                <a:cs typeface="Times New Roman"/>
              </a:rPr>
              <a:t>t</a:t>
            </a:r>
            <a:r>
              <a:rPr sz="2950" spc="-14" dirty="0">
                <a:latin typeface="Times New Roman"/>
                <a:cs typeface="Times New Roman"/>
              </a:rPr>
              <a:t>r</a:t>
            </a:r>
            <a:r>
              <a:rPr sz="2950" spc="-25" dirty="0">
                <a:latin typeface="Times New Roman"/>
                <a:cs typeface="Times New Roman"/>
              </a:rPr>
              <a:t>a</a:t>
            </a:r>
            <a:r>
              <a:rPr sz="2950" spc="-19" dirty="0">
                <a:latin typeface="Times New Roman"/>
                <a:cs typeface="Times New Roman"/>
              </a:rPr>
              <a:t>f</a:t>
            </a:r>
            <a:r>
              <a:rPr sz="2950" spc="0" dirty="0">
                <a:latin typeface="Times New Roman"/>
                <a:cs typeface="Times New Roman"/>
              </a:rPr>
              <a:t>ik</a:t>
            </a:r>
            <a:r>
              <a:rPr sz="2950" spc="53" dirty="0">
                <a:latin typeface="Times New Roman"/>
                <a:cs typeface="Times New Roman"/>
              </a:rPr>
              <a:t> </a:t>
            </a:r>
            <a:r>
              <a:rPr sz="2950" spc="-109" dirty="0">
                <a:latin typeface="Times New Roman"/>
                <a:cs typeface="Times New Roman"/>
              </a:rPr>
              <a:t>y</a:t>
            </a:r>
            <a:r>
              <a:rPr sz="2950" spc="-25" dirty="0">
                <a:latin typeface="Times New Roman"/>
                <a:cs typeface="Times New Roman"/>
              </a:rPr>
              <a:t>a</a:t>
            </a:r>
            <a:r>
              <a:rPr sz="2950" spc="0" dirty="0">
                <a:latin typeface="Times New Roman"/>
                <a:cs typeface="Times New Roman"/>
              </a:rPr>
              <a:t>ng</a:t>
            </a:r>
            <a:r>
              <a:rPr sz="2950" spc="-11" dirty="0">
                <a:latin typeface="Times New Roman"/>
                <a:cs typeface="Times New Roman"/>
              </a:rPr>
              <a:t> </a:t>
            </a:r>
            <a:r>
              <a:rPr sz="2950" spc="-14" dirty="0">
                <a:latin typeface="Times New Roman"/>
                <a:cs typeface="Times New Roman"/>
              </a:rPr>
              <a:t>d</a:t>
            </a:r>
            <a:r>
              <a:rPr sz="2950" spc="7" dirty="0">
                <a:latin typeface="Times New Roman"/>
                <a:cs typeface="Times New Roman"/>
              </a:rPr>
              <a:t>i</a:t>
            </a:r>
            <a:r>
              <a:rPr sz="2950" spc="12" dirty="0">
                <a:latin typeface="Times New Roman"/>
                <a:cs typeface="Times New Roman"/>
              </a:rPr>
              <a:t>t</a:t>
            </a:r>
            <a:r>
              <a:rPr sz="2950" spc="13" dirty="0">
                <a:latin typeface="Times New Roman"/>
                <a:cs typeface="Times New Roman"/>
              </a:rPr>
              <a:t>o</a:t>
            </a:r>
            <a:r>
              <a:rPr sz="2950" spc="-41" dirty="0">
                <a:latin typeface="Times New Roman"/>
                <a:cs typeface="Times New Roman"/>
              </a:rPr>
              <a:t>l</a:t>
            </a:r>
            <a:r>
              <a:rPr sz="2950" spc="-11" dirty="0">
                <a:latin typeface="Times New Roman"/>
                <a:cs typeface="Times New Roman"/>
              </a:rPr>
              <a:t>a</a:t>
            </a:r>
            <a:r>
              <a:rPr sz="2950" spc="0" dirty="0">
                <a:latin typeface="Times New Roman"/>
                <a:cs typeface="Times New Roman"/>
              </a:rPr>
              <a:t>k</a:t>
            </a:r>
            <a:r>
              <a:rPr sz="2950" spc="-29" dirty="0">
                <a:latin typeface="Times New Roman"/>
                <a:cs typeface="Times New Roman"/>
              </a:rPr>
              <a:t>(</a:t>
            </a:r>
            <a:r>
              <a:rPr sz="2950" spc="-31" dirty="0">
                <a:latin typeface="Times New Roman"/>
                <a:cs typeface="Times New Roman"/>
              </a:rPr>
              <a:t>l</a:t>
            </a:r>
            <a:r>
              <a:rPr sz="2950" spc="0" dirty="0">
                <a:latin typeface="Times New Roman"/>
                <a:cs typeface="Times New Roman"/>
              </a:rPr>
              <a:t>o</a:t>
            </a:r>
            <a:r>
              <a:rPr sz="2950" spc="-9" dirty="0">
                <a:latin typeface="Times New Roman"/>
                <a:cs typeface="Times New Roman"/>
              </a:rPr>
              <a:t>s</a:t>
            </a:r>
            <a:r>
              <a:rPr sz="2950" spc="10" dirty="0">
                <a:latin typeface="Times New Roman"/>
                <a:cs typeface="Times New Roman"/>
              </a:rPr>
              <a:t>s</a:t>
            </a:r>
            <a:r>
              <a:rPr sz="2950" spc="-16" dirty="0">
                <a:latin typeface="Times New Roman"/>
                <a:cs typeface="Times New Roman"/>
              </a:rPr>
              <a:t>e</a:t>
            </a:r>
            <a:r>
              <a:rPr sz="2950" spc="0" dirty="0">
                <a:latin typeface="Times New Roman"/>
                <a:cs typeface="Times New Roman"/>
              </a:rPr>
              <a:t>s)</a:t>
            </a:r>
            <a:endParaRPr sz="2950" dirty="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4D4BF6-163D-4D74-8BB8-33FC19E67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790" y="5284925"/>
            <a:ext cx="3658111" cy="6858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34512" y="2904744"/>
            <a:ext cx="3438143" cy="1743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19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8547" y="908780"/>
            <a:ext cx="4839375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-1" dirty="0">
                <a:solidFill>
                  <a:srgbClr val="FFFFFF"/>
                </a:solidFill>
                <a:latin typeface="Century Gothic"/>
                <a:cs typeface="Century Gothic"/>
              </a:rPr>
              <a:t>GRADE OF SERVICE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29983" y="908780"/>
            <a:ext cx="1262464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(2/2)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4016" y="1873896"/>
            <a:ext cx="9218785" cy="333578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GoS (Bc) adalah perbandingan trafik yang ditolak terhadap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2616" y="2203712"/>
            <a:ext cx="2228452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2" dirty="0">
                <a:solidFill>
                  <a:srgbClr val="FFFFFF"/>
                </a:solidFill>
                <a:latin typeface="Century Gothic"/>
                <a:cs typeface="Century Gothic"/>
              </a:rPr>
              <a:t>perbandingan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11626" y="2203712"/>
            <a:ext cx="785861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2" dirty="0">
                <a:solidFill>
                  <a:srgbClr val="FFFFFF"/>
                </a:solidFill>
                <a:latin typeface="Century Gothic"/>
                <a:cs typeface="Century Gothic"/>
              </a:rPr>
              <a:t>trafik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7535" y="2203712"/>
            <a:ext cx="833715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yang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3355" y="2203712"/>
            <a:ext cx="1756268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2" dirty="0">
                <a:solidFill>
                  <a:srgbClr val="FFFFFF"/>
                </a:solidFill>
                <a:latin typeface="Century Gothic"/>
                <a:cs typeface="Century Gothic"/>
              </a:rPr>
              <a:t>ditawarkan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18401" y="2203712"/>
            <a:ext cx="420986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-4" dirty="0">
                <a:solidFill>
                  <a:srgbClr val="FFFFFF"/>
                </a:solidFill>
                <a:latin typeface="Century Gothic"/>
                <a:cs typeface="Century Gothic"/>
              </a:rPr>
              <a:t>ke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4265" y="2203712"/>
            <a:ext cx="822753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sistim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84845" y="2203712"/>
            <a:ext cx="1508371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2" dirty="0">
                <a:solidFill>
                  <a:srgbClr val="FFFFFF"/>
                </a:solidFill>
                <a:latin typeface="Century Gothic"/>
                <a:cs typeface="Century Gothic"/>
              </a:rPr>
              <a:t>(jaringan)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016" y="4941451"/>
            <a:ext cx="2085018" cy="788896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Jika A = Y+R</a:t>
            </a:r>
            <a:endParaRPr sz="2400">
              <a:latin typeface="Century Gothic"/>
              <a:cs typeface="Century Gothic"/>
            </a:endParaRPr>
          </a:p>
          <a:p>
            <a:pPr marL="12700" marR="46180">
              <a:lnSpc>
                <a:spcPct val="102172"/>
              </a:lnSpc>
              <a:spcBef>
                <a:spcPts val="51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Maka: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9713" y="5806029"/>
            <a:ext cx="296544" cy="381588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sz="2800" i="1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425952" y="5266944"/>
            <a:ext cx="1152144" cy="915924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64585">
              <a:lnSpc>
                <a:spcPts val="2478"/>
              </a:lnSpc>
            </a:pPr>
            <a:r>
              <a:rPr sz="2800" i="1" spc="40" dirty="0">
                <a:latin typeface="Times New Roman"/>
                <a:cs typeface="Times New Roman"/>
              </a:rPr>
              <a:t>Bc </a:t>
            </a:r>
            <a:r>
              <a:rPr sz="2800" spc="0" dirty="0">
                <a:latin typeface="Symbol"/>
                <a:cs typeface="Symbol"/>
              </a:rPr>
              <a:t>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4200" i="1" spc="40" baseline="36234" dirty="0"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4CF288-0928-422D-BB7B-64AD88829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175" y="5558344"/>
            <a:ext cx="1109678" cy="9159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20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1245" y="1071844"/>
            <a:ext cx="6173330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10" dirty="0">
                <a:solidFill>
                  <a:srgbClr val="FFFFFF"/>
                </a:solidFill>
                <a:latin typeface="Century Gothic"/>
                <a:cs typeface="Century Gothic"/>
              </a:rPr>
              <a:t>PROBABILITAS BLOCKING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87359" y="1071844"/>
            <a:ext cx="1261314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(1/2)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540" y="2240288"/>
            <a:ext cx="10043479" cy="1903245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241300" indent="-228600">
              <a:lnSpc>
                <a:spcPts val="2722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sz="2400" spc="29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Pro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ab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as</a:t>
            </a:r>
            <a:r>
              <a:rPr sz="2400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Bloc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ng (</a:t>
            </a:r>
            <a:r>
              <a:rPr sz="2400" i="1" spc="-4" dirty="0">
                <a:solidFill>
                  <a:srgbClr val="FFFFFF"/>
                </a:solidFill>
                <a:latin typeface="Century Gothic"/>
                <a:cs typeface="Century Gothic"/>
              </a:rPr>
              <a:t>P</a:t>
            </a:r>
            <a:r>
              <a:rPr sz="2400" i="1" spc="-4" baseline="-2039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def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4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seba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ai pr</a:t>
            </a:r>
            <a:r>
              <a:rPr sz="2400" spc="-4" dirty="0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bab</a:t>
            </a:r>
            <a:r>
              <a:rPr sz="2400" spc="1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tas</a:t>
            </a:r>
            <a:r>
              <a:rPr sz="2400" spc="-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sel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ruh </a:t>
            </a:r>
            <a:endParaRPr sz="2400">
              <a:latin typeface="Century Gothic"/>
              <a:cs typeface="Century Gothic"/>
            </a:endParaRPr>
          </a:p>
          <a:p>
            <a:pPr marL="241300">
              <a:lnSpc>
                <a:spcPts val="2942"/>
              </a:lnSpc>
            </a:pP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saluran (server) dalam sistem sedang sibuk.</a:t>
            </a:r>
            <a:endParaRPr sz="2400">
              <a:latin typeface="Century Gothic"/>
              <a:cs typeface="Century Gothic"/>
            </a:endParaRPr>
          </a:p>
          <a:p>
            <a:pPr marL="12700" marR="43356">
              <a:lnSpc>
                <a:spcPct val="102172"/>
              </a:lnSpc>
              <a:spcBef>
                <a:spcPts val="90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Jika seluruh saluran sibuk, tidak ada trafik yang bisa dilayani oleh</a:t>
            </a:r>
            <a:endParaRPr sz="2400">
              <a:latin typeface="Century Gothic"/>
              <a:cs typeface="Century Gothic"/>
            </a:endParaRPr>
          </a:p>
          <a:p>
            <a:pPr marL="241300" marR="43356">
              <a:lnSpc>
                <a:spcPts val="2590"/>
              </a:lnSpc>
              <a:spcBef>
                <a:spcPts val="129"/>
              </a:spcBef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sistem dan panggilan yang datang akan ditolak.</a:t>
            </a:r>
            <a:endParaRPr sz="2400">
              <a:latin typeface="Century Gothic"/>
              <a:cs typeface="Century Gothic"/>
            </a:endParaRPr>
          </a:p>
          <a:p>
            <a:pPr marL="12700" marR="43356">
              <a:lnSpc>
                <a:spcPct val="102172"/>
              </a:lnSpc>
              <a:spcBef>
                <a:spcPts val="517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Dalam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Loss System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, </a:t>
            </a:r>
            <a:r>
              <a:rPr sz="24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probabilitas blocking sama dengan GOS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40" y="4139446"/>
            <a:ext cx="7707771" cy="659384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dikarenakan lamanya holding time call yang hilang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dengan holding time call yang terlayani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3861" y="4139446"/>
            <a:ext cx="2467345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dianggap sama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4926211"/>
            <a:ext cx="10137084" cy="659384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Semakin besr nilai Probabilitas Blocking, semakin buruk kualitas dari</a:t>
            </a:r>
            <a:endParaRPr sz="2400">
              <a:latin typeface="Century Gothic"/>
              <a:cs typeface="Century Gothic"/>
            </a:endParaRPr>
          </a:p>
          <a:p>
            <a:pPr marL="241300" marR="46180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sistim dalam melayani call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08596" y="3933317"/>
            <a:ext cx="8171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7061849" y="3933317"/>
            <a:ext cx="8024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7965175" y="3933317"/>
            <a:ext cx="8243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9240554" y="3933317"/>
            <a:ext cx="8264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21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1245" y="1071844"/>
            <a:ext cx="6173330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10" dirty="0">
                <a:solidFill>
                  <a:srgbClr val="FFFFFF"/>
                </a:solidFill>
                <a:latin typeface="Century Gothic"/>
                <a:cs typeface="Century Gothic"/>
              </a:rPr>
              <a:t>PROBABILITAS BLOCKING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87359" y="1071844"/>
            <a:ext cx="1261314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(2/2)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2240288"/>
            <a:ext cx="10628640" cy="333271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Perbedaan mendasar antara GOS dan probabilitas blocking adalah :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1740" y="2631956"/>
            <a:ext cx="325035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1.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8939" y="2631956"/>
            <a:ext cx="5920121" cy="1318005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 marR="7805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GOS diukur dari titik pelanggan,diamati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ts val="2590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Sedangkan probabilitas blocking diukur</a:t>
            </a:r>
            <a:endParaRPr sz="2400">
              <a:latin typeface="Century Gothic"/>
              <a:cs typeface="Century Gothic"/>
            </a:endParaRPr>
          </a:p>
          <a:p>
            <a:pPr marL="12700" marR="8189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switching, dimana diamati server-server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ts val="2595"/>
              </a:lnSpc>
              <a:spcBef>
                <a:spcPts val="0"/>
              </a:spcBef>
            </a:pP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dalam system switching.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0045" y="2631956"/>
            <a:ext cx="3611317" cy="988622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969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panggilan yang ditolak.</a:t>
            </a:r>
            <a:endParaRPr sz="2400">
              <a:latin typeface="Century Gothic"/>
              <a:cs typeface="Century Gothic"/>
            </a:endParaRPr>
          </a:p>
          <a:p>
            <a:pPr marL="23637" marR="45720">
              <a:lnSpc>
                <a:spcPts val="2590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dari titik network atau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(saluran) yang sibuk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1740" y="4012954"/>
            <a:ext cx="325035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2.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8939" y="4012954"/>
            <a:ext cx="9450745" cy="988622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GOS disebut juga dengan </a:t>
            </a:r>
            <a:r>
              <a:rPr sz="2400" i="1" spc="0" dirty="0">
                <a:solidFill>
                  <a:srgbClr val="FFFFFF"/>
                </a:solidFill>
                <a:latin typeface="Century Gothic"/>
                <a:cs typeface="Century Gothic"/>
              </a:rPr>
              <a:t>Call congestion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atau </a:t>
            </a:r>
            <a:r>
              <a:rPr sz="2400" i="1" spc="0" dirty="0">
                <a:solidFill>
                  <a:srgbClr val="FFFFFF"/>
                </a:solidFill>
                <a:latin typeface="Century Gothic"/>
                <a:cs typeface="Century Gothic"/>
              </a:rPr>
              <a:t>Loss probability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sedangkan probabilitas blocking disebut dengan </a:t>
            </a:r>
            <a:r>
              <a:rPr sz="2400" i="1" spc="0" dirty="0">
                <a:solidFill>
                  <a:srgbClr val="FFFFFF"/>
                </a:solidFill>
                <a:latin typeface="Century Gothic"/>
                <a:cs typeface="Century Gothic"/>
              </a:rPr>
              <a:t>Time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ts val="2590"/>
              </a:lnSpc>
            </a:pPr>
            <a:r>
              <a:rPr sz="2400" i="1" spc="0" dirty="0">
                <a:solidFill>
                  <a:srgbClr val="FFFFFF"/>
                </a:solidFill>
                <a:latin typeface="Century Gothic"/>
                <a:cs typeface="Century Gothic"/>
              </a:rPr>
              <a:t>congestion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0200" y="3066288"/>
            <a:ext cx="9224834" cy="1277112"/>
          </a:xfrm>
          <a:custGeom>
            <a:avLst/>
            <a:gdLst/>
            <a:ahLst/>
            <a:cxnLst/>
            <a:rect l="l" t="t" r="r" b="b"/>
            <a:pathLst>
              <a:path w="6946392" h="1109472">
                <a:moveTo>
                  <a:pt x="0" y="1109472"/>
                </a:moveTo>
                <a:lnTo>
                  <a:pt x="6946392" y="1109472"/>
                </a:lnTo>
                <a:lnTo>
                  <a:pt x="6946392" y="0"/>
                </a:lnTo>
                <a:lnTo>
                  <a:pt x="0" y="0"/>
                </a:lnTo>
                <a:lnTo>
                  <a:pt x="0" y="11094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55948" y="5256276"/>
            <a:ext cx="1982724" cy="505968"/>
          </a:xfrm>
          <a:custGeom>
            <a:avLst/>
            <a:gdLst/>
            <a:ahLst/>
            <a:cxnLst/>
            <a:rect l="l" t="t" r="r" b="b"/>
            <a:pathLst>
              <a:path w="1982724" h="505968">
                <a:moveTo>
                  <a:pt x="0" y="505968"/>
                </a:moveTo>
                <a:lnTo>
                  <a:pt x="1982724" y="505968"/>
                </a:lnTo>
                <a:lnTo>
                  <a:pt x="1982724" y="0"/>
                </a:lnTo>
                <a:lnTo>
                  <a:pt x="0" y="0"/>
                </a:lnTo>
                <a:lnTo>
                  <a:pt x="0" y="5059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22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9995" y="966057"/>
            <a:ext cx="5077103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QUALITY OF SERVICE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4216" y="2125607"/>
            <a:ext cx="9750818" cy="659384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Rasio dari panggilan yang berhasil dilayani terhadap panggilan</a:t>
            </a:r>
            <a:endParaRPr sz="2400">
              <a:latin typeface="Century Gothic"/>
              <a:cs typeface="Century Gothic"/>
            </a:endParaRPr>
          </a:p>
          <a:p>
            <a:pPr marL="241249" marR="46180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yang datang (offered)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54933" y="3680339"/>
            <a:ext cx="1103730" cy="400379"/>
          </a:xfrm>
          <a:prstGeom prst="rect">
            <a:avLst/>
          </a:prstGeom>
        </p:spPr>
        <p:txBody>
          <a:bodyPr wrap="square" lIns="0" tIns="19780" rIns="0" bIns="0" rtlCol="0">
            <a:noAutofit/>
          </a:bodyPr>
          <a:lstStyle/>
          <a:p>
            <a:pPr marL="12700">
              <a:lnSpc>
                <a:spcPts val="3115"/>
              </a:lnSpc>
            </a:pPr>
            <a:r>
              <a:rPr sz="2950" spc="-32" dirty="0">
                <a:latin typeface="Times New Roman"/>
                <a:cs typeface="Times New Roman"/>
              </a:rPr>
              <a:t>jumlah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61614" y="3680339"/>
            <a:ext cx="3577418" cy="400379"/>
          </a:xfrm>
          <a:prstGeom prst="rect">
            <a:avLst/>
          </a:prstGeom>
        </p:spPr>
        <p:txBody>
          <a:bodyPr wrap="square" lIns="0" tIns="19780" rIns="0" bIns="0" rtlCol="0">
            <a:noAutofit/>
          </a:bodyPr>
          <a:lstStyle/>
          <a:p>
            <a:pPr marL="12700">
              <a:lnSpc>
                <a:spcPts val="3115"/>
              </a:lnSpc>
            </a:pPr>
            <a:r>
              <a:rPr sz="2950" spc="-30" dirty="0">
                <a:latin typeface="Times New Roman"/>
                <a:cs typeface="Times New Roman"/>
              </a:rPr>
              <a:t>panggilan total(offered)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4216" y="4734825"/>
            <a:ext cx="7681049" cy="333578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Jika A = Y+R, dan QoS = Y/A, dan Bc = R/A, maka: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5948" y="5256276"/>
            <a:ext cx="1982724" cy="505968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43831">
              <a:lnSpc>
                <a:spcPts val="3400"/>
              </a:lnSpc>
            </a:pPr>
            <a:r>
              <a:rPr sz="3000" i="1" spc="-53" dirty="0">
                <a:latin typeface="Times New Roman"/>
                <a:cs typeface="Times New Roman"/>
              </a:rPr>
              <a:t>QoS </a:t>
            </a:r>
            <a:r>
              <a:rPr sz="3000" spc="0" dirty="0">
                <a:latin typeface="Symbol"/>
                <a:cs typeface="Symbol"/>
              </a:rPr>
              <a:t></a:t>
            </a:r>
            <a:r>
              <a:rPr sz="3000" spc="-53" dirty="0">
                <a:latin typeface="Times New Roman"/>
                <a:cs typeface="Times New Roman"/>
              </a:rPr>
              <a:t> 1</a:t>
            </a:r>
            <a:r>
              <a:rPr sz="3000" spc="0" dirty="0">
                <a:latin typeface="Symbol"/>
                <a:cs typeface="Symbol"/>
              </a:rPr>
              <a:t></a:t>
            </a:r>
            <a:r>
              <a:rPr sz="3000" spc="-53" dirty="0">
                <a:latin typeface="Times New Roman"/>
                <a:cs typeface="Times New Roman"/>
              </a:rPr>
              <a:t> </a:t>
            </a:r>
            <a:r>
              <a:rPr sz="3000" i="1" spc="-53" dirty="0">
                <a:latin typeface="Times New Roman"/>
                <a:cs typeface="Times New Roman"/>
              </a:rPr>
              <a:t>Bc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061972" y="3066288"/>
            <a:ext cx="6946392" cy="1277112"/>
          </a:xfrm>
          <a:prstGeom prst="rect">
            <a:avLst/>
          </a:prstGeom>
        </p:spPr>
        <p:txBody>
          <a:bodyPr wrap="square" lIns="0" tIns="46990" rIns="0" bIns="0" rtlCol="0">
            <a:noAutofit/>
          </a:bodyPr>
          <a:lstStyle/>
          <a:p>
            <a:pPr marL="56459">
              <a:lnSpc>
                <a:spcPts val="3401"/>
              </a:lnSpc>
            </a:pPr>
            <a:r>
              <a:rPr sz="4425" i="1" spc="-7" baseline="-36357" dirty="0">
                <a:latin typeface="Times New Roman"/>
                <a:cs typeface="Times New Roman"/>
              </a:rPr>
              <a:t>QoS </a:t>
            </a:r>
            <a:r>
              <a:rPr sz="4425" spc="0" baseline="-34126" dirty="0">
                <a:latin typeface="Symbol"/>
                <a:cs typeface="Symbol"/>
              </a:rPr>
              <a:t></a:t>
            </a:r>
            <a:r>
              <a:rPr sz="4425" spc="-7" baseline="-36357" dirty="0">
                <a:latin typeface="Times New Roman"/>
                <a:cs typeface="Times New Roman"/>
              </a:rPr>
              <a:t> </a:t>
            </a:r>
            <a:r>
              <a:rPr sz="2950" spc="-7" dirty="0">
                <a:latin typeface="Times New Roman"/>
                <a:cs typeface="Times New Roman"/>
              </a:rPr>
              <a:t>jumlah panggilan yang </a:t>
            </a:r>
            <a:r>
              <a:rPr lang="en-US" sz="2950" spc="-28" dirty="0" err="1">
                <a:latin typeface="Times New Roman"/>
                <a:cs typeface="Times New Roman"/>
              </a:rPr>
              <a:t>sukses</a:t>
            </a:r>
            <a:r>
              <a:rPr lang="en-US" sz="2950" spc="-28" dirty="0">
                <a:latin typeface="Times New Roman"/>
                <a:cs typeface="Times New Roman"/>
              </a:rPr>
              <a:t>(carried)</a:t>
            </a:r>
            <a:endParaRPr lang="en-US" sz="2950" dirty="0">
              <a:latin typeface="Times New Roman"/>
              <a:cs typeface="Times New Roman"/>
            </a:endParaRPr>
          </a:p>
          <a:p>
            <a:pPr marL="56459">
              <a:lnSpc>
                <a:spcPts val="3401"/>
              </a:lnSpc>
            </a:pPr>
            <a:endParaRPr sz="2950" dirty="0">
              <a:latin typeface="Times New Roman"/>
              <a:cs typeface="Times New Roman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99CD41-DCB8-4785-9D75-FE65A3DB1AF7}"/>
              </a:ext>
            </a:extLst>
          </p:cNvPr>
          <p:cNvCxnSpPr/>
          <p:nvPr/>
        </p:nvCxnSpPr>
        <p:spPr>
          <a:xfrm>
            <a:off x="3200400" y="3639069"/>
            <a:ext cx="55548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23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635" y="1053921"/>
            <a:ext cx="5831833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ANALISA TELETRAFIK PADA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0022" y="1053921"/>
            <a:ext cx="1157952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LOSS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68742" y="1053921"/>
            <a:ext cx="1679892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SYSTEM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61829" y="1053921"/>
            <a:ext cx="1138476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(1/2)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2200552"/>
            <a:ext cx="7981719" cy="3808774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38176">
              <a:lnSpc>
                <a:spcPts val="3010"/>
              </a:lnSpc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b="1" spc="-103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b="1" u="heavy" spc="-103" dirty="0">
                <a:solidFill>
                  <a:srgbClr val="FFFFFF"/>
                </a:solidFill>
                <a:latin typeface="Century Gothic"/>
                <a:cs typeface="Century Gothic"/>
              </a:rPr>
              <a:t>Terms:</a:t>
            </a:r>
            <a:endParaRPr sz="2800">
              <a:latin typeface="Century Gothic"/>
              <a:cs typeface="Century Gothic"/>
            </a:endParaRPr>
          </a:p>
          <a:p>
            <a:pPr marL="543051" marR="38176">
              <a:lnSpc>
                <a:spcPct val="102172"/>
              </a:lnSpc>
              <a:spcBef>
                <a:spcPts val="259"/>
              </a:spcBef>
            </a:pPr>
            <a:r>
              <a:rPr sz="2200" spc="75" dirty="0">
                <a:solidFill>
                  <a:srgbClr val="FFFFFF"/>
                </a:solidFill>
                <a:latin typeface="Arial"/>
                <a:cs typeface="Arial"/>
              </a:rPr>
              <a:t>•  </a:t>
            </a:r>
            <a:r>
              <a:rPr sz="2200" spc="-2" dirty="0">
                <a:solidFill>
                  <a:srgbClr val="FFFFFF"/>
                </a:solidFill>
                <a:latin typeface="Century Gothic"/>
                <a:cs typeface="Century Gothic"/>
              </a:rPr>
              <a:t>Kapasitas sistem:</a:t>
            </a:r>
            <a:endParaRPr sz="2200">
              <a:latin typeface="Century Gothic"/>
              <a:cs typeface="Century Gothic"/>
            </a:endParaRPr>
          </a:p>
          <a:p>
            <a:pPr marL="927099" marR="38176">
              <a:lnSpc>
                <a:spcPts val="2415"/>
              </a:lnSpc>
              <a:spcBef>
                <a:spcPts val="120"/>
              </a:spcBef>
            </a:pPr>
            <a:r>
              <a:rPr sz="2000" i="1" spc="-1" dirty="0">
                <a:solidFill>
                  <a:srgbClr val="FFFFFF"/>
                </a:solidFill>
                <a:latin typeface="Century Gothic"/>
                <a:cs typeface="Century Gothic"/>
              </a:rPr>
              <a:t>n </a:t>
            </a:r>
            <a:r>
              <a:rPr sz="2000" spc="-1" dirty="0">
                <a:solidFill>
                  <a:srgbClr val="FFFFFF"/>
                </a:solidFill>
                <a:latin typeface="Century Gothic"/>
                <a:cs typeface="Century Gothic"/>
              </a:rPr>
              <a:t>= jumlah saluran (kanal) dalam sistim</a:t>
            </a:r>
            <a:endParaRPr sz="2000">
              <a:latin typeface="Century Gothic"/>
              <a:cs typeface="Century Gothic"/>
            </a:endParaRPr>
          </a:p>
          <a:p>
            <a:pPr marL="543051" marR="38176">
              <a:lnSpc>
                <a:spcPct val="102172"/>
              </a:lnSpc>
              <a:spcBef>
                <a:spcPts val="284"/>
              </a:spcBef>
            </a:pPr>
            <a:r>
              <a:rPr sz="2200" spc="74" dirty="0">
                <a:solidFill>
                  <a:srgbClr val="FFFFFF"/>
                </a:solidFill>
                <a:latin typeface="Arial"/>
                <a:cs typeface="Arial"/>
              </a:rPr>
              <a:t>•  </a:t>
            </a:r>
            <a:r>
              <a:rPr sz="2200" spc="-4" dirty="0">
                <a:solidFill>
                  <a:srgbClr val="FFFFFF"/>
                </a:solidFill>
                <a:latin typeface="Century Gothic"/>
                <a:cs typeface="Century Gothic"/>
              </a:rPr>
              <a:t>Beban trafik</a:t>
            </a:r>
            <a:endParaRPr sz="2200">
              <a:latin typeface="Century Gothic"/>
              <a:cs typeface="Century Gothic"/>
            </a:endParaRPr>
          </a:p>
          <a:p>
            <a:pPr marL="927099" marR="38176">
              <a:lnSpc>
                <a:spcPts val="2430"/>
              </a:lnSpc>
              <a:spcBef>
                <a:spcPts val="121"/>
              </a:spcBef>
            </a:pPr>
            <a:r>
              <a:rPr sz="2000" i="1" spc="-1" dirty="0">
                <a:solidFill>
                  <a:srgbClr val="FFFFFF"/>
                </a:solidFill>
                <a:latin typeface="Century Gothic"/>
                <a:cs typeface="Century Gothic"/>
              </a:rPr>
              <a:t>a </a:t>
            </a:r>
            <a:r>
              <a:rPr sz="2000" spc="-1" dirty="0">
                <a:solidFill>
                  <a:srgbClr val="FFFFFF"/>
                </a:solidFill>
                <a:latin typeface="Century Gothic"/>
                <a:cs typeface="Century Gothic"/>
              </a:rPr>
              <a:t>= intensitas trafik (yang datang/offered)</a:t>
            </a:r>
            <a:endParaRPr sz="2000">
              <a:latin typeface="Century Gothic"/>
              <a:cs typeface="Century Gothic"/>
            </a:endParaRPr>
          </a:p>
          <a:p>
            <a:pPr marL="543051" marR="38176">
              <a:lnSpc>
                <a:spcPct val="102172"/>
              </a:lnSpc>
              <a:spcBef>
                <a:spcPts val="283"/>
              </a:spcBef>
            </a:pPr>
            <a:r>
              <a:rPr sz="2200" spc="75" dirty="0">
                <a:solidFill>
                  <a:srgbClr val="FFFFFF"/>
                </a:solidFill>
                <a:latin typeface="Arial"/>
                <a:cs typeface="Arial"/>
              </a:rPr>
              <a:t>•  </a:t>
            </a:r>
            <a:r>
              <a:rPr sz="2200" i="1" spc="-5" dirty="0">
                <a:solidFill>
                  <a:srgbClr val="FFFFFF"/>
                </a:solidFill>
                <a:latin typeface="Century Gothic"/>
                <a:cs typeface="Century Gothic"/>
              </a:rPr>
              <a:t>Grade of Service </a:t>
            </a:r>
            <a:r>
              <a:rPr sz="2200" spc="-5" dirty="0">
                <a:solidFill>
                  <a:srgbClr val="FFFFFF"/>
                </a:solidFill>
                <a:latin typeface="Century Gothic"/>
                <a:cs typeface="Century Gothic"/>
              </a:rPr>
              <a:t>(dari sudut pandang pelanggan)</a:t>
            </a:r>
            <a:endParaRPr sz="2200">
              <a:latin typeface="Century Gothic"/>
              <a:cs typeface="Century Gothic"/>
            </a:endParaRPr>
          </a:p>
          <a:p>
            <a:pPr marL="927099" marR="38176">
              <a:lnSpc>
                <a:spcPts val="2430"/>
              </a:lnSpc>
              <a:spcBef>
                <a:spcPts val="121"/>
              </a:spcBef>
            </a:pPr>
            <a:r>
              <a:rPr sz="2000" i="1" spc="-2" dirty="0">
                <a:solidFill>
                  <a:srgbClr val="FFFFFF"/>
                </a:solidFill>
                <a:latin typeface="Century Gothic"/>
                <a:cs typeface="Century Gothic"/>
              </a:rPr>
              <a:t>Bc </a:t>
            </a:r>
            <a:r>
              <a:rPr sz="2000" spc="-2" dirty="0">
                <a:solidFill>
                  <a:srgbClr val="FFFFFF"/>
                </a:solidFill>
                <a:latin typeface="Century Gothic"/>
                <a:cs typeface="Century Gothic"/>
              </a:rPr>
              <a:t>= call blocking =faktor blocking</a:t>
            </a:r>
            <a:endParaRPr sz="2000">
              <a:latin typeface="Century Gothic"/>
              <a:cs typeface="Century Gothic"/>
            </a:endParaRPr>
          </a:p>
          <a:p>
            <a:pPr marL="1170940">
              <a:lnSpc>
                <a:spcPts val="2410"/>
              </a:lnSpc>
            </a:pPr>
            <a:r>
              <a:rPr sz="2000" spc="-1" dirty="0">
                <a:solidFill>
                  <a:srgbClr val="FFFFFF"/>
                </a:solidFill>
                <a:latin typeface="Century Gothic"/>
                <a:cs typeface="Century Gothic"/>
              </a:rPr>
              <a:t>= Probabilitas bahwa call yang datang akan menemui</a:t>
            </a:r>
            <a:endParaRPr sz="2000">
              <a:latin typeface="Century Gothic"/>
              <a:cs typeface="Century Gothic"/>
            </a:endParaRPr>
          </a:p>
          <a:p>
            <a:pPr marL="543051" marR="38176">
              <a:lnSpc>
                <a:spcPct val="102172"/>
              </a:lnSpc>
              <a:spcBef>
                <a:spcPts val="299"/>
              </a:spcBef>
            </a:pPr>
            <a:r>
              <a:rPr sz="2200" spc="75" dirty="0">
                <a:solidFill>
                  <a:srgbClr val="FFFFFF"/>
                </a:solidFill>
                <a:latin typeface="Arial"/>
                <a:cs typeface="Arial"/>
              </a:rPr>
              <a:t>•  </a:t>
            </a:r>
            <a:r>
              <a:rPr sz="2200" i="1" spc="-5" dirty="0">
                <a:solidFill>
                  <a:srgbClr val="FFFFFF"/>
                </a:solidFill>
                <a:latin typeface="Century Gothic"/>
                <a:cs typeface="Century Gothic"/>
              </a:rPr>
              <a:t>Quality of Service </a:t>
            </a:r>
            <a:r>
              <a:rPr sz="2200" spc="-5" dirty="0">
                <a:solidFill>
                  <a:srgbClr val="FFFFFF"/>
                </a:solidFill>
                <a:latin typeface="Century Gothic"/>
                <a:cs typeface="Century Gothic"/>
              </a:rPr>
              <a:t>(dari sudut pandang pelanggan)</a:t>
            </a:r>
            <a:endParaRPr sz="2200">
              <a:latin typeface="Century Gothic"/>
              <a:cs typeface="Century Gothic"/>
            </a:endParaRPr>
          </a:p>
          <a:p>
            <a:pPr marL="927099" marR="38176">
              <a:lnSpc>
                <a:spcPts val="2415"/>
              </a:lnSpc>
              <a:spcBef>
                <a:spcPts val="120"/>
              </a:spcBef>
            </a:pPr>
            <a:r>
              <a:rPr sz="2000" spc="-1" dirty="0">
                <a:solidFill>
                  <a:srgbClr val="FFFFFF"/>
                </a:solidFill>
                <a:latin typeface="Century Gothic"/>
                <a:cs typeface="Century Gothic"/>
              </a:rPr>
              <a:t>QoS =1 – Bc</a:t>
            </a:r>
            <a:endParaRPr sz="2000">
              <a:latin typeface="Century Gothic"/>
              <a:cs typeface="Century Gothic"/>
            </a:endParaRPr>
          </a:p>
          <a:p>
            <a:pPr marL="1146555" marR="38176">
              <a:lnSpc>
                <a:spcPts val="2425"/>
              </a:lnSpc>
              <a:spcBef>
                <a:spcPts val="0"/>
              </a:spcBef>
            </a:pPr>
            <a:r>
              <a:rPr sz="2000" spc="-1" dirty="0">
                <a:solidFill>
                  <a:srgbClr val="FFFFFF"/>
                </a:solidFill>
                <a:latin typeface="Century Gothic"/>
                <a:cs typeface="Century Gothic"/>
              </a:rPr>
              <a:t>= Probabilitas bahwa call yang datang akan terlayani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49665" y="4718677"/>
            <a:ext cx="1173711" cy="279907"/>
          </a:xfrm>
          <a:prstGeom prst="rect">
            <a:avLst/>
          </a:prstGeom>
        </p:spPr>
        <p:txBody>
          <a:bodyPr wrap="square" lIns="0" tIns="13874" rIns="0" bIns="0" rtlCol="0">
            <a:noAutofit/>
          </a:bodyPr>
          <a:lstStyle/>
          <a:p>
            <a:pPr marL="12700">
              <a:lnSpc>
                <a:spcPts val="2185"/>
              </a:lnSpc>
            </a:pPr>
            <a:r>
              <a:rPr sz="2000" i="1" spc="0" dirty="0">
                <a:solidFill>
                  <a:srgbClr val="FFFFFF"/>
                </a:solidFill>
                <a:latin typeface="Century Gothic"/>
                <a:cs typeface="Century Gothic"/>
              </a:rPr>
              <a:t>n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saluran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26193" y="4718677"/>
            <a:ext cx="1375392" cy="279907"/>
          </a:xfrm>
          <a:prstGeom prst="rect">
            <a:avLst/>
          </a:prstGeom>
        </p:spPr>
        <p:txBody>
          <a:bodyPr wrap="square" lIns="0" tIns="13874" rIns="0" bIns="0" rtlCol="0">
            <a:noAutofit/>
          </a:bodyPr>
          <a:lstStyle/>
          <a:p>
            <a:pPr marL="12700">
              <a:lnSpc>
                <a:spcPts val="2185"/>
              </a:lnSpc>
            </a:pP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yang sibuk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54752" y="4511040"/>
            <a:ext cx="720852" cy="1295400"/>
          </a:xfrm>
          <a:custGeom>
            <a:avLst/>
            <a:gdLst/>
            <a:ahLst/>
            <a:cxnLst/>
            <a:rect l="l" t="t" r="r" b="b"/>
            <a:pathLst>
              <a:path w="720851" h="1295400">
                <a:moveTo>
                  <a:pt x="0" y="323850"/>
                </a:moveTo>
                <a:lnTo>
                  <a:pt x="360426" y="323850"/>
                </a:lnTo>
                <a:lnTo>
                  <a:pt x="360426" y="0"/>
                </a:lnTo>
                <a:lnTo>
                  <a:pt x="720852" y="647700"/>
                </a:lnTo>
                <a:lnTo>
                  <a:pt x="360426" y="1295400"/>
                </a:lnTo>
                <a:lnTo>
                  <a:pt x="360426" y="971550"/>
                </a:lnTo>
                <a:lnTo>
                  <a:pt x="0" y="971550"/>
                </a:lnTo>
                <a:lnTo>
                  <a:pt x="0" y="32385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24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6960" y="819225"/>
            <a:ext cx="8732075" cy="1573835"/>
          </a:xfrm>
          <a:prstGeom prst="rect">
            <a:avLst/>
          </a:prstGeom>
        </p:spPr>
        <p:txBody>
          <a:bodyPr wrap="square" lIns="0" tIns="24415" rIns="0" bIns="0" rtlCol="0">
            <a:noAutofit/>
          </a:bodyPr>
          <a:lstStyle/>
          <a:p>
            <a:pPr marL="12700">
              <a:lnSpc>
                <a:spcPts val="3845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ANALISA TELETRAFIK PADA LOSS SYSTEM</a:t>
            </a:r>
            <a:endParaRPr sz="3600" dirty="0">
              <a:latin typeface="Century Gothic"/>
              <a:cs typeface="Century Gothic"/>
            </a:endParaRPr>
          </a:p>
          <a:p>
            <a:pPr marL="12700" marR="68579">
              <a:lnSpc>
                <a:spcPct val="102172"/>
              </a:lnSpc>
              <a:spcBef>
                <a:spcPts val="2240"/>
              </a:spcBef>
            </a:pPr>
            <a:r>
              <a:rPr sz="2200" spc="208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200" spc="-7" dirty="0">
                <a:solidFill>
                  <a:srgbClr val="FFFFFF"/>
                </a:solidFill>
                <a:latin typeface="Century Gothic"/>
                <a:cs typeface="Century Gothic"/>
              </a:rPr>
              <a:t>Pada sebuah sistem Loss dengan bentuk M/G/n/n:</a:t>
            </a:r>
            <a:endParaRPr sz="2200" dirty="0">
              <a:latin typeface="Century Gothic"/>
              <a:cs typeface="Century Gothic"/>
            </a:endParaRPr>
          </a:p>
          <a:p>
            <a:pPr marL="12700" marR="68579">
              <a:lnSpc>
                <a:spcPct val="102172"/>
              </a:lnSpc>
              <a:spcBef>
                <a:spcPts val="686"/>
              </a:spcBef>
            </a:pPr>
            <a:r>
              <a:rPr sz="2200" spc="205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200" spc="-1" dirty="0">
                <a:solidFill>
                  <a:srgbClr val="FFFFFF"/>
                </a:solidFill>
                <a:latin typeface="Century Gothic"/>
                <a:cs typeface="Century Gothic"/>
              </a:rPr>
              <a:t>Call datang sesuai dengan proses Poisson</a:t>
            </a:r>
            <a:endParaRPr sz="22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22230" y="819225"/>
            <a:ext cx="1138083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(2/2)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6960" y="2514526"/>
            <a:ext cx="9509851" cy="1336094"/>
          </a:xfrm>
          <a:prstGeom prst="rect">
            <a:avLst/>
          </a:prstGeom>
        </p:spPr>
        <p:txBody>
          <a:bodyPr wrap="square" lIns="0" tIns="15144" rIns="0" bIns="0" rtlCol="0">
            <a:noAutofit/>
          </a:bodyPr>
          <a:lstStyle/>
          <a:p>
            <a:pPr marL="12700" marR="51384">
              <a:lnSpc>
                <a:spcPts val="2385"/>
              </a:lnSpc>
            </a:pPr>
            <a:r>
              <a:rPr sz="2200" spc="208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200" i="1" spc="-5" dirty="0">
                <a:solidFill>
                  <a:srgbClr val="FFFFFF"/>
                </a:solidFill>
                <a:latin typeface="Century Gothic"/>
                <a:cs typeface="Century Gothic"/>
              </a:rPr>
              <a:t>Call holding time </a:t>
            </a:r>
            <a:r>
              <a:rPr sz="2200" spc="-5" dirty="0">
                <a:solidFill>
                  <a:srgbClr val="FFFFFF"/>
                </a:solidFill>
                <a:latin typeface="Century Gothic"/>
                <a:cs typeface="Century Gothic"/>
              </a:rPr>
              <a:t>mengikuti distribusi yang identik dan independen</a:t>
            </a:r>
            <a:endParaRPr sz="2200">
              <a:latin typeface="Century Gothic"/>
              <a:cs typeface="Century Gothic"/>
            </a:endParaRPr>
          </a:p>
          <a:p>
            <a:pPr marL="241300" marR="51384">
              <a:lnSpc>
                <a:spcPts val="2375"/>
              </a:lnSpc>
            </a:pPr>
            <a:r>
              <a:rPr sz="2200" spc="-8" dirty="0">
                <a:solidFill>
                  <a:srgbClr val="FFFFFF"/>
                </a:solidFill>
                <a:latin typeface="Century Gothic"/>
                <a:cs typeface="Century Gothic"/>
              </a:rPr>
              <a:t>(iid) pada sembarang distribusi dengan rata-rata </a:t>
            </a:r>
            <a:r>
              <a:rPr sz="2200" i="1" spc="-8" dirty="0">
                <a:solidFill>
                  <a:srgbClr val="FFFFFF"/>
                </a:solidFill>
                <a:latin typeface="Century Gothic"/>
                <a:cs typeface="Century Gothic"/>
              </a:rPr>
              <a:t>h</a:t>
            </a:r>
            <a:endParaRPr sz="22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555"/>
              </a:spcBef>
            </a:pPr>
            <a:r>
              <a:rPr sz="2200" spc="208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200" spc="-5" dirty="0">
                <a:solidFill>
                  <a:srgbClr val="FFFFFF"/>
                </a:solidFill>
                <a:latin typeface="Century Gothic"/>
                <a:cs typeface="Century Gothic"/>
              </a:rPr>
              <a:t>Maka hubungan kuantitatif antara 3 faktor : </a:t>
            </a:r>
            <a:r>
              <a:rPr sz="2200" i="1" spc="-5" dirty="0">
                <a:solidFill>
                  <a:srgbClr val="FFFFFF"/>
                </a:solidFill>
                <a:latin typeface="Century Gothic"/>
                <a:cs typeface="Century Gothic"/>
              </a:rPr>
              <a:t>n, a </a:t>
            </a:r>
            <a:r>
              <a:rPr sz="2200" spc="-5" dirty="0">
                <a:solidFill>
                  <a:srgbClr val="FFFFFF"/>
                </a:solidFill>
                <a:latin typeface="Century Gothic"/>
                <a:cs typeface="Century Gothic"/>
              </a:rPr>
              <a:t>dan </a:t>
            </a:r>
            <a:r>
              <a:rPr sz="2200" i="1" spc="-5" dirty="0">
                <a:solidFill>
                  <a:srgbClr val="FFFFFF"/>
                </a:solidFill>
                <a:latin typeface="Century Gothic"/>
                <a:cs typeface="Century Gothic"/>
              </a:rPr>
              <a:t>Bc </a:t>
            </a:r>
            <a:r>
              <a:rPr sz="2200" spc="-5" dirty="0">
                <a:solidFill>
                  <a:srgbClr val="FFFFFF"/>
                </a:solidFill>
                <a:latin typeface="Century Gothic"/>
                <a:cs typeface="Century Gothic"/>
              </a:rPr>
              <a:t>dinyatakan</a:t>
            </a:r>
            <a:endParaRPr sz="2200">
              <a:latin typeface="Century Gothic"/>
              <a:cs typeface="Century Gothic"/>
            </a:endParaRPr>
          </a:p>
          <a:p>
            <a:pPr marL="241300" marR="51384">
              <a:lnSpc>
                <a:spcPts val="2375"/>
              </a:lnSpc>
              <a:spcBef>
                <a:spcPts val="118"/>
              </a:spcBef>
            </a:pPr>
            <a:r>
              <a:rPr sz="2200" spc="1" dirty="0">
                <a:solidFill>
                  <a:srgbClr val="FFFFFF"/>
                </a:solidFill>
                <a:latin typeface="Century Gothic"/>
                <a:cs typeface="Century Gothic"/>
              </a:rPr>
              <a:t>sebagai: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99708" y="4490630"/>
            <a:ext cx="1912409" cy="254000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>
              <a:lnSpc>
                <a:spcPts val="1975"/>
              </a:lnSpc>
            </a:pP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Dikenal sebagai: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9708" y="4764700"/>
            <a:ext cx="1688207" cy="1077514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 marR="7479" algn="just">
              <a:lnSpc>
                <a:spcPts val="1975"/>
              </a:lnSpc>
            </a:pP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Formula Erlang</a:t>
            </a:r>
            <a:endParaRPr sz="1800">
              <a:latin typeface="Century Gothic"/>
              <a:cs typeface="Century Gothic"/>
            </a:endParaRPr>
          </a:p>
          <a:p>
            <a:pPr marL="12700" algn="just">
              <a:lnSpc>
                <a:spcPts val="2160"/>
              </a:lnSpc>
              <a:spcBef>
                <a:spcPts val="44"/>
              </a:spcBef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Formu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g Formu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g Formu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7698" y="4764700"/>
            <a:ext cx="998038" cy="1077514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 marR="42042">
              <a:lnSpc>
                <a:spcPts val="1975"/>
              </a:lnSpc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ts val="2160"/>
              </a:lnSpc>
              <a:spcBef>
                <a:spcPts val="9"/>
              </a:spcBef>
            </a:pPr>
            <a:r>
              <a:rPr sz="1800" spc="2" dirty="0">
                <a:solidFill>
                  <a:srgbClr val="FFFFFF"/>
                </a:solidFill>
                <a:latin typeface="Century Gothic"/>
                <a:cs typeface="Century Gothic"/>
              </a:rPr>
              <a:t>Blocking</a:t>
            </a:r>
            <a:endParaRPr sz="1800">
              <a:latin typeface="Century Gothic"/>
              <a:cs typeface="Century Gothic"/>
            </a:endParaRPr>
          </a:p>
          <a:p>
            <a:pPr marL="12700" marR="42042">
              <a:lnSpc>
                <a:spcPts val="2160"/>
              </a:lnSpc>
            </a:pPr>
            <a:r>
              <a:rPr sz="1800" spc="-1" dirty="0">
                <a:solidFill>
                  <a:srgbClr val="FFFFFF"/>
                </a:solidFill>
                <a:latin typeface="Century Gothic"/>
                <a:cs typeface="Century Gothic"/>
              </a:rPr>
              <a:t>Loss</a:t>
            </a:r>
            <a:endParaRPr sz="1800">
              <a:latin typeface="Century Gothic"/>
              <a:cs typeface="Century Gothic"/>
            </a:endParaRPr>
          </a:p>
          <a:p>
            <a:pPr marL="12700" marR="42042">
              <a:lnSpc>
                <a:spcPts val="2160"/>
              </a:lnSpc>
            </a:pPr>
            <a:r>
              <a:rPr sz="1800" spc="4" dirty="0">
                <a:solidFill>
                  <a:srgbClr val="FFFFFF"/>
                </a:solidFill>
                <a:latin typeface="Century Gothic"/>
                <a:cs typeface="Century Gothic"/>
              </a:rPr>
              <a:t>First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7844" y="5244856"/>
            <a:ext cx="364610" cy="902263"/>
          </a:xfrm>
          <a:prstGeom prst="rect">
            <a:avLst/>
          </a:prstGeom>
        </p:spPr>
        <p:txBody>
          <a:bodyPr wrap="square" lIns="0" tIns="21431" rIns="0" bIns="0" rtlCol="0">
            <a:noAutofit/>
          </a:bodyPr>
          <a:lstStyle/>
          <a:p>
            <a:pPr marL="12700" marR="15258">
              <a:lnSpc>
                <a:spcPts val="3375"/>
              </a:lnSpc>
            </a:pPr>
            <a:r>
              <a:rPr sz="2650" i="1" spc="108" dirty="0">
                <a:latin typeface="Times New Roman"/>
                <a:cs typeface="Times New Roman"/>
              </a:rPr>
              <a:t>a</a:t>
            </a:r>
            <a:r>
              <a:rPr sz="2775" i="1" spc="108" baseline="34472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  <a:p>
            <a:pPr marL="62011">
              <a:lnSpc>
                <a:spcPct val="95825"/>
              </a:lnSpc>
              <a:spcBef>
                <a:spcPts val="462"/>
              </a:spcBef>
            </a:pPr>
            <a:r>
              <a:rPr sz="2650" i="1" spc="126" dirty="0">
                <a:latin typeface="Times New Roman"/>
                <a:cs typeface="Times New Roman"/>
              </a:rPr>
              <a:t>i</a:t>
            </a:r>
            <a:r>
              <a:rPr sz="2650" spc="126" dirty="0">
                <a:latin typeface="Times New Roman"/>
                <a:cs typeface="Times New Roman"/>
              </a:rPr>
              <a:t>!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9152" y="5252553"/>
            <a:ext cx="187847" cy="262749"/>
          </a:xfrm>
          <a:prstGeom prst="rect">
            <a:avLst/>
          </a:prstGeom>
        </p:spPr>
        <p:txBody>
          <a:bodyPr wrap="square" lIns="0" tIns="12731" rIns="0" bIns="0" rtlCol="0">
            <a:noAutofit/>
          </a:bodyPr>
          <a:lstStyle/>
          <a:p>
            <a:pPr marL="12700">
              <a:lnSpc>
                <a:spcPts val="2005"/>
              </a:lnSpc>
            </a:pPr>
            <a:r>
              <a:rPr sz="1850" i="1" spc="63" dirty="0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70055" y="5962406"/>
            <a:ext cx="423599" cy="26654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850" i="1" spc="179" dirty="0">
                <a:latin typeface="Times New Roman"/>
                <a:cs typeface="Times New Roman"/>
              </a:rPr>
              <a:t>i</a:t>
            </a:r>
            <a:r>
              <a:rPr sz="1850" spc="59" dirty="0">
                <a:latin typeface="Symbol"/>
                <a:cs typeface="Symbol"/>
              </a:rPr>
              <a:t></a:t>
            </a:r>
            <a:r>
              <a:rPr sz="1850" spc="63" dirty="0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10CB33-297C-4AC1-84E5-C02D9AD32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457" y="4267652"/>
            <a:ext cx="2868794" cy="17654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25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2492" y="1317267"/>
            <a:ext cx="1739402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b="1" u="heavy" spc="-11" dirty="0">
                <a:solidFill>
                  <a:srgbClr val="FFFFFF"/>
                </a:solidFill>
                <a:latin typeface="Century Gothic"/>
                <a:cs typeface="Century Gothic"/>
              </a:rPr>
              <a:t>Contoh 1: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6772" y="1827807"/>
            <a:ext cx="9611102" cy="1278911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>
              <a:lnSpc>
                <a:spcPts val="3010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8" dirty="0">
                <a:solidFill>
                  <a:srgbClr val="FFFFFF"/>
                </a:solidFill>
                <a:latin typeface="Century Gothic"/>
                <a:cs typeface="Century Gothic"/>
              </a:rPr>
              <a:t>Diketahui ada n=4 kanal dalam sebuah link , dan ada</a:t>
            </a:r>
            <a:endParaRPr sz="2800">
              <a:latin typeface="Century Gothic"/>
              <a:cs typeface="Century Gothic"/>
            </a:endParaRPr>
          </a:p>
          <a:p>
            <a:pPr marL="241300" marR="53800">
              <a:lnSpc>
                <a:spcPts val="3025"/>
              </a:lnSpc>
              <a:spcBef>
                <a:spcPts val="0"/>
              </a:spcBef>
            </a:pP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offered traffic sebesar a=2.0 E</a:t>
            </a:r>
            <a:endParaRPr sz="2800">
              <a:latin typeface="Century Gothic"/>
              <a:cs typeface="Century Gothic"/>
            </a:endParaRPr>
          </a:p>
          <a:p>
            <a:pPr marL="12700" marR="53800">
              <a:lnSpc>
                <a:spcPct val="102172"/>
              </a:lnSpc>
              <a:spcBef>
                <a:spcPts val="437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Hitung: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532" y="3170705"/>
            <a:ext cx="3862992" cy="1211326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43823">
              <a:lnSpc>
                <a:spcPts val="3010"/>
              </a:lnSpc>
            </a:pP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a.Berapa probabilitas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</a:pPr>
            <a:r>
              <a:rPr sz="2800" spc="-5" dirty="0">
                <a:solidFill>
                  <a:srgbClr val="FFFFFF"/>
                </a:solidFill>
                <a:latin typeface="Century Gothic"/>
                <a:cs typeface="Century Gothic"/>
              </a:rPr>
              <a:t>b.Jika kapasitas kanal</a:t>
            </a:r>
            <a:endParaRPr sz="2800">
              <a:latin typeface="Century Gothic"/>
              <a:cs typeface="Century Gothic"/>
            </a:endParaRPr>
          </a:p>
          <a:p>
            <a:pPr marL="355600" marR="43823">
              <a:lnSpc>
                <a:spcPts val="3010"/>
              </a:lnSpc>
              <a:spcBef>
                <a:spcPts val="150"/>
              </a:spcBef>
            </a:pPr>
            <a:r>
              <a:rPr sz="2800" spc="-1" dirty="0">
                <a:solidFill>
                  <a:srgbClr val="FFFFFF"/>
                </a:solidFill>
                <a:latin typeface="Century Gothic"/>
                <a:cs typeface="Century Gothic"/>
              </a:rPr>
              <a:t>Berapa probabilitas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2123" y="3170705"/>
            <a:ext cx="5162046" cy="1211326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52698">
              <a:lnSpc>
                <a:spcPts val="3010"/>
              </a:lnSpc>
            </a:pP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call blocking?</a:t>
            </a:r>
            <a:endParaRPr sz="2800">
              <a:latin typeface="Century Gothic"/>
              <a:cs typeface="Century Gothic"/>
            </a:endParaRPr>
          </a:p>
          <a:p>
            <a:pPr marL="12700" indent="33527">
              <a:lnSpc>
                <a:spcPts val="3030"/>
              </a:lnSpc>
              <a:spcBef>
                <a:spcPts val="476"/>
              </a:spcBef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2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na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kkan</a:t>
            </a:r>
            <a:r>
              <a:rPr sz="2800" spc="-1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men</a:t>
            </a: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j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adi</a:t>
            </a:r>
            <a:r>
              <a:rPr sz="2800" spc="-91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n=6</a:t>
            </a:r>
            <a:r>
              <a:rPr sz="2800" spc="-3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kana</a:t>
            </a:r>
            <a:r>
              <a:rPr sz="2800" spc="4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. call</a:t>
            </a:r>
            <a:r>
              <a:rPr sz="2800" spc="-38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2800" spc="4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ock</a:t>
            </a:r>
            <a:r>
              <a:rPr sz="2800" spc="25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ng</a:t>
            </a:r>
            <a:r>
              <a:rPr sz="28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nya?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2532" y="4449595"/>
            <a:ext cx="9363083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-4" dirty="0">
                <a:solidFill>
                  <a:srgbClr val="FFFFFF"/>
                </a:solidFill>
                <a:latin typeface="Century Gothic"/>
                <a:cs typeface="Century Gothic"/>
              </a:rPr>
              <a:t>c.Berapa Quality of Service (QoS) dengan kanal n=6?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419340" y="1481582"/>
            <a:ext cx="9983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bject 4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26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35850" y="230262"/>
            <a:ext cx="1179608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Jawab:</a:t>
            </a: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208700" y="1997235"/>
            <a:ext cx="153047" cy="361156"/>
          </a:xfrm>
          <a:prstGeom prst="rect">
            <a:avLst/>
          </a:prstGeom>
        </p:spPr>
        <p:txBody>
          <a:bodyPr wrap="square" lIns="0" tIns="18065" rIns="0" bIns="0" rtlCol="0">
            <a:noAutofit/>
          </a:bodyPr>
          <a:lstStyle/>
          <a:p>
            <a:pPr marL="12700">
              <a:lnSpc>
                <a:spcPts val="2845"/>
              </a:lnSpc>
            </a:pPr>
            <a:r>
              <a:rPr sz="2650" dirty="0">
                <a:latin typeface="Symbol"/>
                <a:cs typeface="Symbol"/>
              </a:rPr>
              <a:t>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33836" y="1997235"/>
            <a:ext cx="153047" cy="361156"/>
          </a:xfrm>
          <a:prstGeom prst="rect">
            <a:avLst/>
          </a:prstGeom>
        </p:spPr>
        <p:txBody>
          <a:bodyPr wrap="square" lIns="0" tIns="18065" rIns="0" bIns="0" rtlCol="0">
            <a:noAutofit/>
          </a:bodyPr>
          <a:lstStyle/>
          <a:p>
            <a:pPr marL="12700">
              <a:lnSpc>
                <a:spcPts val="2845"/>
              </a:lnSpc>
            </a:pPr>
            <a:r>
              <a:rPr sz="2650" dirty="0">
                <a:latin typeface="Symbol"/>
                <a:cs typeface="Symbol"/>
              </a:rPr>
              <a:t>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33935" y="2176438"/>
            <a:ext cx="125503" cy="204565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sz="1400" i="1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65520" y="2217062"/>
            <a:ext cx="526038" cy="749108"/>
          </a:xfrm>
          <a:prstGeom prst="rect">
            <a:avLst/>
          </a:prstGeom>
        </p:spPr>
        <p:txBody>
          <a:bodyPr wrap="square" lIns="0" tIns="16287" rIns="0" bIns="0" rtlCol="0">
            <a:noAutofit/>
          </a:bodyPr>
          <a:lstStyle/>
          <a:p>
            <a:pPr marL="91472">
              <a:lnSpc>
                <a:spcPts val="2565"/>
              </a:lnSpc>
            </a:pPr>
            <a:r>
              <a:rPr sz="2100" spc="51" baseline="31058" dirty="0">
                <a:latin typeface="Times New Roman"/>
                <a:cs typeface="Times New Roman"/>
              </a:rPr>
              <a:t>4  </a:t>
            </a:r>
            <a:r>
              <a:rPr sz="2000" spc="51" dirty="0">
                <a:latin typeface="Times New Roman"/>
                <a:cs typeface="Times New Roman"/>
              </a:rPr>
              <a:t>2</a:t>
            </a:r>
            <a:r>
              <a:rPr sz="2100" i="1" spc="51" baseline="33129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  <a:p>
            <a:pPr marL="12700" marR="46321">
              <a:lnSpc>
                <a:spcPct val="102091"/>
              </a:lnSpc>
              <a:spcBef>
                <a:spcPts val="1423"/>
              </a:spcBef>
            </a:pPr>
            <a:r>
              <a:rPr sz="1400" i="1" spc="44" dirty="0">
                <a:latin typeface="Times New Roman"/>
                <a:cs typeface="Times New Roman"/>
              </a:rPr>
              <a:t>i</a:t>
            </a:r>
            <a:r>
              <a:rPr sz="1400" spc="39" dirty="0">
                <a:latin typeface="Symbol"/>
                <a:cs typeface="Symbol"/>
              </a:rPr>
              <a:t></a:t>
            </a:r>
            <a:r>
              <a:rPr sz="1400" spc="44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50448" y="2217062"/>
            <a:ext cx="259263" cy="334210"/>
          </a:xfrm>
          <a:prstGeom prst="rect">
            <a:avLst/>
          </a:prstGeom>
        </p:spPr>
        <p:txBody>
          <a:bodyPr wrap="square" lIns="0" tIns="16319" rIns="0" bIns="0" rtlCol="0">
            <a:noAutofit/>
          </a:bodyPr>
          <a:lstStyle/>
          <a:p>
            <a:pPr marL="12700">
              <a:lnSpc>
                <a:spcPts val="2570"/>
              </a:lnSpc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r>
              <a:rPr sz="2100" spc="-50" baseline="33129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08056" y="2217062"/>
            <a:ext cx="277311" cy="334210"/>
          </a:xfrm>
          <a:prstGeom prst="rect">
            <a:avLst/>
          </a:prstGeom>
        </p:spPr>
        <p:txBody>
          <a:bodyPr wrap="square" lIns="0" tIns="16319" rIns="0" bIns="0" rtlCol="0">
            <a:noAutofit/>
          </a:bodyPr>
          <a:lstStyle/>
          <a:p>
            <a:pPr marL="12700">
              <a:lnSpc>
                <a:spcPts val="2570"/>
              </a:lnSpc>
            </a:pPr>
            <a:r>
              <a:rPr sz="2000" spc="19" dirty="0">
                <a:latin typeface="Times New Roman"/>
                <a:cs typeface="Times New Roman"/>
              </a:rPr>
              <a:t>2</a:t>
            </a:r>
            <a:r>
              <a:rPr sz="2100" spc="19" baseline="33129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96343" y="2217062"/>
            <a:ext cx="272100" cy="334210"/>
          </a:xfrm>
          <a:prstGeom prst="rect">
            <a:avLst/>
          </a:prstGeom>
        </p:spPr>
        <p:txBody>
          <a:bodyPr wrap="square" lIns="0" tIns="16319" rIns="0" bIns="0" rtlCol="0">
            <a:noAutofit/>
          </a:bodyPr>
          <a:lstStyle/>
          <a:p>
            <a:pPr marL="12700">
              <a:lnSpc>
                <a:spcPts val="2570"/>
              </a:lnSpc>
            </a:pP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100" baseline="33129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74011" y="2217062"/>
            <a:ext cx="277509" cy="334210"/>
          </a:xfrm>
          <a:prstGeom prst="rect">
            <a:avLst/>
          </a:prstGeom>
        </p:spPr>
        <p:txBody>
          <a:bodyPr wrap="square" lIns="0" tIns="16319" rIns="0" bIns="0" rtlCol="0">
            <a:noAutofit/>
          </a:bodyPr>
          <a:lstStyle/>
          <a:p>
            <a:pPr marL="12700">
              <a:lnSpc>
                <a:spcPts val="2570"/>
              </a:lnSpc>
            </a:pPr>
            <a:r>
              <a:rPr sz="2000" spc="19" dirty="0">
                <a:latin typeface="Times New Roman"/>
                <a:cs typeface="Times New Roman"/>
              </a:rPr>
              <a:t>2</a:t>
            </a:r>
            <a:r>
              <a:rPr sz="2100" spc="19" baseline="33129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41644" y="2214379"/>
            <a:ext cx="1030047" cy="281773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sz="2000" spc="0" dirty="0">
                <a:latin typeface="Times New Roman"/>
                <a:cs typeface="Times New Roman"/>
              </a:rPr>
              <a:t>4  </a:t>
            </a:r>
            <a:r>
              <a:rPr sz="2000" spc="384" dirty="0">
                <a:latin typeface="Times New Roman"/>
                <a:cs typeface="Times New Roman"/>
              </a:rPr>
              <a:t> </a:t>
            </a:r>
            <a:r>
              <a:rPr sz="2000" spc="0" dirty="0">
                <a:latin typeface="Times New Roman"/>
                <a:cs typeface="Times New Roman"/>
              </a:rPr>
              <a:t>8  </a:t>
            </a:r>
            <a:r>
              <a:rPr sz="2000" spc="344" dirty="0">
                <a:latin typeface="Times New Roman"/>
                <a:cs typeface="Times New Roman"/>
              </a:rPr>
              <a:t> </a:t>
            </a:r>
            <a:r>
              <a:rPr sz="2000" spc="0" dirty="0">
                <a:latin typeface="Times New Roman"/>
                <a:cs typeface="Times New Roman"/>
              </a:rPr>
              <a:t>16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07054" y="2248468"/>
            <a:ext cx="298794" cy="281773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sz="2000" spc="-4" dirty="0">
                <a:latin typeface="Times New Roman"/>
                <a:cs typeface="Times New Roman"/>
              </a:rPr>
              <a:t>21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68636" y="3867277"/>
            <a:ext cx="153047" cy="361156"/>
          </a:xfrm>
          <a:prstGeom prst="rect">
            <a:avLst/>
          </a:prstGeom>
        </p:spPr>
        <p:txBody>
          <a:bodyPr wrap="square" lIns="0" tIns="18065" rIns="0" bIns="0" rtlCol="0">
            <a:noAutofit/>
          </a:bodyPr>
          <a:lstStyle/>
          <a:p>
            <a:pPr marL="12700">
              <a:lnSpc>
                <a:spcPts val="2845"/>
              </a:lnSpc>
            </a:pPr>
            <a:r>
              <a:rPr sz="2650" dirty="0">
                <a:latin typeface="Symbol"/>
                <a:cs typeface="Symbol"/>
              </a:rPr>
              <a:t>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89790" y="3867277"/>
            <a:ext cx="153047" cy="361156"/>
          </a:xfrm>
          <a:prstGeom prst="rect">
            <a:avLst/>
          </a:prstGeom>
        </p:spPr>
        <p:txBody>
          <a:bodyPr wrap="square" lIns="0" tIns="18065" rIns="0" bIns="0" rtlCol="0">
            <a:noAutofit/>
          </a:bodyPr>
          <a:lstStyle/>
          <a:p>
            <a:pPr marL="12700">
              <a:lnSpc>
                <a:spcPts val="2845"/>
              </a:lnSpc>
            </a:pPr>
            <a:r>
              <a:rPr sz="2650" dirty="0">
                <a:latin typeface="Symbol"/>
                <a:cs typeface="Symbol"/>
              </a:rPr>
              <a:t>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93903" y="4046479"/>
            <a:ext cx="125503" cy="204565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sz="1400" i="1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29930" y="4087103"/>
            <a:ext cx="98125" cy="204565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sz="1400" i="1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11480" y="4087103"/>
            <a:ext cx="134739" cy="204565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sz="140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87135" y="4087103"/>
            <a:ext cx="134739" cy="204565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70212" y="4087103"/>
            <a:ext cx="134739" cy="204565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sz="140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53289" y="4087103"/>
            <a:ext cx="134739" cy="204565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sz="1400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36365" y="4087103"/>
            <a:ext cx="134739" cy="204565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sz="1400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19442" y="4087103"/>
            <a:ext cx="134739" cy="204565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sz="1400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64005" y="4084409"/>
            <a:ext cx="1575683" cy="281773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sz="2000" spc="0" dirty="0">
                <a:latin typeface="Times New Roman"/>
                <a:cs typeface="Times New Roman"/>
              </a:rPr>
              <a:t>4  </a:t>
            </a:r>
            <a:r>
              <a:rPr sz="2000" spc="384" dirty="0">
                <a:latin typeface="Times New Roman"/>
                <a:cs typeface="Times New Roman"/>
              </a:rPr>
              <a:t> </a:t>
            </a:r>
            <a:r>
              <a:rPr sz="2000" spc="0" dirty="0">
                <a:latin typeface="Times New Roman"/>
                <a:cs typeface="Times New Roman"/>
              </a:rPr>
              <a:t>8  </a:t>
            </a:r>
            <a:r>
              <a:rPr sz="2000" spc="344" dirty="0">
                <a:latin typeface="Times New Roman"/>
                <a:cs typeface="Times New Roman"/>
              </a:rPr>
              <a:t> </a:t>
            </a:r>
            <a:r>
              <a:rPr sz="2000" spc="0" dirty="0">
                <a:latin typeface="Times New Roman"/>
                <a:cs typeface="Times New Roman"/>
              </a:rPr>
              <a:t>16   </a:t>
            </a:r>
            <a:r>
              <a:rPr sz="2000" spc="279" dirty="0">
                <a:latin typeface="Times New Roman"/>
                <a:cs typeface="Times New Roman"/>
              </a:rPr>
              <a:t> </a:t>
            </a:r>
            <a:r>
              <a:rPr sz="2000" spc="0" dirty="0">
                <a:latin typeface="Times New Roman"/>
                <a:cs typeface="Times New Roman"/>
              </a:rPr>
              <a:t>32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35027" y="4084409"/>
            <a:ext cx="299857" cy="281773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sz="2000" dirty="0">
                <a:latin typeface="Times New Roman"/>
                <a:cs typeface="Times New Roman"/>
              </a:rPr>
              <a:t>64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98913" y="4092890"/>
            <a:ext cx="134739" cy="204565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sz="1400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09424" y="4118498"/>
            <a:ext cx="533733" cy="281773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sz="2000" spc="-4" dirty="0">
                <a:latin typeface="Times New Roman"/>
                <a:cs typeface="Times New Roman"/>
              </a:rPr>
              <a:t>5040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14824" y="4139529"/>
            <a:ext cx="514772" cy="516753"/>
          </a:xfrm>
          <a:prstGeom prst="rect">
            <a:avLst/>
          </a:prstGeom>
        </p:spPr>
        <p:txBody>
          <a:bodyPr wrap="square" lIns="0" tIns="25844" rIns="0" bIns="0" rtlCol="0">
            <a:noAutofit/>
          </a:bodyPr>
          <a:lstStyle/>
          <a:p>
            <a:pPr marL="12700">
              <a:lnSpc>
                <a:spcPts val="4070"/>
              </a:lnSpc>
            </a:pPr>
            <a:r>
              <a:rPr sz="3050" spc="-152" dirty="0">
                <a:latin typeface="Symbol"/>
                <a:cs typeface="Symbol"/>
              </a:rPr>
              <a:t></a:t>
            </a:r>
            <a:r>
              <a:rPr sz="3050" spc="-202" dirty="0">
                <a:latin typeface="Times New Roman"/>
                <a:cs typeface="Times New Roman"/>
              </a:rPr>
              <a:t> </a:t>
            </a:r>
            <a:r>
              <a:rPr sz="3000" spc="-202" baseline="44931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06403" y="4139529"/>
            <a:ext cx="181856" cy="281773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64010" y="4139529"/>
            <a:ext cx="181856" cy="281773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2298" y="4139529"/>
            <a:ext cx="181856" cy="281773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29965" y="4139529"/>
            <a:ext cx="181856" cy="281773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18253" y="4139529"/>
            <a:ext cx="181856" cy="281773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8516" y="4139529"/>
            <a:ext cx="181856" cy="281773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0596" y="4237689"/>
            <a:ext cx="1414104" cy="285868"/>
          </a:xfrm>
          <a:prstGeom prst="rect">
            <a:avLst/>
          </a:prstGeom>
        </p:spPr>
        <p:txBody>
          <a:bodyPr wrap="square" lIns="0" tIns="13938" rIns="0" bIns="0" rtlCol="0">
            <a:noAutofit/>
          </a:bodyPr>
          <a:lstStyle/>
          <a:p>
            <a:pPr marL="12700">
              <a:lnSpc>
                <a:spcPts val="2195"/>
              </a:lnSpc>
            </a:pPr>
            <a:r>
              <a:rPr sz="2000" spc="-79" dirty="0">
                <a:latin typeface="Times New Roman"/>
                <a:cs typeface="Times New Roman"/>
              </a:rPr>
              <a:t>1</a:t>
            </a:r>
            <a:r>
              <a:rPr sz="2000" spc="-319" dirty="0">
                <a:latin typeface="Times New Roman"/>
                <a:cs typeface="Times New Roman"/>
              </a:rPr>
              <a:t> </a:t>
            </a:r>
            <a:r>
              <a:rPr sz="2000" spc="0" dirty="0">
                <a:latin typeface="Symbol"/>
                <a:cs typeface="Symbol"/>
              </a:rPr>
              <a:t></a:t>
            </a:r>
            <a:r>
              <a:rPr sz="2000" spc="-124" dirty="0">
                <a:latin typeface="Times New Roman"/>
                <a:cs typeface="Times New Roman"/>
              </a:rPr>
              <a:t> </a:t>
            </a:r>
            <a:r>
              <a:rPr sz="2000" spc="-79" dirty="0">
                <a:latin typeface="Times New Roman"/>
                <a:cs typeface="Times New Roman"/>
              </a:rPr>
              <a:t>2</a:t>
            </a:r>
            <a:r>
              <a:rPr sz="2000" spc="-179" dirty="0">
                <a:latin typeface="Times New Roman"/>
                <a:cs typeface="Times New Roman"/>
              </a:rPr>
              <a:t> </a:t>
            </a:r>
            <a:r>
              <a:rPr sz="2000" spc="0" dirty="0">
                <a:latin typeface="Symbol"/>
                <a:cs typeface="Symbol"/>
              </a:rPr>
              <a:t></a:t>
            </a:r>
            <a:r>
              <a:rPr sz="2000" spc="0" dirty="0">
                <a:latin typeface="Times New Roman"/>
                <a:cs typeface="Times New Roman"/>
              </a:rPr>
              <a:t>  </a:t>
            </a:r>
            <a:r>
              <a:rPr sz="2000" spc="259" dirty="0">
                <a:latin typeface="Times New Roman"/>
                <a:cs typeface="Times New Roman"/>
              </a:rPr>
              <a:t> </a:t>
            </a:r>
            <a:r>
              <a:rPr sz="2000" spc="0" dirty="0">
                <a:latin typeface="Symbol"/>
                <a:cs typeface="Symbol"/>
              </a:rPr>
              <a:t></a:t>
            </a:r>
            <a:r>
              <a:rPr sz="2000" spc="0" dirty="0">
                <a:latin typeface="Times New Roman"/>
                <a:cs typeface="Times New Roman"/>
              </a:rPr>
              <a:t>   </a:t>
            </a:r>
            <a:r>
              <a:rPr sz="2000" spc="-109" dirty="0">
                <a:latin typeface="Times New Roman"/>
                <a:cs typeface="Times New Roman"/>
              </a:rPr>
              <a:t> </a:t>
            </a:r>
            <a:r>
              <a:rPr sz="2000" spc="0" dirty="0">
                <a:latin typeface="Symbol"/>
                <a:cs typeface="Symbol"/>
              </a:rPr>
              <a:t>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01549" y="4237689"/>
            <a:ext cx="193421" cy="281773"/>
          </a:xfrm>
          <a:prstGeom prst="rect">
            <a:avLst/>
          </a:prstGeom>
        </p:spPr>
        <p:txBody>
          <a:bodyPr wrap="square" lIns="0" tIns="13938" rIns="0" bIns="0" rtlCol="0">
            <a:noAutofit/>
          </a:bodyPr>
          <a:lstStyle/>
          <a:p>
            <a:pPr marL="12700">
              <a:lnSpc>
                <a:spcPts val="2195"/>
              </a:lnSpc>
            </a:pPr>
            <a:r>
              <a:rPr sz="2000" dirty="0">
                <a:latin typeface="Symbol"/>
                <a:cs typeface="Symbol"/>
              </a:rPr>
              <a:t>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84001" y="4237689"/>
            <a:ext cx="193421" cy="281773"/>
          </a:xfrm>
          <a:prstGeom prst="rect">
            <a:avLst/>
          </a:prstGeom>
        </p:spPr>
        <p:txBody>
          <a:bodyPr wrap="square" lIns="0" tIns="13938" rIns="0" bIns="0" rtlCol="0">
            <a:noAutofit/>
          </a:bodyPr>
          <a:lstStyle/>
          <a:p>
            <a:pPr marL="12700">
              <a:lnSpc>
                <a:spcPts val="2195"/>
              </a:lnSpc>
            </a:pPr>
            <a:r>
              <a:rPr sz="2000" dirty="0">
                <a:latin typeface="Symbol"/>
                <a:cs typeface="Symbol"/>
              </a:rPr>
              <a:t>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69654" y="4292773"/>
            <a:ext cx="334868" cy="285868"/>
          </a:xfrm>
          <a:prstGeom prst="rect">
            <a:avLst/>
          </a:prstGeom>
        </p:spPr>
        <p:txBody>
          <a:bodyPr wrap="square" lIns="0" tIns="13938" rIns="0" bIns="0" rtlCol="0">
            <a:noAutofit/>
          </a:bodyPr>
          <a:lstStyle/>
          <a:p>
            <a:pPr marL="12700">
              <a:lnSpc>
                <a:spcPts val="2195"/>
              </a:lnSpc>
            </a:pP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319" dirty="0">
                <a:latin typeface="Times New Roman"/>
                <a:cs typeface="Times New Roman"/>
              </a:rPr>
              <a:t> </a:t>
            </a:r>
            <a:r>
              <a:rPr sz="2000" spc="0" dirty="0">
                <a:latin typeface="Symbol"/>
                <a:cs typeface="Symbol"/>
              </a:rPr>
              <a:t>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8094" y="4292773"/>
            <a:ext cx="193421" cy="281773"/>
          </a:xfrm>
          <a:prstGeom prst="rect">
            <a:avLst/>
          </a:prstGeom>
        </p:spPr>
        <p:txBody>
          <a:bodyPr wrap="square" lIns="0" tIns="13938" rIns="0" bIns="0" rtlCol="0">
            <a:noAutofit/>
          </a:bodyPr>
          <a:lstStyle/>
          <a:p>
            <a:pPr marL="12700">
              <a:lnSpc>
                <a:spcPts val="2195"/>
              </a:lnSpc>
            </a:pPr>
            <a:r>
              <a:rPr sz="2000" dirty="0">
                <a:latin typeface="Symbol"/>
                <a:cs typeface="Symbol"/>
              </a:rPr>
              <a:t>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56382" y="4292773"/>
            <a:ext cx="193421" cy="281773"/>
          </a:xfrm>
          <a:prstGeom prst="rect">
            <a:avLst/>
          </a:prstGeom>
        </p:spPr>
        <p:txBody>
          <a:bodyPr wrap="square" lIns="0" tIns="13938" rIns="0" bIns="0" rtlCol="0">
            <a:noAutofit/>
          </a:bodyPr>
          <a:lstStyle/>
          <a:p>
            <a:pPr marL="12700">
              <a:lnSpc>
                <a:spcPts val="2195"/>
              </a:lnSpc>
            </a:pPr>
            <a:r>
              <a:rPr sz="2000" dirty="0">
                <a:latin typeface="Symbol"/>
                <a:cs typeface="Symbol"/>
              </a:rPr>
              <a:t>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4050" y="4292773"/>
            <a:ext cx="193421" cy="281773"/>
          </a:xfrm>
          <a:prstGeom prst="rect">
            <a:avLst/>
          </a:prstGeom>
        </p:spPr>
        <p:txBody>
          <a:bodyPr wrap="square" lIns="0" tIns="13938" rIns="0" bIns="0" rtlCol="0">
            <a:noAutofit/>
          </a:bodyPr>
          <a:lstStyle/>
          <a:p>
            <a:pPr marL="12700">
              <a:lnSpc>
                <a:spcPts val="2195"/>
              </a:lnSpc>
            </a:pPr>
            <a:r>
              <a:rPr sz="2000" dirty="0">
                <a:latin typeface="Symbol"/>
                <a:cs typeface="Symbol"/>
              </a:rPr>
              <a:t>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2337" y="4292773"/>
            <a:ext cx="193421" cy="281773"/>
          </a:xfrm>
          <a:prstGeom prst="rect">
            <a:avLst/>
          </a:prstGeom>
        </p:spPr>
        <p:txBody>
          <a:bodyPr wrap="square" lIns="0" tIns="13938" rIns="0" bIns="0" rtlCol="0">
            <a:noAutofit/>
          </a:bodyPr>
          <a:lstStyle/>
          <a:p>
            <a:pPr marL="12700">
              <a:lnSpc>
                <a:spcPts val="2195"/>
              </a:lnSpc>
            </a:pPr>
            <a:r>
              <a:rPr sz="2000" dirty="0">
                <a:latin typeface="Symbol"/>
                <a:cs typeface="Symbol"/>
              </a:rPr>
              <a:t>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02601" y="4292773"/>
            <a:ext cx="193421" cy="281773"/>
          </a:xfrm>
          <a:prstGeom prst="rect">
            <a:avLst/>
          </a:prstGeom>
        </p:spPr>
        <p:txBody>
          <a:bodyPr wrap="square" lIns="0" tIns="13938" rIns="0" bIns="0" rtlCol="0">
            <a:noAutofit/>
          </a:bodyPr>
          <a:lstStyle/>
          <a:p>
            <a:pPr marL="12700">
              <a:lnSpc>
                <a:spcPts val="2195"/>
              </a:lnSpc>
            </a:pPr>
            <a:r>
              <a:rPr sz="2000" dirty="0">
                <a:latin typeface="Symbol"/>
                <a:cs typeface="Symbol"/>
              </a:rPr>
              <a:t></a:t>
            </a:r>
            <a:endParaRPr sz="2000">
              <a:latin typeface="Symbol"/>
              <a:cs typeface="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C865A-DDA0-444B-B211-A190C479A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08" y="834285"/>
            <a:ext cx="11799692" cy="57951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27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4288" y="921027"/>
            <a:ext cx="1739656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b="1" u="heavy" spc="-11" dirty="0">
                <a:solidFill>
                  <a:srgbClr val="FFFFFF"/>
                </a:solidFill>
                <a:latin typeface="Century Gothic"/>
                <a:cs typeface="Century Gothic"/>
              </a:rPr>
              <a:t>Contoh 2: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7952" y="1431317"/>
            <a:ext cx="9547490" cy="1149092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53263">
              <a:lnSpc>
                <a:spcPts val="3010"/>
              </a:lnSpc>
            </a:pP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Sebuah sentral terdiri dari 4 trunk dengan 9 call dan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ts val="3025"/>
              </a:lnSpc>
              <a:spcBef>
                <a:spcPts val="0"/>
              </a:spcBef>
            </a:pP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waktu pendudukan rata-rata 20 menit pada jam sibuk.</a:t>
            </a:r>
            <a:endParaRPr sz="2800">
              <a:latin typeface="Century Gothic"/>
              <a:cs typeface="Century Gothic"/>
            </a:endParaRPr>
          </a:p>
          <a:p>
            <a:pPr marL="12700" marR="53263">
              <a:lnSpc>
                <a:spcPts val="3010"/>
              </a:lnSpc>
            </a:pPr>
            <a:r>
              <a:rPr sz="2800" spc="1" dirty="0">
                <a:solidFill>
                  <a:srgbClr val="FFFFFF"/>
                </a:solidFill>
                <a:latin typeface="Century Gothic"/>
                <a:cs typeface="Century Gothic"/>
              </a:rPr>
              <a:t>Hitunglah: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6022" y="2646449"/>
            <a:ext cx="421953" cy="1723390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12499" algn="just">
              <a:lnSpc>
                <a:spcPts val="3010"/>
              </a:lnSpc>
            </a:pP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a.</a:t>
            </a:r>
            <a:endParaRPr sz="2800">
              <a:latin typeface="Century Gothic"/>
              <a:cs typeface="Century Gothic"/>
            </a:endParaRPr>
          </a:p>
          <a:p>
            <a:pPr marL="12700" algn="just">
              <a:lnSpc>
                <a:spcPct val="104829"/>
              </a:lnSpc>
            </a:pP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b. c. </a:t>
            </a:r>
            <a:r>
              <a:rPr sz="2800" spc="4" dirty="0">
                <a:solidFill>
                  <a:srgbClr val="FFFFFF"/>
                </a:solidFill>
                <a:latin typeface="Century Gothic"/>
                <a:cs typeface="Century Gothic"/>
              </a:rPr>
              <a:t>d.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3222" y="2646449"/>
            <a:ext cx="8154307" cy="2107492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5169887" algn="just">
              <a:lnSpc>
                <a:spcPts val="3010"/>
              </a:lnSpc>
            </a:pPr>
            <a:r>
              <a:rPr sz="2800" spc="-4" dirty="0">
                <a:solidFill>
                  <a:srgbClr val="FFFFFF"/>
                </a:solidFill>
                <a:latin typeface="Century Gothic"/>
                <a:cs typeface="Century Gothic"/>
              </a:rPr>
              <a:t>Grade of Service</a:t>
            </a:r>
            <a:endParaRPr sz="2800">
              <a:latin typeface="Century Gothic"/>
              <a:cs typeface="Century Gothic"/>
            </a:endParaRPr>
          </a:p>
          <a:p>
            <a:pPr marL="12700" marR="5081824" algn="just">
              <a:lnSpc>
                <a:spcPct val="102172"/>
              </a:lnSpc>
            </a:pPr>
            <a:r>
              <a:rPr sz="2800" spc="-3" dirty="0">
                <a:solidFill>
                  <a:srgbClr val="FFFFFF"/>
                </a:solidFill>
                <a:latin typeface="Century Gothic"/>
                <a:cs typeface="Century Gothic"/>
              </a:rPr>
              <a:t>Quality of Service</a:t>
            </a:r>
            <a:endParaRPr sz="2800">
              <a:latin typeface="Century Gothic"/>
              <a:cs typeface="Century Gothic"/>
            </a:endParaRPr>
          </a:p>
          <a:p>
            <a:pPr marL="12700" algn="just">
              <a:lnSpc>
                <a:spcPct val="97370"/>
              </a:lnSpc>
              <a:spcBef>
                <a:spcPts val="225"/>
              </a:spcBef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Probab</a:t>
            </a:r>
            <a:r>
              <a:rPr sz="2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tas</a:t>
            </a:r>
            <a:r>
              <a:rPr sz="2800" spc="-156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bl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ck</a:t>
            </a: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ng</a:t>
            </a:r>
            <a:r>
              <a:rPr sz="2800" spc="-63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ji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ka</a:t>
            </a:r>
            <a:r>
              <a:rPr sz="2800" spc="-6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hanya</a:t>
            </a:r>
            <a:r>
              <a:rPr sz="2800" spc="-62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2800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800" spc="-4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unk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2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pakai Probab</a:t>
            </a:r>
            <a:r>
              <a:rPr sz="2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tas</a:t>
            </a:r>
            <a:r>
              <a:rPr sz="2800" spc="-156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bl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ck</a:t>
            </a: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ng</a:t>
            </a:r>
            <a:r>
              <a:rPr sz="2800" spc="-63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ji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ka</a:t>
            </a:r>
            <a:r>
              <a:rPr sz="2800" spc="-6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pal</a:t>
            </a:r>
            <a:r>
              <a:rPr sz="2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ng</a:t>
            </a:r>
            <a:r>
              <a:rPr sz="2800" spc="-7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banyak</a:t>
            </a:r>
            <a:r>
              <a:rPr sz="2800" spc="-83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r>
              <a:rPr sz="2800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trunk d</a:t>
            </a: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pakai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312195" y="1085341"/>
            <a:ext cx="9902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2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28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0422" y="639341"/>
            <a:ext cx="1272244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u="heavy" dirty="0">
                <a:solidFill>
                  <a:srgbClr val="FFFFFF"/>
                </a:solidFill>
                <a:latin typeface="Century Gothic"/>
                <a:cs typeface="Century Gothic"/>
              </a:rPr>
              <a:t>Jawab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13951" y="1685609"/>
            <a:ext cx="508919" cy="384013"/>
          </a:xfrm>
          <a:prstGeom prst="rect">
            <a:avLst/>
          </a:prstGeom>
        </p:spPr>
        <p:txBody>
          <a:bodyPr wrap="square" lIns="0" tIns="18954" rIns="0" bIns="0" rtlCol="0">
            <a:noAutofit/>
          </a:bodyPr>
          <a:lstStyle/>
          <a:p>
            <a:pPr marL="12700">
              <a:lnSpc>
                <a:spcPts val="2985"/>
              </a:lnSpc>
            </a:pP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spc="-14" dirty="0">
                <a:latin typeface="Times New Roman"/>
                <a:cs typeface="Times New Roman"/>
              </a:rPr>
              <a:t> </a:t>
            </a:r>
            <a:r>
              <a:rPr sz="2800" spc="0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08492" y="1685609"/>
            <a:ext cx="1194914" cy="384013"/>
          </a:xfrm>
          <a:prstGeom prst="rect">
            <a:avLst/>
          </a:prstGeom>
        </p:spPr>
        <p:txBody>
          <a:bodyPr wrap="square" lIns="0" tIns="18954" rIns="0" bIns="0" rtlCol="0">
            <a:noAutofit/>
          </a:bodyPr>
          <a:lstStyle/>
          <a:p>
            <a:pPr marL="12700">
              <a:lnSpc>
                <a:spcPts val="2985"/>
              </a:lnSpc>
            </a:pPr>
            <a:r>
              <a:rPr sz="2800" dirty="0">
                <a:latin typeface="Symbol"/>
                <a:cs typeface="Symbol"/>
              </a:rPr>
              <a:t></a:t>
            </a:r>
            <a:r>
              <a:rPr sz="2800" spc="-144" dirty="0">
                <a:latin typeface="Times New Roman"/>
                <a:cs typeface="Times New Roman"/>
              </a:rPr>
              <a:t> </a:t>
            </a:r>
            <a:r>
              <a:rPr sz="2800" spc="34" dirty="0">
                <a:latin typeface="Times New Roman"/>
                <a:cs typeface="Times New Roman"/>
              </a:rPr>
              <a:t>3</a:t>
            </a:r>
            <a:r>
              <a:rPr sz="2800" i="1" spc="0" dirty="0">
                <a:latin typeface="Times New Roman"/>
                <a:cs typeface="Times New Roman"/>
              </a:rPr>
              <a:t>E</a:t>
            </a:r>
            <a:r>
              <a:rPr sz="2800" i="1" spc="169" dirty="0">
                <a:latin typeface="Times New Roman"/>
                <a:cs typeface="Times New Roman"/>
              </a:rPr>
              <a:t> </a:t>
            </a:r>
            <a:r>
              <a:rPr sz="2800" spc="-59" dirty="0">
                <a:latin typeface="Times New Roman"/>
                <a:cs typeface="Times New Roman"/>
              </a:rPr>
              <a:t>-</a:t>
            </a:r>
            <a:r>
              <a:rPr sz="2800" spc="-54" dirty="0">
                <a:latin typeface="Times New Roman"/>
                <a:cs typeface="Times New Roman"/>
              </a:rPr>
              <a:t>-</a:t>
            </a:r>
            <a:r>
              <a:rPr sz="2800" spc="0" dirty="0"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1520" y="1685609"/>
            <a:ext cx="257848" cy="378376"/>
          </a:xfrm>
          <a:prstGeom prst="rect">
            <a:avLst/>
          </a:prstGeom>
        </p:spPr>
        <p:txBody>
          <a:bodyPr wrap="square" lIns="0" tIns="18923" rIns="0" bIns="0" rtlCol="0">
            <a:noAutofit/>
          </a:bodyPr>
          <a:lstStyle/>
          <a:p>
            <a:pPr marL="12700">
              <a:lnSpc>
                <a:spcPts val="2980"/>
              </a:lnSpc>
            </a:pPr>
            <a:r>
              <a:rPr sz="2800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29768" y="1685609"/>
            <a:ext cx="257848" cy="378376"/>
          </a:xfrm>
          <a:prstGeom prst="rect">
            <a:avLst/>
          </a:prstGeom>
        </p:spPr>
        <p:txBody>
          <a:bodyPr wrap="square" lIns="0" tIns="18923" rIns="0" bIns="0" rtlCol="0">
            <a:noAutofit/>
          </a:bodyPr>
          <a:lstStyle/>
          <a:p>
            <a:pPr marL="12700">
              <a:lnSpc>
                <a:spcPts val="2980"/>
              </a:lnSpc>
            </a:pPr>
            <a:r>
              <a:rPr sz="2800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58414" y="1685609"/>
            <a:ext cx="257848" cy="378376"/>
          </a:xfrm>
          <a:prstGeom prst="rect">
            <a:avLst/>
          </a:prstGeom>
        </p:spPr>
        <p:txBody>
          <a:bodyPr wrap="square" lIns="0" tIns="18923" rIns="0" bIns="0" rtlCol="0">
            <a:noAutofit/>
          </a:bodyPr>
          <a:lstStyle/>
          <a:p>
            <a:pPr marL="12700">
              <a:lnSpc>
                <a:spcPts val="2980"/>
              </a:lnSpc>
            </a:pPr>
            <a:r>
              <a:rPr sz="2800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001195" y="1685609"/>
            <a:ext cx="257848" cy="378376"/>
          </a:xfrm>
          <a:prstGeom prst="rect">
            <a:avLst/>
          </a:prstGeom>
        </p:spPr>
        <p:txBody>
          <a:bodyPr wrap="square" lIns="0" tIns="18923" rIns="0" bIns="0" rtlCol="0">
            <a:noAutofit/>
          </a:bodyPr>
          <a:lstStyle/>
          <a:p>
            <a:pPr marL="12700">
              <a:lnSpc>
                <a:spcPts val="2980"/>
              </a:lnSpc>
            </a:pPr>
            <a:r>
              <a:rPr sz="2800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8798" y="1691247"/>
            <a:ext cx="302642" cy="378376"/>
          </a:xfrm>
          <a:prstGeom prst="rect">
            <a:avLst/>
          </a:prstGeom>
        </p:spPr>
        <p:txBody>
          <a:bodyPr wrap="square" lIns="0" tIns="18605" rIns="0" bIns="0" rtlCol="0">
            <a:noAutofit/>
          </a:bodyPr>
          <a:lstStyle/>
          <a:p>
            <a:pPr marL="12700">
              <a:lnSpc>
                <a:spcPts val="2930"/>
              </a:lnSpc>
            </a:pPr>
            <a:r>
              <a:rPr sz="2800" spc="-9" dirty="0">
                <a:latin typeface="Times New Roman"/>
                <a:cs typeface="Times New Roman"/>
              </a:rPr>
              <a:t>a.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04418" y="1691247"/>
            <a:ext cx="639085" cy="378376"/>
          </a:xfrm>
          <a:prstGeom prst="rect">
            <a:avLst/>
          </a:prstGeom>
        </p:spPr>
        <p:txBody>
          <a:bodyPr wrap="square" lIns="0" tIns="18605" rIns="0" bIns="0" rtlCol="0">
            <a:noAutofit/>
          </a:bodyPr>
          <a:lstStyle/>
          <a:p>
            <a:pPr marL="12700">
              <a:lnSpc>
                <a:spcPts val="2930"/>
              </a:lnSpc>
            </a:pPr>
            <a:r>
              <a:rPr sz="2800" i="1" spc="-19" dirty="0">
                <a:latin typeface="Times New Roman"/>
                <a:cs typeface="Times New Roman"/>
              </a:rPr>
              <a:t>G</a:t>
            </a:r>
            <a:r>
              <a:rPr sz="2800" i="1" spc="0" dirty="0">
                <a:latin typeface="Times New Roman"/>
                <a:cs typeface="Times New Roman"/>
              </a:rPr>
              <a:t>oS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57336" y="1691247"/>
            <a:ext cx="1010187" cy="378376"/>
          </a:xfrm>
          <a:prstGeom prst="rect">
            <a:avLst/>
          </a:prstGeom>
        </p:spPr>
        <p:txBody>
          <a:bodyPr wrap="square" lIns="0" tIns="18605" rIns="0" bIns="0" rtlCol="0">
            <a:noAutofit/>
          </a:bodyPr>
          <a:lstStyle/>
          <a:p>
            <a:pPr marL="12700">
              <a:lnSpc>
                <a:spcPts val="2930"/>
              </a:lnSpc>
            </a:pPr>
            <a:r>
              <a:rPr sz="2800" spc="-83" dirty="0">
                <a:latin typeface="Times New Roman"/>
                <a:cs typeface="Times New Roman"/>
              </a:rPr>
              <a:t>0, 2389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56056" y="2141465"/>
            <a:ext cx="659887" cy="554909"/>
          </a:xfrm>
          <a:prstGeom prst="rect">
            <a:avLst/>
          </a:prstGeom>
        </p:spPr>
        <p:txBody>
          <a:bodyPr wrap="square" lIns="0" tIns="27749" rIns="0" bIns="0" rtlCol="0">
            <a:noAutofit/>
          </a:bodyPr>
          <a:lstStyle/>
          <a:p>
            <a:pPr marL="12700">
              <a:lnSpc>
                <a:spcPts val="4370"/>
              </a:lnSpc>
            </a:pPr>
            <a:r>
              <a:rPr sz="4150" spc="329" dirty="0">
                <a:latin typeface="Symbol"/>
                <a:cs typeface="Symbol"/>
              </a:rPr>
              <a:t></a:t>
            </a:r>
            <a:r>
              <a:rPr sz="4200" i="1" spc="0" baseline="12423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90449" y="2211814"/>
            <a:ext cx="448642" cy="378376"/>
          </a:xfrm>
          <a:prstGeom prst="rect">
            <a:avLst/>
          </a:prstGeom>
        </p:spPr>
        <p:txBody>
          <a:bodyPr wrap="square" lIns="0" tIns="18605" rIns="0" bIns="0" rtlCol="0">
            <a:noAutofit/>
          </a:bodyPr>
          <a:lstStyle/>
          <a:p>
            <a:pPr marL="12700">
              <a:lnSpc>
                <a:spcPts val="2930"/>
              </a:lnSpc>
            </a:pPr>
            <a:r>
              <a:rPr sz="2800" spc="-32" dirty="0">
                <a:latin typeface="Times New Roman"/>
                <a:cs typeface="Times New Roman"/>
              </a:rPr>
              <a:t>/ </a:t>
            </a:r>
            <a:r>
              <a:rPr sz="2800" i="1" spc="-32" dirty="0">
                <a:latin typeface="Times New Roman"/>
                <a:cs typeface="Times New Roman"/>
              </a:rPr>
              <a:t>i</a:t>
            </a:r>
            <a:r>
              <a:rPr sz="2800" spc="-32" dirty="0">
                <a:latin typeface="Times New Roman"/>
                <a:cs typeface="Times New Roman"/>
              </a:rPr>
              <a:t>!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81090" y="2213841"/>
            <a:ext cx="448900" cy="384013"/>
          </a:xfrm>
          <a:prstGeom prst="rect">
            <a:avLst/>
          </a:prstGeom>
        </p:spPr>
        <p:txBody>
          <a:bodyPr wrap="square" lIns="0" tIns="18954" rIns="0" bIns="0" rtlCol="0">
            <a:noAutofit/>
          </a:bodyPr>
          <a:lstStyle/>
          <a:p>
            <a:pPr marL="12700">
              <a:lnSpc>
                <a:spcPts val="2985"/>
              </a:lnSpc>
            </a:pPr>
            <a:r>
              <a:rPr sz="2800" spc="111" dirty="0">
                <a:latin typeface="Times New Roman"/>
                <a:cs typeface="Times New Roman"/>
              </a:rPr>
              <a:t>1</a:t>
            </a:r>
            <a:r>
              <a:rPr sz="2800" spc="0" dirty="0">
                <a:latin typeface="Symbol"/>
                <a:cs typeface="Symbol"/>
              </a:rPr>
              <a:t>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77157" y="2213841"/>
            <a:ext cx="257848" cy="378376"/>
          </a:xfrm>
          <a:prstGeom prst="rect">
            <a:avLst/>
          </a:prstGeom>
        </p:spPr>
        <p:txBody>
          <a:bodyPr wrap="square" lIns="0" tIns="18923" rIns="0" bIns="0" rtlCol="0">
            <a:noAutofit/>
          </a:bodyPr>
          <a:lstStyle/>
          <a:p>
            <a:pPr marL="12700">
              <a:lnSpc>
                <a:spcPts val="2980"/>
              </a:lnSpc>
            </a:pPr>
            <a:r>
              <a:rPr sz="2800" dirty="0">
                <a:latin typeface="Symbol"/>
                <a:cs typeface="Symbol"/>
              </a:rPr>
              <a:t>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25849" y="2213841"/>
            <a:ext cx="257848" cy="378376"/>
          </a:xfrm>
          <a:prstGeom prst="rect">
            <a:avLst/>
          </a:prstGeom>
        </p:spPr>
        <p:txBody>
          <a:bodyPr wrap="square" lIns="0" tIns="18923" rIns="0" bIns="0" rtlCol="0">
            <a:noAutofit/>
          </a:bodyPr>
          <a:lstStyle/>
          <a:p>
            <a:pPr marL="12700">
              <a:lnSpc>
                <a:spcPts val="2980"/>
              </a:lnSpc>
            </a:pPr>
            <a:r>
              <a:rPr sz="2800" dirty="0">
                <a:latin typeface="Symbol"/>
                <a:cs typeface="Symbol"/>
              </a:rPr>
              <a:t>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60154" y="2213841"/>
            <a:ext cx="257848" cy="378376"/>
          </a:xfrm>
          <a:prstGeom prst="rect">
            <a:avLst/>
          </a:prstGeom>
        </p:spPr>
        <p:txBody>
          <a:bodyPr wrap="square" lIns="0" tIns="18923" rIns="0" bIns="0" rtlCol="0">
            <a:noAutofit/>
          </a:bodyPr>
          <a:lstStyle/>
          <a:p>
            <a:pPr marL="12700">
              <a:lnSpc>
                <a:spcPts val="2980"/>
              </a:lnSpc>
            </a:pPr>
            <a:r>
              <a:rPr sz="2800" dirty="0">
                <a:latin typeface="Symbol"/>
                <a:cs typeface="Symbol"/>
              </a:rPr>
              <a:t>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3050" y="3793495"/>
            <a:ext cx="1499865" cy="487613"/>
          </a:xfrm>
          <a:prstGeom prst="rect">
            <a:avLst/>
          </a:prstGeom>
        </p:spPr>
        <p:txBody>
          <a:bodyPr wrap="square" lIns="0" tIns="24384" rIns="0" bIns="0" rtlCol="0">
            <a:noAutofit/>
          </a:bodyPr>
          <a:lstStyle/>
          <a:p>
            <a:pPr marL="12700">
              <a:lnSpc>
                <a:spcPts val="3840"/>
              </a:lnSpc>
            </a:pPr>
            <a:r>
              <a:rPr sz="2800" i="1" spc="-9" dirty="0">
                <a:latin typeface="Times New Roman"/>
                <a:cs typeface="Times New Roman"/>
              </a:rPr>
              <a:t>E</a:t>
            </a:r>
            <a:r>
              <a:rPr sz="2800" i="1" spc="0" dirty="0">
                <a:latin typeface="Times New Roman"/>
                <a:cs typeface="Times New Roman"/>
              </a:rPr>
              <a:t>rl</a:t>
            </a:r>
            <a:r>
              <a:rPr sz="2800" i="1" spc="-294" dirty="0">
                <a:latin typeface="Times New Roman"/>
                <a:cs typeface="Times New Roman"/>
              </a:rPr>
              <a:t> </a:t>
            </a:r>
            <a:r>
              <a:rPr sz="3650" spc="209" dirty="0">
                <a:latin typeface="Symbol"/>
                <a:cs typeface="Symbol"/>
              </a:rPr>
              <a:t></a:t>
            </a:r>
            <a:r>
              <a:rPr sz="2800" spc="-142" dirty="0">
                <a:latin typeface="Times New Roman"/>
                <a:cs typeface="Times New Roman"/>
              </a:rPr>
              <a:t>2</a:t>
            </a:r>
            <a:r>
              <a:rPr sz="2800" spc="185" dirty="0">
                <a:latin typeface="Times New Roman"/>
                <a:cs typeface="Times New Roman"/>
              </a:rPr>
              <a:t>,</a:t>
            </a:r>
            <a:r>
              <a:rPr sz="2800" spc="-42" dirty="0">
                <a:latin typeface="Times New Roman"/>
                <a:cs typeface="Times New Roman"/>
              </a:rPr>
              <a:t>3</a:t>
            </a:r>
            <a:r>
              <a:rPr sz="3650" spc="0" dirty="0">
                <a:latin typeface="Symbol"/>
                <a:cs typeface="Symbol"/>
              </a:rPr>
              <a:t></a:t>
            </a:r>
            <a:r>
              <a:rPr sz="3650" spc="-309" dirty="0">
                <a:latin typeface="Times New Roman"/>
                <a:cs typeface="Times New Roman"/>
              </a:rPr>
              <a:t> </a:t>
            </a:r>
            <a:r>
              <a:rPr sz="2800" spc="0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3951" y="3857878"/>
            <a:ext cx="678142" cy="454463"/>
          </a:xfrm>
          <a:prstGeom prst="rect">
            <a:avLst/>
          </a:prstGeom>
        </p:spPr>
        <p:txBody>
          <a:bodyPr wrap="square" lIns="0" tIns="22256" rIns="0" bIns="0" rtlCol="0">
            <a:noAutofit/>
          </a:bodyPr>
          <a:lstStyle/>
          <a:p>
            <a:pPr marL="12700">
              <a:lnSpc>
                <a:spcPts val="3504"/>
              </a:lnSpc>
            </a:pPr>
            <a:r>
              <a:rPr sz="4200" i="1" spc="-125" baseline="8282" dirty="0">
                <a:latin typeface="Times New Roman"/>
                <a:cs typeface="Times New Roman"/>
              </a:rPr>
              <a:t>B</a:t>
            </a:r>
            <a:r>
              <a:rPr sz="2925" i="1" spc="0" baseline="-8919" dirty="0">
                <a:latin typeface="Times New Roman"/>
                <a:cs typeface="Times New Roman"/>
              </a:rPr>
              <a:t>c </a:t>
            </a:r>
            <a:r>
              <a:rPr sz="2925" i="1" spc="-4" baseline="-8919" dirty="0">
                <a:latin typeface="Times New Roman"/>
                <a:cs typeface="Times New Roman"/>
              </a:rPr>
              <a:t> </a:t>
            </a:r>
            <a:r>
              <a:rPr sz="4200" spc="0" baseline="7773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63676" y="3857878"/>
            <a:ext cx="257848" cy="378376"/>
          </a:xfrm>
          <a:prstGeom prst="rect">
            <a:avLst/>
          </a:prstGeom>
        </p:spPr>
        <p:txBody>
          <a:bodyPr wrap="square" lIns="0" tIns="18923" rIns="0" bIns="0" rtlCol="0">
            <a:noAutofit/>
          </a:bodyPr>
          <a:lstStyle/>
          <a:p>
            <a:pPr marL="12700">
              <a:lnSpc>
                <a:spcPts val="2980"/>
              </a:lnSpc>
            </a:pPr>
            <a:r>
              <a:rPr sz="2800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9118" y="3857878"/>
            <a:ext cx="257848" cy="378376"/>
          </a:xfrm>
          <a:prstGeom prst="rect">
            <a:avLst/>
          </a:prstGeom>
        </p:spPr>
        <p:txBody>
          <a:bodyPr wrap="square" lIns="0" tIns="18923" rIns="0" bIns="0" rtlCol="0">
            <a:noAutofit/>
          </a:bodyPr>
          <a:lstStyle/>
          <a:p>
            <a:pPr marL="12700">
              <a:lnSpc>
                <a:spcPts val="2980"/>
              </a:lnSpc>
            </a:pPr>
            <a:r>
              <a:rPr sz="2800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4852" y="3857878"/>
            <a:ext cx="2356479" cy="384013"/>
          </a:xfrm>
          <a:prstGeom prst="rect">
            <a:avLst/>
          </a:prstGeom>
        </p:spPr>
        <p:txBody>
          <a:bodyPr wrap="square" lIns="0" tIns="18954" rIns="0" bIns="0" rtlCol="0">
            <a:noAutofit/>
          </a:bodyPr>
          <a:lstStyle/>
          <a:p>
            <a:pPr marL="12700">
              <a:lnSpc>
                <a:spcPts val="2985"/>
              </a:lnSpc>
            </a:pPr>
            <a:r>
              <a:rPr sz="2800" spc="-30" dirty="0">
                <a:latin typeface="Times New Roman"/>
                <a:cs typeface="Times New Roman"/>
              </a:rPr>
              <a:t>0,5294 </a:t>
            </a:r>
            <a:r>
              <a:rPr sz="2800" spc="0" dirty="0">
                <a:latin typeface="Symbol"/>
                <a:cs typeface="Symbol"/>
              </a:rPr>
              <a:t></a:t>
            </a:r>
            <a:r>
              <a:rPr sz="2800" spc="-30" dirty="0">
                <a:latin typeface="Times New Roman"/>
                <a:cs typeface="Times New Roman"/>
              </a:rPr>
              <a:t> 52,94%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798" y="3863516"/>
            <a:ext cx="302642" cy="378376"/>
          </a:xfrm>
          <a:prstGeom prst="rect">
            <a:avLst/>
          </a:prstGeom>
        </p:spPr>
        <p:txBody>
          <a:bodyPr wrap="square" lIns="0" tIns="18605" rIns="0" bIns="0" rtlCol="0">
            <a:noAutofit/>
          </a:bodyPr>
          <a:lstStyle/>
          <a:p>
            <a:pPr marL="12700">
              <a:lnSpc>
                <a:spcPts val="2930"/>
              </a:lnSpc>
            </a:pPr>
            <a:r>
              <a:rPr sz="2800" spc="-9" dirty="0">
                <a:latin typeface="Times New Roman"/>
                <a:cs typeface="Times New Roman"/>
              </a:rPr>
              <a:t>c.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5877" y="4101394"/>
            <a:ext cx="345868" cy="938900"/>
          </a:xfrm>
          <a:prstGeom prst="rect">
            <a:avLst/>
          </a:prstGeom>
        </p:spPr>
        <p:txBody>
          <a:bodyPr wrap="square" lIns="0" tIns="22288" rIns="0" bIns="0" rtlCol="0">
            <a:noAutofit/>
          </a:bodyPr>
          <a:lstStyle/>
          <a:p>
            <a:pPr marL="12700" marR="7899">
              <a:lnSpc>
                <a:spcPts val="3510"/>
              </a:lnSpc>
            </a:pPr>
            <a:r>
              <a:rPr sz="2800" spc="-114" dirty="0">
                <a:latin typeface="Times New Roman"/>
                <a:cs typeface="Times New Roman"/>
              </a:rPr>
              <a:t>3</a:t>
            </a:r>
            <a:r>
              <a:rPr sz="2925" spc="-114" baseline="34190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  <a:p>
            <a:pPr marL="23883">
              <a:lnSpc>
                <a:spcPct val="95825"/>
              </a:lnSpc>
              <a:spcBef>
                <a:spcPts val="496"/>
              </a:spcBef>
            </a:pPr>
            <a:r>
              <a:rPr sz="2800" spc="-62" dirty="0">
                <a:latin typeface="Times New Roman"/>
                <a:cs typeface="Times New Roman"/>
              </a:rPr>
              <a:t>1!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22090" y="4101394"/>
            <a:ext cx="397174" cy="938900"/>
          </a:xfrm>
          <a:prstGeom prst="rect">
            <a:avLst/>
          </a:prstGeom>
        </p:spPr>
        <p:txBody>
          <a:bodyPr wrap="square" lIns="0" tIns="22288" rIns="0" bIns="0" rtlCol="0">
            <a:noAutofit/>
          </a:bodyPr>
          <a:lstStyle/>
          <a:p>
            <a:pPr marL="12700" marR="33755">
              <a:lnSpc>
                <a:spcPts val="3510"/>
              </a:lnSpc>
            </a:pPr>
            <a:r>
              <a:rPr sz="2800" spc="-14" dirty="0">
                <a:latin typeface="Times New Roman"/>
                <a:cs typeface="Times New Roman"/>
              </a:rPr>
              <a:t>3</a:t>
            </a:r>
            <a:r>
              <a:rPr sz="2925" spc="-14" baseline="34190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  <a:p>
            <a:pPr marL="50014">
              <a:lnSpc>
                <a:spcPct val="95825"/>
              </a:lnSpc>
              <a:spcBef>
                <a:spcPts val="496"/>
              </a:spcBef>
            </a:pPr>
            <a:r>
              <a:rPr sz="2800" spc="34" dirty="0">
                <a:latin typeface="Times New Roman"/>
                <a:cs typeface="Times New Roman"/>
              </a:rPr>
              <a:t>2!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45291" y="4140254"/>
            <a:ext cx="506012" cy="378376"/>
          </a:xfrm>
          <a:prstGeom prst="rect">
            <a:avLst/>
          </a:prstGeom>
        </p:spPr>
        <p:txBody>
          <a:bodyPr wrap="square" lIns="0" tIns="18605" rIns="0" bIns="0" rtlCol="0">
            <a:noAutofit/>
          </a:bodyPr>
          <a:lstStyle/>
          <a:p>
            <a:pPr marL="12700">
              <a:lnSpc>
                <a:spcPts val="2930"/>
              </a:lnSpc>
            </a:pPr>
            <a:r>
              <a:rPr sz="2800" spc="-84" dirty="0">
                <a:latin typeface="Times New Roman"/>
                <a:cs typeface="Times New Roman"/>
              </a:rPr>
              <a:t>8</a:t>
            </a:r>
            <a:r>
              <a:rPr sz="2800" spc="234" dirty="0">
                <a:latin typeface="Times New Roman"/>
                <a:cs typeface="Times New Roman"/>
              </a:rPr>
              <a:t>,</a:t>
            </a:r>
            <a:r>
              <a:rPr sz="2800" spc="0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51766" y="1659173"/>
            <a:ext cx="10512552" cy="4779264"/>
          </a:xfrm>
          <a:prstGeom prst="rect">
            <a:avLst/>
          </a:prstGeom>
        </p:spPr>
        <p:txBody>
          <a:bodyPr wrap="square" lIns="0" tIns="60325" rIns="0" bIns="0" rtlCol="0">
            <a:noAutofit/>
          </a:bodyPr>
          <a:lstStyle/>
          <a:p>
            <a:pPr marL="885948">
              <a:lnSpc>
                <a:spcPts val="2473"/>
              </a:lnSpc>
            </a:pPr>
            <a:r>
              <a:rPr sz="2800" spc="154" dirty="0">
                <a:latin typeface="Times New Roman"/>
                <a:cs typeface="Times New Roman"/>
              </a:rPr>
              <a:t>9</a:t>
            </a:r>
            <a:r>
              <a:rPr sz="2800" i="1" spc="94" dirty="0">
                <a:latin typeface="Times New Roman"/>
                <a:cs typeface="Times New Roman"/>
              </a:rPr>
              <a:t>x</a:t>
            </a:r>
            <a:r>
              <a:rPr sz="2800" spc="0" dirty="0">
                <a:latin typeface="Times New Roman"/>
                <a:cs typeface="Times New Roman"/>
              </a:rPr>
              <a:t>20                         </a:t>
            </a:r>
            <a:r>
              <a:rPr sz="2800" spc="169" dirty="0">
                <a:latin typeface="Times New Roman"/>
                <a:cs typeface="Times New Roman"/>
              </a:rPr>
              <a:t> </a:t>
            </a:r>
            <a:r>
              <a:rPr sz="2800" i="1" spc="129" dirty="0">
                <a:latin typeface="Times New Roman"/>
                <a:cs typeface="Times New Roman"/>
              </a:rPr>
              <a:t>a</a:t>
            </a:r>
            <a:r>
              <a:rPr sz="2925" i="1" spc="0" baseline="37164" dirty="0">
                <a:latin typeface="Times New Roman"/>
                <a:cs typeface="Times New Roman"/>
              </a:rPr>
              <a:t>n</a:t>
            </a:r>
            <a:r>
              <a:rPr sz="2925" i="1" spc="136" baseline="37164" dirty="0">
                <a:latin typeface="Times New Roman"/>
                <a:cs typeface="Times New Roman"/>
              </a:rPr>
              <a:t> </a:t>
            </a:r>
            <a:r>
              <a:rPr sz="2800" spc="0" dirty="0">
                <a:latin typeface="Times New Roman"/>
                <a:cs typeface="Times New Roman"/>
              </a:rPr>
              <a:t>/</a:t>
            </a:r>
            <a:r>
              <a:rPr sz="2800" spc="-209" dirty="0">
                <a:latin typeface="Times New Roman"/>
                <a:cs typeface="Times New Roman"/>
              </a:rPr>
              <a:t> </a:t>
            </a:r>
            <a:r>
              <a:rPr sz="2800" i="1" spc="109" dirty="0">
                <a:latin typeface="Times New Roman"/>
                <a:cs typeface="Times New Roman"/>
              </a:rPr>
              <a:t>n</a:t>
            </a:r>
            <a:r>
              <a:rPr sz="2800" spc="0" dirty="0">
                <a:latin typeface="Times New Roman"/>
                <a:cs typeface="Times New Roman"/>
              </a:rPr>
              <a:t>!              </a:t>
            </a:r>
            <a:r>
              <a:rPr sz="2800" spc="436" dirty="0">
                <a:latin typeface="Times New Roman"/>
                <a:cs typeface="Times New Roman"/>
              </a:rPr>
              <a:t> </a:t>
            </a:r>
            <a:r>
              <a:rPr sz="2800" spc="-19" dirty="0">
                <a:latin typeface="Times New Roman"/>
                <a:cs typeface="Times New Roman"/>
              </a:rPr>
              <a:t>3</a:t>
            </a:r>
            <a:r>
              <a:rPr sz="2925" spc="0" baseline="37164" dirty="0">
                <a:latin typeface="Times New Roman"/>
                <a:cs typeface="Times New Roman"/>
              </a:rPr>
              <a:t>4</a:t>
            </a:r>
            <a:r>
              <a:rPr sz="2925" spc="101" baseline="37164" dirty="0">
                <a:latin typeface="Times New Roman"/>
                <a:cs typeface="Times New Roman"/>
              </a:rPr>
              <a:t> </a:t>
            </a:r>
            <a:r>
              <a:rPr sz="2800" spc="0" dirty="0">
                <a:latin typeface="Times New Roman"/>
                <a:cs typeface="Times New Roman"/>
              </a:rPr>
              <a:t>/</a:t>
            </a:r>
            <a:r>
              <a:rPr sz="2800" spc="-214" dirty="0">
                <a:latin typeface="Times New Roman"/>
                <a:cs typeface="Times New Roman"/>
              </a:rPr>
              <a:t> </a:t>
            </a:r>
            <a:r>
              <a:rPr sz="2800" spc="69" dirty="0">
                <a:latin typeface="Times New Roman"/>
                <a:cs typeface="Times New Roman"/>
              </a:rPr>
              <a:t>4</a:t>
            </a:r>
            <a:r>
              <a:rPr sz="2800" spc="0" dirty="0">
                <a:latin typeface="Times New Roman"/>
                <a:cs typeface="Times New Roman"/>
              </a:rPr>
              <a:t>!             </a:t>
            </a:r>
            <a:r>
              <a:rPr sz="2800" spc="596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3</a:t>
            </a:r>
            <a:r>
              <a:rPr sz="2800" spc="234" dirty="0">
                <a:latin typeface="Times New Roman"/>
                <a:cs typeface="Times New Roman"/>
              </a:rPr>
              <a:t>,</a:t>
            </a:r>
            <a:r>
              <a:rPr sz="2800" spc="0" dirty="0">
                <a:latin typeface="Times New Roman"/>
                <a:cs typeface="Times New Roman"/>
              </a:rPr>
              <a:t>3</a:t>
            </a:r>
            <a:r>
              <a:rPr sz="2800" spc="-9" dirty="0">
                <a:latin typeface="Times New Roman"/>
                <a:cs typeface="Times New Roman"/>
              </a:rPr>
              <a:t>7</a:t>
            </a:r>
            <a:r>
              <a:rPr sz="2800" spc="0" dirty="0">
                <a:latin typeface="Times New Roman"/>
                <a:cs typeface="Times New Roman"/>
              </a:rPr>
              <a:t>5</a:t>
            </a:r>
            <a:endParaRPr sz="2800" dirty="0">
              <a:latin typeface="Times New Roman"/>
              <a:cs typeface="Times New Roman"/>
            </a:endParaRPr>
          </a:p>
          <a:p>
            <a:pPr marL="1058870">
              <a:lnSpc>
                <a:spcPts val="2248"/>
              </a:lnSpc>
              <a:spcBef>
                <a:spcPts val="1777"/>
              </a:spcBef>
            </a:pPr>
            <a:r>
              <a:rPr sz="2800" spc="0" dirty="0">
                <a:latin typeface="Times New Roman"/>
                <a:cs typeface="Times New Roman"/>
              </a:rPr>
              <a:t>60                           </a:t>
            </a:r>
            <a:r>
              <a:rPr sz="2800" spc="143" dirty="0">
                <a:latin typeface="Times New Roman"/>
                <a:cs typeface="Times New Roman"/>
              </a:rPr>
              <a:t> </a:t>
            </a:r>
            <a:r>
              <a:rPr sz="2925" i="1" spc="0" baseline="29731" dirty="0">
                <a:latin typeface="Times New Roman"/>
                <a:cs typeface="Times New Roman"/>
              </a:rPr>
              <a:t>n    </a:t>
            </a:r>
            <a:r>
              <a:rPr sz="2925" i="1" spc="116" baseline="29731" dirty="0">
                <a:latin typeface="Times New Roman"/>
                <a:cs typeface="Times New Roman"/>
              </a:rPr>
              <a:t> </a:t>
            </a:r>
            <a:r>
              <a:rPr sz="2925" i="1" spc="0" baseline="-19325" dirty="0">
                <a:latin typeface="Times New Roman"/>
                <a:cs typeface="Times New Roman"/>
              </a:rPr>
              <a:t>i                  </a:t>
            </a:r>
            <a:r>
              <a:rPr sz="2925" i="1" spc="484" baseline="-1932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3</a:t>
            </a:r>
            <a:r>
              <a:rPr sz="2925" spc="0" baseline="29731" dirty="0">
                <a:latin typeface="Times New Roman"/>
                <a:cs typeface="Times New Roman"/>
              </a:rPr>
              <a:t>1    </a:t>
            </a:r>
            <a:r>
              <a:rPr sz="2925" spc="196" baseline="29731" dirty="0">
                <a:latin typeface="Times New Roman"/>
                <a:cs typeface="Times New Roman"/>
              </a:rPr>
              <a:t> </a:t>
            </a:r>
            <a:r>
              <a:rPr sz="2800" spc="-29" dirty="0">
                <a:latin typeface="Times New Roman"/>
                <a:cs typeface="Times New Roman"/>
              </a:rPr>
              <a:t>3</a:t>
            </a:r>
            <a:r>
              <a:rPr sz="2925" spc="0" baseline="29731" dirty="0">
                <a:latin typeface="Times New Roman"/>
                <a:cs typeface="Times New Roman"/>
              </a:rPr>
              <a:t>2    </a:t>
            </a:r>
            <a:r>
              <a:rPr sz="2925" spc="336" baseline="29731" dirty="0">
                <a:latin typeface="Times New Roman"/>
                <a:cs typeface="Times New Roman"/>
              </a:rPr>
              <a:t> </a:t>
            </a:r>
            <a:r>
              <a:rPr sz="2800" spc="-84" dirty="0">
                <a:latin typeface="Times New Roman"/>
                <a:cs typeface="Times New Roman"/>
              </a:rPr>
              <a:t>3</a:t>
            </a:r>
            <a:r>
              <a:rPr sz="2925" spc="0" baseline="29731" dirty="0">
                <a:latin typeface="Times New Roman"/>
                <a:cs typeface="Times New Roman"/>
              </a:rPr>
              <a:t>3    </a:t>
            </a:r>
            <a:r>
              <a:rPr sz="2925" spc="276" baseline="29731" dirty="0">
                <a:latin typeface="Times New Roman"/>
                <a:cs typeface="Times New Roman"/>
              </a:rPr>
              <a:t> </a:t>
            </a:r>
            <a:r>
              <a:rPr sz="2800" spc="-29" dirty="0">
                <a:latin typeface="Times New Roman"/>
                <a:cs typeface="Times New Roman"/>
              </a:rPr>
              <a:t>3</a:t>
            </a:r>
            <a:r>
              <a:rPr sz="2925" spc="0" baseline="29731" dirty="0">
                <a:latin typeface="Times New Roman"/>
                <a:cs typeface="Times New Roman"/>
              </a:rPr>
              <a:t>4     </a:t>
            </a:r>
            <a:r>
              <a:rPr sz="2925" spc="196" baseline="29731" dirty="0">
                <a:latin typeface="Times New Roman"/>
                <a:cs typeface="Times New Roman"/>
              </a:rPr>
              <a:t> </a:t>
            </a:r>
            <a:r>
              <a:rPr sz="2800" spc="0" dirty="0">
                <a:latin typeface="Times New Roman"/>
                <a:cs typeface="Times New Roman"/>
              </a:rPr>
              <a:t>1</a:t>
            </a:r>
            <a:r>
              <a:rPr sz="2800" spc="-50" dirty="0">
                <a:latin typeface="Times New Roman"/>
                <a:cs typeface="Times New Roman"/>
              </a:rPr>
              <a:t>4</a:t>
            </a:r>
            <a:r>
              <a:rPr sz="2800" spc="34" dirty="0">
                <a:latin typeface="Times New Roman"/>
                <a:cs typeface="Times New Roman"/>
              </a:rPr>
              <a:t>,</a:t>
            </a:r>
            <a:r>
              <a:rPr sz="2800" spc="0" dirty="0">
                <a:latin typeface="Times New Roman"/>
                <a:cs typeface="Times New Roman"/>
              </a:rPr>
              <a:t>1</a:t>
            </a:r>
            <a:r>
              <a:rPr sz="2800" spc="-9" dirty="0">
                <a:latin typeface="Times New Roman"/>
                <a:cs typeface="Times New Roman"/>
              </a:rPr>
              <a:t>2</a:t>
            </a:r>
            <a:r>
              <a:rPr sz="2800" spc="0" dirty="0">
                <a:latin typeface="Times New Roman"/>
                <a:cs typeface="Times New Roman"/>
              </a:rPr>
              <a:t>5</a:t>
            </a:r>
            <a:endParaRPr sz="2800" dirty="0">
              <a:latin typeface="Times New Roman"/>
              <a:cs typeface="Times New Roman"/>
            </a:endParaRPr>
          </a:p>
          <a:p>
            <a:pPr marL="3809285">
              <a:lnSpc>
                <a:spcPts val="3003"/>
              </a:lnSpc>
              <a:spcBef>
                <a:spcPts val="2115"/>
              </a:spcBef>
            </a:pPr>
            <a:r>
              <a:rPr sz="2925" i="1" spc="139" baseline="-22298" dirty="0">
                <a:latin typeface="Times New Roman"/>
                <a:cs typeface="Times New Roman"/>
              </a:rPr>
              <a:t>i</a:t>
            </a:r>
            <a:r>
              <a:rPr sz="2925" spc="69" baseline="-20929" dirty="0">
                <a:latin typeface="Symbol"/>
                <a:cs typeface="Symbol"/>
              </a:rPr>
              <a:t></a:t>
            </a:r>
            <a:r>
              <a:rPr sz="2925" spc="0" baseline="-22298" dirty="0">
                <a:latin typeface="Times New Roman"/>
                <a:cs typeface="Times New Roman"/>
              </a:rPr>
              <a:t>0                       </a:t>
            </a:r>
            <a:r>
              <a:rPr sz="2925" spc="195" baseline="-22298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1</a:t>
            </a:r>
            <a:r>
              <a:rPr sz="2800" spc="0" dirty="0">
                <a:latin typeface="Times New Roman"/>
                <a:cs typeface="Times New Roman"/>
              </a:rPr>
              <a:t>!  </a:t>
            </a:r>
            <a:r>
              <a:rPr sz="2800" spc="696" dirty="0">
                <a:latin typeface="Times New Roman"/>
                <a:cs typeface="Times New Roman"/>
              </a:rPr>
              <a:t> </a:t>
            </a:r>
            <a:r>
              <a:rPr sz="2800" spc="69" dirty="0">
                <a:latin typeface="Times New Roman"/>
                <a:cs typeface="Times New Roman"/>
              </a:rPr>
              <a:t>2</a:t>
            </a:r>
            <a:r>
              <a:rPr sz="2800" spc="0" dirty="0">
                <a:latin typeface="Times New Roman"/>
                <a:cs typeface="Times New Roman"/>
              </a:rPr>
              <a:t>!  </a:t>
            </a:r>
            <a:r>
              <a:rPr sz="2800" spc="566" dirty="0">
                <a:latin typeface="Times New Roman"/>
                <a:cs typeface="Times New Roman"/>
              </a:rPr>
              <a:t> </a:t>
            </a:r>
            <a:r>
              <a:rPr sz="2800" spc="0" dirty="0">
                <a:latin typeface="Times New Roman"/>
                <a:cs typeface="Times New Roman"/>
              </a:rPr>
              <a:t>3!  </a:t>
            </a:r>
            <a:r>
              <a:rPr sz="2800" spc="641" dirty="0">
                <a:latin typeface="Times New Roman"/>
                <a:cs typeface="Times New Roman"/>
              </a:rPr>
              <a:t> </a:t>
            </a:r>
            <a:r>
              <a:rPr sz="2800" spc="69" dirty="0">
                <a:latin typeface="Times New Roman"/>
                <a:cs typeface="Times New Roman"/>
              </a:rPr>
              <a:t>4</a:t>
            </a:r>
            <a:r>
              <a:rPr sz="2800" spc="0" dirty="0">
                <a:latin typeface="Times New Roman"/>
                <a:cs typeface="Times New Roman"/>
              </a:rPr>
              <a:t>!</a:t>
            </a:r>
            <a:endParaRPr sz="2800" dirty="0">
              <a:latin typeface="Times New Roman"/>
              <a:cs typeface="Times New Roman"/>
            </a:endParaRPr>
          </a:p>
          <a:p>
            <a:pPr marL="59993">
              <a:lnSpc>
                <a:spcPct val="102091"/>
              </a:lnSpc>
              <a:spcBef>
                <a:spcPts val="1105"/>
              </a:spcBef>
            </a:pPr>
            <a:r>
              <a:rPr sz="2800" spc="-104" dirty="0">
                <a:latin typeface="Times New Roman"/>
                <a:cs typeface="Times New Roman"/>
              </a:rPr>
              <a:t>b. </a:t>
            </a:r>
            <a:r>
              <a:rPr sz="2800" i="1" spc="-104" dirty="0">
                <a:latin typeface="Times New Roman"/>
                <a:cs typeface="Times New Roman"/>
              </a:rPr>
              <a:t>QoS </a:t>
            </a:r>
            <a:r>
              <a:rPr sz="2800" spc="0" dirty="0">
                <a:latin typeface="Symbol"/>
                <a:cs typeface="Symbol"/>
              </a:rPr>
              <a:t></a:t>
            </a:r>
            <a:r>
              <a:rPr sz="2800" spc="-104" dirty="0">
                <a:latin typeface="Times New Roman"/>
                <a:cs typeface="Times New Roman"/>
              </a:rPr>
              <a:t> 1</a:t>
            </a:r>
            <a:r>
              <a:rPr sz="2800" spc="0" dirty="0">
                <a:latin typeface="Symbol"/>
                <a:cs typeface="Symbol"/>
              </a:rPr>
              <a:t></a:t>
            </a:r>
            <a:r>
              <a:rPr sz="2800" spc="-104" dirty="0">
                <a:latin typeface="Times New Roman"/>
                <a:cs typeface="Times New Roman"/>
              </a:rPr>
              <a:t> 0, 2389 </a:t>
            </a:r>
            <a:r>
              <a:rPr sz="2800" spc="0" dirty="0">
                <a:latin typeface="Symbol"/>
                <a:cs typeface="Symbol"/>
              </a:rPr>
              <a:t></a:t>
            </a:r>
            <a:r>
              <a:rPr sz="2800" spc="-104" dirty="0">
                <a:latin typeface="Times New Roman"/>
                <a:cs typeface="Times New Roman"/>
              </a:rPr>
              <a:t> 0, 7611 </a:t>
            </a:r>
            <a:r>
              <a:rPr sz="2800" spc="0" dirty="0">
                <a:latin typeface="Symbol"/>
                <a:cs typeface="Symbol"/>
              </a:rPr>
              <a:t></a:t>
            </a:r>
            <a:r>
              <a:rPr sz="2800" spc="-104" dirty="0">
                <a:latin typeface="Times New Roman"/>
                <a:cs typeface="Times New Roman"/>
              </a:rPr>
              <a:t> 76,11%</a:t>
            </a:r>
            <a:endParaRPr sz="2800" dirty="0">
              <a:latin typeface="Times New Roman"/>
              <a:cs typeface="Times New Roman"/>
            </a:endParaRPr>
          </a:p>
          <a:p>
            <a:pPr marL="2833817">
              <a:lnSpc>
                <a:spcPts val="2464"/>
              </a:lnSpc>
              <a:spcBef>
                <a:spcPts val="1081"/>
              </a:spcBef>
            </a:pPr>
            <a:r>
              <a:rPr sz="2800" spc="-29" dirty="0">
                <a:latin typeface="Times New Roman"/>
                <a:cs typeface="Times New Roman"/>
              </a:rPr>
              <a:t>3</a:t>
            </a:r>
            <a:r>
              <a:rPr sz="2925" spc="0" baseline="37164" dirty="0">
                <a:latin typeface="Times New Roman"/>
                <a:cs typeface="Times New Roman"/>
              </a:rPr>
              <a:t>2</a:t>
            </a:r>
            <a:r>
              <a:rPr sz="2925" spc="106" baseline="37164" dirty="0">
                <a:latin typeface="Times New Roman"/>
                <a:cs typeface="Times New Roman"/>
              </a:rPr>
              <a:t> </a:t>
            </a:r>
            <a:r>
              <a:rPr sz="2800" spc="0" dirty="0">
                <a:latin typeface="Times New Roman"/>
                <a:cs typeface="Times New Roman"/>
              </a:rPr>
              <a:t>/</a:t>
            </a:r>
            <a:r>
              <a:rPr sz="2800" spc="-214" dirty="0">
                <a:latin typeface="Times New Roman"/>
                <a:cs typeface="Times New Roman"/>
              </a:rPr>
              <a:t> </a:t>
            </a:r>
            <a:r>
              <a:rPr sz="2800" spc="69" dirty="0">
                <a:latin typeface="Times New Roman"/>
                <a:cs typeface="Times New Roman"/>
              </a:rPr>
              <a:t>2</a:t>
            </a:r>
            <a:r>
              <a:rPr sz="2800" spc="0" dirty="0">
                <a:latin typeface="Times New Roman"/>
                <a:cs typeface="Times New Roman"/>
              </a:rPr>
              <a:t>!      </a:t>
            </a:r>
            <a:r>
              <a:rPr sz="2800" spc="46" dirty="0">
                <a:latin typeface="Times New Roman"/>
                <a:cs typeface="Times New Roman"/>
              </a:rPr>
              <a:t> </a:t>
            </a:r>
            <a:r>
              <a:rPr sz="2800" spc="-44" dirty="0">
                <a:latin typeface="Times New Roman"/>
                <a:cs typeface="Times New Roman"/>
              </a:rPr>
              <a:t>4</a:t>
            </a:r>
            <a:r>
              <a:rPr sz="2800" spc="234" dirty="0">
                <a:latin typeface="Times New Roman"/>
                <a:cs typeface="Times New Roman"/>
              </a:rPr>
              <a:t>,</a:t>
            </a:r>
            <a:r>
              <a:rPr sz="2800" spc="0" dirty="0">
                <a:latin typeface="Times New Roman"/>
                <a:cs typeface="Times New Roman"/>
              </a:rPr>
              <a:t>5</a:t>
            </a:r>
            <a:endParaRPr sz="2800" dirty="0">
              <a:latin typeface="Times New Roman"/>
              <a:cs typeface="Times New Roman"/>
            </a:endParaRPr>
          </a:p>
          <a:p>
            <a:pPr marL="2465736" marR="6971467" algn="ctr">
              <a:lnSpc>
                <a:spcPct val="102091"/>
              </a:lnSpc>
              <a:spcBef>
                <a:spcPts val="3813"/>
              </a:spcBef>
            </a:pPr>
            <a:r>
              <a:rPr sz="2800" spc="111" dirty="0">
                <a:latin typeface="Times New Roman"/>
                <a:cs typeface="Times New Roman"/>
              </a:rPr>
              <a:t>1</a:t>
            </a:r>
            <a:r>
              <a:rPr sz="2800" spc="0" dirty="0">
                <a:latin typeface="Symbol"/>
                <a:cs typeface="Symbol"/>
              </a:rPr>
              <a:t></a:t>
            </a:r>
            <a:r>
              <a:rPr sz="2800" spc="0" dirty="0">
                <a:latin typeface="Times New Roman"/>
                <a:cs typeface="Times New Roman"/>
              </a:rPr>
              <a:t>    </a:t>
            </a:r>
            <a:r>
              <a:rPr sz="2800" spc="-139" dirty="0">
                <a:latin typeface="Times New Roman"/>
                <a:cs typeface="Times New Roman"/>
              </a:rPr>
              <a:t> </a:t>
            </a:r>
            <a:r>
              <a:rPr sz="2800" spc="0" dirty="0">
                <a:latin typeface="Symbol"/>
                <a:cs typeface="Symbol"/>
              </a:rPr>
              <a:t></a:t>
            </a:r>
            <a:endParaRPr sz="2800" dirty="0">
              <a:latin typeface="Symbol"/>
              <a:cs typeface="Symbol"/>
            </a:endParaRPr>
          </a:p>
          <a:p>
            <a:pPr marL="54926">
              <a:lnSpc>
                <a:spcPts val="3332"/>
              </a:lnSpc>
              <a:spcBef>
                <a:spcPts val="2303"/>
              </a:spcBef>
            </a:pPr>
            <a:r>
              <a:rPr sz="2800" spc="-100" dirty="0">
                <a:latin typeface="Times New Roman"/>
                <a:cs typeface="Times New Roman"/>
              </a:rPr>
              <a:t>d. </a:t>
            </a:r>
            <a:r>
              <a:rPr sz="2800" i="1" spc="-100" dirty="0">
                <a:latin typeface="Times New Roman"/>
                <a:cs typeface="Times New Roman"/>
              </a:rPr>
              <a:t>B</a:t>
            </a:r>
            <a:r>
              <a:rPr sz="2925" i="1" spc="-100" baseline="-20811" dirty="0">
                <a:latin typeface="Times New Roman"/>
                <a:cs typeface="Times New Roman"/>
              </a:rPr>
              <a:t>c </a:t>
            </a:r>
            <a:r>
              <a:rPr sz="2800" spc="-100" dirty="0">
                <a:latin typeface="Times New Roman"/>
                <a:cs typeface="Times New Roman"/>
              </a:rPr>
              <a:t>(</a:t>
            </a:r>
            <a:r>
              <a:rPr sz="2800" i="1" spc="-100" dirty="0">
                <a:latin typeface="Times New Roman"/>
                <a:cs typeface="Times New Roman"/>
              </a:rPr>
              <a:t>n </a:t>
            </a:r>
            <a:r>
              <a:rPr sz="2800" spc="0" dirty="0">
                <a:latin typeface="Symbol"/>
                <a:cs typeface="Symbol"/>
              </a:rPr>
              <a:t></a:t>
            </a:r>
            <a:r>
              <a:rPr sz="2800" spc="-100" dirty="0">
                <a:latin typeface="Times New Roman"/>
                <a:cs typeface="Times New Roman"/>
              </a:rPr>
              <a:t> 4) </a:t>
            </a:r>
            <a:r>
              <a:rPr sz="2800" spc="0" dirty="0">
                <a:latin typeface="Symbol"/>
                <a:cs typeface="Symbol"/>
              </a:rPr>
              <a:t></a:t>
            </a:r>
            <a:r>
              <a:rPr sz="2800" spc="-100" dirty="0">
                <a:latin typeface="Times New Roman"/>
                <a:cs typeface="Times New Roman"/>
              </a:rPr>
              <a:t> 1</a:t>
            </a:r>
            <a:r>
              <a:rPr sz="2800" spc="0" dirty="0">
                <a:latin typeface="Symbol"/>
                <a:cs typeface="Symbol"/>
              </a:rPr>
              <a:t>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i="1" spc="-100" dirty="0">
                <a:latin typeface="Times New Roman"/>
                <a:cs typeface="Times New Roman"/>
              </a:rPr>
              <a:t>B</a:t>
            </a:r>
            <a:r>
              <a:rPr sz="2925" i="1" spc="-100" baseline="-20811" dirty="0">
                <a:latin typeface="Times New Roman"/>
                <a:cs typeface="Times New Roman"/>
              </a:rPr>
              <a:t>c </a:t>
            </a:r>
            <a:r>
              <a:rPr sz="2800" spc="-100" dirty="0">
                <a:latin typeface="Times New Roman"/>
                <a:cs typeface="Times New Roman"/>
              </a:rPr>
              <a:t>(</a:t>
            </a:r>
            <a:r>
              <a:rPr sz="2800" i="1" spc="-100" dirty="0">
                <a:latin typeface="Times New Roman"/>
                <a:cs typeface="Times New Roman"/>
              </a:rPr>
              <a:t>n </a:t>
            </a:r>
            <a:r>
              <a:rPr sz="2800" spc="0" dirty="0">
                <a:latin typeface="Symbol"/>
                <a:cs typeface="Symbol"/>
              </a:rPr>
              <a:t></a:t>
            </a:r>
            <a:r>
              <a:rPr sz="2800" spc="-100" dirty="0">
                <a:latin typeface="Times New Roman"/>
                <a:cs typeface="Times New Roman"/>
              </a:rPr>
              <a:t> 4)</a:t>
            </a:r>
            <a:endParaRPr sz="2800" dirty="0">
              <a:latin typeface="Times New Roman"/>
              <a:cs typeface="Times New Roman"/>
            </a:endParaRPr>
          </a:p>
          <a:p>
            <a:pPr marL="1490579" marR="6083501" algn="ctr">
              <a:lnSpc>
                <a:spcPct val="102091"/>
              </a:lnSpc>
              <a:spcBef>
                <a:spcPts val="1060"/>
              </a:spcBef>
            </a:pPr>
            <a:r>
              <a:rPr sz="2800" spc="-133" dirty="0">
                <a:latin typeface="Times New Roman"/>
                <a:cs typeface="Times New Roman"/>
              </a:rPr>
              <a:t>= 1</a:t>
            </a:r>
            <a:r>
              <a:rPr sz="2800" spc="0" dirty="0">
                <a:latin typeface="Symbol"/>
                <a:cs typeface="Symbol"/>
              </a:rPr>
              <a:t></a:t>
            </a:r>
            <a:r>
              <a:rPr sz="2800" spc="-133" dirty="0">
                <a:latin typeface="Times New Roman"/>
                <a:cs typeface="Times New Roman"/>
              </a:rPr>
              <a:t> 0, 2389 </a:t>
            </a:r>
            <a:r>
              <a:rPr sz="2800" spc="0" dirty="0">
                <a:latin typeface="Symbol"/>
                <a:cs typeface="Symbol"/>
              </a:rPr>
              <a:t></a:t>
            </a:r>
            <a:r>
              <a:rPr sz="2800" spc="-133" dirty="0">
                <a:latin typeface="Times New Roman"/>
                <a:cs typeface="Times New Roman"/>
              </a:rPr>
              <a:t> 0, 7611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6A4B88-23DC-4870-A6A4-46A627B99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02" y="1198387"/>
            <a:ext cx="11139732" cy="52198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29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7790" y="967053"/>
            <a:ext cx="7131095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MENGGUNAKAN TABEL ERLANG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98635" y="967053"/>
            <a:ext cx="1138083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(1/3)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016" y="1875309"/>
            <a:ext cx="9164892" cy="384377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>
              <a:lnSpc>
                <a:spcPts val="3010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Tabel Erlang menyatakan hubungan antara jumlah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016" y="2259988"/>
            <a:ext cx="8542695" cy="1280239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241300">
              <a:lnSpc>
                <a:spcPts val="3010"/>
              </a:lnSpc>
            </a:pP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kanal yang disediakan (</a:t>
            </a:r>
            <a:r>
              <a:rPr sz="2800" i="1" spc="-7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), </a:t>
            </a:r>
            <a:r>
              <a:rPr sz="2800" i="1" spc="-7" dirty="0">
                <a:solidFill>
                  <a:srgbClr val="FFFFFF"/>
                </a:solidFill>
                <a:latin typeface="Century Gothic"/>
                <a:cs typeface="Century Gothic"/>
              </a:rPr>
              <a:t>Probabilitas Blocking</a:t>
            </a:r>
            <a:endParaRPr sz="2800">
              <a:latin typeface="Century Gothic"/>
              <a:cs typeface="Century Gothic"/>
            </a:endParaRPr>
          </a:p>
          <a:p>
            <a:pPr marL="241300" marR="53263">
              <a:lnSpc>
                <a:spcPts val="3025"/>
              </a:lnSpc>
              <a:spcBef>
                <a:spcPts val="0"/>
              </a:spcBef>
            </a:pPr>
            <a:r>
              <a:rPr sz="2800" spc="-1" dirty="0">
                <a:solidFill>
                  <a:srgbClr val="FFFFFF"/>
                </a:solidFill>
                <a:latin typeface="Century Gothic"/>
                <a:cs typeface="Century Gothic"/>
              </a:rPr>
              <a:t>dan </a:t>
            </a:r>
            <a:r>
              <a:rPr sz="2800" i="1" spc="-1" dirty="0">
                <a:solidFill>
                  <a:srgbClr val="FFFFFF"/>
                </a:solidFill>
                <a:latin typeface="Century Gothic"/>
                <a:cs typeface="Century Gothic"/>
              </a:rPr>
              <a:t>Offered traffic </a:t>
            </a:r>
            <a:r>
              <a:rPr sz="2800" spc="-1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2800" i="1" spc="-1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800" spc="-1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endParaRPr sz="2800">
              <a:latin typeface="Century Gothic"/>
              <a:cs typeface="Century Gothic"/>
            </a:endParaRPr>
          </a:p>
          <a:p>
            <a:pPr marL="12700" marR="53263">
              <a:lnSpc>
                <a:spcPct val="102172"/>
              </a:lnSpc>
              <a:spcBef>
                <a:spcPts val="447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Tabel Erlang didapatkan dari Formula Erlang B: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08642" y="2259988"/>
            <a:ext cx="776670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3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2800" i="1" spc="3" dirty="0">
                <a:solidFill>
                  <a:srgbClr val="FFFFFF"/>
                </a:solidFill>
                <a:latin typeface="Century Gothic"/>
                <a:cs typeface="Century Gothic"/>
              </a:rPr>
              <a:t>Bc</a:t>
            </a:r>
            <a:r>
              <a:rPr sz="2800" spc="3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7915" y="4638826"/>
            <a:ext cx="328483" cy="809878"/>
          </a:xfrm>
          <a:prstGeom prst="rect">
            <a:avLst/>
          </a:prstGeom>
        </p:spPr>
        <p:txBody>
          <a:bodyPr wrap="square" lIns="0" tIns="19145" rIns="0" bIns="0" rtlCol="0">
            <a:noAutofit/>
          </a:bodyPr>
          <a:lstStyle/>
          <a:p>
            <a:pPr marL="12700" marR="13616">
              <a:lnSpc>
                <a:spcPts val="3015"/>
              </a:lnSpc>
            </a:pPr>
            <a:r>
              <a:rPr sz="2400" i="1" spc="91" dirty="0">
                <a:latin typeface="Times New Roman"/>
                <a:cs typeface="Times New Roman"/>
              </a:rPr>
              <a:t>a</a:t>
            </a:r>
            <a:r>
              <a:rPr sz="2475" i="1" spc="91" baseline="3338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  <a:p>
            <a:pPr marL="56749">
              <a:lnSpc>
                <a:spcPct val="95825"/>
              </a:lnSpc>
              <a:spcBef>
                <a:spcPts val="403"/>
              </a:spcBef>
            </a:pPr>
            <a:r>
              <a:rPr sz="2400" i="1" spc="102" dirty="0">
                <a:latin typeface="Times New Roman"/>
                <a:cs typeface="Times New Roman"/>
              </a:rPr>
              <a:t>i</a:t>
            </a:r>
            <a:r>
              <a:rPr sz="2400" spc="102" dirty="0">
                <a:latin typeface="Times New Roman"/>
                <a:cs typeface="Times New Roman"/>
              </a:rPr>
              <a:t>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4298" y="4645713"/>
            <a:ext cx="170560" cy="237742"/>
          </a:xfrm>
          <a:prstGeom prst="rect">
            <a:avLst/>
          </a:prstGeom>
        </p:spPr>
        <p:txBody>
          <a:bodyPr wrap="square" lIns="0" tIns="11430" rIns="0" bIns="0" rtlCol="0">
            <a:noAutofit/>
          </a:bodyPr>
          <a:lstStyle/>
          <a:p>
            <a:pPr marL="12700">
              <a:lnSpc>
                <a:spcPts val="1800"/>
              </a:lnSpc>
            </a:pPr>
            <a:r>
              <a:rPr sz="1650" i="1" spc="65" dirty="0">
                <a:latin typeface="Times New Roman"/>
                <a:cs typeface="Times New Roman"/>
              </a:rPr>
              <a:t>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7909" y="5280777"/>
            <a:ext cx="381156" cy="241134"/>
          </a:xfrm>
          <a:prstGeom prst="rect">
            <a:avLst/>
          </a:prstGeom>
        </p:spPr>
        <p:txBody>
          <a:bodyPr wrap="square" lIns="0" tIns="11652" rIns="0" bIns="0" rtlCol="0">
            <a:noAutofit/>
          </a:bodyPr>
          <a:lstStyle/>
          <a:p>
            <a:pPr marL="12700">
              <a:lnSpc>
                <a:spcPts val="1835"/>
              </a:lnSpc>
            </a:pPr>
            <a:r>
              <a:rPr sz="1650" i="1" spc="160" dirty="0">
                <a:latin typeface="Times New Roman"/>
                <a:cs typeface="Times New Roman"/>
              </a:rPr>
              <a:t>i</a:t>
            </a:r>
            <a:r>
              <a:rPr sz="1650" spc="54" dirty="0">
                <a:latin typeface="Symbol"/>
                <a:cs typeface="Symbol"/>
              </a:rPr>
              <a:t></a:t>
            </a:r>
            <a:r>
              <a:rPr sz="1650" spc="65" dirty="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976BFB-094C-4D1F-90E0-5748B37FF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983" y="3956777"/>
            <a:ext cx="3032760" cy="18533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30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016" y="967053"/>
            <a:ext cx="7154869" cy="1294157"/>
          </a:xfrm>
          <a:prstGeom prst="rect">
            <a:avLst/>
          </a:prstGeom>
        </p:spPr>
        <p:txBody>
          <a:bodyPr wrap="square" lIns="0" tIns="24415" rIns="0" bIns="0" rtlCol="0">
            <a:noAutofit/>
          </a:bodyPr>
          <a:lstStyle/>
          <a:p>
            <a:pPr marL="36474">
              <a:lnSpc>
                <a:spcPts val="3845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MENGGUNAKAN TABEL ERLANG</a:t>
            </a:r>
            <a:endParaRPr sz="3600">
              <a:latin typeface="Century Gothic"/>
              <a:cs typeface="Century Gothic"/>
            </a:endParaRPr>
          </a:p>
          <a:p>
            <a:pPr marL="12700" marR="68579">
              <a:lnSpc>
                <a:spcPct val="102172"/>
              </a:lnSpc>
              <a:spcBef>
                <a:spcPts val="2704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b="1" spc="-51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b="1" u="heavy" spc="-51" dirty="0">
                <a:solidFill>
                  <a:srgbClr val="FFFFFF"/>
                </a:solidFill>
                <a:latin typeface="Century Gothic"/>
                <a:cs typeface="Century Gothic"/>
              </a:rPr>
              <a:t>Contoh kasus: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98635" y="967053"/>
            <a:ext cx="1138083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(2/3)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5036" y="2385068"/>
            <a:ext cx="7299689" cy="659384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Berapa trafik yang dapat ditawarkan,jika saluran</a:t>
            </a:r>
            <a:endParaRPr sz="2400">
              <a:latin typeface="Century Gothic"/>
              <a:cs typeface="Century Gothic"/>
            </a:endParaRPr>
          </a:p>
          <a:p>
            <a:pPr marL="12700" marR="29578">
              <a:lnSpc>
                <a:spcPts val="2590"/>
              </a:lnSpc>
            </a:pP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disediakan n=10 dan probabilitas blocking 0.05 ?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6553" y="2385068"/>
            <a:ext cx="833715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yang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016" y="3627382"/>
            <a:ext cx="8823638" cy="111506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 marR="43356">
              <a:lnSpc>
                <a:spcPts val="2595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Jawab:</a:t>
            </a:r>
            <a:endParaRPr sz="2400" dirty="0">
              <a:latin typeface="Century Gothic"/>
              <a:cs typeface="Century Gothic"/>
            </a:endParaRPr>
          </a:p>
          <a:p>
            <a:pPr marL="553720">
              <a:lnSpc>
                <a:spcPts val="2590"/>
              </a:lnSpc>
              <a:spcBef>
                <a:spcPts val="987"/>
              </a:spcBef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Dari tabel dapat dicari dengan menarik garis untuk n=</a:t>
            </a:r>
            <a:r>
              <a:rPr lang="en-US"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 dan Bc=0.05 (atau 5%), sehingga didapatkan, traffik yg</a:t>
            </a: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85036" y="4741175"/>
            <a:ext cx="1756860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ditawarkan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0082" y="4741175"/>
            <a:ext cx="1236563" cy="386841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>
              <a:lnSpc>
                <a:spcPts val="3010"/>
              </a:lnSpc>
            </a:pPr>
            <a:r>
              <a:rPr sz="3600" spc="0" baseline="7929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3600" i="1" spc="0" baseline="792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i="1" spc="0" baseline="-8495" dirty="0">
                <a:solidFill>
                  <a:srgbClr val="FFFFFF"/>
                </a:solidFill>
                <a:latin typeface="Century Gothic"/>
                <a:cs typeface="Century Gothic"/>
              </a:rPr>
              <a:t>offered</a:t>
            </a:r>
            <a:r>
              <a:rPr sz="3600" spc="0" baseline="7929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94047" y="4741175"/>
            <a:ext cx="2055132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sebesar 6,216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650549" y="2041398"/>
            <a:ext cx="990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-23446" y="38992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31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283" y="985595"/>
            <a:ext cx="7130790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MENGGUNAKAN TABEL ERLANG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7823" y="985595"/>
            <a:ext cx="1138083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(3/3)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52956" y="1912619"/>
            <a:ext cx="8866632" cy="43677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CAE5F-8A52-40B8-8B83-DEAA0B911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1886127"/>
            <a:ext cx="11506200" cy="459087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32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635" y="760313"/>
            <a:ext cx="3587866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2" dirty="0">
                <a:solidFill>
                  <a:srgbClr val="FFFFFF"/>
                </a:solidFill>
                <a:latin typeface="Century Gothic"/>
                <a:cs typeface="Century Gothic"/>
              </a:rPr>
              <a:t>LATIHAN SOAL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016" y="1875309"/>
            <a:ext cx="376524" cy="380796"/>
          </a:xfrm>
          <a:prstGeom prst="rect">
            <a:avLst/>
          </a:prstGeom>
        </p:spPr>
        <p:txBody>
          <a:bodyPr wrap="square" lIns="0" tIns="19050" rIns="0" bIns="0" rtlCol="0">
            <a:noAutofit/>
          </a:bodyPr>
          <a:lstStyle/>
          <a:p>
            <a:pPr marL="12700">
              <a:lnSpc>
                <a:spcPts val="3000"/>
              </a:lnSpc>
            </a:pP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1.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9127" y="1875309"/>
            <a:ext cx="8374607" cy="1149219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>
              <a:lnSpc>
                <a:spcPts val="3010"/>
              </a:lnSpc>
            </a:pP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Sebuah sentral memiliki probabilitas blocking 2%</a:t>
            </a:r>
            <a:endParaRPr sz="2800">
              <a:latin typeface="Century Gothic"/>
              <a:cs typeface="Century Gothic"/>
            </a:endParaRPr>
          </a:p>
          <a:p>
            <a:pPr marL="12700" marR="53309">
              <a:lnSpc>
                <a:spcPts val="3025"/>
              </a:lnSpc>
              <a:spcBef>
                <a:spcPts val="0"/>
              </a:spcBef>
            </a:pP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dan trafik yang ditawarkan sebesar 7,402E.</a:t>
            </a:r>
            <a:endParaRPr sz="2800">
              <a:latin typeface="Century Gothic"/>
              <a:cs typeface="Century Gothic"/>
            </a:endParaRPr>
          </a:p>
          <a:p>
            <a:pPr marL="12700" marR="53309">
              <a:lnSpc>
                <a:spcPts val="3010"/>
              </a:lnSpc>
            </a:pP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Hitunglah: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1216" y="3090761"/>
            <a:ext cx="395495" cy="1196085"/>
          </a:xfrm>
          <a:prstGeom prst="rect">
            <a:avLst/>
          </a:prstGeom>
        </p:spPr>
        <p:txBody>
          <a:bodyPr wrap="square" lIns="0" tIns="17843" rIns="0" bIns="0" rtlCol="0">
            <a:noAutofit/>
          </a:bodyPr>
          <a:lstStyle/>
          <a:p>
            <a:pPr marL="12700">
              <a:lnSpc>
                <a:spcPts val="2810"/>
              </a:lnSpc>
            </a:pPr>
            <a:r>
              <a:rPr sz="2600" spc="9" dirty="0">
                <a:solidFill>
                  <a:srgbClr val="FFFFFF"/>
                </a:solidFill>
                <a:latin typeface="Century Gothic"/>
                <a:cs typeface="Century Gothic"/>
              </a:rPr>
              <a:t>a.</a:t>
            </a:r>
            <a:endParaRPr sz="2600">
              <a:latin typeface="Century Gothic"/>
              <a:cs typeface="Century Gothic"/>
            </a:endParaRPr>
          </a:p>
          <a:p>
            <a:pPr marL="12700" marR="1241">
              <a:lnSpc>
                <a:spcPct val="106157"/>
              </a:lnSpc>
            </a:pPr>
            <a:r>
              <a:rPr sz="2600" spc="14" dirty="0">
                <a:solidFill>
                  <a:srgbClr val="FFFFFF"/>
                </a:solidFill>
                <a:latin typeface="Century Gothic"/>
                <a:cs typeface="Century Gothic"/>
              </a:rPr>
              <a:t>b. </a:t>
            </a:r>
            <a:r>
              <a:rPr sz="2600" spc="9" dirty="0">
                <a:solidFill>
                  <a:srgbClr val="FFFFFF"/>
                </a:solidFill>
                <a:latin typeface="Century Gothic"/>
                <a:cs typeface="Century Gothic"/>
              </a:rPr>
              <a:t>c.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16582" y="3090761"/>
            <a:ext cx="1267827" cy="1196085"/>
          </a:xfrm>
          <a:prstGeom prst="rect">
            <a:avLst/>
          </a:prstGeom>
        </p:spPr>
        <p:txBody>
          <a:bodyPr wrap="square" lIns="0" tIns="17843" rIns="0" bIns="0" rtlCol="0">
            <a:noAutofit/>
          </a:bodyPr>
          <a:lstStyle/>
          <a:p>
            <a:pPr marL="12700" marR="11121">
              <a:lnSpc>
                <a:spcPts val="2810"/>
              </a:lnSpc>
            </a:pPr>
            <a:r>
              <a:rPr sz="2600" dirty="0">
                <a:solidFill>
                  <a:srgbClr val="FFFFFF"/>
                </a:solidFill>
                <a:latin typeface="Century Gothic"/>
                <a:cs typeface="Century Gothic"/>
              </a:rPr>
              <a:t>Berapa</a:t>
            </a:r>
            <a:endParaRPr sz="26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</a:pPr>
            <a:r>
              <a:rPr sz="2600" dirty="0">
                <a:solidFill>
                  <a:srgbClr val="FFFFFF"/>
                </a:solidFill>
                <a:latin typeface="Century Gothic"/>
                <a:cs typeface="Century Gothic"/>
              </a:rPr>
              <a:t>Berapa</a:t>
            </a:r>
            <a:endParaRPr sz="2600">
              <a:latin typeface="Century Gothic"/>
              <a:cs typeface="Century Gothic"/>
            </a:endParaRPr>
          </a:p>
          <a:p>
            <a:pPr marL="12700" marR="10519">
              <a:lnSpc>
                <a:spcPts val="3185"/>
              </a:lnSpc>
              <a:spcBef>
                <a:spcPts val="284"/>
              </a:spcBef>
            </a:pPr>
            <a:r>
              <a:rPr sz="2600" spc="0" dirty="0">
                <a:solidFill>
                  <a:srgbClr val="FFFFFF"/>
                </a:solidFill>
                <a:latin typeface="Century Gothic"/>
                <a:cs typeface="Century Gothic"/>
              </a:rPr>
              <a:t>Berapa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87598" y="3090761"/>
            <a:ext cx="6820398" cy="1196085"/>
          </a:xfrm>
          <a:prstGeom prst="rect">
            <a:avLst/>
          </a:prstGeom>
        </p:spPr>
        <p:txBody>
          <a:bodyPr wrap="square" lIns="0" tIns="17843" rIns="0" bIns="0" rtlCol="0">
            <a:noAutofit/>
          </a:bodyPr>
          <a:lstStyle/>
          <a:p>
            <a:pPr marL="12700" marR="49606">
              <a:lnSpc>
                <a:spcPts val="2810"/>
              </a:lnSpc>
            </a:pPr>
            <a:r>
              <a:rPr sz="2600" spc="0" dirty="0">
                <a:solidFill>
                  <a:srgbClr val="FFFFFF"/>
                </a:solidFill>
                <a:latin typeface="Century Gothic"/>
                <a:cs typeface="Century Gothic"/>
              </a:rPr>
              <a:t>jumlah trunk yang harus disediakan</a:t>
            </a:r>
            <a:endParaRPr sz="2600">
              <a:latin typeface="Century Gothic"/>
              <a:cs typeface="Century Gothic"/>
            </a:endParaRPr>
          </a:p>
          <a:p>
            <a:pPr marL="12700" marR="49606">
              <a:lnSpc>
                <a:spcPct val="102172"/>
              </a:lnSpc>
            </a:pPr>
            <a:r>
              <a:rPr sz="2600" spc="0" dirty="0">
                <a:solidFill>
                  <a:srgbClr val="FFFFFF"/>
                </a:solidFill>
                <a:latin typeface="Century Gothic"/>
                <a:cs typeface="Century Gothic"/>
              </a:rPr>
              <a:t>QoS sistim tersebut</a:t>
            </a:r>
            <a:endParaRPr sz="2600">
              <a:latin typeface="Century Gothic"/>
              <a:cs typeface="Century Gothic"/>
            </a:endParaRPr>
          </a:p>
          <a:p>
            <a:pPr marL="12700">
              <a:lnSpc>
                <a:spcPts val="3185"/>
              </a:lnSpc>
              <a:spcBef>
                <a:spcPts val="284"/>
              </a:spcBef>
            </a:pPr>
            <a:r>
              <a:rPr sz="2600" spc="0" dirty="0">
                <a:solidFill>
                  <a:srgbClr val="FFFFFF"/>
                </a:solidFill>
                <a:latin typeface="Century Gothic"/>
                <a:cs typeface="Century Gothic"/>
              </a:rPr>
              <a:t>persen probabilitas blocking nya jika sistim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6582" y="4287355"/>
            <a:ext cx="7822912" cy="356107"/>
          </a:xfrm>
          <a:prstGeom prst="rect">
            <a:avLst/>
          </a:prstGeom>
        </p:spPr>
        <p:txBody>
          <a:bodyPr wrap="square" lIns="0" tIns="17811" rIns="0" bIns="0" rtlCol="0">
            <a:noAutofit/>
          </a:bodyPr>
          <a:lstStyle/>
          <a:p>
            <a:pPr marL="12700">
              <a:lnSpc>
                <a:spcPts val="2805"/>
              </a:lnSpc>
            </a:pPr>
            <a:r>
              <a:rPr sz="2600" spc="-1" dirty="0">
                <a:solidFill>
                  <a:srgbClr val="FFFFFF"/>
                </a:solidFill>
                <a:latin typeface="Century Gothic"/>
                <a:cs typeface="Century Gothic"/>
              </a:rPr>
              <a:t>tersebut menambahkan jumlah jalur sebanyak 2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6582" y="4643721"/>
            <a:ext cx="6334458" cy="713355"/>
          </a:xfrm>
          <a:prstGeom prst="rect">
            <a:avLst/>
          </a:prstGeom>
        </p:spPr>
        <p:txBody>
          <a:bodyPr wrap="square" lIns="0" tIns="17843" rIns="0" bIns="0" rtlCol="0">
            <a:noAutofit/>
          </a:bodyPr>
          <a:lstStyle/>
          <a:p>
            <a:pPr marL="12700">
              <a:lnSpc>
                <a:spcPts val="2810"/>
              </a:lnSpc>
            </a:pPr>
            <a:r>
              <a:rPr sz="2600" spc="-2" dirty="0">
                <a:solidFill>
                  <a:srgbClr val="FFFFFF"/>
                </a:solidFill>
                <a:latin typeface="Century Gothic"/>
                <a:cs typeface="Century Gothic"/>
              </a:rPr>
              <a:t>jalur sedangkan trafik yang ditawarkan</a:t>
            </a:r>
            <a:endParaRPr sz="2600">
              <a:latin typeface="Century Gothic"/>
              <a:cs typeface="Century Gothic"/>
            </a:endParaRPr>
          </a:p>
          <a:p>
            <a:pPr marL="12700" marR="49651">
              <a:lnSpc>
                <a:spcPts val="2805"/>
              </a:lnSpc>
            </a:pPr>
            <a:r>
              <a:rPr sz="2600" spc="0" dirty="0">
                <a:solidFill>
                  <a:srgbClr val="FFFFFF"/>
                </a:solidFill>
                <a:latin typeface="Century Gothic"/>
                <a:cs typeface="Century Gothic"/>
              </a:rPr>
              <a:t>sebesar 6 E?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57641" y="4643721"/>
            <a:ext cx="1105860" cy="356412"/>
          </a:xfrm>
          <a:prstGeom prst="rect">
            <a:avLst/>
          </a:prstGeom>
        </p:spPr>
        <p:txBody>
          <a:bodyPr wrap="square" lIns="0" tIns="17811" rIns="0" bIns="0" rtlCol="0">
            <a:noAutofit/>
          </a:bodyPr>
          <a:lstStyle/>
          <a:p>
            <a:pPr marL="12700">
              <a:lnSpc>
                <a:spcPts val="2805"/>
              </a:lnSpc>
            </a:pPr>
            <a:r>
              <a:rPr sz="2600" spc="-3" dirty="0">
                <a:solidFill>
                  <a:srgbClr val="FFFFFF"/>
                </a:solidFill>
                <a:latin typeface="Century Gothic"/>
                <a:cs typeface="Century Gothic"/>
              </a:rPr>
              <a:t>hanya</a:t>
            </a:r>
            <a:endParaRPr sz="2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33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5020" y="954032"/>
            <a:ext cx="325035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2.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0132" y="954032"/>
            <a:ext cx="8712511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Sebuah grup terdiri dari 6 trunk memiliki trafik 3E. Hitunglah: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2220" y="1345449"/>
            <a:ext cx="365605" cy="1508756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 marR="12838" algn="just">
              <a:lnSpc>
                <a:spcPts val="2600"/>
              </a:lnSpc>
            </a:pP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a.</a:t>
            </a:r>
            <a:endParaRPr sz="2400">
              <a:latin typeface="Century Gothic"/>
              <a:cs typeface="Century Gothic"/>
            </a:endParaRPr>
          </a:p>
          <a:p>
            <a:pPr marL="12700" algn="just">
              <a:lnSpc>
                <a:spcPts val="2942"/>
              </a:lnSpc>
              <a:spcBef>
                <a:spcPts val="25"/>
              </a:spcBef>
            </a:pP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b. </a:t>
            </a:r>
            <a:endParaRPr sz="2400">
              <a:latin typeface="Century Gothic"/>
              <a:cs typeface="Century Gothic"/>
            </a:endParaRPr>
          </a:p>
          <a:p>
            <a:pPr marL="12700" algn="just">
              <a:lnSpc>
                <a:spcPts val="2942"/>
              </a:lnSpc>
              <a:spcBef>
                <a:spcPts val="147"/>
              </a:spcBef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c. </a:t>
            </a:r>
            <a:endParaRPr sz="2400">
              <a:latin typeface="Century Gothic"/>
              <a:cs typeface="Century Gothic"/>
            </a:endParaRPr>
          </a:p>
          <a:p>
            <a:pPr marL="12700" algn="just">
              <a:lnSpc>
                <a:spcPts val="2942"/>
              </a:lnSpc>
              <a:spcBef>
                <a:spcPts val="147"/>
              </a:spcBef>
            </a:pPr>
            <a:r>
              <a:rPr sz="2400" spc="14" dirty="0">
                <a:solidFill>
                  <a:srgbClr val="FFFFFF"/>
                </a:solidFill>
                <a:latin typeface="Century Gothic"/>
                <a:cs typeface="Century Gothic"/>
              </a:rPr>
              <a:t>d.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9674" y="1345449"/>
            <a:ext cx="8395782" cy="1508756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 marR="56056">
              <a:lnSpc>
                <a:spcPts val="260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Grade of Service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25"/>
              </a:spcBef>
            </a:pPr>
            <a:r>
              <a:rPr sz="2400" spc="12" dirty="0">
                <a:solidFill>
                  <a:srgbClr val="FFFFFF"/>
                </a:solidFill>
                <a:latin typeface="Century Gothic"/>
                <a:cs typeface="Century Gothic"/>
              </a:rPr>
              <a:t>Probabilitas blocking untuk 2 trunk saja yang digunakan</a:t>
            </a:r>
            <a:endParaRPr sz="2400">
              <a:latin typeface="Century Gothic"/>
              <a:cs typeface="Century Gothic"/>
            </a:endParaRPr>
          </a:p>
          <a:p>
            <a:pPr marL="12700" marR="56056">
              <a:lnSpc>
                <a:spcPct val="102172"/>
              </a:lnSpc>
              <a:spcBef>
                <a:spcPts val="150"/>
              </a:spcBef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Probabilitas hanya 3 trunk yang bebas</a:t>
            </a:r>
            <a:endParaRPr sz="2400">
              <a:latin typeface="Century Gothic"/>
              <a:cs typeface="Century Gothic"/>
            </a:endParaRPr>
          </a:p>
          <a:p>
            <a:pPr marL="12700" marR="56056">
              <a:lnSpc>
                <a:spcPct val="102172"/>
              </a:lnSpc>
              <a:spcBef>
                <a:spcPts val="140"/>
              </a:spcBef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Quality of Service untuk penggunaan 5 trunk saja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5020" y="3373255"/>
            <a:ext cx="325035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3.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0132" y="3373255"/>
            <a:ext cx="8589022" cy="659383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Sebuah grup memiliki 20 trunk dengan Grade of Service =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ts val="259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0,01 jika menerima trafik 12 E. Hitunglah: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2220" y="4095380"/>
            <a:ext cx="365466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a.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9674" y="4095380"/>
            <a:ext cx="8718779" cy="138226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Berapa besar perbaikan GoS jika ditambahkan 1 trunk lagi</a:t>
            </a:r>
            <a:endParaRPr sz="2400">
              <a:latin typeface="Century Gothic"/>
              <a:cs typeface="Century Gothic"/>
            </a:endParaRPr>
          </a:p>
          <a:p>
            <a:pPr marL="12700" marR="44843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pada grup tersebut</a:t>
            </a:r>
            <a:endParaRPr sz="2400">
              <a:latin typeface="Century Gothic"/>
              <a:cs typeface="Century Gothic"/>
            </a:endParaRPr>
          </a:p>
          <a:p>
            <a:pPr marL="12700" marR="1487">
              <a:lnSpc>
                <a:spcPts val="2590"/>
              </a:lnSpc>
              <a:spcBef>
                <a:spcPts val="494"/>
              </a:spcBef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Berapa besar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pen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ru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na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GoS </a:t>
            </a:r>
            <a:r>
              <a:rPr sz="2400" spc="14" dirty="0">
                <a:solidFill>
                  <a:srgbClr val="FFFFFF"/>
                </a:solidFill>
                <a:latin typeface="Century Gothic"/>
                <a:cs typeface="Century Gothic"/>
              </a:rPr>
              <a:t>j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ka</a:t>
            </a:r>
            <a:r>
              <a:rPr sz="24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m</a:t>
            </a:r>
            <a:r>
              <a:rPr sz="2400" spc="-14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4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1 trunk dari gr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 tersebut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2220" y="4818261"/>
            <a:ext cx="365856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b.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2021</Words>
  <Application>Microsoft Office PowerPoint</Application>
  <PresentationFormat>Widescreen</PresentationFormat>
  <Paragraphs>521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Century Gothic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tb utomo</cp:lastModifiedBy>
  <cp:revision>5</cp:revision>
  <dcterms:modified xsi:type="dcterms:W3CDTF">2023-09-30T15:41:41Z</dcterms:modified>
</cp:coreProperties>
</file>