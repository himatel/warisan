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12192000" cy="6858000"/>
  <p:embeddedFontLst>
    <p:embeddedFont>
      <p:font typeface="Noto Sans Symbols"/>
      <p:regular r:id="rId27"/>
      <p:bold r:id="rId28"/>
    </p:embeddedFont>
    <p:embeddedFont>
      <p:font typeface="Helvetica Neue"/>
      <p:regular r:id="rId29"/>
      <p:bold r:id="rId30"/>
      <p:italic r:id="rId31"/>
      <p:boldItalic r:id="rId32"/>
    </p:embeddedFont>
    <p:embeddedFont>
      <p:font typeface="Century Gothic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eHLXeBNqHGRfbMKD+kViuj4+O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otoSansSymbols-bold.fntdata"/><Relationship Id="rId27" Type="http://schemas.openxmlformats.org/officeDocument/2006/relationships/font" Target="fonts/NotoSansSymbol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33" Type="http://schemas.openxmlformats.org/officeDocument/2006/relationships/font" Target="fonts/CenturyGothic-regular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35" Type="http://schemas.openxmlformats.org/officeDocument/2006/relationships/font" Target="fonts/CenturyGothic-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enturyGothic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4375403"/>
            <a:ext cx="12188952" cy="24825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44702" y="2422160"/>
            <a:ext cx="28201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BESARAN</a:t>
            </a:r>
            <a:endParaRPr sz="4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3716274" y="2422160"/>
            <a:ext cx="1990883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4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060805" y="3467633"/>
            <a:ext cx="1312586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2380248" y="3467633"/>
            <a:ext cx="441398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2830195" y="3467633"/>
            <a:ext cx="2906091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Rekayasa Trafik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744718" y="3467633"/>
            <a:ext cx="2923056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Telekomunikasi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99516" y="2001012"/>
            <a:ext cx="8686800" cy="4191000"/>
          </a:xfrm>
          <a:custGeom>
            <a:rect b="b" l="l" r="r" t="t"/>
            <a:pathLst>
              <a:path extrusionOk="0" h="4191000" w="8686800">
                <a:moveTo>
                  <a:pt x="0" y="4191000"/>
                </a:moveTo>
                <a:lnTo>
                  <a:pt x="8686800" y="4191000"/>
                </a:lnTo>
                <a:lnTo>
                  <a:pt x="8686800" y="0"/>
                </a:lnTo>
                <a:lnTo>
                  <a:pt x="0" y="0"/>
                </a:lnTo>
                <a:lnTo>
                  <a:pt x="0" y="4191000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764540" y="942562"/>
            <a:ext cx="2086615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OUTLINE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699516" y="2001012"/>
            <a:ext cx="8686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noAutofit/>
          </a:bodyPr>
          <a:lstStyle/>
          <a:p>
            <a:pPr indent="0" lvl="0" marL="92354" marR="0" rtl="0" algn="l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Jenis Besaran Trafik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354" marR="0" rtl="0" algn="l">
              <a:lnSpc>
                <a:spcPct val="95825"/>
              </a:lnSpc>
              <a:spcBef>
                <a:spcPts val="742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Laju Kedatangan (Arrival Rate)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354" marR="0" rtl="0" algn="l">
              <a:lnSpc>
                <a:spcPct val="95825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Waktu Pendudukan Jalur (Holding time)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354" marR="0" rtl="0" algn="l">
              <a:lnSpc>
                <a:spcPct val="95825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Volume Trafik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354" marR="0" rtl="0" algn="l">
              <a:lnSpc>
                <a:spcPct val="95825"/>
              </a:lnSpc>
              <a:spcBef>
                <a:spcPts val="743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Intensitas Trafik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354" marR="0" rtl="0" algn="l">
              <a:lnSpc>
                <a:spcPct val="95825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Pendekatan perhitungan Intensitas Trafik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354" marR="0" rtl="0" algn="l">
              <a:lnSpc>
                <a:spcPct val="95825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Latihan Soal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748272" y="3785616"/>
            <a:ext cx="4024883" cy="25359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64540" y="915126"/>
            <a:ext cx="4055923" cy="1447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2700" marR="0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BESARAN 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392175" marR="76123" rtl="0" algn="l">
              <a:lnSpc>
                <a:spcPct val="102172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Meliputi: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509776" y="2478083"/>
            <a:ext cx="424847" cy="263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12700" marR="0" rtl="0" algn="l">
              <a:lnSpc>
                <a:spcPct val="107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6" rtl="0" algn="l">
              <a:lnSpc>
                <a:spcPct val="102172"/>
              </a:lnSpc>
              <a:spcBef>
                <a:spcPts val="233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6" rtl="0" algn="l">
              <a:lnSpc>
                <a:spcPct val="121718"/>
              </a:lnSpc>
              <a:spcBef>
                <a:spcPts val="599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1967230" y="2478083"/>
            <a:ext cx="3995945" cy="263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12700" marR="62041" rtl="0" algn="l">
              <a:lnSpc>
                <a:spcPct val="107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Laju Kedatangan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3"/>
              </a:lnSpc>
              <a:spcBef>
                <a:spcPts val="233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Pendudukan 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3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Laju pelayanan 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3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2041" rtl="0" algn="l">
              <a:lnSpc>
                <a:spcPct val="121406"/>
              </a:lnSpc>
              <a:spcBef>
                <a:spcPts val="61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5984875" y="3027997"/>
            <a:ext cx="4476317" cy="43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 (Holding Time)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366260" y="4148328"/>
            <a:ext cx="1511808" cy="1293876"/>
          </a:xfrm>
          <a:custGeom>
            <a:rect b="b" l="l" r="r" t="t"/>
            <a:pathLst>
              <a:path extrusionOk="0" h="1293876" w="1511808">
                <a:moveTo>
                  <a:pt x="0" y="1293876"/>
                </a:moveTo>
                <a:lnTo>
                  <a:pt x="1511808" y="1293876"/>
                </a:lnTo>
                <a:lnTo>
                  <a:pt x="1511808" y="0"/>
                </a:lnTo>
                <a:lnTo>
                  <a:pt x="0" y="0"/>
                </a:lnTo>
                <a:lnTo>
                  <a:pt x="0" y="12938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79475" y="1125188"/>
            <a:ext cx="8825387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LAJU KEDATANGAN (ARRIVAL RATE)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64540" y="2241700"/>
            <a:ext cx="10285124" cy="7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53262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Banyaknya panggilan (c) yang akan datang ke fasilitas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selama periode tertentu atau Jumlah rata-rata panggilan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764540" y="3009796"/>
            <a:ext cx="3274142" cy="896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241300" marR="16832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 ditawarkan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Laju kedatangan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4040538" y="3009796"/>
            <a:ext cx="7287559" cy="892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53277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 satuan waktu (T).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34891" marR="0" rtl="0" algn="l">
              <a:lnSpc>
                <a:spcPct val="122142"/>
              </a:lnSpc>
              <a:spcBef>
                <a:spcPts val="621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biasanya dinotasikan dengan lambda (</a:t>
            </a:r>
            <a:r>
              <a:rPr lang="en-US" sz="2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5358866" y="4872886"/>
            <a:ext cx="393785" cy="54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250">
            <a:noAutofit/>
          </a:bodyPr>
          <a:lstStyle/>
          <a:p>
            <a:pPr indent="0" lvl="0" marL="12700" marR="0" rtl="0" algn="l">
              <a:lnSpc>
                <a:spcPct val="1047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4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4366260" y="4148328"/>
            <a:ext cx="1511808" cy="129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675">
            <a:noAutofit/>
          </a:bodyPr>
          <a:lstStyle/>
          <a:p>
            <a:pPr indent="0" lvl="0" marL="152678" marR="0" rtl="0" algn="l">
              <a:lnSpc>
                <a:spcPct val="111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4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4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615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4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5371566" y="4432427"/>
            <a:ext cx="6897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006596" y="4943854"/>
            <a:ext cx="4375404" cy="180441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115060" y="570956"/>
            <a:ext cx="9242280" cy="172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2700" marR="45765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 TIME </a:t>
            </a: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2136" marR="48437" rtl="0" algn="l">
              <a:lnSpc>
                <a:spcPct val="107916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Ketika pelanggan membuat panggilan maka beberapa jalur antar sentral akan digunakan/dipakai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2136" marR="0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 time, </a:t>
            </a:r>
            <a:r>
              <a:rPr i="1"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adalah waktu genggam, waktu pendudukan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945896" y="1249076"/>
            <a:ext cx="177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1270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945896" y="1969681"/>
            <a:ext cx="177952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1270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174496" y="2296295"/>
            <a:ext cx="758284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saluran, waktu layanan sebuah panggilan.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945896" y="2692558"/>
            <a:ext cx="177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1270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1174496" y="2689487"/>
            <a:ext cx="9967991" cy="2102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43356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pelayanan ini termasuk, lamanya suatu percakapan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3356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berlangsung, waktu call setup, waktu menunggu (jika ada) dan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3356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untuk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overhead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98494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Dimensi waktu pendudukan adalah detik atau menit, atau unit Contoh dalam sebuah sambungan telepon, rata-rata holding time adalah rata-rata dari waktu dial, ring to answer dsb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945896" y="3744499"/>
            <a:ext cx="177800" cy="721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1270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95825"/>
              </a:lnSpc>
              <a:spcBef>
                <a:spcPts val="19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2320573" y="2089912"/>
            <a:ext cx="794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3136127" y="2089912"/>
            <a:ext cx="797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3486291" y="2089912"/>
            <a:ext cx="846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4652846" y="2089912"/>
            <a:ext cx="813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5637220" y="2089912"/>
            <a:ext cx="845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303022" y="2089912"/>
            <a:ext cx="8012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8286186" y="2089912"/>
            <a:ext cx="845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2291749" y="2419350"/>
            <a:ext cx="8442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3521259" y="2419350"/>
            <a:ext cx="817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4506079" y="2419350"/>
            <a:ext cx="848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812205" y="2419350"/>
            <a:ext cx="8326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000020" y="2419350"/>
            <a:ext cx="8442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718816" y="1700784"/>
            <a:ext cx="6088380" cy="308305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1115060" y="570956"/>
            <a:ext cx="2432469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3591113" y="570956"/>
            <a:ext cx="1170775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4773295" y="570956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2798191" y="4858660"/>
            <a:ext cx="4310866" cy="2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0">
            <a:noAutofit/>
          </a:bodyPr>
          <a:lstStyle/>
          <a:p>
            <a:pPr indent="0" lvl="0" marL="12700" marR="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Sumber; Rekayasa Trafik |S1 TT – Telkom University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26236" y="2365248"/>
            <a:ext cx="8610600" cy="38557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780084" y="1016980"/>
            <a:ext cx="2432469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3256138" y="1016980"/>
            <a:ext cx="2443445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 </a:t>
            </a: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764540" y="1836682"/>
            <a:ext cx="127869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2054453" y="1836682"/>
            <a:ext cx="118172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3245002" y="1836682"/>
            <a:ext cx="72244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3977386" y="1836682"/>
            <a:ext cx="117567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5167630" y="1836682"/>
            <a:ext cx="186574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sambungan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7042531" y="1836682"/>
            <a:ext cx="122498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telepon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1035507" y="6282356"/>
            <a:ext cx="4311171" cy="2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0">
            <a:noAutofit/>
          </a:bodyPr>
          <a:lstStyle/>
          <a:p>
            <a:pPr indent="0" lvl="0" marL="12700" marR="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Sumber; Rekayasa Trafik |S1 TT – Telkom University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331208" y="4084320"/>
            <a:ext cx="1979676" cy="1360931"/>
          </a:xfrm>
          <a:custGeom>
            <a:rect b="b" l="l" r="r" t="t"/>
            <a:pathLst>
              <a:path extrusionOk="0" h="1360931" w="1979676">
                <a:moveTo>
                  <a:pt x="0" y="1360931"/>
                </a:moveTo>
                <a:lnTo>
                  <a:pt x="1979676" y="1360931"/>
                </a:lnTo>
                <a:lnTo>
                  <a:pt x="1979676" y="0"/>
                </a:lnTo>
                <a:lnTo>
                  <a:pt x="0" y="0"/>
                </a:lnTo>
                <a:lnTo>
                  <a:pt x="0" y="13609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326636" y="4079748"/>
            <a:ext cx="1988819" cy="1370076"/>
          </a:xfrm>
          <a:custGeom>
            <a:rect b="b" l="l" r="r" t="t"/>
            <a:pathLst>
              <a:path extrusionOk="0" h="1370076" w="1988819">
                <a:moveTo>
                  <a:pt x="0" y="1370076"/>
                </a:moveTo>
                <a:lnTo>
                  <a:pt x="1988819" y="1370076"/>
                </a:lnTo>
                <a:lnTo>
                  <a:pt x="1988819" y="0"/>
                </a:lnTo>
                <a:lnTo>
                  <a:pt x="0" y="0"/>
                </a:lnTo>
                <a:lnTo>
                  <a:pt x="0" y="13700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823671" y="645382"/>
            <a:ext cx="5211453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(1/3)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1132738" y="1676935"/>
            <a:ext cx="9091096" cy="384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Didefinisikan sebagai total waktu pendudukan dari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1361313" y="2061487"/>
            <a:ext cx="7403068" cy="7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seluruh panggilan masuk yang menduduki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262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perangkat/saluran.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8784056" y="2061487"/>
            <a:ext cx="1011127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suatu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1132738" y="3468520"/>
            <a:ext cx="6271071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dinyatakan sebagai: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5235756" y="4408536"/>
            <a:ext cx="670878" cy="708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425">
            <a:noAutofit/>
          </a:bodyPr>
          <a:lstStyle/>
          <a:p>
            <a:pPr indent="0" lvl="0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5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4347455" y="4491565"/>
            <a:ext cx="871001" cy="488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275">
            <a:no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 </a:t>
            </a:r>
            <a:r>
              <a:rPr lang="en-US" sz="36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36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5843722" y="4498841"/>
            <a:ext cx="421770" cy="57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00">
            <a:noAutofit/>
          </a:bodyPr>
          <a:lstStyle/>
          <a:p>
            <a:pPr indent="0" lvl="0" marL="12700" marR="0" rtl="0" algn="l">
              <a:lnSpc>
                <a:spcPct val="828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aseline="-25000" i="1" lang="en-US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4326636" y="4079748"/>
            <a:ext cx="1988819" cy="1370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066895" marR="671665" rtl="0" algn="ctr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32245" marR="516012" rtl="0" algn="ctr">
              <a:lnSpc>
                <a:spcPct val="102091"/>
              </a:lnSpc>
              <a:spcBef>
                <a:spcPts val="4497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50164" y="2348483"/>
            <a:ext cx="5715000" cy="23180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528571" y="4480560"/>
            <a:ext cx="3756660" cy="370331"/>
          </a:xfrm>
          <a:custGeom>
            <a:rect b="b" l="l" r="r" t="t"/>
            <a:pathLst>
              <a:path extrusionOk="0" h="370332" w="3756659">
                <a:moveTo>
                  <a:pt x="0" y="370331"/>
                </a:moveTo>
                <a:lnTo>
                  <a:pt x="3756660" y="370331"/>
                </a:lnTo>
                <a:lnTo>
                  <a:pt x="3756660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823671" y="645382"/>
            <a:ext cx="2205405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3070352" y="645382"/>
            <a:ext cx="1660960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4772660" y="645382"/>
            <a:ext cx="1262464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6574028" y="1728478"/>
            <a:ext cx="525849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Dari gambar dapat dilihat bahwa 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6574028" y="2093987"/>
            <a:ext cx="3992489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= ta + tb + tc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10578211" y="2093987"/>
            <a:ext cx="25604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10846093" y="2093987"/>
            <a:ext cx="383570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11243034" y="2093987"/>
            <a:ext cx="25604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11512423" y="2093987"/>
            <a:ext cx="373247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6574028" y="2826139"/>
            <a:ext cx="72725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6574028" y="3191899"/>
            <a:ext cx="382644" cy="1061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27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953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958330" y="3191899"/>
            <a:ext cx="266229" cy="1061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23114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0183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224" marR="889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226517" y="3191899"/>
            <a:ext cx="250490" cy="1061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2315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0236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260" marR="889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479538" y="3191899"/>
            <a:ext cx="2923223" cy="1061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23367" marR="1276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menit, tb = 3 menit,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menit, td = 7 menit,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222" marR="4699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1607947" y="4551844"/>
            <a:ext cx="348148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25">
            <a:noAutofit/>
          </a:bodyPr>
          <a:lstStyle/>
          <a:p>
            <a:pPr indent="0" lvl="0" marL="12700" marR="0" rtl="0" algn="l">
              <a:lnSpc>
                <a:spcPct val="10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 sebuah grup jalur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6574028" y="4655193"/>
            <a:ext cx="4500121" cy="696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45765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 volume trafik: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 = 2 + 3 + 5 + 7 + 1 = 18 menit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245864" y="5477256"/>
            <a:ext cx="1684019" cy="528828"/>
          </a:xfrm>
          <a:custGeom>
            <a:rect b="b" l="l" r="r" t="t"/>
            <a:pathLst>
              <a:path extrusionOk="0" h="528827" w="1684019">
                <a:moveTo>
                  <a:pt x="0" y="528828"/>
                </a:moveTo>
                <a:lnTo>
                  <a:pt x="1684019" y="528828"/>
                </a:lnTo>
                <a:lnTo>
                  <a:pt x="1684019" y="0"/>
                </a:lnTo>
                <a:lnTo>
                  <a:pt x="0" y="0"/>
                </a:lnTo>
                <a:lnTo>
                  <a:pt x="0" y="5288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241292" y="5472684"/>
            <a:ext cx="1693164" cy="537972"/>
          </a:xfrm>
          <a:custGeom>
            <a:rect b="b" l="l" r="r" t="t"/>
            <a:pathLst>
              <a:path extrusionOk="0" h="537972" w="1693164">
                <a:moveTo>
                  <a:pt x="0" y="537971"/>
                </a:moveTo>
                <a:lnTo>
                  <a:pt x="1693164" y="537971"/>
                </a:lnTo>
                <a:lnTo>
                  <a:pt x="1693164" y="0"/>
                </a:lnTo>
                <a:lnTo>
                  <a:pt x="0" y="0"/>
                </a:lnTo>
                <a:lnTo>
                  <a:pt x="0" y="537971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823671" y="645382"/>
            <a:ext cx="5211453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(3/3)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1132738" y="1676935"/>
            <a:ext cx="10012549" cy="2429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juga bisa didapatkan dengan mengalikan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74" marR="37781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panggilan dengan rata-rata waktu pendudukan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74" marR="53846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574" lvl="0" marL="241274" marR="1326748" rtl="0" algn="l">
              <a:lnSpc>
                <a:spcPct val="122607"/>
              </a:lnSpc>
              <a:spcBef>
                <a:spcPts val="782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panggilan dan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waktu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74" marR="1326748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 suatu saluran oleh suatu panggilan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74" marR="1326748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 time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maka 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1132738" y="4747410"/>
            <a:ext cx="6271071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dinyatakan sebagai: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4241292" y="5472684"/>
            <a:ext cx="1693164" cy="53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950">
            <a:noAutofit/>
          </a:bodyPr>
          <a:lstStyle/>
          <a:p>
            <a:pPr indent="0" lvl="0" marL="33537" marR="0" rtl="0" algn="l">
              <a:lnSpc>
                <a:spcPct val="11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36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cxh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810260" y="1018758"/>
            <a:ext cx="436872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382895" y="1018758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588670" y="1962034"/>
            <a:ext cx="5181065" cy="33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Menurut</a:t>
            </a:r>
            <a:r>
              <a:rPr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Rekomendasi ITU-T B.18 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88670" y="2418215"/>
            <a:ext cx="10818672" cy="1904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5842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“The instantaneous traffic intensity in a pool of resources is the number of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58420" marR="4572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busy resources at a given instant of time”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Pool of Resource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meliputi: trunk antar sentral, jumlah kanal dalam satu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45720" rtl="0" algn="l">
              <a:lnSpc>
                <a:spcPct val="107916"/>
              </a:lnSpc>
              <a:spcBef>
                <a:spcPts val="12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 sistim seluler, jumlah time slot dsb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didefinisikan sebagai jumlah waktu pendudukan per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817270" y="4319024"/>
            <a:ext cx="466532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satuan waktu pengamatan (T).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2061083" y="2085339"/>
            <a:ext cx="8229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2183025" y="4112895"/>
            <a:ext cx="819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2235708" y="2782824"/>
            <a:ext cx="3915155" cy="1170432"/>
          </a:xfrm>
          <a:custGeom>
            <a:rect b="b" l="l" r="r" t="t"/>
            <a:pathLst>
              <a:path extrusionOk="0" h="1170431" w="3915155">
                <a:moveTo>
                  <a:pt x="0" y="1170432"/>
                </a:moveTo>
                <a:lnTo>
                  <a:pt x="3915155" y="1170432"/>
                </a:lnTo>
                <a:lnTo>
                  <a:pt x="3915155" y="0"/>
                </a:lnTo>
                <a:lnTo>
                  <a:pt x="0" y="0"/>
                </a:lnTo>
                <a:lnTo>
                  <a:pt x="0" y="11704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2231136" y="2778252"/>
            <a:ext cx="3924300" cy="1179576"/>
          </a:xfrm>
          <a:custGeom>
            <a:rect b="b" l="l" r="r" t="t"/>
            <a:pathLst>
              <a:path extrusionOk="0" h="1179576" w="3924300">
                <a:moveTo>
                  <a:pt x="0" y="1179576"/>
                </a:moveTo>
                <a:lnTo>
                  <a:pt x="3924300" y="1179576"/>
                </a:lnTo>
                <a:lnTo>
                  <a:pt x="3924300" y="0"/>
                </a:lnTo>
                <a:lnTo>
                  <a:pt x="0" y="0"/>
                </a:lnTo>
                <a:lnTo>
                  <a:pt x="0" y="11795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810260" y="1018758"/>
            <a:ext cx="436872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382895" y="1018758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588670" y="1962034"/>
            <a:ext cx="10779749" cy="33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Dengan proses statistik, intensitas trafik dapat dihitung untuk periode T,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817270" y="2291723"/>
            <a:ext cx="486444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dimana rata-rata intensitas trafik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5690108" y="2291723"/>
            <a:ext cx="12375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3799353" y="3475249"/>
            <a:ext cx="375992" cy="480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00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4436210" y="3492690"/>
            <a:ext cx="250220" cy="34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850">
            <a:noAutofit/>
          </a:bodyPr>
          <a:lstStyle/>
          <a:p>
            <a:pPr indent="0" lvl="0" marL="12700" marR="0" rtl="0" algn="l">
              <a:lnSpc>
                <a:spcPct val="10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588670" y="4116332"/>
            <a:ext cx="10537746" cy="136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51384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9900" marR="51384" rtl="0" algn="l">
              <a:lnSpc>
                <a:spcPct val="102172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n(t)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menyatakan jumlah saluran yang sedang terpakai pada waktu t.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9900" marR="0" rtl="0" algn="l">
              <a:lnSpc>
                <a:spcPct val="102172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Y(T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adalah adalah 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(Y = Ac) yaitu trafik yang dibawa oleh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98474" marR="51384" rtl="0" algn="l">
              <a:lnSpc>
                <a:spcPct val="107954"/>
              </a:lnSpc>
              <a:spcBef>
                <a:spcPts val="118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group server selama interval waktu T.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231136" y="2778252"/>
            <a:ext cx="3972272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noAutofit/>
          </a:bodyPr>
          <a:lstStyle/>
          <a:p>
            <a:pPr indent="0" lvl="0" marL="49332" marR="0" rtl="0" algn="l">
              <a:lnSpc>
                <a:spcPct val="497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6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aseline="30000"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aseline="-25000" lang="en-US" sz="8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∫</a:t>
            </a:r>
            <a:r>
              <a:rPr baseline="30000" i="1" lang="en-US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4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endParaRPr sz="47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9332" marR="0" rtl="0" algn="l">
              <a:lnSpc>
                <a:spcPct val="117170"/>
              </a:lnSpc>
              <a:spcBef>
                <a:spcPts val="390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131052" y="1819656"/>
            <a:ext cx="4823459" cy="47792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2638044" y="4969764"/>
            <a:ext cx="1871472" cy="1333500"/>
          </a:xfrm>
          <a:custGeom>
            <a:rect b="b" l="l" r="r" t="t"/>
            <a:pathLst>
              <a:path extrusionOk="0" h="1333500" w="1871472">
                <a:moveTo>
                  <a:pt x="0" y="1333500"/>
                </a:moveTo>
                <a:lnTo>
                  <a:pt x="1871472" y="1333500"/>
                </a:lnTo>
                <a:lnTo>
                  <a:pt x="1871472" y="0"/>
                </a:lnTo>
                <a:lnTo>
                  <a:pt x="0" y="0"/>
                </a:lnTo>
                <a:lnTo>
                  <a:pt x="0" y="133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6430518" y="1015456"/>
            <a:ext cx="2302720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ILUSTRASI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8771636" y="1015456"/>
            <a:ext cx="1659941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939495" y="1865003"/>
            <a:ext cx="4424031" cy="2887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43356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Diketahui ada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904" lvl="0" marL="241604" marR="41201" rtl="0" algn="l">
              <a:lnSpc>
                <a:spcPct val="122583"/>
              </a:lnSpc>
              <a:spcBef>
                <a:spcPts val="802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Diketahui ada sejumlah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604" marR="41201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 (dari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 yang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604" marR="41201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ada) diduduki pada saat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604" marR="41201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bersamaan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904" lvl="0" marL="241604" marR="0" rtl="0" algn="l">
              <a:lnSpc>
                <a:spcPct val="122583"/>
              </a:lnSpc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Bila t</a:t>
            </a:r>
            <a:r>
              <a:rPr baseline="-25000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menyatakan jumlah waktu pendudukan pada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604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 dalam perioda T,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1168400" y="4752094"/>
            <a:ext cx="109428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 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2851343" y="5355366"/>
            <a:ext cx="450925" cy="518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925">
            <a:noAutofit/>
          </a:bodyPr>
          <a:lstStyle/>
          <a:p>
            <a:pPr indent="0" lvl="0" marL="12700" marR="0" rtl="0" algn="l">
              <a:lnSpc>
                <a:spcPct val="104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39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3259439" y="5414946"/>
            <a:ext cx="852801" cy="424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725">
            <a:noAutofit/>
          </a:bodyPr>
          <a:lstStyle/>
          <a:p>
            <a:pPr indent="0" lvl="0" marL="12700" marR="0" rtl="0" algn="l">
              <a:lnSpc>
                <a:spcPct val="83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-25000" i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 </a:t>
            </a:r>
            <a:r>
              <a:rPr baseline="30000" lang="en-US" sz="39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2638044" y="4969764"/>
            <a:ext cx="1871472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13178" marR="1383571" rtl="0" algn="ctr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6718" marR="1236394" rtl="0" algn="ctr">
              <a:lnSpc>
                <a:spcPct val="102091"/>
              </a:lnSpc>
              <a:spcBef>
                <a:spcPts val="324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2895600" y="2778252"/>
            <a:ext cx="1958339" cy="1301496"/>
          </a:xfrm>
          <a:custGeom>
            <a:rect b="b" l="l" r="r" t="t"/>
            <a:pathLst>
              <a:path extrusionOk="0" h="1301496" w="1958339">
                <a:moveTo>
                  <a:pt x="0" y="1301496"/>
                </a:moveTo>
                <a:lnTo>
                  <a:pt x="1958339" y="1301496"/>
                </a:lnTo>
                <a:lnTo>
                  <a:pt x="1958339" y="0"/>
                </a:lnTo>
                <a:lnTo>
                  <a:pt x="0" y="0"/>
                </a:lnTo>
                <a:lnTo>
                  <a:pt x="0" y="13014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2891028" y="2773679"/>
            <a:ext cx="1967483" cy="1310640"/>
          </a:xfrm>
          <a:custGeom>
            <a:rect b="b" l="l" r="r" t="t"/>
            <a:pathLst>
              <a:path extrusionOk="0" h="1310640" w="1967483">
                <a:moveTo>
                  <a:pt x="0" y="1310640"/>
                </a:moveTo>
                <a:lnTo>
                  <a:pt x="1967483" y="1310640"/>
                </a:lnTo>
                <a:lnTo>
                  <a:pt x="1967483" y="0"/>
                </a:lnTo>
                <a:lnTo>
                  <a:pt x="0" y="0"/>
                </a:lnTo>
                <a:lnTo>
                  <a:pt x="0" y="1310640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927860" y="4983480"/>
            <a:ext cx="5053584" cy="1254252"/>
          </a:xfrm>
          <a:custGeom>
            <a:rect b="b" l="l" r="r" t="t"/>
            <a:pathLst>
              <a:path extrusionOk="0" h="1254252" w="5053584">
                <a:moveTo>
                  <a:pt x="0" y="1254252"/>
                </a:moveTo>
                <a:lnTo>
                  <a:pt x="5053584" y="1254252"/>
                </a:lnTo>
                <a:lnTo>
                  <a:pt x="5053584" y="0"/>
                </a:lnTo>
                <a:lnTo>
                  <a:pt x="0" y="0"/>
                </a:lnTo>
                <a:lnTo>
                  <a:pt x="0" y="12542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1923288" y="4978908"/>
            <a:ext cx="5062727" cy="1263396"/>
          </a:xfrm>
          <a:custGeom>
            <a:rect b="b" l="l" r="r" t="t"/>
            <a:pathLst>
              <a:path extrusionOk="0" h="1263396" w="5062727">
                <a:moveTo>
                  <a:pt x="0" y="1263396"/>
                </a:moveTo>
                <a:lnTo>
                  <a:pt x="5062727" y="1263396"/>
                </a:lnTo>
                <a:lnTo>
                  <a:pt x="5062727" y="0"/>
                </a:lnTo>
                <a:lnTo>
                  <a:pt x="0" y="0"/>
                </a:lnTo>
                <a:lnTo>
                  <a:pt x="0" y="126339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64540" y="1018758"/>
            <a:ext cx="4368343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5337175" y="1018758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764540" y="2241700"/>
            <a:ext cx="5967417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 time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semua saluran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2959969" y="3088391"/>
            <a:ext cx="543794" cy="62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00">
            <a:noAutofit/>
          </a:bodyPr>
          <a:lstStyle/>
          <a:p>
            <a:pPr indent="0" lvl="0" marL="12700" marR="0" rtl="0" algn="l">
              <a:lnSpc>
                <a:spcPct val="1045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47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3494852" y="3160765"/>
            <a:ext cx="1312303" cy="510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100">
            <a:noAutofit/>
          </a:bodyPr>
          <a:lstStyle/>
          <a:p>
            <a:pPr indent="0" lvl="0" marL="12700" marR="0" rtl="0" algn="l">
              <a:lnSpc>
                <a:spcPct val="83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30000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-25000" i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baseline="30000" lang="en-US" sz="47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764540" y="4287162"/>
            <a:ext cx="4585484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Sehingga Intensitas Trafik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2008831" y="5281855"/>
            <a:ext cx="2034508" cy="602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125">
            <a:noAutofit/>
          </a:bodyPr>
          <a:lstStyle/>
          <a:p>
            <a:pPr indent="0" lvl="0" marL="12700" marR="0" rtl="0" algn="l">
              <a:lnSpc>
                <a:spcPct val="103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aseline="30000" lang="en-US" sz="457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 / </a:t>
            </a: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30000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4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45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5011377" y="5281855"/>
            <a:ext cx="523995" cy="602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125">
            <a:noAutofit/>
          </a:bodyPr>
          <a:lstStyle/>
          <a:p>
            <a:pPr indent="0" lvl="0" marL="12700" marR="0" rtl="0" algn="l">
              <a:lnSpc>
                <a:spcPct val="10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45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4032509" y="5351605"/>
            <a:ext cx="979813" cy="49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375">
            <a:noAutofit/>
          </a:bodyPr>
          <a:lstStyle/>
          <a:p>
            <a:pPr indent="0" lvl="0" marL="12700" marR="0" rtl="0" algn="l">
              <a:lnSpc>
                <a:spcPct val="839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30000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-25000"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 </a:t>
            </a:r>
            <a:r>
              <a:rPr baseline="30000" lang="en-US" sz="457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30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5523781" y="5357752"/>
            <a:ext cx="1469132" cy="486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075">
            <a:noAutofit/>
          </a:bodyPr>
          <a:lstStyle/>
          <a:p>
            <a:pPr indent="0" lvl="0" marL="12700" marR="0" rtl="0" algn="l">
              <a:lnSpc>
                <a:spcPct val="82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30000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.(</a:t>
            </a: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-25000"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baseline="30000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30000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923288" y="4978908"/>
            <a:ext cx="5062727" cy="1263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noAutofit/>
          </a:bodyPr>
          <a:lstStyle/>
          <a:p>
            <a:pPr indent="0" lvl="0" marL="1713097" marR="1657245" rtl="0" algn="ctr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                   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99513" marR="1487032" rtl="0" algn="ctr">
              <a:lnSpc>
                <a:spcPct val="102091"/>
              </a:lnSpc>
              <a:spcBef>
                <a:spcPts val="3802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       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2891028" y="2773679"/>
            <a:ext cx="1967483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noAutofit/>
          </a:bodyPr>
          <a:lstStyle/>
          <a:p>
            <a:pPr indent="0" lvl="0" marL="190778" marR="1569430" rtl="0" algn="ctr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2597" marR="1392290" rtl="0" algn="ctr">
              <a:lnSpc>
                <a:spcPct val="102091"/>
              </a:lnSpc>
              <a:spcBef>
                <a:spcPts val="392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4172712" y="2636520"/>
            <a:ext cx="1921764" cy="1229867"/>
          </a:xfrm>
          <a:custGeom>
            <a:rect b="b" l="l" r="r" t="t"/>
            <a:pathLst>
              <a:path extrusionOk="0" h="1229867" w="1921764">
                <a:moveTo>
                  <a:pt x="0" y="1229867"/>
                </a:moveTo>
                <a:lnTo>
                  <a:pt x="1921764" y="1229867"/>
                </a:lnTo>
                <a:lnTo>
                  <a:pt x="1921764" y="0"/>
                </a:lnTo>
                <a:lnTo>
                  <a:pt x="0" y="0"/>
                </a:lnTo>
                <a:lnTo>
                  <a:pt x="0" y="12298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4168140" y="2631948"/>
            <a:ext cx="1930908" cy="1239012"/>
          </a:xfrm>
          <a:custGeom>
            <a:rect b="b" l="l" r="r" t="t"/>
            <a:pathLst>
              <a:path extrusionOk="0" h="1239012" w="1930908">
                <a:moveTo>
                  <a:pt x="0" y="1239012"/>
                </a:moveTo>
                <a:lnTo>
                  <a:pt x="1930908" y="1239012"/>
                </a:lnTo>
                <a:lnTo>
                  <a:pt x="1930908" y="0"/>
                </a:lnTo>
                <a:lnTo>
                  <a:pt x="0" y="0"/>
                </a:lnTo>
                <a:lnTo>
                  <a:pt x="0" y="123901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340563" y="1149155"/>
            <a:ext cx="6560601" cy="140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12700" marR="0" rtl="0" algn="l">
              <a:lnSpc>
                <a:spcPct val="107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PENDEKATAN LAIN PERHITUNGAN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599" lvl="0" marL="633882" marR="32243" rtl="0" algn="l">
              <a:lnSpc>
                <a:spcPct val="120000"/>
              </a:lnSpc>
              <a:spcBef>
                <a:spcPts val="1861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waktu dari seluruh pendudukan pengamatan)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6884670" y="1149155"/>
            <a:ext cx="4579090" cy="1036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48640" marR="0" rtl="0" algn="l">
              <a:lnSpc>
                <a:spcPct val="107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(1/3)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1035" rtl="0" algn="l">
              <a:lnSpc>
                <a:spcPct val="102172"/>
              </a:lnSpc>
              <a:spcBef>
                <a:spcPts val="160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 satuan waktu (perioda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5238756" y="2946960"/>
            <a:ext cx="834494" cy="625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25">
            <a:noAutofit/>
          </a:bodyPr>
          <a:lstStyle/>
          <a:p>
            <a:pPr indent="0" lvl="0" marL="12700" marR="0" rtl="0" algn="l">
              <a:lnSpc>
                <a:spcPct val="1041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4257466" y="3019431"/>
            <a:ext cx="627120" cy="431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425">
            <a:no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31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4893169" y="3337874"/>
            <a:ext cx="308304" cy="425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50">
            <a:noAutofit/>
          </a:bodyPr>
          <a:lstStyle/>
          <a:p>
            <a:pPr indent="0" lvl="0" marL="12700" marR="0" rtl="0" algn="l">
              <a:lnSpc>
                <a:spcPct val="105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733145" y="4049911"/>
            <a:ext cx="10519797" cy="696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Contoh: Suatu berkas saluran terdiri dari 4 saluran. Di dalam satu jam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4618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(jam sibuk) misalnya diketahui 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1368679" y="4781685"/>
            <a:ext cx="223718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98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98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98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1604899" y="4781685"/>
            <a:ext cx="1162785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0785" rtl="0" algn="just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just">
              <a:lnSpc>
                <a:spcPct val="1200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Saluran Saluran Saluran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2781681" y="4781685"/>
            <a:ext cx="240254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214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14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14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3034665" y="4781685"/>
            <a:ext cx="1344425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0372" rtl="0" algn="just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diduduki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just">
              <a:lnSpc>
                <a:spcPct val="1200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diduduki diduduki diduduki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4391025" y="4781685"/>
            <a:ext cx="1150080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1115" rtl="0" algn="just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selama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just">
              <a:lnSpc>
                <a:spcPct val="1200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selama selama selama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5555742" y="4781685"/>
            <a:ext cx="745166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0336" rtl="0" algn="just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just">
              <a:lnSpc>
                <a:spcPct val="1200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total total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6314389" y="4781685"/>
            <a:ext cx="1301016" cy="142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0,25 jam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 5 jam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0,25 jam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153" marR="4572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 5 jam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1368679" y="6245029"/>
            <a:ext cx="797849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Maka: A =(0,25+0,5+0,25+0,5)jam/1 jam = 1,5 jam/jam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4168140" y="2631948"/>
            <a:ext cx="1930908" cy="123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noAutofit/>
          </a:bodyPr>
          <a:lstStyle/>
          <a:p>
            <a:pPr indent="0" lvl="0" marL="780788" marR="0" rtl="0" algn="l">
              <a:lnSpc>
                <a:spcPct val="586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94637" marR="0" rtl="0" algn="l">
              <a:lnSpc>
                <a:spcPct val="102091"/>
              </a:lnSpc>
              <a:spcBef>
                <a:spcPts val="3721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4835652" y="2203704"/>
            <a:ext cx="1993392" cy="1228344"/>
          </a:xfrm>
          <a:custGeom>
            <a:rect b="b" l="l" r="r" t="t"/>
            <a:pathLst>
              <a:path extrusionOk="0" h="1228344" w="1993392">
                <a:moveTo>
                  <a:pt x="0" y="1228344"/>
                </a:moveTo>
                <a:lnTo>
                  <a:pt x="1993392" y="1228344"/>
                </a:lnTo>
                <a:lnTo>
                  <a:pt x="1993392" y="0"/>
                </a:lnTo>
                <a:lnTo>
                  <a:pt x="0" y="0"/>
                </a:lnTo>
                <a:lnTo>
                  <a:pt x="0" y="12283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831080" y="2199132"/>
            <a:ext cx="2002535" cy="1237488"/>
          </a:xfrm>
          <a:custGeom>
            <a:rect b="b" l="l" r="r" t="t"/>
            <a:pathLst>
              <a:path extrusionOk="0" h="1237488" w="2002535">
                <a:moveTo>
                  <a:pt x="0" y="1237488"/>
                </a:moveTo>
                <a:lnTo>
                  <a:pt x="2002535" y="1237488"/>
                </a:lnTo>
                <a:lnTo>
                  <a:pt x="2002535" y="0"/>
                </a:lnTo>
                <a:lnTo>
                  <a:pt x="0" y="0"/>
                </a:lnTo>
                <a:lnTo>
                  <a:pt x="0" y="123748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7426452" y="3567684"/>
            <a:ext cx="1920240" cy="1156715"/>
          </a:xfrm>
          <a:custGeom>
            <a:rect b="b" l="l" r="r" t="t"/>
            <a:pathLst>
              <a:path extrusionOk="0" h="1156715" w="1920240">
                <a:moveTo>
                  <a:pt x="0" y="1156715"/>
                </a:moveTo>
                <a:lnTo>
                  <a:pt x="1920240" y="1156715"/>
                </a:lnTo>
                <a:lnTo>
                  <a:pt x="1920240" y="0"/>
                </a:lnTo>
                <a:lnTo>
                  <a:pt x="0" y="0"/>
                </a:lnTo>
                <a:lnTo>
                  <a:pt x="0" y="1156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7421880" y="3563112"/>
            <a:ext cx="1929383" cy="1165860"/>
          </a:xfrm>
          <a:custGeom>
            <a:rect b="b" l="l" r="r" t="t"/>
            <a:pathLst>
              <a:path extrusionOk="0" h="1165860" w="1929383">
                <a:moveTo>
                  <a:pt x="0" y="1165860"/>
                </a:moveTo>
                <a:lnTo>
                  <a:pt x="1929383" y="1165860"/>
                </a:lnTo>
                <a:lnTo>
                  <a:pt x="1929383" y="0"/>
                </a:lnTo>
                <a:lnTo>
                  <a:pt x="0" y="0"/>
                </a:lnTo>
                <a:lnTo>
                  <a:pt x="0" y="1165860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5454396" y="5349240"/>
            <a:ext cx="1485900" cy="580644"/>
          </a:xfrm>
          <a:custGeom>
            <a:rect b="b" l="l" r="r" t="t"/>
            <a:pathLst>
              <a:path extrusionOk="0" h="580643" w="1485900">
                <a:moveTo>
                  <a:pt x="0" y="580644"/>
                </a:moveTo>
                <a:lnTo>
                  <a:pt x="1485900" y="580644"/>
                </a:lnTo>
                <a:lnTo>
                  <a:pt x="1485900" y="0"/>
                </a:lnTo>
                <a:lnTo>
                  <a:pt x="0" y="0"/>
                </a:lnTo>
                <a:lnTo>
                  <a:pt x="0" y="5806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5449824" y="5344668"/>
            <a:ext cx="1495044" cy="589788"/>
          </a:xfrm>
          <a:custGeom>
            <a:rect b="b" l="l" r="r" t="t"/>
            <a:pathLst>
              <a:path extrusionOk="0" h="589788" w="1495044">
                <a:moveTo>
                  <a:pt x="0" y="589787"/>
                </a:moveTo>
                <a:lnTo>
                  <a:pt x="1495044" y="589787"/>
                </a:lnTo>
                <a:lnTo>
                  <a:pt x="1495044" y="0"/>
                </a:lnTo>
                <a:lnTo>
                  <a:pt x="0" y="0"/>
                </a:lnTo>
                <a:lnTo>
                  <a:pt x="0" y="589787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480466" y="1069018"/>
            <a:ext cx="6557548" cy="11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12700" marR="0" rtl="0" algn="l">
              <a:lnSpc>
                <a:spcPct val="107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PENDEKATAN LAIN PERHITUNGAN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5379" marR="61035" rtl="0" algn="l">
              <a:lnSpc>
                <a:spcPct val="102172"/>
              </a:lnSpc>
              <a:spcBef>
                <a:spcPts val="223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pendudukan rata-rata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060438" y="1069018"/>
            <a:ext cx="2143427" cy="43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9227947" y="1069018"/>
            <a:ext cx="1337360" cy="43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10587355" y="1069018"/>
            <a:ext cx="1016359" cy="43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(2/3)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5991690" y="2513766"/>
            <a:ext cx="833973" cy="62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00">
            <a:noAutofit/>
          </a:bodyPr>
          <a:lstStyle/>
          <a:p>
            <a:pPr indent="0" lvl="0" marL="12700" marR="0" rtl="0" algn="l">
              <a:lnSpc>
                <a:spcPct val="104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4877326" y="2586146"/>
            <a:ext cx="691918" cy="51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100">
            <a:noAutofit/>
          </a:bodyPr>
          <a:lstStyle/>
          <a:p>
            <a:pPr indent="0" lvl="0" marL="12700" marR="0" rtl="0" algn="l">
              <a:lnSpc>
                <a:spcPct val="83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-25000" i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 </a:t>
            </a:r>
            <a:r>
              <a:rPr baseline="30000" lang="en-US" sz="47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31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5608882" y="2904186"/>
            <a:ext cx="352650" cy="424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00">
            <a:noAutofit/>
          </a:bodyPr>
          <a:lstStyle/>
          <a:p>
            <a:pPr indent="0" lvl="0" marL="12700" marR="0" rtl="0" algn="l">
              <a:lnSpc>
                <a:spcPct val="105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733145" y="3684151"/>
            <a:ext cx="6050250" cy="33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pendudukan per satuan 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8172334" y="4195871"/>
            <a:ext cx="323782" cy="504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75">
            <a:noAutofit/>
          </a:bodyPr>
          <a:lstStyle/>
          <a:p>
            <a:pPr indent="0" lvl="0" marL="12700" marR="0" rtl="0" algn="l">
              <a:lnSpc>
                <a:spcPct val="82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-25000" i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8932051" y="4195871"/>
            <a:ext cx="307885" cy="424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00">
            <a:noAutofit/>
          </a:bodyPr>
          <a:lstStyle/>
          <a:p>
            <a:pPr indent="0" lvl="0" marL="12700" marR="0" rtl="0" algn="l">
              <a:lnSpc>
                <a:spcPct val="105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733145" y="5147445"/>
            <a:ext cx="4011965" cy="33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Sehingga intensitas trafik: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5449824" y="5344668"/>
            <a:ext cx="1495044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noAutofit/>
          </a:bodyPr>
          <a:lstStyle/>
          <a:p>
            <a:pPr indent="0" lvl="0" marL="101979" marR="0" rtl="0" algn="l">
              <a:lnSpc>
                <a:spcPct val="109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Cxt</a:t>
            </a:r>
            <a:r>
              <a:rPr baseline="-25000" i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7421880" y="3563112"/>
            <a:ext cx="1929383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noAutofit/>
          </a:bodyPr>
          <a:lstStyle/>
          <a:p>
            <a:pPr indent="0" lvl="0" marL="58919" marR="0" rtl="0" algn="l">
              <a:lnSpc>
                <a:spcPct val="76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8919" marR="0" rtl="0" algn="l">
              <a:lnSpc>
                <a:spcPct val="59005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aseline="30000" i="1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4831080" y="2199132"/>
            <a:ext cx="2002535" cy="1237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noAutofit/>
          </a:bodyPr>
          <a:lstStyle/>
          <a:p>
            <a:pPr indent="0" lvl="0" marL="830134" marR="0" rtl="0" algn="l">
              <a:lnSpc>
                <a:spcPct val="586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47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84628" marR="0" rtl="0" algn="l">
              <a:lnSpc>
                <a:spcPct val="102091"/>
              </a:lnSpc>
              <a:spcBef>
                <a:spcPts val="3713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33145" y="1069272"/>
            <a:ext cx="10115879" cy="1177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44094" marR="0" rtl="0" algn="l">
              <a:lnSpc>
                <a:spcPct val="107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PENDEKATAN LAIN PERHITUNGAN INTENSITAS TRAFIK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1035" rtl="0" algn="l">
              <a:lnSpc>
                <a:spcPct val="102172"/>
              </a:lnSpc>
              <a:spcBef>
                <a:spcPts val="2218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10871454" y="1069272"/>
            <a:ext cx="1016359" cy="43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(3/3)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33145" y="2715668"/>
            <a:ext cx="11009920" cy="294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5380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= 3600 panggilan/jam = 60 panggilan/menit = 1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53800" rtl="0" algn="l">
              <a:lnSpc>
                <a:spcPct val="120178"/>
              </a:lnSpc>
              <a:spcBef>
                <a:spcPts val="17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panggilan/detik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599" lvl="0" marL="241299" marR="2231921" rtl="0" algn="l">
              <a:lnSpc>
                <a:spcPct val="120000"/>
              </a:lnSpc>
              <a:spcBef>
                <a:spcPts val="54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baseline="-25000" i="1" lang="en-US" sz="2775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1/60 jam/panggilan = 1 menit/panggilan = 60 detik/panggilan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 : A = 3600 x 1/60 = 60 jam/jam = 60 x 1 = 60 menit/menit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800" rtl="0" algn="l">
              <a:lnSpc>
                <a:spcPct val="119642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Karena itu A tidak memiliki satuan </a:t>
            </a:r>
            <a:r>
              <a:rPr lang="en-US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diberikan satuan baru: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53800" rtl="0" algn="l">
              <a:lnSpc>
                <a:spcPct val="120357"/>
              </a:lnSpc>
              <a:spcBef>
                <a:spcPts val="1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Erlang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760720" y="1283207"/>
            <a:ext cx="5582412" cy="324002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976884" y="4692396"/>
            <a:ext cx="7540752" cy="1982724"/>
          </a:xfrm>
          <a:custGeom>
            <a:rect b="b" l="l" r="r" t="t"/>
            <a:pathLst>
              <a:path extrusionOk="0" h="1982724" w="7540752">
                <a:moveTo>
                  <a:pt x="0" y="1982723"/>
                </a:moveTo>
                <a:lnTo>
                  <a:pt x="7540752" y="1982723"/>
                </a:lnTo>
                <a:lnTo>
                  <a:pt x="7540752" y="0"/>
                </a:lnTo>
                <a:lnTo>
                  <a:pt x="0" y="0"/>
                </a:lnTo>
                <a:lnTo>
                  <a:pt x="0" y="19827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913282" y="536539"/>
            <a:ext cx="4360265" cy="199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55041" marR="43110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066" lvl="0" marL="367766" marR="0" rtl="0" algn="l">
              <a:lnSpc>
                <a:spcPct val="107916"/>
              </a:lnSpc>
              <a:spcBef>
                <a:spcPts val="3371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Diketahui distribusi pendudukan sekelompok jalur digambarkan seperti gambar di samping: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913282" y="2635034"/>
            <a:ext cx="177952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1270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1141882" y="2653436"/>
            <a:ext cx="978787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Hitung: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1279017" y="3045332"/>
            <a:ext cx="279658" cy="668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50">
            <a:noAutofit/>
          </a:bodyPr>
          <a:lstStyle/>
          <a:p>
            <a:pPr indent="0" lvl="0" marL="12700" marR="0" rtl="0" algn="l">
              <a:lnSpc>
                <a:spcPct val="1043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1725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736217" y="3045332"/>
            <a:ext cx="1982994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50">
            <a:noAutofit/>
          </a:bodyPr>
          <a:lstStyle/>
          <a:p>
            <a:pPr indent="0" lvl="0" marL="12700" marR="0" rtl="0" algn="l">
              <a:lnSpc>
                <a:spcPct val="1043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trafik (V)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1736217" y="3409569"/>
            <a:ext cx="1161638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50">
            <a:noAutofit/>
          </a:bodyPr>
          <a:lstStyle/>
          <a:p>
            <a:pPr indent="0" lvl="0" marL="12700" marR="0" rtl="0" algn="l">
              <a:lnSpc>
                <a:spcPct val="1043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Intensitas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896362" y="3409569"/>
            <a:ext cx="1053057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50">
            <a:noAutofit/>
          </a:bodyPr>
          <a:lstStyle/>
          <a:p>
            <a:pPr indent="0" lvl="0" marL="12700" marR="0" rtl="0" algn="l">
              <a:lnSpc>
                <a:spcPct val="1043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trafik (A)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5518150" y="3425104"/>
            <a:ext cx="215878" cy="254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25">
            <a:noAutofit/>
          </a:bodyPr>
          <a:lstStyle/>
          <a:p>
            <a:pPr indent="0" lvl="0" marL="12700" marR="0" rtl="0" algn="l">
              <a:lnSpc>
                <a:spcPct val="10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1455094" y="5282510"/>
            <a:ext cx="371204" cy="426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300">
            <a:noAutofit/>
          </a:bodyPr>
          <a:lstStyle/>
          <a:p>
            <a:pPr indent="0" lvl="0" marL="12700" marR="0" rtl="0" algn="l">
              <a:lnSpc>
                <a:spcPct val="106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31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1029145" y="5330919"/>
            <a:ext cx="426494" cy="296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25">
            <a:noAutofit/>
          </a:bodyPr>
          <a:lstStyle/>
          <a:p>
            <a:pPr indent="0" lvl="0" marL="12700" marR="0" rtl="0" algn="l">
              <a:lnSpc>
                <a:spcPct val="10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21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2319665" y="5330919"/>
            <a:ext cx="212127" cy="29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25">
            <a:noAutofit/>
          </a:bodyPr>
          <a:lstStyle/>
          <a:p>
            <a:pPr indent="0" lvl="0" marL="12700" marR="0" rtl="0" algn="l">
              <a:lnSpc>
                <a:spcPct val="10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21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5589581" y="5330919"/>
            <a:ext cx="212127" cy="29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25">
            <a:noAutofit/>
          </a:bodyPr>
          <a:lstStyle/>
          <a:p>
            <a:pPr indent="0" lvl="0" marL="12700" marR="0" rtl="0" algn="l">
              <a:lnSpc>
                <a:spcPct val="10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21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40527" y="5330919"/>
            <a:ext cx="700839" cy="296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25">
            <a:noAutofit/>
          </a:bodyPr>
          <a:lstStyle/>
          <a:p>
            <a:pPr indent="0" lvl="0" marL="12700" marR="0" rtl="0" algn="l">
              <a:lnSpc>
                <a:spcPct val="10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1,83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1409038" y="6373380"/>
            <a:ext cx="213997" cy="29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50">
            <a:noAutofit/>
          </a:bodyPr>
          <a:lstStyle/>
          <a:p>
            <a:pPr indent="0" lvl="0" marL="12700" marR="0" rtl="0" algn="l">
              <a:lnSpc>
                <a:spcPct val="106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2607599" y="6373380"/>
            <a:ext cx="332602" cy="29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50">
            <a:noAutofit/>
          </a:bodyPr>
          <a:lstStyle/>
          <a:p>
            <a:pPr indent="0" lvl="0" marL="12700" marR="0" rtl="0" algn="l">
              <a:lnSpc>
                <a:spcPct val="106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4385872" y="6373380"/>
            <a:ext cx="332602" cy="29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50">
            <a:noAutofit/>
          </a:bodyPr>
          <a:lstStyle/>
          <a:p>
            <a:pPr indent="0" lvl="0" marL="12700" marR="0" rtl="0" algn="l">
              <a:lnSpc>
                <a:spcPct val="106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5906632" y="6373380"/>
            <a:ext cx="667046" cy="29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50">
            <a:noAutofit/>
          </a:bodyPr>
          <a:lstStyle/>
          <a:p>
            <a:pPr indent="0" lvl="0" marL="12700" marR="0" rtl="0" algn="l">
              <a:lnSpc>
                <a:spcPct val="106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976884" y="4692396"/>
            <a:ext cx="7540752" cy="1982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725">
            <a:noAutofit/>
          </a:bodyPr>
          <a:lstStyle/>
          <a:p>
            <a:pPr indent="0" lvl="0" marL="19626" marR="0" rtl="0" algn="l">
              <a:lnSpc>
                <a:spcPct val="11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110 menit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5943" marR="50876" rtl="0" algn="ctr">
              <a:lnSpc>
                <a:spcPct val="55523"/>
              </a:lnSpc>
              <a:spcBef>
                <a:spcPts val="614"/>
              </a:spcBef>
              <a:spcAft>
                <a:spcPts val="0"/>
              </a:spcAft>
              <a:buNone/>
            </a:pPr>
            <a:r>
              <a:rPr baseline="30000" i="1" lang="en-US" sz="21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   </a:t>
            </a:r>
            <a:r>
              <a:rPr baseline="30000"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30000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aseline="30000" i="1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-25000" i="1" lang="en-US" sz="21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     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(3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3   15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          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5943" marR="50876" rtl="0" algn="ctr">
              <a:lnSpc>
                <a:spcPct val="95825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70307" marR="50645" rtl="0" algn="ctr">
              <a:lnSpc>
                <a:spcPct val="103402"/>
              </a:lnSpc>
              <a:spcBef>
                <a:spcPts val="495"/>
              </a:spcBef>
              <a:spcAft>
                <a:spcPts val="0"/>
              </a:spcAft>
              <a:buNone/>
            </a:pPr>
            <a:r>
              <a:rPr baseline="-25000" i="1" lang="en-US" sz="21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17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1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                         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60                                60                  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70307" marR="50645" rtl="0" algn="ctr">
              <a:lnSpc>
                <a:spcPct val="9582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7622" marR="0" rtl="0" algn="l">
              <a:lnSpc>
                <a:spcPct val="84476"/>
              </a:lnSpc>
              <a:spcBef>
                <a:spcPts val="533"/>
              </a:spcBef>
              <a:spcAft>
                <a:spcPts val="0"/>
              </a:spcAft>
              <a:buNone/>
            </a:pPr>
            <a:r>
              <a:rPr baseline="-25000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aseline="-25000"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baseline="-25000"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35 </a:t>
            </a:r>
            <a:r>
              <a:rPr baseline="-25000" lang="en-US" sz="3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1,83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2327148" y="5027676"/>
            <a:ext cx="6220967" cy="978408"/>
          </a:xfrm>
          <a:custGeom>
            <a:rect b="b" l="l" r="r" t="t"/>
            <a:pathLst>
              <a:path extrusionOk="0" h="978408" w="6220967">
                <a:moveTo>
                  <a:pt x="0" y="978408"/>
                </a:moveTo>
                <a:lnTo>
                  <a:pt x="6220967" y="978408"/>
                </a:lnTo>
                <a:lnTo>
                  <a:pt x="6220967" y="0"/>
                </a:lnTo>
                <a:lnTo>
                  <a:pt x="0" y="0"/>
                </a:lnTo>
                <a:lnTo>
                  <a:pt x="0" y="9784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1218996" y="893191"/>
            <a:ext cx="347878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375">
            <a:noAutofit/>
          </a:bodyPr>
          <a:lstStyle/>
          <a:p>
            <a:pPr indent="0" lvl="0" marL="12700" marR="0" rtl="0" algn="l">
              <a:lnSpc>
                <a:spcPct val="10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1734058" y="893191"/>
            <a:ext cx="6918665" cy="7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375">
            <a:noAutofit/>
          </a:bodyPr>
          <a:lstStyle/>
          <a:p>
            <a:pPr indent="0" lvl="0" marL="12700" marR="0" rtl="0" algn="l">
              <a:lnSpc>
                <a:spcPct val="10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Sebuah sentral terdiri dari 4 jalur. Di dalam satu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3262" rtl="0" algn="l">
              <a:lnSpc>
                <a:spcPct val="108035"/>
              </a:lnSpc>
              <a:spcBef>
                <a:spcPts val="6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(jam sibuk) misalnya diketahui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8655558" y="893191"/>
            <a:ext cx="617987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375">
            <a:noAutofit/>
          </a:bodyPr>
          <a:lstStyle/>
          <a:p>
            <a:pPr indent="0" lvl="0" marL="12700" marR="0" rtl="0" algn="l">
              <a:lnSpc>
                <a:spcPct val="10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2087626" y="1703577"/>
            <a:ext cx="190906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550">
            <a:noAutofit/>
          </a:bodyPr>
          <a:lstStyle/>
          <a:p>
            <a:pPr indent="0" lvl="0" marL="12700" marR="0" rtl="0" algn="l">
              <a:lnSpc>
                <a:spcPct val="1063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52" rtl="0" algn="l">
              <a:lnSpc>
                <a:spcPct val="95825"/>
              </a:lnSpc>
              <a:spcBef>
                <a:spcPts val="171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52" rtl="0" algn="l">
              <a:lnSpc>
                <a:spcPct val="95825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95825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2316226" y="1723542"/>
            <a:ext cx="1304658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10983" rtl="0" algn="just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Rata-rata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6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Rata-rata Rata-rata Rata-rata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3623681" y="1723542"/>
            <a:ext cx="1077526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11145" rtl="0" algn="just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holding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32" lvl="0" marL="12700" marR="0" rtl="0" algn="just">
              <a:lnSpc>
                <a:spcPct val="106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holding holding holding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4700797" y="1723542"/>
            <a:ext cx="689123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10809" rtl="0" algn="just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03" lvl="0" marL="12700" marR="0" rtl="0" algn="just">
              <a:lnSpc>
                <a:spcPct val="106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time time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5391419" y="1723542"/>
            <a:ext cx="323570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3232" marR="10809" rtl="0" algn="just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6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 di di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5713857" y="1723542"/>
            <a:ext cx="1053420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10809" rtl="0" algn="just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saluran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6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saluran saluran saluran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6840093" y="1723542"/>
            <a:ext cx="242821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0" rtl="0" algn="l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00" rtl="0" algn="l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00" rtl="0" algn="l">
              <a:lnSpc>
                <a:spcPct val="101725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1725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082501" y="1723542"/>
            <a:ext cx="575673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923" marR="0" rtl="0" algn="l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=30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729" rtl="0" algn="l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=45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729" rtl="0" algn="l">
              <a:lnSpc>
                <a:spcPct val="101725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923" marR="0" rtl="0" algn="l">
              <a:lnSpc>
                <a:spcPct val="101725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=10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655288" y="1723542"/>
            <a:ext cx="575426" cy="161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88" marR="10809" rtl="0" algn="just">
              <a:lnSpc>
                <a:spcPct val="10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6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jam jam jam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1630426" y="3385484"/>
            <a:ext cx="5294152" cy="401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12700" marR="0" rtl="0" algn="l">
              <a:lnSpc>
                <a:spcPct val="109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Hitung intensitas trafik pada sistim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1630426" y="4301490"/>
            <a:ext cx="1094074" cy="38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375">
            <a:noAutofit/>
          </a:bodyPr>
          <a:lstStyle/>
          <a:p>
            <a:pPr indent="0" lvl="0" marL="12700" marR="0" rtl="0" algn="l">
              <a:lnSpc>
                <a:spcPct val="10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Jawab: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2391855" y="5329700"/>
            <a:ext cx="503472" cy="34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0" rtl="0" algn="l">
              <a:lnSpc>
                <a:spcPct val="10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25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6761944" y="5329700"/>
            <a:ext cx="863891" cy="34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noAutofit/>
          </a:bodyPr>
          <a:lstStyle/>
          <a:p>
            <a:pPr indent="0" lvl="0" marL="12700" marR="0" rtl="0" algn="l">
              <a:lnSpc>
                <a:spcPct val="10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6,18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7634814" y="5334780"/>
            <a:ext cx="909835" cy="34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850">
            <a:noAutofit/>
          </a:bodyPr>
          <a:lstStyle/>
          <a:p>
            <a:pPr indent="0" lvl="0" marL="12700" marR="0" rtl="0" algn="l">
              <a:lnSpc>
                <a:spcPct val="10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Erlang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2327148" y="5027676"/>
            <a:ext cx="6220967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00">
            <a:noAutofit/>
          </a:bodyPr>
          <a:lstStyle/>
          <a:p>
            <a:pPr indent="0" lvl="0" marL="548210" marR="1961241" rtl="0" algn="ctr">
              <a:lnSpc>
                <a:spcPct val="1103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0,5 </a:t>
            </a: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0,75 </a:t>
            </a: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0,33 </a:t>
            </a: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0,1</a:t>
            </a:r>
            <a:r>
              <a:rPr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jam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06319" marR="3442781" rtl="0" algn="ctr">
              <a:lnSpc>
                <a:spcPct val="95825"/>
              </a:lnSpc>
              <a:spcBef>
                <a:spcPts val="331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jam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1509776" y="1143476"/>
            <a:ext cx="9360553" cy="4910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2586482" marR="34013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LATIHAN SOAL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9860" marR="192792" rtl="0" algn="l">
              <a:lnSpc>
                <a:spcPct val="122583"/>
              </a:lnSpc>
              <a:spcBef>
                <a:spcPts val="1221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sistim telepon memiliki 5 jalur dimana masing-masing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9860" marR="192792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diduduki untuk trafik suara dengan sebaran sebagai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9860" marR="192792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berikut: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4140" marR="34013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1 : diduduki 3x masing-masing 10 menit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4140" marR="34013" rtl="0" algn="l">
              <a:lnSpc>
                <a:spcPct val="10217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2 : diduduki selama 20 menit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4140" marR="34013" rtl="0" algn="l">
              <a:lnSpc>
                <a:spcPct val="102172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3 : diduduki 15 menit dan 30 menit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852" lvl="0" marL="332994" marR="246468" rtl="0" algn="l">
              <a:lnSpc>
                <a:spcPct val="108000"/>
              </a:lnSpc>
              <a:spcBef>
                <a:spcPts val="603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4 : diduduki 4 kali, masing-masing 2 menit, 5 menit, 15 menit dan 7 menit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4140" marR="34013" rtl="0" algn="l">
              <a:lnSpc>
                <a:spcPct val="102172"/>
              </a:lnSpc>
              <a:spcBef>
                <a:spcPts val="9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5 : diduduki  28 menit dan 4 menit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4013" rtl="0" algn="l">
              <a:lnSpc>
                <a:spcPct val="102172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   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 waktu pendudukan rata-rata </a:t>
            </a:r>
            <a:r>
              <a:rPr i="1"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(average holding time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system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70154" marR="34013" rtl="0" algn="l">
              <a:lnSpc>
                <a:spcPct val="108250"/>
              </a:lnSpc>
              <a:spcBef>
                <a:spcPts val="108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tersebut?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454" lvl="0" marL="470154" marR="0" rtl="0" algn="l">
              <a:lnSpc>
                <a:spcPct val="108000"/>
              </a:lnSpc>
              <a:spcBef>
                <a:spcPts val="494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	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 intensitas trafik system jika pendudukan saluran tersebut diamati selama 1 jam?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1189736" y="1873896"/>
            <a:ext cx="32499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2366772" y="1124712"/>
            <a:ext cx="7455408" cy="33467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811784" y="355738"/>
            <a:ext cx="32499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268984" y="355738"/>
            <a:ext cx="4517987" cy="58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75">
            <a:noAutofit/>
          </a:bodyPr>
          <a:lstStyle/>
          <a:p>
            <a:pPr indent="0" lvl="0" marL="1270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 jalur dari sebuah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6056" rtl="0" algn="l">
              <a:lnSpc>
                <a:spcPct val="9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pada gambar berikut ini: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5791327" y="355738"/>
            <a:ext cx="959917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6760591" y="355738"/>
            <a:ext cx="1224964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telepon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7999857" y="355738"/>
            <a:ext cx="176506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ditunjukkan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766064" y="4643639"/>
            <a:ext cx="1791348" cy="33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Hitunglah: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1131824" y="5002329"/>
            <a:ext cx="335170" cy="131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9837" rtl="0" algn="just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just">
              <a:lnSpc>
                <a:spcPct val="120000"/>
              </a:lnSpc>
              <a:spcBef>
                <a:spcPts val="5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c. d.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1589024" y="5002329"/>
            <a:ext cx="1366975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3042127" y="5002329"/>
            <a:ext cx="4270967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 time pada saluran ke 3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1589024" y="5337609"/>
            <a:ext cx="4364178" cy="639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total trafik pada system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1833" rtl="0" algn="l">
              <a:lnSpc>
                <a:spcPct val="120000"/>
              </a:lnSpc>
              <a:spcBef>
                <a:spcPts val="1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pada system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1589024" y="6008118"/>
            <a:ext cx="1728576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Gambarkan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3405886" y="6008118"/>
            <a:ext cx="6399407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grafik waktu pendudukan vs jumlah saluran (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