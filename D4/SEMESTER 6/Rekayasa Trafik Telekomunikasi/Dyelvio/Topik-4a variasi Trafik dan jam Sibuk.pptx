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4" d="100"/>
          <a:sy n="74" d="100"/>
        </p:scale>
        <p:origin x="252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4375403"/>
            <a:ext cx="12188952" cy="24825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4702" y="2422160"/>
            <a:ext cx="2395993" cy="635000"/>
          </a:xfrm>
          <a:prstGeom prst="rect">
            <a:avLst/>
          </a:prstGeom>
        </p:spPr>
        <p:txBody>
          <a:bodyPr wrap="square" lIns="0" tIns="31750" rIns="0" bIns="0" rtlCol="0">
            <a:noAutofit/>
          </a:bodyPr>
          <a:lstStyle/>
          <a:p>
            <a:pPr marL="12700">
              <a:lnSpc>
                <a:spcPts val="5000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VARIASI</a:t>
            </a:r>
            <a:endParaRPr sz="4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2602" y="2422160"/>
            <a:ext cx="1990883" cy="635000"/>
          </a:xfrm>
          <a:prstGeom prst="rect">
            <a:avLst/>
          </a:prstGeom>
        </p:spPr>
        <p:txBody>
          <a:bodyPr wrap="square" lIns="0" tIns="31750" rIns="0" bIns="0" rtlCol="0">
            <a:noAutofit/>
          </a:bodyPr>
          <a:lstStyle/>
          <a:p>
            <a:pPr marL="12700">
              <a:lnSpc>
                <a:spcPts val="5000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TRAFIK</a:t>
            </a:r>
            <a:endParaRPr sz="4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6540" y="2422160"/>
            <a:ext cx="1472366" cy="635000"/>
          </a:xfrm>
          <a:prstGeom prst="rect">
            <a:avLst/>
          </a:prstGeom>
        </p:spPr>
        <p:txBody>
          <a:bodyPr wrap="square" lIns="0" tIns="31750" rIns="0" bIns="0" rtlCol="0">
            <a:noAutofit/>
          </a:bodyPr>
          <a:lstStyle/>
          <a:p>
            <a:pPr marL="12700">
              <a:lnSpc>
                <a:spcPts val="5000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DAN</a:t>
            </a:r>
            <a:endParaRPr sz="4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1149" y="2422160"/>
            <a:ext cx="1421765" cy="635000"/>
          </a:xfrm>
          <a:prstGeom prst="rect">
            <a:avLst/>
          </a:prstGeom>
        </p:spPr>
        <p:txBody>
          <a:bodyPr wrap="square" lIns="0" tIns="31750" rIns="0" bIns="0" rtlCol="0">
            <a:noAutofit/>
          </a:bodyPr>
          <a:lstStyle/>
          <a:p>
            <a:pPr marL="12700">
              <a:lnSpc>
                <a:spcPts val="5000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JAM</a:t>
            </a:r>
            <a:endParaRPr sz="4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4502" y="2422160"/>
            <a:ext cx="1667629" cy="635000"/>
          </a:xfrm>
          <a:prstGeom prst="rect">
            <a:avLst/>
          </a:prstGeom>
        </p:spPr>
        <p:txBody>
          <a:bodyPr wrap="square" lIns="0" tIns="31750" rIns="0" bIns="0" rtlCol="0">
            <a:noAutofit/>
          </a:bodyPr>
          <a:lstStyle/>
          <a:p>
            <a:pPr marL="12700">
              <a:lnSpc>
                <a:spcPts val="5000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SIBUK</a:t>
            </a:r>
            <a:endParaRPr sz="4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0805" y="3467633"/>
            <a:ext cx="1312586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spc="0" dirty="0">
                <a:solidFill>
                  <a:srgbClr val="FFFFFF"/>
                </a:solidFill>
                <a:latin typeface="Calibri"/>
                <a:cs typeface="Calibri"/>
              </a:rPr>
              <a:t>Modul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0615" y="3467633"/>
            <a:ext cx="441398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0195" y="3467633"/>
            <a:ext cx="5837579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spc="-36" dirty="0">
                <a:solidFill>
                  <a:srgbClr val="FFFFFF"/>
                </a:solidFill>
                <a:latin typeface="Calibri"/>
                <a:cs typeface="Calibri"/>
              </a:rPr>
              <a:t>Rekayasa Trafik Telekomunikasi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027017"/>
            <a:ext cx="3701850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TRAFIK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575" y="1027017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(1/8)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241700"/>
            <a:ext cx="10504707" cy="2292034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48027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FACTS:</a:t>
            </a:r>
            <a:endParaRPr sz="2800">
              <a:latin typeface="Century Gothic"/>
              <a:cs typeface="Century Gothic"/>
            </a:endParaRPr>
          </a:p>
          <a:p>
            <a:pPr marL="698500" marR="924888" indent="-228600">
              <a:lnSpc>
                <a:spcPts val="2810"/>
              </a:lnSpc>
              <a:spcBef>
                <a:spcPts val="485"/>
              </a:spcBef>
            </a:pPr>
            <a:r>
              <a:rPr sz="2600" spc="8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Trafik akan sangat bervariasi tergantung pada aktivitas masyarakat pengguna sistem telekomunikasi</a:t>
            </a:r>
            <a:endParaRPr sz="2600">
              <a:latin typeface="Century Gothic"/>
              <a:cs typeface="Century Gothic"/>
            </a:endParaRPr>
          </a:p>
          <a:p>
            <a:pPr marL="698500" indent="-228600">
              <a:lnSpc>
                <a:spcPts val="2810"/>
              </a:lnSpc>
              <a:spcBef>
                <a:spcPts val="490"/>
              </a:spcBef>
            </a:pPr>
            <a:r>
              <a:rPr sz="2600" spc="8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Trafik dibangkitkan oleh setiap pelanggan yang ketika melakukan panggilan tidak tergantung (independent) pada pelanggan yang lain</a:t>
            </a:r>
            <a:endParaRPr sz="2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87267" y="4105654"/>
            <a:ext cx="4823460" cy="26685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027017"/>
            <a:ext cx="3701850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TRAFIK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575" y="1027017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(2/8)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53059"/>
            <a:ext cx="11090293" cy="2067868"/>
          </a:xfrm>
          <a:prstGeom prst="rect">
            <a:avLst/>
          </a:prstGeom>
        </p:spPr>
        <p:txBody>
          <a:bodyPr wrap="square" lIns="0" tIns="15144" rIns="0" bIns="0" rtlCol="0">
            <a:noAutofit/>
          </a:bodyPr>
          <a:lstStyle/>
          <a:p>
            <a:pPr marL="12700" marR="38684">
              <a:lnSpc>
                <a:spcPts val="2385"/>
              </a:lnSpc>
            </a:pPr>
            <a:r>
              <a:rPr sz="2200" spc="208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200" spc="-8" dirty="0">
                <a:solidFill>
                  <a:srgbClr val="FFFFFF"/>
                </a:solidFill>
                <a:latin typeface="Century Gothic"/>
                <a:cs typeface="Century Gothic"/>
              </a:rPr>
              <a:t>Investigasi yang dilakukan terhadap variasi trafik menunjukkan bahwa pola</a:t>
            </a:r>
            <a:endParaRPr sz="2200">
              <a:latin typeface="Century Gothic"/>
              <a:cs typeface="Century Gothic"/>
            </a:endParaRPr>
          </a:p>
          <a:p>
            <a:pPr marL="241300" marR="38684">
              <a:lnSpc>
                <a:spcPts val="2375"/>
              </a:lnSpc>
            </a:pPr>
            <a:r>
              <a:rPr sz="22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trafik bisa bersifat stokastik maupun deterministik</a:t>
            </a: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ts val="2380"/>
              </a:lnSpc>
              <a:spcBef>
                <a:spcPts val="997"/>
              </a:spcBef>
              <a:tabLst>
                <a:tab pos="241300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•	</a:t>
            </a:r>
            <a:r>
              <a:rPr sz="2200" spc="-7" dirty="0">
                <a:solidFill>
                  <a:srgbClr val="FFFFFF"/>
                </a:solidFill>
                <a:latin typeface="Century Gothic"/>
                <a:cs typeface="Century Gothic"/>
              </a:rPr>
              <a:t>Gambar berikut ini menunjukkan variasi jumlah panggilan ke suatu sentral pada suatu hari Senin di tahun 1973 di Denmark</a:t>
            </a:r>
            <a:endParaRPr sz="2200">
              <a:latin typeface="Century Gothic"/>
              <a:cs typeface="Century Gothic"/>
            </a:endParaRPr>
          </a:p>
          <a:p>
            <a:pPr marL="12700" marR="38684">
              <a:lnSpc>
                <a:spcPct val="102172"/>
              </a:lnSpc>
              <a:spcBef>
                <a:spcPts val="564"/>
              </a:spcBef>
            </a:pPr>
            <a:r>
              <a:rPr sz="2200" spc="208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200" spc="-10" dirty="0">
                <a:solidFill>
                  <a:srgbClr val="FFFFFF"/>
                </a:solidFill>
                <a:latin typeface="Century Gothic"/>
                <a:cs typeface="Century Gothic"/>
              </a:rPr>
              <a:t>Dengan membandingkan hasil pengamatan beberapa hari akan dapat</a:t>
            </a:r>
            <a:endParaRPr sz="2200">
              <a:latin typeface="Century Gothic"/>
              <a:cs typeface="Century Gothic"/>
            </a:endParaRPr>
          </a:p>
          <a:p>
            <a:pPr marL="241300" marR="38684">
              <a:lnSpc>
                <a:spcPts val="2375"/>
              </a:lnSpc>
              <a:spcBef>
                <a:spcPts val="118"/>
              </a:spcBef>
            </a:pPr>
            <a:r>
              <a:rPr sz="2200" spc="0" dirty="0">
                <a:solidFill>
                  <a:srgbClr val="FFFFFF"/>
                </a:solidFill>
                <a:latin typeface="Century Gothic"/>
                <a:cs typeface="Century Gothic"/>
              </a:rPr>
              <a:t>ditemukan sifat kurva yang deterministik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55164" y="2865120"/>
            <a:ext cx="6362699" cy="3084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540" y="1027017"/>
            <a:ext cx="3701850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TRAFIK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575" y="1027017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(3/8)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540" y="1954414"/>
            <a:ext cx="10717354" cy="333578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Bila hasil pengamatan ditampilkan selama 24 jam, akan tampak kurva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140" y="2284103"/>
            <a:ext cx="1049516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seperti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6892" y="2284103"/>
            <a:ext cx="904259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pada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4594" y="2284103"/>
            <a:ext cx="1279043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gambar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5422" y="2284103"/>
            <a:ext cx="34094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di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8990" y="2284103"/>
            <a:ext cx="113464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bawah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6943" y="2284103"/>
            <a:ext cx="466401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6" dirty="0">
                <a:solidFill>
                  <a:srgbClr val="FFFFFF"/>
                </a:solidFill>
                <a:latin typeface="Century Gothic"/>
                <a:cs typeface="Century Gothic"/>
              </a:rPr>
              <a:t>ini: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6690" y="6020117"/>
            <a:ext cx="3126992" cy="254000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spc="0" dirty="0">
                <a:solidFill>
                  <a:srgbClr val="499BDC"/>
                </a:solidFill>
                <a:latin typeface="Century Gothic"/>
                <a:cs typeface="Century Gothic"/>
              </a:rPr>
              <a:t>Jumlah panggilan rata-rata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8662" y="6020117"/>
            <a:ext cx="6192133" cy="254000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spc="0" dirty="0">
                <a:solidFill>
                  <a:srgbClr val="499BDC"/>
                </a:solidFill>
                <a:latin typeface="Century Gothic"/>
                <a:cs typeface="Century Gothic"/>
              </a:rPr>
              <a:t>per menit diambil dengan cara merata-ratakan jumlah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6690" y="6294437"/>
            <a:ext cx="6093996" cy="254000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spc="0" dirty="0">
                <a:solidFill>
                  <a:srgbClr val="499BDC"/>
                </a:solidFill>
                <a:latin typeface="Century Gothic"/>
                <a:cs typeface="Century Gothic"/>
              </a:rPr>
              <a:t>panggilan untuk perioda 15 menit selama 10 hari kerja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57372" y="3429000"/>
            <a:ext cx="4896612" cy="32445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027017"/>
            <a:ext cx="3701850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TRAFIK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575" y="1027017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(4/8)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53059"/>
            <a:ext cx="10988495" cy="1337818"/>
          </a:xfrm>
          <a:prstGeom prst="rect">
            <a:avLst/>
          </a:prstGeom>
        </p:spPr>
        <p:txBody>
          <a:bodyPr wrap="square" lIns="0" tIns="15113" rIns="0" bIns="0" rtlCol="0">
            <a:noAutofit/>
          </a:bodyPr>
          <a:lstStyle/>
          <a:p>
            <a:pPr marL="241300" indent="-228600">
              <a:lnSpc>
                <a:spcPts val="2380"/>
              </a:lnSpc>
              <a:tabLst>
                <a:tab pos="241300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•	</a:t>
            </a:r>
            <a:r>
              <a:rPr sz="2200" spc="-7" dirty="0">
                <a:solidFill>
                  <a:srgbClr val="FFFFFF"/>
                </a:solidFill>
                <a:latin typeface="Century Gothic"/>
                <a:cs typeface="Century Gothic"/>
              </a:rPr>
              <a:t>Variasi trafik dapat dipecah lebih jauh lagi menjadi variasi dalam intensitas panggilan dan variasi di dalam waktu pendudukan (service time/holding time)</a:t>
            </a:r>
            <a:endParaRPr sz="2200">
              <a:latin typeface="Century Gothic"/>
              <a:cs typeface="Century Gothic"/>
            </a:endParaRPr>
          </a:p>
          <a:p>
            <a:pPr marL="241300" marR="680264" indent="-228600">
              <a:lnSpc>
                <a:spcPts val="2380"/>
              </a:lnSpc>
              <a:spcBef>
                <a:spcPts val="1004"/>
              </a:spcBef>
              <a:tabLst>
                <a:tab pos="241300" algn="l"/>
              </a:tabLst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•	</a:t>
            </a:r>
            <a:r>
              <a:rPr sz="2200" spc="-7" dirty="0">
                <a:solidFill>
                  <a:srgbClr val="FFFFFF"/>
                </a:solidFill>
                <a:latin typeface="Century Gothic"/>
                <a:cs typeface="Century Gothic"/>
              </a:rPr>
              <a:t>Gambar di bawah ini menunjukkan waktu pendudukan untuk pemakaian saluran trunk selama 24 jam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69336" y="2493264"/>
            <a:ext cx="5120640" cy="42809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027017"/>
            <a:ext cx="3701850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TRAFIK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575" y="1027017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(5/8)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54414"/>
            <a:ext cx="9208021" cy="333578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Variasi trafik hari ke hari,dapat dilihat pada gambar berikut :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7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1027017"/>
            <a:ext cx="4585312" cy="2439224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12700" marR="43356">
              <a:lnSpc>
                <a:spcPts val="426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TRAFIK</a:t>
            </a:r>
            <a:endParaRPr sz="4000">
              <a:latin typeface="Century Gothic"/>
              <a:cs typeface="Century Gothic"/>
            </a:endParaRPr>
          </a:p>
          <a:p>
            <a:pPr marL="241300" indent="-228600">
              <a:lnSpc>
                <a:spcPts val="2590"/>
              </a:lnSpc>
              <a:spcBef>
                <a:spcPts val="2956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sz="2400" spc="29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Jadi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Century Gothic"/>
                <a:cs typeface="Century Gothic"/>
              </a:rPr>
              <a:t>v</a:t>
            </a: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-14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asi</a:t>
            </a:r>
            <a:r>
              <a:rPr sz="2400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tra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24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yang</a:t>
            </a: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dapat d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kla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ik</a:t>
            </a:r>
            <a:r>
              <a:rPr sz="2400" spc="-1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kan sb</a:t>
            </a: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:</a:t>
            </a:r>
            <a:endParaRPr sz="2400">
              <a:latin typeface="Century Gothic"/>
              <a:cs typeface="Century Gothic"/>
            </a:endParaRPr>
          </a:p>
          <a:p>
            <a:pPr marL="12700" marR="43356">
              <a:lnSpc>
                <a:spcPct val="102172"/>
              </a:lnSpc>
              <a:spcBef>
                <a:spcPts val="538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Long term trend (years)</a:t>
            </a:r>
            <a:endParaRPr sz="2400">
              <a:latin typeface="Century Gothic"/>
              <a:cs typeface="Century Gothic"/>
            </a:endParaRPr>
          </a:p>
          <a:p>
            <a:pPr marL="469900" marR="43356">
              <a:lnSpc>
                <a:spcPct val="102172"/>
              </a:lnSpc>
              <a:spcBef>
                <a:spcPts val="140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Pertumbuhan trafik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6131" y="1027017"/>
            <a:ext cx="6461053" cy="1257847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898144" marR="45720">
              <a:lnSpc>
                <a:spcPts val="426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(6/8)</a:t>
            </a:r>
            <a:endParaRPr sz="40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2485"/>
              </a:spcBef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diperkirakan (</a:t>
            </a:r>
            <a:r>
              <a:rPr sz="24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predictable variations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) dapat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524557"/>
            <a:ext cx="7011572" cy="2406652"/>
          </a:xfrm>
          <a:prstGeom prst="rect">
            <a:avLst/>
          </a:prstGeom>
        </p:spPr>
        <p:txBody>
          <a:bodyPr wrap="square" lIns="0" tIns="15144" rIns="0" bIns="0" rtlCol="0">
            <a:noAutofit/>
          </a:bodyPr>
          <a:lstStyle/>
          <a:p>
            <a:pPr marL="927099">
              <a:lnSpc>
                <a:spcPts val="2385"/>
              </a:lnSpc>
            </a:pPr>
            <a:r>
              <a:rPr sz="2200" spc="208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200" spc="-5" dirty="0">
                <a:solidFill>
                  <a:srgbClr val="FFFFFF"/>
                </a:solidFill>
                <a:latin typeface="Century Gothic"/>
                <a:cs typeface="Century Gothic"/>
              </a:rPr>
              <a:t>Existing services: growth of user population,</a:t>
            </a:r>
            <a:endParaRPr sz="2200">
              <a:latin typeface="Century Gothic"/>
              <a:cs typeface="Century Gothic"/>
            </a:endParaRPr>
          </a:p>
          <a:p>
            <a:pPr marL="927099" marR="42255">
              <a:lnSpc>
                <a:spcPct val="102172"/>
              </a:lnSpc>
              <a:spcBef>
                <a:spcPts val="65"/>
              </a:spcBef>
            </a:pPr>
            <a:r>
              <a:rPr sz="2200" spc="208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200" spc="-5" dirty="0">
                <a:solidFill>
                  <a:srgbClr val="FFFFFF"/>
                </a:solidFill>
                <a:latin typeface="Century Gothic"/>
                <a:cs typeface="Century Gothic"/>
              </a:rPr>
              <a:t>changes in habits, economics</a:t>
            </a:r>
            <a:endParaRPr sz="2200">
              <a:latin typeface="Century Gothic"/>
              <a:cs typeface="Century Gothic"/>
            </a:endParaRPr>
          </a:p>
          <a:p>
            <a:pPr marL="927099" marR="42255">
              <a:lnSpc>
                <a:spcPct val="102172"/>
              </a:lnSpc>
              <a:spcBef>
                <a:spcPts val="170"/>
              </a:spcBef>
            </a:pPr>
            <a:r>
              <a:rPr sz="2200" spc="208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200" spc="-1" dirty="0">
                <a:solidFill>
                  <a:srgbClr val="FFFFFF"/>
                </a:solidFill>
                <a:latin typeface="Century Gothic"/>
                <a:cs typeface="Century Gothic"/>
              </a:rPr>
              <a:t>New services</a:t>
            </a:r>
            <a:endParaRPr sz="2200">
              <a:latin typeface="Century Gothic"/>
              <a:cs typeface="Century Gothic"/>
            </a:endParaRPr>
          </a:p>
          <a:p>
            <a:pPr marL="12700" marR="42255">
              <a:lnSpc>
                <a:spcPct val="102172"/>
              </a:lnSpc>
              <a:spcBef>
                <a:spcPts val="66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Variasi selama setahun (months)</a:t>
            </a:r>
            <a:endParaRPr sz="2400">
              <a:latin typeface="Century Gothic"/>
              <a:cs typeface="Century Gothic"/>
            </a:endParaRPr>
          </a:p>
          <a:p>
            <a:pPr marL="12700" marR="42255">
              <a:lnSpc>
                <a:spcPct val="102172"/>
              </a:lnSpc>
              <a:spcBef>
                <a:spcPts val="64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Variasi selama seminggu (days)</a:t>
            </a:r>
            <a:endParaRPr sz="2400">
              <a:latin typeface="Century Gothic"/>
              <a:cs typeface="Century Gothic"/>
            </a:endParaRPr>
          </a:p>
          <a:p>
            <a:pPr marL="12700" marR="42255">
              <a:lnSpc>
                <a:spcPct val="102172"/>
              </a:lnSpc>
              <a:spcBef>
                <a:spcPts val="64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Variasi harian selama 24 jam (hours)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147735" y="2077720"/>
            <a:ext cx="8193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8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027017"/>
            <a:ext cx="5301520" cy="2154579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12700" marR="50106">
              <a:lnSpc>
                <a:spcPts val="426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TRAFIK</a:t>
            </a:r>
            <a:endParaRPr sz="4000">
              <a:latin typeface="Century Gothic"/>
              <a:cs typeface="Century Gothic"/>
            </a:endParaRPr>
          </a:p>
          <a:p>
            <a:pPr marL="12700" marR="50106">
              <a:lnSpc>
                <a:spcPct val="102172"/>
              </a:lnSpc>
              <a:spcBef>
                <a:spcPts val="2418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predictable lainnya</a:t>
            </a:r>
            <a:endParaRPr sz="2800">
              <a:latin typeface="Century Gothic"/>
              <a:cs typeface="Century Gothic"/>
            </a:endParaRPr>
          </a:p>
          <a:p>
            <a:pPr marL="469900">
              <a:lnSpc>
                <a:spcPct val="102172"/>
              </a:lnSpc>
              <a:spcBef>
                <a:spcPts val="130"/>
              </a:spcBef>
            </a:pPr>
            <a:r>
              <a:rPr sz="2600" spc="8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600" i="1" spc="0" dirty="0">
                <a:solidFill>
                  <a:srgbClr val="FFFFFF"/>
                </a:solidFill>
                <a:latin typeface="Century Gothic"/>
                <a:cs typeface="Century Gothic"/>
              </a:rPr>
              <a:t>Regular</a:t>
            </a: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: Lebaran, Natal etc.</a:t>
            </a:r>
            <a:endParaRPr sz="2600">
              <a:latin typeface="Century Gothic"/>
              <a:cs typeface="Century Gothic"/>
            </a:endParaRPr>
          </a:p>
          <a:p>
            <a:pPr marL="469900" marR="50106">
              <a:lnSpc>
                <a:spcPct val="102172"/>
              </a:lnSpc>
              <a:spcBef>
                <a:spcPts val="110"/>
              </a:spcBef>
            </a:pPr>
            <a:r>
              <a:rPr sz="2600" spc="8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600" i="1" spc="0" dirty="0">
                <a:solidFill>
                  <a:srgbClr val="FFFFFF"/>
                </a:solidFill>
                <a:latin typeface="Century Gothic"/>
                <a:cs typeface="Century Gothic"/>
              </a:rPr>
              <a:t>Irregular</a:t>
            </a: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: televoting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575" y="1027017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(7/8)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3308119"/>
            <a:ext cx="10877741" cy="764920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6" dirty="0">
                <a:solidFill>
                  <a:srgbClr val="FFFFFF"/>
                </a:solidFill>
                <a:latin typeface="Century Gothic"/>
                <a:cs typeface="Century Gothic"/>
              </a:rPr>
              <a:t>Bermacam kelompok user memiliki profil tahunan/mingguan/</a:t>
            </a:r>
            <a:endParaRPr sz="2800">
              <a:latin typeface="Century Gothic"/>
              <a:cs typeface="Century Gothic"/>
            </a:endParaRPr>
          </a:p>
          <a:p>
            <a:pPr marL="241300" marR="53800">
              <a:lnSpc>
                <a:spcPts val="3015"/>
              </a:lnSpc>
              <a:spcBef>
                <a:spcPts val="0"/>
              </a:spcBef>
            </a:pP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harian yang berbeda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9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027017"/>
            <a:ext cx="4926346" cy="1367212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12700" marR="61697">
              <a:lnSpc>
                <a:spcPts val="426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VARIASI TRAFIK</a:t>
            </a:r>
            <a:endParaRPr sz="40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2364"/>
              </a:spcBef>
            </a:pPr>
            <a:r>
              <a:rPr sz="3200" spc="-10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3200" spc="-2" dirty="0">
                <a:solidFill>
                  <a:srgbClr val="FFFFFF"/>
                </a:solidFill>
                <a:latin typeface="Century Gothic"/>
                <a:cs typeface="Century Gothic"/>
              </a:rPr>
              <a:t>Variasi trafik yang acak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575" y="1027017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(8/8)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3033799"/>
            <a:ext cx="9799525" cy="2667682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50152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i="1" spc="-6" dirty="0">
                <a:solidFill>
                  <a:srgbClr val="FFFFFF"/>
                </a:solidFill>
                <a:latin typeface="Century Gothic"/>
                <a:cs typeface="Century Gothic"/>
              </a:rPr>
              <a:t>Short term random variations (seconds, minutes)</a:t>
            </a:r>
            <a:endParaRPr sz="2800">
              <a:latin typeface="Century Gothic"/>
              <a:cs typeface="Century Gothic"/>
            </a:endParaRPr>
          </a:p>
          <a:p>
            <a:pPr marL="469900">
              <a:lnSpc>
                <a:spcPct val="102172"/>
              </a:lnSpc>
            </a:pPr>
            <a:r>
              <a:rPr sz="2600" spc="8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600" spc="-1" dirty="0">
                <a:solidFill>
                  <a:srgbClr val="FFFFFF"/>
                </a:solidFill>
                <a:latin typeface="Century Gothic"/>
                <a:cs typeface="Century Gothic"/>
              </a:rPr>
              <a:t>Disebabkan oleh tindakan antar user yang independent</a:t>
            </a:r>
            <a:endParaRPr sz="2600">
              <a:latin typeface="Century Gothic"/>
              <a:cs typeface="Century Gothic"/>
            </a:endParaRPr>
          </a:p>
          <a:p>
            <a:pPr marL="814323" marR="50152">
              <a:lnSpc>
                <a:spcPts val="3315"/>
              </a:lnSpc>
              <a:spcBef>
                <a:spcPts val="165"/>
              </a:spcBef>
            </a:pPr>
            <a:r>
              <a:rPr sz="2600" spc="-198" dirty="0">
                <a:solidFill>
                  <a:srgbClr val="FFFFFF"/>
                </a:solidFill>
                <a:latin typeface="MS PGothic"/>
                <a:cs typeface="MS PGothic"/>
              </a:rPr>
              <a:t>➢  </a:t>
            </a: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Random call arrivals</a:t>
            </a:r>
            <a:endParaRPr sz="2600">
              <a:latin typeface="Century Gothic"/>
              <a:cs typeface="Century Gothic"/>
            </a:endParaRPr>
          </a:p>
          <a:p>
            <a:pPr marL="814323" marR="50152">
              <a:lnSpc>
                <a:spcPts val="3310"/>
              </a:lnSpc>
            </a:pPr>
            <a:r>
              <a:rPr sz="2600" spc="-198" dirty="0">
                <a:solidFill>
                  <a:srgbClr val="FFFFFF"/>
                </a:solidFill>
                <a:latin typeface="MS PGothic"/>
                <a:cs typeface="MS PGothic"/>
              </a:rPr>
              <a:t>➢  </a:t>
            </a:r>
            <a:r>
              <a:rPr sz="2600" spc="0" dirty="0">
                <a:solidFill>
                  <a:srgbClr val="FFFFFF"/>
                </a:solidFill>
                <a:latin typeface="Century Gothic"/>
                <a:cs typeface="Century Gothic"/>
              </a:rPr>
              <a:t>Random holding times</a:t>
            </a:r>
            <a:endParaRPr sz="2600">
              <a:latin typeface="Century Gothic"/>
              <a:cs typeface="Century Gothic"/>
            </a:endParaRPr>
          </a:p>
          <a:p>
            <a:pPr marL="12700" marR="50152">
              <a:lnSpc>
                <a:spcPct val="102172"/>
              </a:lnSpc>
              <a:spcBef>
                <a:spcPts val="417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i="1" spc="-5" dirty="0">
                <a:solidFill>
                  <a:srgbClr val="FFFFFF"/>
                </a:solidFill>
                <a:latin typeface="Century Gothic"/>
                <a:cs typeface="Century Gothic"/>
              </a:rPr>
              <a:t>Long term random variations (hours)</a:t>
            </a:r>
            <a:endParaRPr sz="2800">
              <a:latin typeface="Century Gothic"/>
              <a:cs typeface="Century Gothic"/>
            </a:endParaRPr>
          </a:p>
          <a:p>
            <a:pPr marL="12700" marR="50152">
              <a:lnSpc>
                <a:spcPct val="102172"/>
              </a:lnSpc>
              <a:spcBef>
                <a:spcPts val="601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i="1" spc="-6" dirty="0">
                <a:solidFill>
                  <a:srgbClr val="FFFFFF"/>
                </a:solidFill>
                <a:latin typeface="Century Gothic"/>
                <a:cs typeface="Century Gothic"/>
              </a:rPr>
              <a:t>Random variations </a:t>
            </a:r>
            <a:r>
              <a:rPr sz="2800" spc="-6" dirty="0">
                <a:solidFill>
                  <a:srgbClr val="FFFFFF"/>
                </a:solidFill>
                <a:latin typeface="Century Gothic"/>
                <a:cs typeface="Century Gothic"/>
              </a:rPr>
              <a:t>caused by external sources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200" y="384996"/>
            <a:ext cx="5880671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JAM SIBUK (BUSY HOUR)</a:t>
            </a:r>
            <a:endParaRPr sz="4000" dirty="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1600" y="311515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(1/3)</a:t>
            </a:r>
            <a:endParaRPr sz="4000" dirty="0">
              <a:latin typeface="Century Gothic"/>
              <a:cs typeface="Century Gothic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720AEF-FA1A-4A5B-B4C5-BE9C981A7439}"/>
              </a:ext>
            </a:extLst>
          </p:cNvPr>
          <p:cNvGrpSpPr/>
          <p:nvPr/>
        </p:nvGrpSpPr>
        <p:grpSpPr>
          <a:xfrm>
            <a:off x="635130" y="1336793"/>
            <a:ext cx="10918692" cy="4430924"/>
            <a:chOff x="516432" y="1913155"/>
            <a:chExt cx="10918692" cy="4430924"/>
          </a:xfrm>
        </p:grpSpPr>
        <p:sp>
          <p:nvSpPr>
            <p:cNvPr id="7" name="object 7"/>
            <p:cNvSpPr txBox="1"/>
            <p:nvPr/>
          </p:nvSpPr>
          <p:spPr>
            <a:xfrm>
              <a:off x="516432" y="1916736"/>
              <a:ext cx="203098" cy="850384"/>
            </a:xfrm>
            <a:prstGeom prst="rect">
              <a:avLst/>
            </a:prstGeom>
          </p:spPr>
          <p:txBody>
            <a:bodyPr wrap="square" lIns="0" tIns="18796" rIns="0" bIns="0" rtlCol="0">
              <a:noAutofit/>
            </a:bodyPr>
            <a:lstStyle/>
            <a:p>
              <a:pPr marL="12700">
                <a:lnSpc>
                  <a:spcPts val="2960"/>
                </a:lnSpc>
              </a:pPr>
              <a:r>
                <a:rPr sz="2800" dirty="0">
                  <a:solidFill>
                    <a:srgbClr val="FFFFFF"/>
                  </a:solidFill>
                  <a:latin typeface="Arial"/>
                  <a:cs typeface="Arial"/>
                </a:rPr>
                <a:t>•</a:t>
              </a:r>
              <a:endParaRPr sz="2800">
                <a:latin typeface="Arial"/>
                <a:cs typeface="Arial"/>
              </a:endParaRPr>
            </a:p>
            <a:p>
              <a:pPr marL="12700" marR="152">
                <a:lnSpc>
                  <a:spcPct val="95825"/>
                </a:lnSpc>
                <a:spcBef>
                  <a:spcPts val="326"/>
                </a:spcBef>
              </a:pPr>
              <a:r>
                <a:rPr sz="2800" dirty="0">
                  <a:solidFill>
                    <a:srgbClr val="FFFFFF"/>
                  </a:solidFill>
                  <a:latin typeface="Arial"/>
                  <a:cs typeface="Arial"/>
                </a:rPr>
                <a:t>•</a:t>
              </a:r>
              <a:endParaRPr sz="28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45032" y="1913155"/>
              <a:ext cx="10690092" cy="4430924"/>
            </a:xfrm>
            <a:prstGeom prst="rect">
              <a:avLst/>
            </a:prstGeom>
          </p:spPr>
          <p:txBody>
            <a:bodyPr wrap="square" lIns="0" tIns="19113" rIns="0" bIns="0" rtlCol="0">
              <a:noAutofit/>
            </a:bodyPr>
            <a:lstStyle/>
            <a:p>
              <a:pPr marL="12700" marR="52698">
                <a:lnSpc>
                  <a:spcPts val="3010"/>
                </a:lnSpc>
              </a:pPr>
              <a:r>
                <a:rPr sz="2800" dirty="0">
                  <a:solidFill>
                    <a:srgbClr val="FFFFFF"/>
                  </a:solidFill>
                  <a:latin typeface="Century Gothic"/>
                  <a:cs typeface="Century Gothic"/>
                </a:rPr>
                <a:t>Kepadatan trafik → berubah-ubah dari waktu ke waktu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>
                <a:lnSpc>
                  <a:spcPts val="3433"/>
                </a:lnSpc>
                <a:spcBef>
                  <a:spcPts val="725"/>
                </a:spcBef>
              </a:pPr>
              <a:r>
                <a:rPr sz="2800" spc="-9" dirty="0">
                  <a:solidFill>
                    <a:srgbClr val="FFFFFF"/>
                  </a:solidFill>
                  <a:latin typeface="Century Gothic"/>
                  <a:cs typeface="Century Gothic"/>
                </a:rPr>
                <a:t>Saat puncak kepadatan trafik →berubah-ubah dari waktu ke 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>
                <a:lnSpc>
                  <a:spcPts val="3433"/>
                </a:lnSpc>
              </a:pPr>
              <a:r>
                <a:rPr sz="2800" dirty="0">
                  <a:solidFill>
                    <a:srgbClr val="FFFFFF"/>
                  </a:solidFill>
                  <a:latin typeface="Century Gothic"/>
                  <a:cs typeface="Century Gothic"/>
                </a:rPr>
                <a:t>waktu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 marR="52698">
                <a:lnSpc>
                  <a:spcPts val="3320"/>
                </a:lnSpc>
              </a:pPr>
              <a:r>
                <a:rPr sz="2800" spc="20" dirty="0">
                  <a:solidFill>
                    <a:srgbClr val="FFFFFF"/>
                  </a:solidFill>
                  <a:latin typeface="Century Gothic"/>
                  <a:cs typeface="Century Gothic"/>
                </a:rPr>
                <a:t>Untuk melihat tingkat perlayanan dan intensitas trafik pada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 marR="52698">
                <a:lnSpc>
                  <a:spcPts val="2800"/>
                </a:lnSpc>
              </a:pPr>
              <a:r>
                <a:rPr sz="2800" spc="0" dirty="0">
                  <a:solidFill>
                    <a:srgbClr val="FFFFFF"/>
                  </a:solidFill>
                  <a:latin typeface="Century Gothic"/>
                  <a:cs typeface="Century Gothic"/>
                </a:rPr>
                <a:t>saat puncak → jam sibuk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 marR="52698">
                <a:lnSpc>
                  <a:spcPct val="102172"/>
                </a:lnSpc>
                <a:spcBef>
                  <a:spcPts val="109"/>
                </a:spcBef>
              </a:pPr>
              <a:r>
                <a:rPr sz="2800" spc="-4" dirty="0">
                  <a:solidFill>
                    <a:srgbClr val="FFFFFF"/>
                  </a:solidFill>
                  <a:latin typeface="Century Gothic"/>
                  <a:cs typeface="Century Gothic"/>
                </a:rPr>
                <a:t>Tingkat kongesti trafik tertinggi → jam sibuk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 marR="342557">
                <a:lnSpc>
                  <a:spcPts val="3433"/>
                </a:lnSpc>
                <a:spcBef>
                  <a:spcPts val="874"/>
                </a:spcBef>
              </a:pPr>
              <a:r>
                <a:rPr sz="2800" spc="-9" dirty="0">
                  <a:solidFill>
                    <a:srgbClr val="FFFFFF"/>
                  </a:solidFill>
                  <a:latin typeface="Century Gothic"/>
                  <a:cs typeface="Century Gothic"/>
                </a:rPr>
                <a:t>Pengadaan peralatan yang digunakan dalam melayani 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 marR="342557">
                <a:lnSpc>
                  <a:spcPts val="3433"/>
                </a:lnSpc>
              </a:pPr>
              <a:r>
                <a:rPr sz="2800" spc="-6" dirty="0">
                  <a:solidFill>
                    <a:srgbClr val="FFFFFF"/>
                  </a:solidFill>
                  <a:latin typeface="Century Gothic"/>
                  <a:cs typeface="Century Gothic"/>
                </a:rPr>
                <a:t>pelanggan → efektif  bila mengacu kepada intensitas trafik 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 marR="342557">
                <a:lnSpc>
                  <a:spcPts val="3433"/>
                </a:lnSpc>
              </a:pPr>
              <a:r>
                <a:rPr sz="2800" spc="-2" dirty="0">
                  <a:solidFill>
                    <a:srgbClr val="FFFFFF"/>
                  </a:solidFill>
                  <a:latin typeface="Century Gothic"/>
                  <a:cs typeface="Century Gothic"/>
                </a:rPr>
                <a:t>pada jam sibuk → keseimbangan QoS dan Cost Jaringan.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 marR="347189">
                <a:lnSpc>
                  <a:spcPts val="3433"/>
                </a:lnSpc>
                <a:spcBef>
                  <a:spcPts val="253"/>
                </a:spcBef>
              </a:pPr>
              <a:r>
                <a:rPr sz="2800" spc="-8" dirty="0">
                  <a:solidFill>
                    <a:srgbClr val="FFFFFF"/>
                  </a:solidFill>
                  <a:latin typeface="Century Gothic"/>
                  <a:cs typeface="Century Gothic"/>
                </a:rPr>
                <a:t>Keseimbangan statistik → pada jam sibuk → semua formula </a:t>
              </a:r>
              <a:endParaRPr sz="2800" dirty="0">
                <a:latin typeface="Century Gothic"/>
                <a:cs typeface="Century Gothic"/>
              </a:endParaRPr>
            </a:p>
            <a:p>
              <a:pPr marL="12700" marR="347189">
                <a:lnSpc>
                  <a:spcPts val="3433"/>
                </a:lnSpc>
              </a:pPr>
              <a:r>
                <a:rPr sz="2800" spc="-7" dirty="0">
                  <a:solidFill>
                    <a:srgbClr val="FFFFFF"/>
                  </a:solidFill>
                  <a:latin typeface="Century Gothic"/>
                  <a:cs typeface="Century Gothic"/>
                </a:rPr>
                <a:t>rekayasa trafik mengacu pada kondisi ini</a:t>
              </a:r>
              <a:endParaRPr sz="2800" dirty="0">
                <a:latin typeface="Century Gothic"/>
                <a:cs typeface="Century Gothic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16432" y="3195873"/>
              <a:ext cx="202946" cy="380492"/>
            </a:xfrm>
            <a:prstGeom prst="rect">
              <a:avLst/>
            </a:prstGeom>
          </p:spPr>
          <p:txBody>
            <a:bodyPr wrap="square" lIns="0" tIns="18796" rIns="0" bIns="0" rtlCol="0">
              <a:noAutofit/>
            </a:bodyPr>
            <a:lstStyle/>
            <a:p>
              <a:pPr marL="12700">
                <a:lnSpc>
                  <a:spcPts val="2960"/>
                </a:lnSpc>
              </a:pPr>
              <a:r>
                <a:rPr sz="2800" dirty="0">
                  <a:solidFill>
                    <a:srgbClr val="FFFFFF"/>
                  </a:solidFill>
                  <a:latin typeface="Arial"/>
                  <a:cs typeface="Arial"/>
                </a:rPr>
                <a:t>•</a:t>
              </a:r>
              <a:endParaRPr sz="2800" dirty="0">
                <a:latin typeface="Arial"/>
                <a:cs typeface="Arial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516432" y="4005498"/>
              <a:ext cx="202945" cy="849883"/>
            </a:xfrm>
            <a:prstGeom prst="rect">
              <a:avLst/>
            </a:prstGeom>
          </p:spPr>
          <p:txBody>
            <a:bodyPr wrap="square" lIns="0" tIns="18796" rIns="0" bIns="0" rtlCol="0">
              <a:noAutofit/>
            </a:bodyPr>
            <a:lstStyle/>
            <a:p>
              <a:pPr marL="12700">
                <a:lnSpc>
                  <a:spcPts val="2960"/>
                </a:lnSpc>
              </a:pPr>
              <a:r>
                <a:rPr sz="2800" dirty="0">
                  <a:solidFill>
                    <a:srgbClr val="FFFFFF"/>
                  </a:solidFill>
                  <a:latin typeface="Arial"/>
                  <a:cs typeface="Arial"/>
                </a:rPr>
                <a:t>•</a:t>
              </a:r>
              <a:endParaRPr sz="2800" dirty="0">
                <a:latin typeface="Arial"/>
                <a:cs typeface="Arial"/>
              </a:endParaRPr>
            </a:p>
            <a:p>
              <a:pPr marL="12700">
                <a:lnSpc>
                  <a:spcPct val="95825"/>
                </a:lnSpc>
                <a:spcBef>
                  <a:spcPts val="326"/>
                </a:spcBef>
              </a:pPr>
              <a:r>
                <a:rPr sz="2800" dirty="0">
                  <a:solidFill>
                    <a:srgbClr val="FFFFFF"/>
                  </a:solidFill>
                  <a:latin typeface="Arial"/>
                  <a:cs typeface="Arial"/>
                </a:rPr>
                <a:t>•</a:t>
              </a:r>
              <a:endParaRPr sz="2800" dirty="0">
                <a:latin typeface="Arial"/>
                <a:cs typeface="Arial"/>
              </a:endParaRPr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516432" y="5625790"/>
              <a:ext cx="202946" cy="380492"/>
            </a:xfrm>
            <a:prstGeom prst="rect">
              <a:avLst/>
            </a:prstGeom>
          </p:spPr>
          <p:txBody>
            <a:bodyPr wrap="square" lIns="0" tIns="18796" rIns="0" bIns="0" rtlCol="0">
              <a:noAutofit/>
            </a:bodyPr>
            <a:lstStyle/>
            <a:p>
              <a:pPr marL="12700">
                <a:lnSpc>
                  <a:spcPts val="2960"/>
                </a:lnSpc>
              </a:pPr>
              <a:r>
                <a:rPr sz="2800" dirty="0">
                  <a:solidFill>
                    <a:srgbClr val="FFFFFF"/>
                  </a:solidFill>
                  <a:latin typeface="Arial"/>
                  <a:cs typeface="Arial"/>
                </a:rPr>
                <a:t>•</a:t>
              </a:r>
              <a:endParaRPr sz="2800"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027017"/>
            <a:ext cx="5880671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JAM SIBUK (BUSY HOUR)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95029" y="1027017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(2/3)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432" y="1955827"/>
            <a:ext cx="11019952" cy="2429633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21963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Periode busy hour ini diperlukan pada sistim jaringan (telepon,</a:t>
            </a:r>
            <a:endParaRPr sz="2800">
              <a:latin typeface="Century Gothic"/>
              <a:cs typeface="Century Gothic"/>
            </a:endParaRPr>
          </a:p>
          <a:p>
            <a:pPr marL="241300" marR="52698">
              <a:lnSpc>
                <a:spcPts val="3025"/>
              </a:lnSpc>
              <a:spcBef>
                <a:spcPts val="0"/>
              </a:spcBef>
            </a:pPr>
            <a:r>
              <a:rPr sz="2800" spc="-5" dirty="0">
                <a:solidFill>
                  <a:srgbClr val="FFFFFF"/>
                </a:solidFill>
                <a:latin typeface="Century Gothic"/>
                <a:cs typeface="Century Gothic"/>
              </a:rPr>
              <a:t>internet) untuk mengestimasi beban trafik maksimal saat</a:t>
            </a:r>
            <a:endParaRPr sz="2800">
              <a:latin typeface="Century Gothic"/>
              <a:cs typeface="Century Gothic"/>
            </a:endParaRPr>
          </a:p>
          <a:p>
            <a:pPr marL="241300" marR="52698">
              <a:lnSpc>
                <a:spcPts val="3025"/>
              </a:lnSpc>
            </a:pPr>
            <a:r>
              <a:rPr sz="2800" spc="-6" dirty="0">
                <a:solidFill>
                  <a:srgbClr val="FFFFFF"/>
                </a:solidFill>
                <a:latin typeface="Century Gothic"/>
                <a:cs typeface="Century Gothic"/>
              </a:rPr>
              <a:t>melakukan perencanaan jaringan (dimensioning)</a:t>
            </a:r>
            <a:endParaRPr sz="2800">
              <a:latin typeface="Century Gothic"/>
              <a:cs typeface="Century Gothic"/>
            </a:endParaRPr>
          </a:p>
          <a:p>
            <a:pPr marL="241300" indent="-228600">
              <a:lnSpc>
                <a:spcPts val="3433"/>
              </a:lnSpc>
              <a:spcBef>
                <a:spcPts val="782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8" dirty="0">
                <a:solidFill>
                  <a:srgbClr val="FFFFFF"/>
                </a:solidFill>
                <a:latin typeface="Century Gothic"/>
                <a:cs typeface="Century Gothic"/>
              </a:rPr>
              <a:t>Namun untuk dimensioning system, pengamatan busy hour </a:t>
            </a:r>
            <a:endParaRPr sz="2800">
              <a:latin typeface="Century Gothic"/>
              <a:cs typeface="Century Gothic"/>
            </a:endParaRPr>
          </a:p>
          <a:p>
            <a:pPr marL="241300">
              <a:lnSpc>
                <a:spcPts val="3433"/>
              </a:lnSpc>
            </a:pP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tidak hanya dilihat dalam satu hari, namun diamati beberapa </a:t>
            </a:r>
            <a:endParaRPr sz="2800">
              <a:latin typeface="Century Gothic"/>
              <a:cs typeface="Century Gothic"/>
            </a:endParaRPr>
          </a:p>
          <a:p>
            <a:pPr marL="241300">
              <a:lnSpc>
                <a:spcPts val="3433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kali.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12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1027017"/>
            <a:ext cx="5880671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JAM SIBUK (BUSY HOUR)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95029" y="1027017"/>
            <a:ext cx="1262464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(3/3)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432" y="1955827"/>
            <a:ext cx="9741620" cy="384377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-28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u="heavy" spc="-28" dirty="0">
                <a:solidFill>
                  <a:srgbClr val="FFFFFF"/>
                </a:solidFill>
                <a:latin typeface="Century Gothic"/>
                <a:cs typeface="Century Gothic"/>
              </a:rPr>
              <a:t>Jam tersibuk </a:t>
            </a:r>
            <a:r>
              <a:rPr sz="2800" b="1" spc="-28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-28" dirty="0">
                <a:solidFill>
                  <a:srgbClr val="FFFFFF"/>
                </a:solidFill>
                <a:latin typeface="Century Gothic"/>
                <a:cs typeface="Century Gothic"/>
              </a:rPr>
              <a:t>adalah interval 60 menit tiap hari dimana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432" y="2340379"/>
            <a:ext cx="11160614" cy="896133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241300" marR="53800">
              <a:lnSpc>
                <a:spcPts val="3010"/>
              </a:lnSpc>
            </a:pPr>
            <a:r>
              <a:rPr sz="2800" spc="-4" dirty="0">
                <a:solidFill>
                  <a:srgbClr val="FFFFFF"/>
                </a:solidFill>
                <a:latin typeface="Century Gothic"/>
                <a:cs typeface="Century Gothic"/>
              </a:rPr>
              <a:t>lalulintas tersibuk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448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u="heavy" spc="-19" dirty="0">
                <a:solidFill>
                  <a:srgbClr val="FFFFFF"/>
                </a:solidFill>
                <a:latin typeface="Century Gothic"/>
                <a:cs typeface="Century Gothic"/>
              </a:rPr>
              <a:t>Jam sibuk (busy hour) </a:t>
            </a:r>
            <a:r>
              <a:rPr sz="2800" spc="-19" dirty="0">
                <a:solidFill>
                  <a:srgbClr val="FFFFFF"/>
                </a:solidFill>
                <a:latin typeface="Century Gothic"/>
                <a:cs typeface="Century Gothic"/>
              </a:rPr>
              <a:t>adalah interval 60 menit dalam satu hari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6432" y="3236491"/>
            <a:ext cx="11071182" cy="2043611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241300" marR="52698">
              <a:lnSpc>
                <a:spcPts val="3010"/>
              </a:lnSpc>
            </a:pP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yang mempunyai rata-rata trafik tertinggi (dalam jangka</a:t>
            </a:r>
            <a:endParaRPr sz="2800">
              <a:latin typeface="Century Gothic"/>
              <a:cs typeface="Century Gothic"/>
            </a:endParaRPr>
          </a:p>
          <a:p>
            <a:pPr marL="241300" marR="52698">
              <a:lnSpc>
                <a:spcPts val="3025"/>
              </a:lnSpc>
              <a:spcBef>
                <a:spcPts val="0"/>
              </a:spcBef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waktu lama)</a:t>
            </a:r>
            <a:endParaRPr sz="2800">
              <a:latin typeface="Century Gothic"/>
              <a:cs typeface="Century Gothic"/>
            </a:endParaRPr>
          </a:p>
          <a:p>
            <a:pPr marL="241300" indent="-228600">
              <a:lnSpc>
                <a:spcPts val="3020"/>
              </a:lnSpc>
              <a:spcBef>
                <a:spcPts val="990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Jam</a:t>
            </a:r>
            <a:r>
              <a:rPr sz="2800" spc="-48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800" spc="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buk</a:t>
            </a:r>
            <a:r>
              <a:rPr sz="2800" spc="-66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dapat</a:t>
            </a:r>
            <a:r>
              <a:rPr sz="2800" spc="-7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berbed</a:t>
            </a:r>
            <a:r>
              <a:rPr sz="2800" spc="-4" dirty="0">
                <a:solidFill>
                  <a:srgbClr val="FFFFFF"/>
                </a:solidFill>
                <a:latin typeface="Century Gothic"/>
                <a:cs typeface="Century Gothic"/>
              </a:rPr>
              <a:t>a-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beda</a:t>
            </a:r>
            <a:r>
              <a:rPr sz="2800" spc="-15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dari</a:t>
            </a:r>
            <a:r>
              <a:rPr sz="2800" spc="-52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satu</a:t>
            </a:r>
            <a:r>
              <a:rPr sz="2800" spc="-56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ntral</a:t>
            </a:r>
            <a:r>
              <a:rPr sz="2800" spc="-5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dengan s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ntral</a:t>
            </a:r>
            <a:r>
              <a:rPr sz="2800" spc="-5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la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nnya</a:t>
            </a:r>
            <a:r>
              <a:rPr sz="2800" spc="-78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tergantung</a:t>
            </a:r>
            <a:r>
              <a:rPr sz="2800" spc="4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pada</a:t>
            </a:r>
            <a:r>
              <a:rPr sz="2800" spc="-66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800" spc="4" dirty="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kasi</a:t>
            </a:r>
            <a:r>
              <a:rPr sz="2800" spc="-6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ntral</a:t>
            </a:r>
            <a:r>
              <a:rPr sz="2800" spc="-5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dan</a:t>
            </a:r>
            <a:r>
              <a:rPr sz="2800" spc="-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ntere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dari pela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gga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6985" y="2120391"/>
            <a:ext cx="10232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943449" y="2120391"/>
            <a:ext cx="1002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1496351" y="3016758"/>
            <a:ext cx="10295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494915" y="3016758"/>
            <a:ext cx="10109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541624" y="3016758"/>
            <a:ext cx="10083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545065" y="3016758"/>
            <a:ext cx="9881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9234" y="963168"/>
            <a:ext cx="10649366" cy="55642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13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6304" y="330538"/>
            <a:ext cx="9199408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TIME CONSISTENT BUSY HOUR (TCBH) (1/3)</a:t>
            </a:r>
            <a:endParaRPr sz="36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-18288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14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540" y="1005407"/>
            <a:ext cx="9199408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TIME CONSISTENT BUSY HOUR (TCBH) (2/3)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540" y="2240288"/>
            <a:ext cx="9903150" cy="1508506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Waktu rata-rata jam tersibuk yang konsisten pada periode waktu</a:t>
            </a:r>
            <a:endParaRPr sz="2400">
              <a:latin typeface="Century Gothic"/>
              <a:cs typeface="Century Gothic"/>
            </a:endParaRPr>
          </a:p>
          <a:p>
            <a:pPr marL="241300" marR="46180">
              <a:lnSpc>
                <a:spcPts val="2590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tertentu</a:t>
            </a:r>
            <a:endParaRPr sz="24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51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Jika:</a:t>
            </a:r>
            <a:endParaRPr sz="2400">
              <a:latin typeface="Century Gothic"/>
              <a:cs typeface="Century Gothic"/>
            </a:endParaRPr>
          </a:p>
          <a:p>
            <a:pPr marL="378459" marR="46180">
              <a:lnSpc>
                <a:spcPct val="102172"/>
              </a:lnSpc>
              <a:spcBef>
                <a:spcPts val="155"/>
              </a:spcBef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 = jumlah hari dimana jam sibuk diukur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0300" y="3811708"/>
            <a:ext cx="6960929" cy="657937"/>
          </a:xfrm>
          <a:prstGeom prst="rect">
            <a:avLst/>
          </a:prstGeom>
        </p:spPr>
        <p:txBody>
          <a:bodyPr wrap="square" lIns="0" tIns="27940" rIns="0" bIns="0" rtlCol="0">
            <a:noAutofit/>
          </a:bodyPr>
          <a:lstStyle/>
          <a:p>
            <a:pPr marL="12700">
              <a:lnSpc>
                <a:spcPts val="2853"/>
              </a:lnSpc>
            </a:pPr>
            <a:r>
              <a:rPr sz="2400" i="1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i="1" baseline="-2039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400" spc="-4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)= trafik rata-rata terukur selama periode 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ts val="2942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1 hari ke-n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90357" y="3811786"/>
            <a:ext cx="3015304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jam interval D pada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21537" y="4864879"/>
            <a:ext cx="290841" cy="434085"/>
          </a:xfrm>
          <a:prstGeom prst="rect">
            <a:avLst/>
          </a:prstGeom>
        </p:spPr>
        <p:txBody>
          <a:bodyPr wrap="square" lIns="0" tIns="21463" rIns="0" bIns="0" rtlCol="0">
            <a:noAutofit/>
          </a:bodyPr>
          <a:lstStyle/>
          <a:p>
            <a:pPr marL="12700">
              <a:lnSpc>
                <a:spcPts val="3379"/>
              </a:lnSpc>
            </a:pPr>
            <a:r>
              <a:rPr sz="320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1022" y="5042048"/>
            <a:ext cx="554023" cy="638447"/>
          </a:xfrm>
          <a:prstGeom prst="rect">
            <a:avLst/>
          </a:prstGeom>
        </p:spPr>
        <p:txBody>
          <a:bodyPr wrap="square" lIns="0" tIns="31908" rIns="0" bIns="0" rtlCol="0">
            <a:noAutofit/>
          </a:bodyPr>
          <a:lstStyle/>
          <a:p>
            <a:pPr marL="12700">
              <a:lnSpc>
                <a:spcPts val="5025"/>
              </a:lnSpc>
            </a:pPr>
            <a:r>
              <a:rPr sz="4850" dirty="0">
                <a:latin typeface="Symbol"/>
                <a:cs typeface="Symbol"/>
              </a:rPr>
              <a:t></a:t>
            </a:r>
            <a:endParaRPr sz="48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9972" y="5041111"/>
            <a:ext cx="689269" cy="560660"/>
          </a:xfrm>
          <a:prstGeom prst="rect">
            <a:avLst/>
          </a:prstGeom>
        </p:spPr>
        <p:txBody>
          <a:bodyPr wrap="square" lIns="0" tIns="28035" rIns="0" bIns="0" rtlCol="0">
            <a:noAutofit/>
          </a:bodyPr>
          <a:lstStyle/>
          <a:p>
            <a:pPr marL="12700">
              <a:lnSpc>
                <a:spcPts val="4415"/>
              </a:lnSpc>
            </a:pPr>
            <a:r>
              <a:rPr sz="4200" spc="275" dirty="0">
                <a:latin typeface="Symbol"/>
                <a:cs typeface="Symbol"/>
              </a:rPr>
              <a:t></a:t>
            </a:r>
            <a:r>
              <a:rPr sz="3200" spc="250" dirty="0">
                <a:latin typeface="Symbol"/>
                <a:cs typeface="Symbol"/>
              </a:rPr>
              <a:t></a:t>
            </a:r>
            <a:r>
              <a:rPr sz="4200" spc="0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62242" y="5116135"/>
            <a:ext cx="1093499" cy="440613"/>
          </a:xfrm>
          <a:prstGeom prst="rect">
            <a:avLst/>
          </a:prstGeom>
        </p:spPr>
        <p:txBody>
          <a:bodyPr wrap="square" lIns="0" tIns="21875" rIns="0" bIns="0" rtlCol="0">
            <a:noAutofit/>
          </a:bodyPr>
          <a:lstStyle/>
          <a:p>
            <a:pPr marL="12700">
              <a:lnSpc>
                <a:spcPts val="3445"/>
              </a:lnSpc>
            </a:pPr>
            <a:r>
              <a:rPr sz="3200" dirty="0">
                <a:latin typeface="Symbol"/>
                <a:cs typeface="Symbol"/>
              </a:rPr>
              <a:t></a:t>
            </a:r>
            <a:r>
              <a:rPr sz="3200" spc="-46" dirty="0">
                <a:latin typeface="Times New Roman"/>
                <a:cs typeface="Times New Roman"/>
              </a:rPr>
              <a:t> max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1449" y="5122663"/>
            <a:ext cx="290841" cy="434085"/>
          </a:xfrm>
          <a:prstGeom prst="rect">
            <a:avLst/>
          </a:prstGeom>
        </p:spPr>
        <p:txBody>
          <a:bodyPr wrap="square" lIns="0" tIns="21463" rIns="0" bIns="0" rtlCol="0">
            <a:noAutofit/>
          </a:bodyPr>
          <a:lstStyle/>
          <a:p>
            <a:pPr marL="12700">
              <a:lnSpc>
                <a:spcPts val="3379"/>
              </a:lnSpc>
            </a:pPr>
            <a:r>
              <a:rPr sz="3200" i="1" dirty="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3210" y="5122663"/>
            <a:ext cx="290841" cy="434085"/>
          </a:xfrm>
          <a:prstGeom prst="rect">
            <a:avLst/>
          </a:prstGeom>
        </p:spPr>
        <p:txBody>
          <a:bodyPr wrap="square" lIns="0" tIns="21463" rIns="0" bIns="0" rtlCol="0">
            <a:noAutofit/>
          </a:bodyPr>
          <a:lstStyle/>
          <a:p>
            <a:pPr marL="12700">
              <a:lnSpc>
                <a:spcPts val="3379"/>
              </a:lnSpc>
            </a:pPr>
            <a:r>
              <a:rPr sz="3200" i="1" dirty="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4840" y="5326858"/>
            <a:ext cx="795537" cy="311010"/>
          </a:xfrm>
          <a:prstGeom prst="rect">
            <a:avLst/>
          </a:prstGeom>
        </p:spPr>
        <p:txBody>
          <a:bodyPr wrap="square" lIns="0" tIns="15208" rIns="0" bIns="0" rtlCol="0">
            <a:noAutofit/>
          </a:bodyPr>
          <a:lstStyle/>
          <a:p>
            <a:pPr marL="12700">
              <a:lnSpc>
                <a:spcPts val="2395"/>
              </a:lnSpc>
            </a:pPr>
            <a:r>
              <a:rPr sz="2250" i="1" spc="-3" dirty="0">
                <a:latin typeface="Times New Roman"/>
                <a:cs typeface="Times New Roman"/>
              </a:rPr>
              <a:t>TCBH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4633" y="5326858"/>
            <a:ext cx="210904" cy="311010"/>
          </a:xfrm>
          <a:prstGeom prst="rect">
            <a:avLst/>
          </a:prstGeom>
        </p:spPr>
        <p:txBody>
          <a:bodyPr wrap="square" lIns="0" tIns="15208" rIns="0" bIns="0" rtlCol="0">
            <a:noAutofit/>
          </a:bodyPr>
          <a:lstStyle/>
          <a:p>
            <a:pPr marL="12700">
              <a:lnSpc>
                <a:spcPts val="2395"/>
              </a:lnSpc>
            </a:pPr>
            <a:r>
              <a:rPr sz="2250" i="1" dirty="0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926080" y="4724400"/>
            <a:ext cx="4207764" cy="1257300"/>
          </a:xfrm>
          <a:prstGeom prst="rect">
            <a:avLst/>
          </a:prstGeom>
        </p:spPr>
        <p:txBody>
          <a:bodyPr wrap="square" lIns="0" tIns="48894" rIns="0" bIns="0" rtlCol="0">
            <a:noAutofit/>
          </a:bodyPr>
          <a:lstStyle/>
          <a:p>
            <a:pPr marL="2771864">
              <a:lnSpc>
                <a:spcPct val="95825"/>
              </a:lnSpc>
            </a:pPr>
            <a:r>
              <a:rPr sz="2250" i="1" dirty="0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  <a:p>
            <a:pPr marL="2267753">
              <a:lnSpc>
                <a:spcPts val="3428"/>
              </a:lnSpc>
              <a:spcBef>
                <a:spcPts val="2388"/>
              </a:spcBef>
            </a:pPr>
            <a:r>
              <a:rPr sz="4800" i="1" spc="81" baseline="16305" dirty="0">
                <a:latin typeface="Times New Roman"/>
                <a:cs typeface="Times New Roman"/>
              </a:rPr>
              <a:t>N </a:t>
            </a:r>
            <a:r>
              <a:rPr sz="2250" i="1" spc="81" dirty="0">
                <a:latin typeface="Times New Roman"/>
                <a:cs typeface="Times New Roman"/>
              </a:rPr>
              <a:t>n</a:t>
            </a:r>
            <a:r>
              <a:rPr sz="2250" spc="-144" dirty="0">
                <a:latin typeface="Symbol"/>
                <a:cs typeface="Symbol"/>
              </a:rPr>
              <a:t></a:t>
            </a:r>
            <a:r>
              <a:rPr sz="2250" spc="81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278052-07BC-4F3F-80F4-014585175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255" y="4547379"/>
            <a:ext cx="4353533" cy="14289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60804" y="1970531"/>
            <a:ext cx="8228076" cy="2610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15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1051762"/>
            <a:ext cx="1057270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TIME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54504" y="1051762"/>
            <a:ext cx="2734015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CONSISTENT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8278" y="1051762"/>
            <a:ext cx="1152305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-3" dirty="0">
                <a:solidFill>
                  <a:srgbClr val="FFFFFF"/>
                </a:solidFill>
                <a:latin typeface="Century Gothic"/>
                <a:cs typeface="Century Gothic"/>
              </a:rPr>
              <a:t>BUSY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3341" y="1051762"/>
            <a:ext cx="1380524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HOUR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17460" y="1051762"/>
            <a:ext cx="1575499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3" dirty="0">
                <a:solidFill>
                  <a:srgbClr val="FFFFFF"/>
                </a:solidFill>
                <a:latin typeface="Century Gothic"/>
                <a:cs typeface="Century Gothic"/>
              </a:rPr>
              <a:t>(TCBH)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5865" y="1051762"/>
            <a:ext cx="1138083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(3/3)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99970" y="5012063"/>
            <a:ext cx="8350132" cy="1061825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Berdasarkan TCBH, maka jam sibuk sesuai dengan tabel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880"/>
              </a:lnSpc>
              <a:spcBef>
                <a:spcPts val="14"/>
              </a:spcBef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di atas adalah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jam 12.00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dan besarnya trafik rata-rata: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880"/>
              </a:lnSpc>
            </a:pPr>
            <a:r>
              <a:rPr sz="2400" spc="-3" dirty="0">
                <a:solidFill>
                  <a:srgbClr val="FFFFFF"/>
                </a:solidFill>
                <a:latin typeface="Century Gothic"/>
                <a:cs typeface="Century Gothic"/>
              </a:rPr>
              <a:t>1806 : 5 = 361.2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9200" y="990946"/>
            <a:ext cx="8763000" cy="52696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16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342" y="254173"/>
            <a:ext cx="7675154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BOUNCING BUSY HOUR (BBH) (1/3)</a:t>
            </a:r>
            <a:endParaRPr sz="36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17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540" y="1005407"/>
            <a:ext cx="7675154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BOUNCING BUSY HOUR (BBH) (2/3)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540" y="2240288"/>
            <a:ext cx="9729414" cy="1508506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Waktu rata-rata jam-jam sibuk yang diukur pada periode waktu</a:t>
            </a:r>
            <a:endParaRPr sz="2400">
              <a:latin typeface="Century Gothic"/>
              <a:cs typeface="Century Gothic"/>
            </a:endParaRPr>
          </a:p>
          <a:p>
            <a:pPr marL="241300" marR="46180">
              <a:lnSpc>
                <a:spcPts val="2590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tertentu</a:t>
            </a:r>
            <a:endParaRPr sz="24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51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Jika:</a:t>
            </a:r>
            <a:endParaRPr sz="2400">
              <a:latin typeface="Century Gothic"/>
              <a:cs typeface="Century Gothic"/>
            </a:endParaRPr>
          </a:p>
          <a:p>
            <a:pPr marL="378459" marR="46180">
              <a:lnSpc>
                <a:spcPct val="102172"/>
              </a:lnSpc>
              <a:spcBef>
                <a:spcPts val="155"/>
              </a:spcBef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N = jumlah hari dimana jam-jam sibuk diukur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0300" y="3811708"/>
            <a:ext cx="6960929" cy="657937"/>
          </a:xfrm>
          <a:prstGeom prst="rect">
            <a:avLst/>
          </a:prstGeom>
        </p:spPr>
        <p:txBody>
          <a:bodyPr wrap="square" lIns="0" tIns="27940" rIns="0" bIns="0" rtlCol="0">
            <a:noAutofit/>
          </a:bodyPr>
          <a:lstStyle/>
          <a:p>
            <a:pPr marL="12700">
              <a:lnSpc>
                <a:spcPts val="2853"/>
              </a:lnSpc>
            </a:pPr>
            <a:r>
              <a:rPr sz="2400" i="1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i="1" baseline="-2039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400" spc="-4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)= trafik rata-rata terukur selama periode 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ts val="2942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1 hari ke-n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90357" y="3811708"/>
            <a:ext cx="2975768" cy="330277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14" dirty="0">
                <a:solidFill>
                  <a:srgbClr val="FFFFFF"/>
                </a:solidFill>
                <a:latin typeface="Century Gothic"/>
                <a:cs typeface="Century Gothic"/>
              </a:rPr>
              <a:t>j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am</a:t>
            </a:r>
            <a:r>
              <a:rPr sz="2400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nte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v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al </a:t>
            </a:r>
            <a:r>
              <a:rPr sz="2400" spc="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400" spc="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pada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3338" y="4864879"/>
            <a:ext cx="290850" cy="434085"/>
          </a:xfrm>
          <a:prstGeom prst="rect">
            <a:avLst/>
          </a:prstGeom>
        </p:spPr>
        <p:txBody>
          <a:bodyPr wrap="square" lIns="0" tIns="21463" rIns="0" bIns="0" rtlCol="0">
            <a:noAutofit/>
          </a:bodyPr>
          <a:lstStyle/>
          <a:p>
            <a:pPr marL="12700">
              <a:lnSpc>
                <a:spcPts val="3379"/>
              </a:lnSpc>
            </a:pPr>
            <a:r>
              <a:rPr sz="320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82839" y="5042048"/>
            <a:ext cx="554043" cy="638447"/>
          </a:xfrm>
          <a:prstGeom prst="rect">
            <a:avLst/>
          </a:prstGeom>
        </p:spPr>
        <p:txBody>
          <a:bodyPr wrap="square" lIns="0" tIns="31908" rIns="0" bIns="0" rtlCol="0">
            <a:noAutofit/>
          </a:bodyPr>
          <a:lstStyle/>
          <a:p>
            <a:pPr marL="12700">
              <a:lnSpc>
                <a:spcPts val="5025"/>
              </a:lnSpc>
            </a:pPr>
            <a:r>
              <a:rPr sz="4850" dirty="0">
                <a:latin typeface="Symbol"/>
                <a:cs typeface="Symbol"/>
              </a:rPr>
              <a:t></a:t>
            </a:r>
            <a:endParaRPr sz="48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3703" y="5041111"/>
            <a:ext cx="689295" cy="560660"/>
          </a:xfrm>
          <a:prstGeom prst="rect">
            <a:avLst/>
          </a:prstGeom>
        </p:spPr>
        <p:txBody>
          <a:bodyPr wrap="square" lIns="0" tIns="28035" rIns="0" bIns="0" rtlCol="0">
            <a:noAutofit/>
          </a:bodyPr>
          <a:lstStyle/>
          <a:p>
            <a:pPr marL="12700">
              <a:lnSpc>
                <a:spcPts val="4415"/>
              </a:lnSpc>
            </a:pPr>
            <a:r>
              <a:rPr sz="4200" spc="275" dirty="0">
                <a:latin typeface="Symbol"/>
                <a:cs typeface="Symbol"/>
              </a:rPr>
              <a:t></a:t>
            </a:r>
            <a:r>
              <a:rPr sz="3200" spc="250" dirty="0">
                <a:latin typeface="Symbol"/>
                <a:cs typeface="Symbol"/>
              </a:rPr>
              <a:t></a:t>
            </a:r>
            <a:r>
              <a:rPr sz="4200" spc="0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8387" y="5116135"/>
            <a:ext cx="310857" cy="434085"/>
          </a:xfrm>
          <a:prstGeom prst="rect">
            <a:avLst/>
          </a:prstGeom>
        </p:spPr>
        <p:txBody>
          <a:bodyPr wrap="square" lIns="0" tIns="21717" rIns="0" bIns="0" rtlCol="0">
            <a:noAutofit/>
          </a:bodyPr>
          <a:lstStyle/>
          <a:p>
            <a:pPr marL="12700">
              <a:lnSpc>
                <a:spcPts val="3420"/>
              </a:lnSpc>
            </a:pPr>
            <a:r>
              <a:rPr sz="3200" dirty="0">
                <a:latin typeface="Symbol"/>
                <a:cs typeface="Symbol"/>
              </a:rPr>
              <a:t>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9740" y="5122663"/>
            <a:ext cx="290850" cy="434085"/>
          </a:xfrm>
          <a:prstGeom prst="rect">
            <a:avLst/>
          </a:prstGeom>
        </p:spPr>
        <p:txBody>
          <a:bodyPr wrap="square" lIns="0" tIns="21463" rIns="0" bIns="0" rtlCol="0">
            <a:noAutofit/>
          </a:bodyPr>
          <a:lstStyle/>
          <a:p>
            <a:pPr marL="12700">
              <a:lnSpc>
                <a:spcPts val="3379"/>
              </a:lnSpc>
            </a:pPr>
            <a:r>
              <a:rPr sz="3200" i="1" dirty="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5106" y="5122663"/>
            <a:ext cx="778764" cy="434085"/>
          </a:xfrm>
          <a:prstGeom prst="rect">
            <a:avLst/>
          </a:prstGeom>
        </p:spPr>
        <p:txBody>
          <a:bodyPr wrap="square" lIns="0" tIns="21463" rIns="0" bIns="0" rtlCol="0">
            <a:noAutofit/>
          </a:bodyPr>
          <a:lstStyle/>
          <a:p>
            <a:pPr marL="12700">
              <a:lnSpc>
                <a:spcPts val="3379"/>
              </a:lnSpc>
            </a:pPr>
            <a:r>
              <a:rPr sz="3200" spc="-29" dirty="0">
                <a:latin typeface="Times New Roman"/>
                <a:cs typeface="Times New Roman"/>
              </a:rPr>
              <a:t>max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6827" y="5122663"/>
            <a:ext cx="290850" cy="434085"/>
          </a:xfrm>
          <a:prstGeom prst="rect">
            <a:avLst/>
          </a:prstGeom>
        </p:spPr>
        <p:txBody>
          <a:bodyPr wrap="square" lIns="0" tIns="21463" rIns="0" bIns="0" rtlCol="0">
            <a:noAutofit/>
          </a:bodyPr>
          <a:lstStyle/>
          <a:p>
            <a:pPr marL="12700">
              <a:lnSpc>
                <a:spcPts val="3379"/>
              </a:lnSpc>
            </a:pPr>
            <a:r>
              <a:rPr sz="3200" i="1" dirty="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8558" y="5326858"/>
            <a:ext cx="617803" cy="311010"/>
          </a:xfrm>
          <a:prstGeom prst="rect">
            <a:avLst/>
          </a:prstGeom>
        </p:spPr>
        <p:txBody>
          <a:bodyPr wrap="square" lIns="0" tIns="15208" rIns="0" bIns="0" rtlCol="0">
            <a:noAutofit/>
          </a:bodyPr>
          <a:lstStyle/>
          <a:p>
            <a:pPr marL="12700">
              <a:lnSpc>
                <a:spcPts val="2395"/>
              </a:lnSpc>
            </a:pPr>
            <a:r>
              <a:rPr sz="2250" i="1" spc="-13" dirty="0">
                <a:latin typeface="Times New Roman"/>
                <a:cs typeface="Times New Roman"/>
              </a:rPr>
              <a:t>BBH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8295" y="5326858"/>
            <a:ext cx="210910" cy="311010"/>
          </a:xfrm>
          <a:prstGeom prst="rect">
            <a:avLst/>
          </a:prstGeom>
        </p:spPr>
        <p:txBody>
          <a:bodyPr wrap="square" lIns="0" tIns="15208" rIns="0" bIns="0" rtlCol="0">
            <a:noAutofit/>
          </a:bodyPr>
          <a:lstStyle/>
          <a:p>
            <a:pPr marL="12700">
              <a:lnSpc>
                <a:spcPts val="2395"/>
              </a:lnSpc>
            </a:pPr>
            <a:r>
              <a:rPr sz="2250" i="1" dirty="0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884A20-FD87-432D-9F91-C606C74B4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459" y="4499854"/>
            <a:ext cx="4296375" cy="13527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6884" y="1914144"/>
            <a:ext cx="9543288" cy="26868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18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1005407"/>
            <a:ext cx="2603445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BOUNCING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00755" y="1005407"/>
            <a:ext cx="1151390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-4" dirty="0">
                <a:solidFill>
                  <a:srgbClr val="FFFFFF"/>
                </a:solidFill>
                <a:latin typeface="Century Gothic"/>
                <a:cs typeface="Century Gothic"/>
              </a:rPr>
              <a:t>BUSY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5462" y="1005407"/>
            <a:ext cx="1380524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HOUR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0115" y="1005407"/>
            <a:ext cx="1268591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(BBH)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01610" y="1005407"/>
            <a:ext cx="1138083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(3/3)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99970" y="5012063"/>
            <a:ext cx="5682164" cy="69601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Berdasarkan BBH, besar trafik adalah :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880"/>
              </a:lnSpc>
              <a:spcBef>
                <a:spcPts val="14"/>
              </a:spcBef>
            </a:pPr>
            <a:r>
              <a:rPr sz="2400" spc="-3" dirty="0">
                <a:solidFill>
                  <a:srgbClr val="FFFFFF"/>
                </a:solidFill>
                <a:latin typeface="Century Gothic"/>
                <a:cs typeface="Century Gothic"/>
              </a:rPr>
              <a:t>392+360+360+361+391=1864:5 = 372.8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14116" y="1988820"/>
            <a:ext cx="5352287" cy="45857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19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8009" y="1227403"/>
            <a:ext cx="10394250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FIXED DAILY MEASUREMENT HOUR (FDMH) (1/3)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20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8009" y="1227403"/>
            <a:ext cx="10394250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FIXED DAILY MEASUREMENT HOUR (FDMH) (2/3)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241700"/>
            <a:ext cx="9649535" cy="1660906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65398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5" dirty="0">
                <a:solidFill>
                  <a:srgbClr val="FFFFFF"/>
                </a:solidFill>
                <a:latin typeface="Century Gothic"/>
                <a:cs typeface="Century Gothic"/>
              </a:rPr>
              <a:t>Selang satu jam pengukuran trafik sudah ditentukan</a:t>
            </a:r>
            <a:endParaRPr sz="2800">
              <a:latin typeface="Century Gothic"/>
              <a:cs typeface="Century Gothic"/>
            </a:endParaRPr>
          </a:p>
          <a:p>
            <a:pPr marL="241300" marR="65398">
              <a:lnSpc>
                <a:spcPts val="3025"/>
              </a:lnSpc>
              <a:spcBef>
                <a:spcPts val="0"/>
              </a:spcBef>
            </a:pPr>
            <a:r>
              <a:rPr sz="2800" spc="-8" dirty="0">
                <a:solidFill>
                  <a:srgbClr val="FFFFFF"/>
                </a:solidFill>
                <a:latin typeface="Century Gothic"/>
                <a:cs typeface="Century Gothic"/>
              </a:rPr>
              <a:t>sebelumnya (misalnya antara 10.00 -11,00)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447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Trafik hasil pengukuran dirata-ratakan selama perioda</a:t>
            </a:r>
            <a:endParaRPr sz="2800">
              <a:latin typeface="Century Gothic"/>
              <a:cs typeface="Century Gothic"/>
            </a:endParaRPr>
          </a:p>
          <a:p>
            <a:pPr marL="241300" marR="65398">
              <a:lnSpc>
                <a:spcPts val="3010"/>
              </a:lnSpc>
              <a:spcBef>
                <a:spcPts val="150"/>
              </a:spcBef>
            </a:pP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pengamatan (selama 10 hari misalnya)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7820" y="1808988"/>
            <a:ext cx="9211056" cy="2897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21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1005407"/>
            <a:ext cx="1282744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FIXED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8075" y="1005407"/>
            <a:ext cx="1357530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DAILY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8370" y="1005407"/>
            <a:ext cx="3345279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MEASUREMENT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7458" y="1005407"/>
            <a:ext cx="1380524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HOUR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60664" y="1005407"/>
            <a:ext cx="1726730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spc="0" dirty="0">
                <a:solidFill>
                  <a:srgbClr val="FFFFFF"/>
                </a:solidFill>
                <a:latin typeface="Century Gothic"/>
                <a:cs typeface="Century Gothic"/>
              </a:rPr>
              <a:t>(FDMH)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20681" y="1005407"/>
            <a:ext cx="1137908" cy="482600"/>
          </a:xfrm>
          <a:prstGeom prst="rect">
            <a:avLst/>
          </a:prstGeom>
        </p:spPr>
        <p:txBody>
          <a:bodyPr wrap="square" lIns="0" tIns="24130" rIns="0" bIns="0" rtlCol="0">
            <a:noAutofit/>
          </a:bodyPr>
          <a:lstStyle/>
          <a:p>
            <a:pPr marL="12700">
              <a:lnSpc>
                <a:spcPts val="3800"/>
              </a:lnSpc>
            </a:pPr>
            <a:r>
              <a:rPr sz="3600" dirty="0">
                <a:solidFill>
                  <a:srgbClr val="FFFFFF"/>
                </a:solidFill>
                <a:latin typeface="Century Gothic"/>
                <a:cs typeface="Century Gothic"/>
              </a:rPr>
              <a:t>(3/3)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99970" y="5012063"/>
            <a:ext cx="6252140" cy="69601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Berdasarkan FDMHG, besar trafik adalah :</a:t>
            </a:r>
            <a:endParaRPr sz="2400">
              <a:latin typeface="Century Gothic"/>
              <a:cs typeface="Century Gothic"/>
            </a:endParaRPr>
          </a:p>
          <a:p>
            <a:pPr marL="12700" marR="45720">
              <a:lnSpc>
                <a:spcPts val="2880"/>
              </a:lnSpc>
              <a:spcBef>
                <a:spcPts val="14"/>
              </a:spcBef>
            </a:pPr>
            <a:r>
              <a:rPr sz="2400" spc="-3" dirty="0">
                <a:solidFill>
                  <a:srgbClr val="FFFFFF"/>
                </a:solidFill>
                <a:latin typeface="Century Gothic"/>
                <a:cs typeface="Century Gothic"/>
              </a:rPr>
              <a:t>368+360+335+361+308= 1732 :5 = 346.4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object 451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2710053" y="2016569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3524504" y="2016569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4373499" y="201656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5365623" y="201656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6357747" y="201656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7349871" y="201656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8341995" y="201656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9334119" y="201656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0326243" y="201656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2710053" y="2227389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3524504" y="2227389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4373499" y="222738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5365623" y="222738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6357747" y="222738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7349871" y="222738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8341995" y="222738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9334119" y="222738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0326243" y="222738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2710053" y="2438336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3524504" y="2438336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4373499" y="243833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5365623" y="243833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6357747" y="243833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7349871" y="243833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8341995" y="243833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9334119" y="243833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0326243" y="243833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2710053" y="2649156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3524504" y="2649156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373499" y="264915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5365623" y="264915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6357747" y="264915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7349871" y="264915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8341995" y="264915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9334119" y="264915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0326243" y="264915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2710053" y="2860103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3524504" y="2860103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4373499" y="286010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5365623" y="286010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6357747" y="286010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7349871" y="286010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8341995" y="286010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9334119" y="286010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0326243" y="286010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2710053" y="3070923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3524504" y="3070923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4373499" y="307092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5365623" y="307092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6357747" y="307092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7349871" y="307092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8341995" y="307092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9334119" y="307092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0326243" y="3070923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2710053" y="3281870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3524504" y="3281870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4373499" y="328187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5365623" y="328187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6357747" y="328187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7349871" y="328187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8341995" y="328187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9334119" y="328187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0326243" y="328187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2710053" y="3492690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3524504" y="3492690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4373499" y="349269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5365623" y="349269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6357747" y="349269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7349871" y="349269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8341995" y="349269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9334119" y="349269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0326243" y="3492690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2710053" y="3703637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3524504" y="3703637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4373499" y="370363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5365623" y="370363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6357747" y="370363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7349871" y="370363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8341995" y="370363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9334119" y="370363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0326243" y="370363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2710053" y="3914457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3524504" y="3914457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4373499" y="391445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5365623" y="391445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6357747" y="391445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7349871" y="391445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8341995" y="391445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9334119" y="391445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10326243" y="3914457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2710053" y="4125404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3524504" y="4125404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4373499" y="412540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5365623" y="412540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6357747" y="412540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7349871" y="412540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8341995" y="412540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9334119" y="412540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10326243" y="412540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2710053" y="4336224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3524504" y="4336224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4373499" y="433622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5365623" y="433622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6357747" y="433622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7349871" y="433622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8341995" y="433622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9334119" y="433622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10326243" y="433622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2710053" y="4547171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3524504" y="4547171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4373499" y="454717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5365623" y="454717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6357747" y="454717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7349871" y="454717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8341995" y="454717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9334119" y="454717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10326243" y="454717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2710053" y="4757991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3524504" y="4757991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4373499" y="475799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5365623" y="475799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6357747" y="475799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7349871" y="475799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8341995" y="475799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9334119" y="475799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10326243" y="475799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2710053" y="4968938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3524504" y="4968938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4373499" y="49689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5365623" y="49689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6357747" y="49689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7349871" y="49689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8341995" y="49689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9334119" y="49689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10326243" y="49689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2710053" y="5179758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3524504" y="5179758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4373499" y="517975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5365623" y="517975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6357747" y="517975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7349871" y="517975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8341995" y="517975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9334119" y="517975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10326243" y="517975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2710053" y="5390654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3524504" y="5390654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4373499" y="539065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5365623" y="539065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6357747" y="539065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7349871" y="539065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8341995" y="539065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9334119" y="539065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10326243" y="5390654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2710053" y="5601538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3524504" y="5601538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4373499" y="56015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5365623" y="56015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6357747" y="56015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7349871" y="56015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8341995" y="56015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9334119" y="56015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10326243" y="5601538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2710053" y="5812421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3524504" y="5812421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4373499" y="581242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5365623" y="581242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6357747" y="581242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7349871" y="581242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8341995" y="581242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9334119" y="581242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10326243" y="5812421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2710053" y="6023305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3524504" y="6023305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4373499" y="6023305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5365623" y="6023305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6357747" y="6023305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7349871" y="6023305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8341995" y="6023305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9334119" y="6023305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10326243" y="6023305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2710053" y="6234176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3524504" y="6234176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4373499" y="623417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5365623" y="623417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6357747" y="623417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7349871" y="623417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8341995" y="623417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9334119" y="623417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10326243" y="6234176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2710053" y="6445059"/>
            <a:ext cx="814438" cy="210883"/>
          </a:xfrm>
          <a:custGeom>
            <a:avLst/>
            <a:gdLst/>
            <a:ahLst/>
            <a:cxnLst/>
            <a:rect l="l" t="t" r="r" b="b"/>
            <a:pathLst>
              <a:path w="814438" h="210883">
                <a:moveTo>
                  <a:pt x="0" y="210883"/>
                </a:moveTo>
                <a:lnTo>
                  <a:pt x="814438" y="210883"/>
                </a:lnTo>
                <a:lnTo>
                  <a:pt x="814438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3524504" y="6445059"/>
            <a:ext cx="848995" cy="210883"/>
          </a:xfrm>
          <a:custGeom>
            <a:avLst/>
            <a:gdLst/>
            <a:ahLst/>
            <a:cxnLst/>
            <a:rect l="l" t="t" r="r" b="b"/>
            <a:pathLst>
              <a:path w="848995" h="210883">
                <a:moveTo>
                  <a:pt x="0" y="210883"/>
                </a:moveTo>
                <a:lnTo>
                  <a:pt x="848995" y="210883"/>
                </a:lnTo>
                <a:lnTo>
                  <a:pt x="848995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4373499" y="644505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5365623" y="644505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6357747" y="644505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7349871" y="644505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8341995" y="644505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9334119" y="644505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10326243" y="6445059"/>
            <a:ext cx="992136" cy="210883"/>
          </a:xfrm>
          <a:custGeom>
            <a:avLst/>
            <a:gdLst/>
            <a:ahLst/>
            <a:cxnLst/>
            <a:rect l="l" t="t" r="r" b="b"/>
            <a:pathLst>
              <a:path w="992136" h="210883">
                <a:moveTo>
                  <a:pt x="0" y="210883"/>
                </a:moveTo>
                <a:lnTo>
                  <a:pt x="992136" y="210883"/>
                </a:lnTo>
                <a:lnTo>
                  <a:pt x="992136" y="0"/>
                </a:lnTo>
                <a:lnTo>
                  <a:pt x="0" y="0"/>
                </a:lnTo>
                <a:lnTo>
                  <a:pt x="0" y="210883"/>
                </a:lnTo>
                <a:close/>
              </a:path>
            </a:pathLst>
          </a:custGeom>
          <a:solidFill>
            <a:srgbClr val="F8E8E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3524504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4373499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5365623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6357747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7349871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8341995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9334119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10326243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2703703" y="2227453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2703703" y="2438273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2703703" y="2649220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2703703" y="2860040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2703703" y="3070987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2703703" y="3281807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2703703" y="3492754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2703703" y="3703574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2703703" y="3914521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2703703" y="4125341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2703703" y="4336288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2703703" y="4547108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2703703" y="4758055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2703703" y="4968875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2703703" y="5179822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2703703" y="5390642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2703703" y="5601538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2703703" y="5812421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2703703" y="6023305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2703703" y="6234188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2703703" y="6445059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2710053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11318367" y="2010155"/>
            <a:ext cx="0" cy="4652137"/>
          </a:xfrm>
          <a:custGeom>
            <a:avLst/>
            <a:gdLst/>
            <a:ahLst/>
            <a:cxnLst/>
            <a:rect l="l" t="t" r="r" b="b"/>
            <a:pathLst>
              <a:path h="4652136">
                <a:moveTo>
                  <a:pt x="0" y="0"/>
                </a:moveTo>
                <a:lnTo>
                  <a:pt x="0" y="465213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2703703" y="2016505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2703703" y="6655943"/>
            <a:ext cx="8621014" cy="0"/>
          </a:xfrm>
          <a:custGeom>
            <a:avLst/>
            <a:gdLst/>
            <a:ahLst/>
            <a:cxnLst/>
            <a:rect l="l" t="t" r="r" b="b"/>
            <a:pathLst>
              <a:path w="8621014">
                <a:moveTo>
                  <a:pt x="0" y="0"/>
                </a:moveTo>
                <a:lnTo>
                  <a:pt x="862101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4438650" y="6477762"/>
            <a:ext cx="6880859" cy="178307"/>
          </a:xfrm>
          <a:custGeom>
            <a:avLst/>
            <a:gdLst/>
            <a:ahLst/>
            <a:cxnLst/>
            <a:rect l="l" t="t" r="r" b="b"/>
            <a:pathLst>
              <a:path w="6880859" h="178308">
                <a:moveTo>
                  <a:pt x="0" y="178307"/>
                </a:moveTo>
                <a:lnTo>
                  <a:pt x="6880859" y="178307"/>
                </a:lnTo>
                <a:lnTo>
                  <a:pt x="6880859" y="0"/>
                </a:lnTo>
                <a:lnTo>
                  <a:pt x="0" y="0"/>
                </a:lnTo>
                <a:lnTo>
                  <a:pt x="0" y="178307"/>
                </a:lnTo>
                <a:close/>
              </a:path>
            </a:pathLst>
          </a:custGeom>
          <a:ln w="28956">
            <a:solidFill>
              <a:srgbClr val="DF2D2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5447538" y="6477762"/>
            <a:ext cx="647700" cy="178308"/>
          </a:xfrm>
          <a:custGeom>
            <a:avLst/>
            <a:gdLst/>
            <a:ahLst/>
            <a:cxnLst/>
            <a:rect l="l" t="t" r="r" b="b"/>
            <a:pathLst>
              <a:path w="647700" h="178308">
                <a:moveTo>
                  <a:pt x="0" y="89153"/>
                </a:moveTo>
                <a:lnTo>
                  <a:pt x="9414" y="67729"/>
                </a:lnTo>
                <a:lnTo>
                  <a:pt x="36155" y="48182"/>
                </a:lnTo>
                <a:lnTo>
                  <a:pt x="62496" y="36501"/>
                </a:lnTo>
                <a:lnTo>
                  <a:pt x="94868" y="26112"/>
                </a:lnTo>
                <a:lnTo>
                  <a:pt x="132606" y="17201"/>
                </a:lnTo>
                <a:lnTo>
                  <a:pt x="175040" y="9951"/>
                </a:lnTo>
                <a:lnTo>
                  <a:pt x="197810" y="7006"/>
                </a:lnTo>
                <a:lnTo>
                  <a:pt x="221504" y="4545"/>
                </a:lnTo>
                <a:lnTo>
                  <a:pt x="246038" y="2591"/>
                </a:lnTo>
                <a:lnTo>
                  <a:pt x="271329" y="1166"/>
                </a:lnTo>
                <a:lnTo>
                  <a:pt x="297294" y="295"/>
                </a:lnTo>
                <a:lnTo>
                  <a:pt x="323850" y="0"/>
                </a:lnTo>
                <a:lnTo>
                  <a:pt x="350405" y="295"/>
                </a:lnTo>
                <a:lnTo>
                  <a:pt x="376370" y="1166"/>
                </a:lnTo>
                <a:lnTo>
                  <a:pt x="401661" y="2591"/>
                </a:lnTo>
                <a:lnTo>
                  <a:pt x="426195" y="4545"/>
                </a:lnTo>
                <a:lnTo>
                  <a:pt x="449889" y="7006"/>
                </a:lnTo>
                <a:lnTo>
                  <a:pt x="472659" y="9951"/>
                </a:lnTo>
                <a:lnTo>
                  <a:pt x="494421" y="13357"/>
                </a:lnTo>
                <a:lnTo>
                  <a:pt x="534591" y="21461"/>
                </a:lnTo>
                <a:lnTo>
                  <a:pt x="569729" y="31133"/>
                </a:lnTo>
                <a:lnTo>
                  <a:pt x="599169" y="42191"/>
                </a:lnTo>
                <a:lnTo>
                  <a:pt x="622244" y="54451"/>
                </a:lnTo>
                <a:lnTo>
                  <a:pt x="643460" y="74692"/>
                </a:lnTo>
                <a:lnTo>
                  <a:pt x="647700" y="89153"/>
                </a:lnTo>
                <a:lnTo>
                  <a:pt x="646626" y="96465"/>
                </a:lnTo>
                <a:lnTo>
                  <a:pt x="631185" y="117333"/>
                </a:lnTo>
                <a:lnTo>
                  <a:pt x="611544" y="130125"/>
                </a:lnTo>
                <a:lnTo>
                  <a:pt x="585203" y="141806"/>
                </a:lnTo>
                <a:lnTo>
                  <a:pt x="552830" y="152195"/>
                </a:lnTo>
                <a:lnTo>
                  <a:pt x="515093" y="161106"/>
                </a:lnTo>
                <a:lnTo>
                  <a:pt x="472659" y="168356"/>
                </a:lnTo>
                <a:lnTo>
                  <a:pt x="449889" y="171301"/>
                </a:lnTo>
                <a:lnTo>
                  <a:pt x="426195" y="173762"/>
                </a:lnTo>
                <a:lnTo>
                  <a:pt x="401661" y="175716"/>
                </a:lnTo>
                <a:lnTo>
                  <a:pt x="376370" y="177141"/>
                </a:lnTo>
                <a:lnTo>
                  <a:pt x="350405" y="178012"/>
                </a:lnTo>
                <a:lnTo>
                  <a:pt x="323850" y="178307"/>
                </a:lnTo>
                <a:lnTo>
                  <a:pt x="297294" y="178012"/>
                </a:lnTo>
                <a:lnTo>
                  <a:pt x="271329" y="177141"/>
                </a:lnTo>
                <a:lnTo>
                  <a:pt x="246038" y="175716"/>
                </a:lnTo>
                <a:lnTo>
                  <a:pt x="221504" y="173762"/>
                </a:lnTo>
                <a:lnTo>
                  <a:pt x="197810" y="171301"/>
                </a:lnTo>
                <a:lnTo>
                  <a:pt x="175040" y="168356"/>
                </a:lnTo>
                <a:lnTo>
                  <a:pt x="153278" y="164950"/>
                </a:lnTo>
                <a:lnTo>
                  <a:pt x="113108" y="156846"/>
                </a:lnTo>
                <a:lnTo>
                  <a:pt x="77970" y="147174"/>
                </a:lnTo>
                <a:lnTo>
                  <a:pt x="48530" y="136116"/>
                </a:lnTo>
                <a:lnTo>
                  <a:pt x="25455" y="123856"/>
                </a:lnTo>
                <a:lnTo>
                  <a:pt x="4239" y="103615"/>
                </a:lnTo>
                <a:lnTo>
                  <a:pt x="0" y="89153"/>
                </a:lnTo>
                <a:close/>
              </a:path>
            </a:pathLst>
          </a:custGeom>
          <a:ln w="28956">
            <a:solidFill>
              <a:srgbClr val="2376B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6454902" y="4365498"/>
            <a:ext cx="647700" cy="179832"/>
          </a:xfrm>
          <a:custGeom>
            <a:avLst/>
            <a:gdLst/>
            <a:ahLst/>
            <a:cxnLst/>
            <a:rect l="l" t="t" r="r" b="b"/>
            <a:pathLst>
              <a:path w="647700" h="179832">
                <a:moveTo>
                  <a:pt x="0" y="89915"/>
                </a:moveTo>
                <a:lnTo>
                  <a:pt x="9414" y="68308"/>
                </a:lnTo>
                <a:lnTo>
                  <a:pt x="36155" y="48595"/>
                </a:lnTo>
                <a:lnTo>
                  <a:pt x="62496" y="36813"/>
                </a:lnTo>
                <a:lnTo>
                  <a:pt x="94868" y="26336"/>
                </a:lnTo>
                <a:lnTo>
                  <a:pt x="132606" y="17349"/>
                </a:lnTo>
                <a:lnTo>
                  <a:pt x="175040" y="10036"/>
                </a:lnTo>
                <a:lnTo>
                  <a:pt x="197810" y="7066"/>
                </a:lnTo>
                <a:lnTo>
                  <a:pt x="221504" y="4584"/>
                </a:lnTo>
                <a:lnTo>
                  <a:pt x="246038" y="2613"/>
                </a:lnTo>
                <a:lnTo>
                  <a:pt x="271329" y="1176"/>
                </a:lnTo>
                <a:lnTo>
                  <a:pt x="297294" y="298"/>
                </a:lnTo>
                <a:lnTo>
                  <a:pt x="323850" y="0"/>
                </a:lnTo>
                <a:lnTo>
                  <a:pt x="350405" y="298"/>
                </a:lnTo>
                <a:lnTo>
                  <a:pt x="376370" y="1176"/>
                </a:lnTo>
                <a:lnTo>
                  <a:pt x="401661" y="2613"/>
                </a:lnTo>
                <a:lnTo>
                  <a:pt x="426195" y="4584"/>
                </a:lnTo>
                <a:lnTo>
                  <a:pt x="449889" y="7066"/>
                </a:lnTo>
                <a:lnTo>
                  <a:pt x="472659" y="10036"/>
                </a:lnTo>
                <a:lnTo>
                  <a:pt x="494421" y="13472"/>
                </a:lnTo>
                <a:lnTo>
                  <a:pt x="534591" y="21645"/>
                </a:lnTo>
                <a:lnTo>
                  <a:pt x="569729" y="31400"/>
                </a:lnTo>
                <a:lnTo>
                  <a:pt x="599169" y="42553"/>
                </a:lnTo>
                <a:lnTo>
                  <a:pt x="622244" y="54917"/>
                </a:lnTo>
                <a:lnTo>
                  <a:pt x="643460" y="75331"/>
                </a:lnTo>
                <a:lnTo>
                  <a:pt x="647700" y="89915"/>
                </a:lnTo>
                <a:lnTo>
                  <a:pt x="646626" y="97290"/>
                </a:lnTo>
                <a:lnTo>
                  <a:pt x="631185" y="118335"/>
                </a:lnTo>
                <a:lnTo>
                  <a:pt x="611544" y="131236"/>
                </a:lnTo>
                <a:lnTo>
                  <a:pt x="585203" y="143018"/>
                </a:lnTo>
                <a:lnTo>
                  <a:pt x="552830" y="153495"/>
                </a:lnTo>
                <a:lnTo>
                  <a:pt x="515093" y="162482"/>
                </a:lnTo>
                <a:lnTo>
                  <a:pt x="472659" y="169795"/>
                </a:lnTo>
                <a:lnTo>
                  <a:pt x="449889" y="172765"/>
                </a:lnTo>
                <a:lnTo>
                  <a:pt x="426195" y="175247"/>
                </a:lnTo>
                <a:lnTo>
                  <a:pt x="401661" y="177218"/>
                </a:lnTo>
                <a:lnTo>
                  <a:pt x="376370" y="178655"/>
                </a:lnTo>
                <a:lnTo>
                  <a:pt x="350405" y="179533"/>
                </a:lnTo>
                <a:lnTo>
                  <a:pt x="323850" y="179831"/>
                </a:lnTo>
                <a:lnTo>
                  <a:pt x="297294" y="179533"/>
                </a:lnTo>
                <a:lnTo>
                  <a:pt x="271329" y="178655"/>
                </a:lnTo>
                <a:lnTo>
                  <a:pt x="246038" y="177218"/>
                </a:lnTo>
                <a:lnTo>
                  <a:pt x="221504" y="175247"/>
                </a:lnTo>
                <a:lnTo>
                  <a:pt x="197810" y="172765"/>
                </a:lnTo>
                <a:lnTo>
                  <a:pt x="175040" y="169795"/>
                </a:lnTo>
                <a:lnTo>
                  <a:pt x="153278" y="166359"/>
                </a:lnTo>
                <a:lnTo>
                  <a:pt x="113108" y="158186"/>
                </a:lnTo>
                <a:lnTo>
                  <a:pt x="77970" y="148431"/>
                </a:lnTo>
                <a:lnTo>
                  <a:pt x="48530" y="137278"/>
                </a:lnTo>
                <a:lnTo>
                  <a:pt x="25455" y="124914"/>
                </a:lnTo>
                <a:lnTo>
                  <a:pt x="4239" y="104500"/>
                </a:lnTo>
                <a:lnTo>
                  <a:pt x="0" y="89915"/>
                </a:lnTo>
                <a:close/>
              </a:path>
            </a:pathLst>
          </a:custGeom>
          <a:ln w="28956">
            <a:solidFill>
              <a:srgbClr val="2376B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7535418" y="6491478"/>
            <a:ext cx="647700" cy="178308"/>
          </a:xfrm>
          <a:custGeom>
            <a:avLst/>
            <a:gdLst/>
            <a:ahLst/>
            <a:cxnLst/>
            <a:rect l="l" t="t" r="r" b="b"/>
            <a:pathLst>
              <a:path w="647700" h="178307">
                <a:moveTo>
                  <a:pt x="0" y="89154"/>
                </a:moveTo>
                <a:lnTo>
                  <a:pt x="9414" y="67729"/>
                </a:lnTo>
                <a:lnTo>
                  <a:pt x="36155" y="48182"/>
                </a:lnTo>
                <a:lnTo>
                  <a:pt x="62496" y="36501"/>
                </a:lnTo>
                <a:lnTo>
                  <a:pt x="94868" y="26112"/>
                </a:lnTo>
                <a:lnTo>
                  <a:pt x="132606" y="17201"/>
                </a:lnTo>
                <a:lnTo>
                  <a:pt x="175040" y="9951"/>
                </a:lnTo>
                <a:lnTo>
                  <a:pt x="197810" y="7006"/>
                </a:lnTo>
                <a:lnTo>
                  <a:pt x="221504" y="4545"/>
                </a:lnTo>
                <a:lnTo>
                  <a:pt x="246038" y="2591"/>
                </a:lnTo>
                <a:lnTo>
                  <a:pt x="271329" y="1166"/>
                </a:lnTo>
                <a:lnTo>
                  <a:pt x="297294" y="295"/>
                </a:lnTo>
                <a:lnTo>
                  <a:pt x="323850" y="0"/>
                </a:lnTo>
                <a:lnTo>
                  <a:pt x="350405" y="295"/>
                </a:lnTo>
                <a:lnTo>
                  <a:pt x="376370" y="1166"/>
                </a:lnTo>
                <a:lnTo>
                  <a:pt x="401661" y="2591"/>
                </a:lnTo>
                <a:lnTo>
                  <a:pt x="426195" y="4545"/>
                </a:lnTo>
                <a:lnTo>
                  <a:pt x="449889" y="7006"/>
                </a:lnTo>
                <a:lnTo>
                  <a:pt x="472659" y="9951"/>
                </a:lnTo>
                <a:lnTo>
                  <a:pt x="494421" y="13357"/>
                </a:lnTo>
                <a:lnTo>
                  <a:pt x="534591" y="21461"/>
                </a:lnTo>
                <a:lnTo>
                  <a:pt x="569729" y="31133"/>
                </a:lnTo>
                <a:lnTo>
                  <a:pt x="599169" y="42191"/>
                </a:lnTo>
                <a:lnTo>
                  <a:pt x="622244" y="54451"/>
                </a:lnTo>
                <a:lnTo>
                  <a:pt x="643460" y="74692"/>
                </a:lnTo>
                <a:lnTo>
                  <a:pt x="647700" y="89154"/>
                </a:lnTo>
                <a:lnTo>
                  <a:pt x="646626" y="96465"/>
                </a:lnTo>
                <a:lnTo>
                  <a:pt x="631185" y="117333"/>
                </a:lnTo>
                <a:lnTo>
                  <a:pt x="611544" y="130125"/>
                </a:lnTo>
                <a:lnTo>
                  <a:pt x="585203" y="141806"/>
                </a:lnTo>
                <a:lnTo>
                  <a:pt x="552830" y="152195"/>
                </a:lnTo>
                <a:lnTo>
                  <a:pt x="515093" y="161106"/>
                </a:lnTo>
                <a:lnTo>
                  <a:pt x="472659" y="168356"/>
                </a:lnTo>
                <a:lnTo>
                  <a:pt x="449889" y="171301"/>
                </a:lnTo>
                <a:lnTo>
                  <a:pt x="426195" y="173762"/>
                </a:lnTo>
                <a:lnTo>
                  <a:pt x="401661" y="175716"/>
                </a:lnTo>
                <a:lnTo>
                  <a:pt x="376370" y="177141"/>
                </a:lnTo>
                <a:lnTo>
                  <a:pt x="350405" y="178012"/>
                </a:lnTo>
                <a:lnTo>
                  <a:pt x="323850" y="178308"/>
                </a:lnTo>
                <a:lnTo>
                  <a:pt x="297294" y="178012"/>
                </a:lnTo>
                <a:lnTo>
                  <a:pt x="271329" y="177141"/>
                </a:lnTo>
                <a:lnTo>
                  <a:pt x="246038" y="175716"/>
                </a:lnTo>
                <a:lnTo>
                  <a:pt x="221504" y="173762"/>
                </a:lnTo>
                <a:lnTo>
                  <a:pt x="197810" y="171301"/>
                </a:lnTo>
                <a:lnTo>
                  <a:pt x="175040" y="168356"/>
                </a:lnTo>
                <a:lnTo>
                  <a:pt x="153278" y="164950"/>
                </a:lnTo>
                <a:lnTo>
                  <a:pt x="113108" y="156846"/>
                </a:lnTo>
                <a:lnTo>
                  <a:pt x="77970" y="147174"/>
                </a:lnTo>
                <a:lnTo>
                  <a:pt x="48530" y="136116"/>
                </a:lnTo>
                <a:lnTo>
                  <a:pt x="25455" y="123856"/>
                </a:lnTo>
                <a:lnTo>
                  <a:pt x="4239" y="103615"/>
                </a:lnTo>
                <a:lnTo>
                  <a:pt x="0" y="89154"/>
                </a:lnTo>
                <a:close/>
              </a:path>
            </a:pathLst>
          </a:custGeom>
          <a:ln w="28956">
            <a:solidFill>
              <a:srgbClr val="2376B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8471154" y="6453378"/>
            <a:ext cx="647700" cy="179832"/>
          </a:xfrm>
          <a:custGeom>
            <a:avLst/>
            <a:gdLst/>
            <a:ahLst/>
            <a:cxnLst/>
            <a:rect l="l" t="t" r="r" b="b"/>
            <a:pathLst>
              <a:path w="647700" h="179831">
                <a:moveTo>
                  <a:pt x="0" y="89916"/>
                </a:moveTo>
                <a:lnTo>
                  <a:pt x="9414" y="68308"/>
                </a:lnTo>
                <a:lnTo>
                  <a:pt x="36155" y="48595"/>
                </a:lnTo>
                <a:lnTo>
                  <a:pt x="62496" y="36813"/>
                </a:lnTo>
                <a:lnTo>
                  <a:pt x="94868" y="26336"/>
                </a:lnTo>
                <a:lnTo>
                  <a:pt x="132606" y="17349"/>
                </a:lnTo>
                <a:lnTo>
                  <a:pt x="175040" y="10036"/>
                </a:lnTo>
                <a:lnTo>
                  <a:pt x="197810" y="7066"/>
                </a:lnTo>
                <a:lnTo>
                  <a:pt x="221504" y="4584"/>
                </a:lnTo>
                <a:lnTo>
                  <a:pt x="246038" y="2613"/>
                </a:lnTo>
                <a:lnTo>
                  <a:pt x="271329" y="1176"/>
                </a:lnTo>
                <a:lnTo>
                  <a:pt x="297294" y="298"/>
                </a:lnTo>
                <a:lnTo>
                  <a:pt x="323850" y="0"/>
                </a:lnTo>
                <a:lnTo>
                  <a:pt x="350405" y="298"/>
                </a:lnTo>
                <a:lnTo>
                  <a:pt x="376370" y="1176"/>
                </a:lnTo>
                <a:lnTo>
                  <a:pt x="401661" y="2613"/>
                </a:lnTo>
                <a:lnTo>
                  <a:pt x="426195" y="4584"/>
                </a:lnTo>
                <a:lnTo>
                  <a:pt x="449889" y="7066"/>
                </a:lnTo>
                <a:lnTo>
                  <a:pt x="472659" y="10036"/>
                </a:lnTo>
                <a:lnTo>
                  <a:pt x="494421" y="13472"/>
                </a:lnTo>
                <a:lnTo>
                  <a:pt x="534591" y="21645"/>
                </a:lnTo>
                <a:lnTo>
                  <a:pt x="569729" y="31400"/>
                </a:lnTo>
                <a:lnTo>
                  <a:pt x="599169" y="42553"/>
                </a:lnTo>
                <a:lnTo>
                  <a:pt x="622244" y="54917"/>
                </a:lnTo>
                <a:lnTo>
                  <a:pt x="643460" y="75331"/>
                </a:lnTo>
                <a:lnTo>
                  <a:pt x="647700" y="89916"/>
                </a:lnTo>
                <a:lnTo>
                  <a:pt x="646626" y="97290"/>
                </a:lnTo>
                <a:lnTo>
                  <a:pt x="631185" y="118335"/>
                </a:lnTo>
                <a:lnTo>
                  <a:pt x="611544" y="131236"/>
                </a:lnTo>
                <a:lnTo>
                  <a:pt x="585203" y="143018"/>
                </a:lnTo>
                <a:lnTo>
                  <a:pt x="552830" y="153495"/>
                </a:lnTo>
                <a:lnTo>
                  <a:pt x="515093" y="162482"/>
                </a:lnTo>
                <a:lnTo>
                  <a:pt x="472659" y="169795"/>
                </a:lnTo>
                <a:lnTo>
                  <a:pt x="449889" y="172765"/>
                </a:lnTo>
                <a:lnTo>
                  <a:pt x="426195" y="175247"/>
                </a:lnTo>
                <a:lnTo>
                  <a:pt x="401661" y="177218"/>
                </a:lnTo>
                <a:lnTo>
                  <a:pt x="376370" y="178655"/>
                </a:lnTo>
                <a:lnTo>
                  <a:pt x="350405" y="179533"/>
                </a:lnTo>
                <a:lnTo>
                  <a:pt x="323850" y="179832"/>
                </a:lnTo>
                <a:lnTo>
                  <a:pt x="297294" y="179533"/>
                </a:lnTo>
                <a:lnTo>
                  <a:pt x="271329" y="178655"/>
                </a:lnTo>
                <a:lnTo>
                  <a:pt x="246038" y="177218"/>
                </a:lnTo>
                <a:lnTo>
                  <a:pt x="221504" y="175247"/>
                </a:lnTo>
                <a:lnTo>
                  <a:pt x="197810" y="172765"/>
                </a:lnTo>
                <a:lnTo>
                  <a:pt x="175040" y="169795"/>
                </a:lnTo>
                <a:lnTo>
                  <a:pt x="153278" y="166359"/>
                </a:lnTo>
                <a:lnTo>
                  <a:pt x="113108" y="158186"/>
                </a:lnTo>
                <a:lnTo>
                  <a:pt x="77970" y="148431"/>
                </a:lnTo>
                <a:lnTo>
                  <a:pt x="48530" y="137278"/>
                </a:lnTo>
                <a:lnTo>
                  <a:pt x="25455" y="124914"/>
                </a:lnTo>
                <a:lnTo>
                  <a:pt x="4239" y="104500"/>
                </a:lnTo>
                <a:lnTo>
                  <a:pt x="0" y="89916"/>
                </a:lnTo>
                <a:close/>
              </a:path>
            </a:pathLst>
          </a:custGeom>
          <a:ln w="28956">
            <a:solidFill>
              <a:srgbClr val="2376B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9406890" y="6491478"/>
            <a:ext cx="649224" cy="178308"/>
          </a:xfrm>
          <a:custGeom>
            <a:avLst/>
            <a:gdLst/>
            <a:ahLst/>
            <a:cxnLst/>
            <a:rect l="l" t="t" r="r" b="b"/>
            <a:pathLst>
              <a:path w="649224" h="178307">
                <a:moveTo>
                  <a:pt x="0" y="89154"/>
                </a:moveTo>
                <a:lnTo>
                  <a:pt x="9431" y="67729"/>
                </a:lnTo>
                <a:lnTo>
                  <a:pt x="36223" y="48182"/>
                </a:lnTo>
                <a:lnTo>
                  <a:pt x="62618" y="36501"/>
                </a:lnTo>
                <a:lnTo>
                  <a:pt x="95059" y="26112"/>
                </a:lnTo>
                <a:lnTo>
                  <a:pt x="132880" y="17201"/>
                </a:lnTo>
                <a:lnTo>
                  <a:pt x="175413" y="9951"/>
                </a:lnTo>
                <a:lnTo>
                  <a:pt x="198239" y="7006"/>
                </a:lnTo>
                <a:lnTo>
                  <a:pt x="221991" y="4545"/>
                </a:lnTo>
                <a:lnTo>
                  <a:pt x="246589" y="2591"/>
                </a:lnTo>
                <a:lnTo>
                  <a:pt x="271947" y="1166"/>
                </a:lnTo>
                <a:lnTo>
                  <a:pt x="297982" y="295"/>
                </a:lnTo>
                <a:lnTo>
                  <a:pt x="324612" y="0"/>
                </a:lnTo>
                <a:lnTo>
                  <a:pt x="351241" y="295"/>
                </a:lnTo>
                <a:lnTo>
                  <a:pt x="377276" y="1166"/>
                </a:lnTo>
                <a:lnTo>
                  <a:pt x="402634" y="2591"/>
                </a:lnTo>
                <a:lnTo>
                  <a:pt x="427232" y="4545"/>
                </a:lnTo>
                <a:lnTo>
                  <a:pt x="450984" y="7006"/>
                </a:lnTo>
                <a:lnTo>
                  <a:pt x="473810" y="9951"/>
                </a:lnTo>
                <a:lnTo>
                  <a:pt x="495624" y="13357"/>
                </a:lnTo>
                <a:lnTo>
                  <a:pt x="535884" y="21461"/>
                </a:lnTo>
                <a:lnTo>
                  <a:pt x="571099" y="31133"/>
                </a:lnTo>
                <a:lnTo>
                  <a:pt x="600600" y="42191"/>
                </a:lnTo>
                <a:lnTo>
                  <a:pt x="623720" y="54451"/>
                </a:lnTo>
                <a:lnTo>
                  <a:pt x="644976" y="74692"/>
                </a:lnTo>
                <a:lnTo>
                  <a:pt x="649224" y="89154"/>
                </a:lnTo>
                <a:lnTo>
                  <a:pt x="648148" y="96465"/>
                </a:lnTo>
                <a:lnTo>
                  <a:pt x="632679" y="117333"/>
                </a:lnTo>
                <a:lnTo>
                  <a:pt x="613000" y="130125"/>
                </a:lnTo>
                <a:lnTo>
                  <a:pt x="586605" y="141806"/>
                </a:lnTo>
                <a:lnTo>
                  <a:pt x="554164" y="152195"/>
                </a:lnTo>
                <a:lnTo>
                  <a:pt x="516343" y="161106"/>
                </a:lnTo>
                <a:lnTo>
                  <a:pt x="473810" y="168356"/>
                </a:lnTo>
                <a:lnTo>
                  <a:pt x="450984" y="171301"/>
                </a:lnTo>
                <a:lnTo>
                  <a:pt x="427232" y="173762"/>
                </a:lnTo>
                <a:lnTo>
                  <a:pt x="402634" y="175716"/>
                </a:lnTo>
                <a:lnTo>
                  <a:pt x="377276" y="177141"/>
                </a:lnTo>
                <a:lnTo>
                  <a:pt x="351241" y="178012"/>
                </a:lnTo>
                <a:lnTo>
                  <a:pt x="324612" y="178308"/>
                </a:lnTo>
                <a:lnTo>
                  <a:pt x="297982" y="178012"/>
                </a:lnTo>
                <a:lnTo>
                  <a:pt x="271947" y="177141"/>
                </a:lnTo>
                <a:lnTo>
                  <a:pt x="246589" y="175716"/>
                </a:lnTo>
                <a:lnTo>
                  <a:pt x="221991" y="173762"/>
                </a:lnTo>
                <a:lnTo>
                  <a:pt x="198239" y="171301"/>
                </a:lnTo>
                <a:lnTo>
                  <a:pt x="175413" y="168356"/>
                </a:lnTo>
                <a:lnTo>
                  <a:pt x="153599" y="164950"/>
                </a:lnTo>
                <a:lnTo>
                  <a:pt x="113339" y="156846"/>
                </a:lnTo>
                <a:lnTo>
                  <a:pt x="78124" y="147174"/>
                </a:lnTo>
                <a:lnTo>
                  <a:pt x="48623" y="136116"/>
                </a:lnTo>
                <a:lnTo>
                  <a:pt x="25503" y="123856"/>
                </a:lnTo>
                <a:lnTo>
                  <a:pt x="4247" y="103615"/>
                </a:lnTo>
                <a:lnTo>
                  <a:pt x="0" y="89154"/>
                </a:lnTo>
                <a:close/>
              </a:path>
            </a:pathLst>
          </a:custGeom>
          <a:ln w="28956">
            <a:solidFill>
              <a:srgbClr val="2376B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10559034" y="6453378"/>
            <a:ext cx="649224" cy="179832"/>
          </a:xfrm>
          <a:custGeom>
            <a:avLst/>
            <a:gdLst/>
            <a:ahLst/>
            <a:cxnLst/>
            <a:rect l="l" t="t" r="r" b="b"/>
            <a:pathLst>
              <a:path w="649224" h="179831">
                <a:moveTo>
                  <a:pt x="0" y="89916"/>
                </a:moveTo>
                <a:lnTo>
                  <a:pt x="9431" y="68308"/>
                </a:lnTo>
                <a:lnTo>
                  <a:pt x="36223" y="48595"/>
                </a:lnTo>
                <a:lnTo>
                  <a:pt x="62618" y="36813"/>
                </a:lnTo>
                <a:lnTo>
                  <a:pt x="95059" y="26336"/>
                </a:lnTo>
                <a:lnTo>
                  <a:pt x="132880" y="17349"/>
                </a:lnTo>
                <a:lnTo>
                  <a:pt x="175413" y="10036"/>
                </a:lnTo>
                <a:lnTo>
                  <a:pt x="198239" y="7066"/>
                </a:lnTo>
                <a:lnTo>
                  <a:pt x="221991" y="4584"/>
                </a:lnTo>
                <a:lnTo>
                  <a:pt x="246589" y="2613"/>
                </a:lnTo>
                <a:lnTo>
                  <a:pt x="271947" y="1176"/>
                </a:lnTo>
                <a:lnTo>
                  <a:pt x="297982" y="298"/>
                </a:lnTo>
                <a:lnTo>
                  <a:pt x="324612" y="0"/>
                </a:lnTo>
                <a:lnTo>
                  <a:pt x="351241" y="298"/>
                </a:lnTo>
                <a:lnTo>
                  <a:pt x="377276" y="1176"/>
                </a:lnTo>
                <a:lnTo>
                  <a:pt x="402634" y="2613"/>
                </a:lnTo>
                <a:lnTo>
                  <a:pt x="427232" y="4584"/>
                </a:lnTo>
                <a:lnTo>
                  <a:pt x="450984" y="7066"/>
                </a:lnTo>
                <a:lnTo>
                  <a:pt x="473810" y="10036"/>
                </a:lnTo>
                <a:lnTo>
                  <a:pt x="495624" y="13472"/>
                </a:lnTo>
                <a:lnTo>
                  <a:pt x="535884" y="21645"/>
                </a:lnTo>
                <a:lnTo>
                  <a:pt x="571099" y="31400"/>
                </a:lnTo>
                <a:lnTo>
                  <a:pt x="600600" y="42553"/>
                </a:lnTo>
                <a:lnTo>
                  <a:pt x="623720" y="54917"/>
                </a:lnTo>
                <a:lnTo>
                  <a:pt x="644976" y="75331"/>
                </a:lnTo>
                <a:lnTo>
                  <a:pt x="649224" y="89916"/>
                </a:lnTo>
                <a:lnTo>
                  <a:pt x="648148" y="97290"/>
                </a:lnTo>
                <a:lnTo>
                  <a:pt x="632679" y="118335"/>
                </a:lnTo>
                <a:lnTo>
                  <a:pt x="613000" y="131236"/>
                </a:lnTo>
                <a:lnTo>
                  <a:pt x="586605" y="143018"/>
                </a:lnTo>
                <a:lnTo>
                  <a:pt x="554164" y="153495"/>
                </a:lnTo>
                <a:lnTo>
                  <a:pt x="516343" y="162482"/>
                </a:lnTo>
                <a:lnTo>
                  <a:pt x="473810" y="169795"/>
                </a:lnTo>
                <a:lnTo>
                  <a:pt x="450984" y="172765"/>
                </a:lnTo>
                <a:lnTo>
                  <a:pt x="427232" y="175247"/>
                </a:lnTo>
                <a:lnTo>
                  <a:pt x="402634" y="177218"/>
                </a:lnTo>
                <a:lnTo>
                  <a:pt x="377276" y="178655"/>
                </a:lnTo>
                <a:lnTo>
                  <a:pt x="351241" y="179533"/>
                </a:lnTo>
                <a:lnTo>
                  <a:pt x="324612" y="179832"/>
                </a:lnTo>
                <a:lnTo>
                  <a:pt x="297982" y="179533"/>
                </a:lnTo>
                <a:lnTo>
                  <a:pt x="271947" y="178655"/>
                </a:lnTo>
                <a:lnTo>
                  <a:pt x="246589" y="177218"/>
                </a:lnTo>
                <a:lnTo>
                  <a:pt x="221991" y="175247"/>
                </a:lnTo>
                <a:lnTo>
                  <a:pt x="198239" y="172765"/>
                </a:lnTo>
                <a:lnTo>
                  <a:pt x="175413" y="169795"/>
                </a:lnTo>
                <a:lnTo>
                  <a:pt x="153599" y="166359"/>
                </a:lnTo>
                <a:lnTo>
                  <a:pt x="113339" y="158186"/>
                </a:lnTo>
                <a:lnTo>
                  <a:pt x="78124" y="148431"/>
                </a:lnTo>
                <a:lnTo>
                  <a:pt x="48623" y="137278"/>
                </a:lnTo>
                <a:lnTo>
                  <a:pt x="25503" y="124914"/>
                </a:lnTo>
                <a:lnTo>
                  <a:pt x="4247" y="104500"/>
                </a:lnTo>
                <a:lnTo>
                  <a:pt x="0" y="89916"/>
                </a:lnTo>
                <a:close/>
              </a:path>
            </a:pathLst>
          </a:custGeom>
          <a:ln w="28956">
            <a:solidFill>
              <a:srgbClr val="2376B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4438650" y="6238494"/>
            <a:ext cx="6769608" cy="214884"/>
          </a:xfrm>
          <a:custGeom>
            <a:avLst/>
            <a:gdLst/>
            <a:ahLst/>
            <a:cxnLst/>
            <a:rect l="l" t="t" r="r" b="b"/>
            <a:pathLst>
              <a:path w="6769608" h="214884">
                <a:moveTo>
                  <a:pt x="0" y="214883"/>
                </a:moveTo>
                <a:lnTo>
                  <a:pt x="6769608" y="214883"/>
                </a:lnTo>
                <a:lnTo>
                  <a:pt x="6769608" y="0"/>
                </a:lnTo>
                <a:lnTo>
                  <a:pt x="0" y="0"/>
                </a:lnTo>
                <a:lnTo>
                  <a:pt x="0" y="214883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0" name="object 210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22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741375" y="924016"/>
            <a:ext cx="2137960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2" dirty="0">
                <a:solidFill>
                  <a:srgbClr val="FFFFFF"/>
                </a:solidFill>
                <a:latin typeface="Century Gothic"/>
                <a:cs typeface="Century Gothic"/>
              </a:rPr>
              <a:t>LATIHAN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2924048" y="924016"/>
            <a:ext cx="1405193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dirty="0">
                <a:solidFill>
                  <a:srgbClr val="FFFFFF"/>
                </a:solidFill>
                <a:latin typeface="Century Gothic"/>
                <a:cs typeface="Century Gothic"/>
              </a:rPr>
              <a:t>SOAL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522833" y="2078998"/>
            <a:ext cx="325035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1.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980338" y="2078998"/>
            <a:ext cx="1562132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Hitunglah: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971194" y="2534674"/>
            <a:ext cx="375459" cy="1243457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 marR="10523">
              <a:lnSpc>
                <a:spcPts val="2595"/>
              </a:lnSpc>
            </a:pP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a.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515"/>
              </a:spcBef>
            </a:pP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b.</a:t>
            </a:r>
            <a:endParaRPr sz="2400">
              <a:latin typeface="Century Gothic"/>
              <a:cs typeface="Century Gothic"/>
            </a:endParaRPr>
          </a:p>
          <a:p>
            <a:pPr marL="12700" marR="23975">
              <a:lnSpc>
                <a:spcPct val="102172"/>
              </a:lnSpc>
              <a:spcBef>
                <a:spcPts val="660"/>
              </a:spcBef>
            </a:pP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c.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1419225" y="2534674"/>
            <a:ext cx="934025" cy="1243457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 marR="45719">
              <a:lnSpc>
                <a:spcPts val="2595"/>
              </a:lnSpc>
            </a:pPr>
            <a:r>
              <a:rPr sz="2400" spc="-2" dirty="0">
                <a:solidFill>
                  <a:srgbClr val="FFFFFF"/>
                </a:solidFill>
                <a:latin typeface="Century Gothic"/>
                <a:cs typeface="Century Gothic"/>
              </a:rPr>
              <a:t>TCBH</a:t>
            </a:r>
            <a:endParaRPr sz="2400">
              <a:latin typeface="Century Gothic"/>
              <a:cs typeface="Century Gothic"/>
            </a:endParaRPr>
          </a:p>
          <a:p>
            <a:pPr marL="12700" marR="45719">
              <a:lnSpc>
                <a:spcPct val="102172"/>
              </a:lnSpc>
              <a:spcBef>
                <a:spcPts val="515"/>
              </a:spcBef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BBH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660"/>
              </a:spcBef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FDMH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2710053" y="2016505"/>
            <a:ext cx="814451" cy="210947"/>
          </a:xfrm>
          <a:prstGeom prst="rect">
            <a:avLst/>
          </a:prstGeom>
        </p:spPr>
        <p:txBody>
          <a:bodyPr wrap="square" lIns="0" tIns="13335" rIns="0" bIns="0" rtlCol="0">
            <a:noAutofit/>
          </a:bodyPr>
          <a:lstStyle/>
          <a:p>
            <a:pPr marL="9398">
              <a:lnSpc>
                <a:spcPct val="102172"/>
              </a:lnSpc>
            </a:pPr>
            <a:r>
              <a:rPr sz="1200" spc="-1" dirty="0">
                <a:latin typeface="Century Gothic"/>
                <a:cs typeface="Century Gothic"/>
              </a:rPr>
              <a:t>Node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3524504" y="2016505"/>
            <a:ext cx="848995" cy="210947"/>
          </a:xfrm>
          <a:prstGeom prst="rect">
            <a:avLst/>
          </a:prstGeom>
        </p:spPr>
        <p:txBody>
          <a:bodyPr wrap="square" lIns="0" tIns="13335" rIns="0" bIns="0" rtlCol="0">
            <a:noAutofit/>
          </a:bodyPr>
          <a:lstStyle/>
          <a:p>
            <a:pPr marL="9651">
              <a:lnSpc>
                <a:spcPct val="102172"/>
              </a:lnSpc>
            </a:pPr>
            <a:r>
              <a:rPr sz="1200" spc="-2" dirty="0">
                <a:latin typeface="Century Gothic"/>
                <a:cs typeface="Century Gothic"/>
              </a:rPr>
              <a:t>Hour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4373499" y="2016505"/>
            <a:ext cx="1019560" cy="210947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178688">
              <a:lnSpc>
                <a:spcPts val="1470"/>
              </a:lnSpc>
            </a:pPr>
            <a:r>
              <a:rPr sz="1200" spc="-2" dirty="0">
                <a:latin typeface="Century Gothic"/>
                <a:cs typeface="Century Gothic"/>
              </a:rPr>
              <a:t>01/04/2016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5365623" y="2016505"/>
            <a:ext cx="1019814" cy="210947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178942">
              <a:lnSpc>
                <a:spcPts val="1470"/>
              </a:lnSpc>
            </a:pPr>
            <a:r>
              <a:rPr sz="1200" spc="-2" dirty="0">
                <a:latin typeface="Century Gothic"/>
                <a:cs typeface="Century Gothic"/>
              </a:rPr>
              <a:t>02/04/2016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6357747" y="2016505"/>
            <a:ext cx="1019814" cy="210947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178943">
              <a:lnSpc>
                <a:spcPts val="1470"/>
              </a:lnSpc>
            </a:pPr>
            <a:r>
              <a:rPr sz="1200" spc="-2" dirty="0">
                <a:latin typeface="Century Gothic"/>
                <a:cs typeface="Century Gothic"/>
              </a:rPr>
              <a:t>03/04/2016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7349871" y="2016505"/>
            <a:ext cx="1020195" cy="210947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179324">
              <a:lnSpc>
                <a:spcPts val="1470"/>
              </a:lnSpc>
            </a:pPr>
            <a:r>
              <a:rPr sz="1200" spc="-2" dirty="0">
                <a:latin typeface="Century Gothic"/>
                <a:cs typeface="Century Gothic"/>
              </a:rPr>
              <a:t>04/04/2016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8341995" y="2016505"/>
            <a:ext cx="1020195" cy="210947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179324">
              <a:lnSpc>
                <a:spcPts val="1470"/>
              </a:lnSpc>
            </a:pPr>
            <a:r>
              <a:rPr sz="1200" spc="-2" dirty="0">
                <a:latin typeface="Century Gothic"/>
                <a:cs typeface="Century Gothic"/>
              </a:rPr>
              <a:t>05/04/2016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9334119" y="2016505"/>
            <a:ext cx="1020449" cy="210947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179577">
              <a:lnSpc>
                <a:spcPts val="1470"/>
              </a:lnSpc>
            </a:pPr>
            <a:r>
              <a:rPr sz="1200" spc="-2" dirty="0">
                <a:latin typeface="Century Gothic"/>
                <a:cs typeface="Century Gothic"/>
              </a:rPr>
              <a:t>06/04/2016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10326243" y="2016505"/>
            <a:ext cx="1020449" cy="210947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179577">
              <a:lnSpc>
                <a:spcPts val="1470"/>
              </a:lnSpc>
            </a:pPr>
            <a:r>
              <a:rPr sz="1200" spc="-2" dirty="0">
                <a:latin typeface="Century Gothic"/>
                <a:cs typeface="Century Gothic"/>
              </a:rPr>
              <a:t>07/04/2016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2710053" y="2227453"/>
            <a:ext cx="814451" cy="210820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9398">
              <a:lnSpc>
                <a:spcPts val="1470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3524504" y="2227453"/>
            <a:ext cx="876431" cy="210820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255016">
              <a:lnSpc>
                <a:spcPts val="1470"/>
              </a:lnSpc>
            </a:pPr>
            <a:r>
              <a:rPr sz="1200" spc="-5" dirty="0">
                <a:latin typeface="Century Gothic"/>
                <a:cs typeface="Century Gothic"/>
              </a:rPr>
              <a:t>00:00:00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4373499" y="2227453"/>
            <a:ext cx="992124" cy="2108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1,308.19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5365623" y="2227453"/>
            <a:ext cx="992124" cy="2108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1,472.50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6357747" y="2227453"/>
            <a:ext cx="992124" cy="2108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1,860.86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7349871" y="2227453"/>
            <a:ext cx="992124" cy="2108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1,129.94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8341995" y="2227453"/>
            <a:ext cx="992124" cy="2108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1,242.08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9334119" y="2227453"/>
            <a:ext cx="992124" cy="2108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1,258.97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10326243" y="2227453"/>
            <a:ext cx="992124" cy="2108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1,264.14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2710053" y="2438273"/>
            <a:ext cx="814451" cy="210947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9398">
              <a:lnSpc>
                <a:spcPts val="1470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3524504" y="2438273"/>
            <a:ext cx="876431" cy="210947"/>
          </a:xfrm>
          <a:prstGeom prst="rect">
            <a:avLst/>
          </a:prstGeom>
        </p:spPr>
        <p:txBody>
          <a:bodyPr wrap="square" lIns="0" tIns="33464" rIns="0" bIns="0" rtlCol="0">
            <a:noAutofit/>
          </a:bodyPr>
          <a:lstStyle/>
          <a:p>
            <a:pPr marL="255016">
              <a:lnSpc>
                <a:spcPts val="1470"/>
              </a:lnSpc>
            </a:pPr>
            <a:r>
              <a:rPr sz="1200" spc="-5" dirty="0">
                <a:latin typeface="Century Gothic"/>
                <a:cs typeface="Century Gothic"/>
              </a:rPr>
              <a:t>01:00:00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4373499" y="2438273"/>
            <a:ext cx="992124" cy="210947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33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972.92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5365623" y="2438273"/>
            <a:ext cx="992124" cy="210947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1,042.77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6357747" y="2438273"/>
            <a:ext cx="992124" cy="210947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1,376.83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7349871" y="2438273"/>
            <a:ext cx="992124" cy="210947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71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810.86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8341995" y="2438273"/>
            <a:ext cx="992124" cy="210947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71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949.03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9334119" y="2438273"/>
            <a:ext cx="992124" cy="210947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970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991.70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10326243" y="2438273"/>
            <a:ext cx="992124" cy="210947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970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901.73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2710053" y="2649220"/>
            <a:ext cx="814451" cy="210819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3524504" y="2649220"/>
            <a:ext cx="876431" cy="210819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02:00:00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4373499" y="2649220"/>
            <a:ext cx="992124" cy="210819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33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607.42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5365623" y="2649220"/>
            <a:ext cx="992124" cy="210819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33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669.48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6357747" y="2649220"/>
            <a:ext cx="992124" cy="210819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334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803.00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7349871" y="2649220"/>
            <a:ext cx="992124" cy="210819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71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550.97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8341995" y="2649220"/>
            <a:ext cx="992124" cy="210819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71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602.25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9334119" y="2649220"/>
            <a:ext cx="992124" cy="210819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970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640.25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10326243" y="2649220"/>
            <a:ext cx="992124" cy="210819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67970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581.28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2710053" y="2860040"/>
            <a:ext cx="814451" cy="210947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3524504" y="2860040"/>
            <a:ext cx="876431" cy="210947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03:00:00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4373499" y="2860040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33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405.89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5365623" y="2860040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33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481.08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6357747" y="2860040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334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535.78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7349871" y="2860040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71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711.53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8341995" y="2860040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71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463.12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9334119" y="2860040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970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455.47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10326243" y="2860040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970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485.66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2710053" y="3070987"/>
            <a:ext cx="814451" cy="210820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3524504" y="3070987"/>
            <a:ext cx="876580" cy="210820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04:00:00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4373499" y="3070987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33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599.80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5365623" y="3070987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33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609.88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6357747" y="3070987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334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607.36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7349871" y="3070987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71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632.28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8341995" y="3070987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715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583.75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9334119" y="3070987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970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607.89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0326243" y="3070987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267970">
              <a:lnSpc>
                <a:spcPct val="102172"/>
              </a:lnSpc>
            </a:pPr>
            <a:r>
              <a:rPr sz="1200" spc="-4" dirty="0">
                <a:latin typeface="Century Gothic"/>
                <a:cs typeface="Century Gothic"/>
              </a:rPr>
              <a:t>624.83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2710053" y="3281807"/>
            <a:ext cx="814451" cy="210946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3524504" y="3281807"/>
            <a:ext cx="876580" cy="210946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05:00:00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4373499" y="3281807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1,504.53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365623" y="3281807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1,508.61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357747" y="3281807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1,446.31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349871" y="3281807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1,294.58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8341995" y="3281807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1,426.50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9334119" y="3281807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1,464.52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10326243" y="3281807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1,452.34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710053" y="3492754"/>
            <a:ext cx="814451" cy="210820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3524504" y="3492754"/>
            <a:ext cx="876580" cy="210820"/>
          </a:xfrm>
          <a:prstGeom prst="rect">
            <a:avLst/>
          </a:prstGeom>
        </p:spPr>
        <p:txBody>
          <a:bodyPr wrap="square" lIns="0" tIns="33432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06:00:00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4373499" y="3492754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2,934.05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5365623" y="3492754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3,024.14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6357747" y="3492754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3,291.55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7349871" y="3492754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2,677.55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8341995" y="3492754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2,827.31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9334119" y="3492754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2,873.22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0326243" y="3492754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2,891.33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710053" y="3703574"/>
            <a:ext cx="814451" cy="210946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524504" y="3703574"/>
            <a:ext cx="876580" cy="210946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07:00:00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373499" y="3703574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3,423.33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365623" y="3703574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3,541.50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6357747" y="3703574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4,118.91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7349871" y="3703574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3,095.42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8341995" y="3703574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3,154.59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9334119" y="3703574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3,204.00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0326243" y="3703574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3,216.97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710053" y="3914521"/>
            <a:ext cx="814451" cy="210820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524504" y="3914521"/>
            <a:ext cx="876580" cy="210820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08:00:00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4373499" y="3914521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3,789.30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365623" y="3914521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3,914.61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357747" y="3914521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4,854.78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349871" y="3914521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3,542.47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8341995" y="3914521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3,556.11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9334119" y="3914521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3,592.00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0326243" y="3914521"/>
            <a:ext cx="992124" cy="210820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3,603.50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710053" y="4125341"/>
            <a:ext cx="814451" cy="210946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524504" y="4125341"/>
            <a:ext cx="876580" cy="210946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09:00:00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373499" y="4125341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4,237.73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365623" y="4125341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4,304.17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357747" y="4125341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5,382.11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349871" y="4125341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3,944.25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341995" y="4125341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3,970.11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9334119" y="4125341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4,042.80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0326243" y="4125341"/>
            <a:ext cx="992124" cy="210946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4,038.00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2710053" y="4336288"/>
            <a:ext cx="814451" cy="210819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524504" y="4336288"/>
            <a:ext cx="876580" cy="210819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10:00:00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373499" y="4336288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4,611.25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365623" y="4336288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4,481.31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357747" y="4336288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5,652.73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349871" y="4336288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4,213.28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341995" y="4336288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4,139.50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9334119" y="4336288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4,218.95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326243" y="4336288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4,266.06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710053" y="4547108"/>
            <a:ext cx="814451" cy="210947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9398">
              <a:lnSpc>
                <a:spcPts val="1465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524504" y="4547108"/>
            <a:ext cx="876580" cy="210947"/>
          </a:xfrm>
          <a:prstGeom prst="rect">
            <a:avLst/>
          </a:prstGeom>
        </p:spPr>
        <p:txBody>
          <a:bodyPr wrap="square" lIns="0" tIns="34067" rIns="0" bIns="0" rtlCol="0">
            <a:noAutofit/>
          </a:bodyPr>
          <a:lstStyle/>
          <a:p>
            <a:pPr marL="255016">
              <a:lnSpc>
                <a:spcPts val="1465"/>
              </a:lnSpc>
            </a:pPr>
            <a:r>
              <a:rPr sz="1200" spc="-5" dirty="0">
                <a:latin typeface="Century Gothic"/>
                <a:cs typeface="Century Gothic"/>
              </a:rPr>
              <a:t>11:00:00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373499" y="4547108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3,332.61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365623" y="4547108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3,874.25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357747" y="4547108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4,546.72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349871" y="4547108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3,600.33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341995" y="4547108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3,634.86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334119" y="4547108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3,540.11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326243" y="4547108"/>
            <a:ext cx="992124" cy="210947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3,524.78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710053" y="4758055"/>
            <a:ext cx="814451" cy="210819"/>
          </a:xfrm>
          <a:prstGeom prst="rect">
            <a:avLst/>
          </a:prstGeom>
        </p:spPr>
        <p:txBody>
          <a:bodyPr wrap="square" lIns="0" tIns="34036" rIns="0" bIns="0" rtlCol="0">
            <a:noAutofit/>
          </a:bodyPr>
          <a:lstStyle/>
          <a:p>
            <a:pPr marL="9398">
              <a:lnSpc>
                <a:spcPts val="1460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524504" y="4758055"/>
            <a:ext cx="876431" cy="210819"/>
          </a:xfrm>
          <a:prstGeom prst="rect">
            <a:avLst/>
          </a:prstGeom>
        </p:spPr>
        <p:txBody>
          <a:bodyPr wrap="square" lIns="0" tIns="34036" rIns="0" bIns="0" rtlCol="0">
            <a:noAutofit/>
          </a:bodyPr>
          <a:lstStyle/>
          <a:p>
            <a:pPr marL="255016">
              <a:lnSpc>
                <a:spcPts val="1460"/>
              </a:lnSpc>
            </a:pPr>
            <a:r>
              <a:rPr sz="1200" spc="-5" dirty="0">
                <a:latin typeface="Century Gothic"/>
                <a:cs typeface="Century Gothic"/>
              </a:rPr>
              <a:t>12:00:00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373499" y="4758055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3,087.11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365623" y="4758055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3,956.81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357747" y="4758055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4,096.47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349871" y="4758055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3,745.52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341995" y="4758055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3,680.75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9334119" y="4758055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3,694.23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326243" y="4758055"/>
            <a:ext cx="992124" cy="2108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3,694.17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710053" y="4968875"/>
            <a:ext cx="814451" cy="210947"/>
          </a:xfrm>
          <a:prstGeom prst="rect">
            <a:avLst/>
          </a:prstGeom>
        </p:spPr>
        <p:txBody>
          <a:bodyPr wrap="square" lIns="0" tIns="34036" rIns="0" bIns="0" rtlCol="0">
            <a:noAutofit/>
          </a:bodyPr>
          <a:lstStyle/>
          <a:p>
            <a:pPr marL="9398">
              <a:lnSpc>
                <a:spcPts val="1460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524504" y="4968875"/>
            <a:ext cx="876431" cy="210947"/>
          </a:xfrm>
          <a:prstGeom prst="rect">
            <a:avLst/>
          </a:prstGeom>
        </p:spPr>
        <p:txBody>
          <a:bodyPr wrap="square" lIns="0" tIns="34036" rIns="0" bIns="0" rtlCol="0">
            <a:noAutofit/>
          </a:bodyPr>
          <a:lstStyle/>
          <a:p>
            <a:pPr marL="255016">
              <a:lnSpc>
                <a:spcPts val="1460"/>
              </a:lnSpc>
            </a:pPr>
            <a:r>
              <a:rPr sz="1200" spc="-5" dirty="0">
                <a:latin typeface="Century Gothic"/>
                <a:cs typeface="Century Gothic"/>
              </a:rPr>
              <a:t>13:00:00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373499" y="4968875"/>
            <a:ext cx="992124" cy="210947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4,119.86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365623" y="4968875"/>
            <a:ext cx="992124" cy="210947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3,649.11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357747" y="4968875"/>
            <a:ext cx="992124" cy="210947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3,790.78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349871" y="4968875"/>
            <a:ext cx="992124" cy="210947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3,515.25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41995" y="4968875"/>
            <a:ext cx="992124" cy="210947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3,276.28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334119" y="4968875"/>
            <a:ext cx="992124" cy="210947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3,274.36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326243" y="4968875"/>
            <a:ext cx="992124" cy="210947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3,307.70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710053" y="5179822"/>
            <a:ext cx="814451" cy="210819"/>
          </a:xfrm>
          <a:prstGeom prst="rect">
            <a:avLst/>
          </a:prstGeom>
        </p:spPr>
        <p:txBody>
          <a:bodyPr wrap="square" lIns="0" tIns="34036" rIns="0" bIns="0" rtlCol="0">
            <a:noAutofit/>
          </a:bodyPr>
          <a:lstStyle/>
          <a:p>
            <a:pPr marL="9398">
              <a:lnSpc>
                <a:spcPts val="1460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524504" y="5179822"/>
            <a:ext cx="876431" cy="210819"/>
          </a:xfrm>
          <a:prstGeom prst="rect">
            <a:avLst/>
          </a:prstGeom>
        </p:spPr>
        <p:txBody>
          <a:bodyPr wrap="square" lIns="0" tIns="34036" rIns="0" bIns="0" rtlCol="0">
            <a:noAutofit/>
          </a:bodyPr>
          <a:lstStyle/>
          <a:p>
            <a:pPr marL="255016">
              <a:lnSpc>
                <a:spcPts val="1460"/>
              </a:lnSpc>
            </a:pPr>
            <a:r>
              <a:rPr sz="1200" spc="-5" dirty="0">
                <a:latin typeface="Century Gothic"/>
                <a:cs typeface="Century Gothic"/>
              </a:rPr>
              <a:t>14:00:00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373499" y="5179822"/>
            <a:ext cx="992124" cy="210819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3,939.25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365623" y="5179822"/>
            <a:ext cx="992124" cy="210819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3,725.47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357747" y="5179822"/>
            <a:ext cx="992124" cy="210819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3,686.70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349871" y="5179822"/>
            <a:ext cx="992124" cy="210819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3,592.84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341995" y="5179822"/>
            <a:ext cx="992124" cy="210819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3,544.11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334119" y="5179822"/>
            <a:ext cx="992124" cy="210819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3,289.13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326243" y="5179822"/>
            <a:ext cx="992124" cy="210819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3,345.45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710053" y="5390642"/>
            <a:ext cx="814451" cy="210896"/>
          </a:xfrm>
          <a:prstGeom prst="rect">
            <a:avLst/>
          </a:prstGeom>
        </p:spPr>
        <p:txBody>
          <a:bodyPr wrap="square" lIns="0" tIns="34671" rIns="0" bIns="0" rtlCol="0">
            <a:noAutofit/>
          </a:bodyPr>
          <a:lstStyle/>
          <a:p>
            <a:pPr marL="9398">
              <a:lnSpc>
                <a:spcPts val="1460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524504" y="5390642"/>
            <a:ext cx="876431" cy="210896"/>
          </a:xfrm>
          <a:prstGeom prst="rect">
            <a:avLst/>
          </a:prstGeom>
        </p:spPr>
        <p:txBody>
          <a:bodyPr wrap="square" lIns="0" tIns="34671" rIns="0" bIns="0" rtlCol="0">
            <a:noAutofit/>
          </a:bodyPr>
          <a:lstStyle/>
          <a:p>
            <a:pPr marL="255016">
              <a:lnSpc>
                <a:spcPts val="1460"/>
              </a:lnSpc>
            </a:pPr>
            <a:r>
              <a:rPr sz="1200" spc="-5" dirty="0">
                <a:latin typeface="Century Gothic"/>
                <a:cs typeface="Century Gothic"/>
              </a:rPr>
              <a:t>15:00:00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373499" y="5390642"/>
            <a:ext cx="992124" cy="210896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3,886.94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365623" y="5390642"/>
            <a:ext cx="992124" cy="210896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3,912.19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57747" y="5390642"/>
            <a:ext cx="992124" cy="210896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3,738.03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349871" y="5390642"/>
            <a:ext cx="992124" cy="210896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3,652.47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341995" y="5390642"/>
            <a:ext cx="992124" cy="210896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3,805.70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334119" y="5390642"/>
            <a:ext cx="992124" cy="210896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3,349.13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326243" y="5390642"/>
            <a:ext cx="992124" cy="210896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3,426.45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10053" y="5601538"/>
            <a:ext cx="814451" cy="210883"/>
          </a:xfrm>
          <a:prstGeom prst="rect">
            <a:avLst/>
          </a:prstGeom>
        </p:spPr>
        <p:txBody>
          <a:bodyPr wrap="square" lIns="0" tIns="34671" rIns="0" bIns="0" rtlCol="0">
            <a:noAutofit/>
          </a:bodyPr>
          <a:lstStyle/>
          <a:p>
            <a:pPr marL="9398">
              <a:lnSpc>
                <a:spcPts val="1460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24504" y="5601538"/>
            <a:ext cx="876431" cy="210883"/>
          </a:xfrm>
          <a:prstGeom prst="rect">
            <a:avLst/>
          </a:prstGeom>
        </p:spPr>
        <p:txBody>
          <a:bodyPr wrap="square" lIns="0" tIns="34671" rIns="0" bIns="0" rtlCol="0">
            <a:noAutofit/>
          </a:bodyPr>
          <a:lstStyle/>
          <a:p>
            <a:pPr marL="255016">
              <a:lnSpc>
                <a:spcPts val="1460"/>
              </a:lnSpc>
            </a:pPr>
            <a:r>
              <a:rPr sz="1200" spc="-5" dirty="0">
                <a:latin typeface="Century Gothic"/>
                <a:cs typeface="Century Gothic"/>
              </a:rPr>
              <a:t>16:00:00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73499" y="5601538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3,975.05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65623" y="5601538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4,304.80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57747" y="5601538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3,913.75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349871" y="5601538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4,006.58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41995" y="5601538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3,941.03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334119" y="5601538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3,727.56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326243" y="5601538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3,638.77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10053" y="5812421"/>
            <a:ext cx="814451" cy="210883"/>
          </a:xfrm>
          <a:prstGeom prst="rect">
            <a:avLst/>
          </a:prstGeom>
        </p:spPr>
        <p:txBody>
          <a:bodyPr wrap="square" lIns="0" tIns="34671" rIns="0" bIns="0" rtlCol="0">
            <a:noAutofit/>
          </a:bodyPr>
          <a:lstStyle/>
          <a:p>
            <a:pPr marL="9398">
              <a:lnSpc>
                <a:spcPts val="1460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24504" y="5812421"/>
            <a:ext cx="876431" cy="210883"/>
          </a:xfrm>
          <a:prstGeom prst="rect">
            <a:avLst/>
          </a:prstGeom>
        </p:spPr>
        <p:txBody>
          <a:bodyPr wrap="square" lIns="0" tIns="34671" rIns="0" bIns="0" rtlCol="0">
            <a:noAutofit/>
          </a:bodyPr>
          <a:lstStyle/>
          <a:p>
            <a:pPr marL="255016">
              <a:lnSpc>
                <a:spcPts val="1460"/>
              </a:lnSpc>
            </a:pPr>
            <a:r>
              <a:rPr sz="1200" spc="-5" dirty="0">
                <a:latin typeface="Century Gothic"/>
                <a:cs typeface="Century Gothic"/>
              </a:rPr>
              <a:t>17:00:00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73499" y="5812421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2,752.50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65623" y="5812421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3,041.75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57747" y="5812421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3,018.05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49871" y="5812421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3,067.06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41995" y="5812421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3,043.48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34119" y="5812421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2,905.16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326243" y="5812421"/>
            <a:ext cx="992124" cy="210883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2,913.28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10053" y="6023305"/>
            <a:ext cx="814451" cy="215188"/>
          </a:xfrm>
          <a:prstGeom prst="rect">
            <a:avLst/>
          </a:prstGeom>
        </p:spPr>
        <p:txBody>
          <a:bodyPr wrap="square" lIns="0" tIns="25400" rIns="0" bIns="0" rtlCol="0">
            <a:noAutofit/>
          </a:bodyPr>
          <a:lstStyle/>
          <a:p>
            <a:pPr marL="9398">
              <a:lnSpc>
                <a:spcPct val="102172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24504" y="6023305"/>
            <a:ext cx="876431" cy="215188"/>
          </a:xfrm>
          <a:prstGeom prst="rect">
            <a:avLst/>
          </a:prstGeom>
        </p:spPr>
        <p:txBody>
          <a:bodyPr wrap="square" lIns="0" tIns="25400" rIns="0" bIns="0" rtlCol="0">
            <a:noAutofit/>
          </a:bodyPr>
          <a:lstStyle/>
          <a:p>
            <a:pPr marL="255016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18:00:00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73499" y="6023305"/>
            <a:ext cx="992124" cy="215188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540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3,105.69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65623" y="6023305"/>
            <a:ext cx="992124" cy="215188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3,225.88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57747" y="6023305"/>
            <a:ext cx="992124" cy="215188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3,035.11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49871" y="6023305"/>
            <a:ext cx="992124" cy="215188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3,131.45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41995" y="6023305"/>
            <a:ext cx="992124" cy="215188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3,057.77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34119" y="6023305"/>
            <a:ext cx="992124" cy="215188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3,121.75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26243" y="6023305"/>
            <a:ext cx="992124" cy="215188"/>
          </a:xfrm>
          <a:prstGeom prst="rect">
            <a:avLst/>
          </a:prstGeom>
        </p:spPr>
        <p:txBody>
          <a:bodyPr wrap="square" lIns="0" tIns="2222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3,080.83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10053" y="6238494"/>
            <a:ext cx="814451" cy="22698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9398">
              <a:lnSpc>
                <a:spcPct val="102172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24504" y="6238494"/>
            <a:ext cx="876431" cy="22698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55016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19:00:00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73499" y="6238494"/>
            <a:ext cx="65150" cy="2269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4438650" y="6238494"/>
            <a:ext cx="926973" cy="226980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7238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4,362.22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65623" y="6238494"/>
            <a:ext cx="992124" cy="226980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4,595.72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57747" y="6238494"/>
            <a:ext cx="992124" cy="226980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4,391.20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49871" y="6238494"/>
            <a:ext cx="992124" cy="226980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4,632.94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41995" y="6238494"/>
            <a:ext cx="992124" cy="226980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4,588.00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34119" y="6238494"/>
            <a:ext cx="992124" cy="226980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4,651.64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26243" y="6238494"/>
            <a:ext cx="882014" cy="226980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4,486.16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08258" y="6238494"/>
            <a:ext cx="110109" cy="2269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710053" y="6465474"/>
            <a:ext cx="814451" cy="190595"/>
          </a:xfrm>
          <a:prstGeom prst="rect">
            <a:avLst/>
          </a:prstGeom>
        </p:spPr>
        <p:txBody>
          <a:bodyPr wrap="square" lIns="0" tIns="14350" rIns="0" bIns="0" rtlCol="0">
            <a:noAutofit/>
          </a:bodyPr>
          <a:lstStyle/>
          <a:p>
            <a:pPr marL="9398">
              <a:lnSpc>
                <a:spcPts val="1460"/>
              </a:lnSpc>
            </a:pPr>
            <a:r>
              <a:rPr sz="1200" spc="0" dirty="0">
                <a:latin typeface="Century Gothic"/>
                <a:cs typeface="Century Gothic"/>
              </a:rPr>
              <a:t>MSS CBB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4504" y="6465474"/>
            <a:ext cx="876431" cy="190595"/>
          </a:xfrm>
          <a:prstGeom prst="rect">
            <a:avLst/>
          </a:prstGeom>
        </p:spPr>
        <p:txBody>
          <a:bodyPr wrap="square" lIns="0" tIns="14350" rIns="0" bIns="0" rtlCol="0">
            <a:noAutofit/>
          </a:bodyPr>
          <a:lstStyle/>
          <a:p>
            <a:pPr marL="255016">
              <a:lnSpc>
                <a:spcPts val="1460"/>
              </a:lnSpc>
            </a:pPr>
            <a:r>
              <a:rPr sz="1200" spc="-5" dirty="0">
                <a:latin typeface="Century Gothic"/>
                <a:cs typeface="Century Gothic"/>
              </a:rPr>
              <a:t>20:00:00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3499" y="6465474"/>
            <a:ext cx="65150" cy="1905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4438650" y="6465474"/>
            <a:ext cx="926973" cy="190595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7238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4,807.11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65623" y="6465474"/>
            <a:ext cx="992124" cy="190595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5,007.27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7747" y="6465474"/>
            <a:ext cx="992124" cy="190595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37794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4,818.50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49871" y="6465474"/>
            <a:ext cx="992124" cy="190595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4,908.47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41995" y="6465474"/>
            <a:ext cx="992124" cy="190595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38175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5,104.67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4119" y="6465474"/>
            <a:ext cx="992124" cy="190595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5,115.69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326243" y="6465474"/>
            <a:ext cx="992124" cy="190595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38429">
              <a:lnSpc>
                <a:spcPct val="102172"/>
              </a:lnSpc>
            </a:pPr>
            <a:r>
              <a:rPr sz="1200" spc="-5" dirty="0">
                <a:latin typeface="Century Gothic"/>
                <a:cs typeface="Century Gothic"/>
              </a:rPr>
              <a:t>4,983.31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23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0331" y="955444"/>
            <a:ext cx="376558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2.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5494" y="955444"/>
            <a:ext cx="9922140" cy="2555874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65398">
              <a:lnSpc>
                <a:spcPts val="3010"/>
              </a:lnSpc>
            </a:pP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Gambarkan grafik rata-rata trafik terhadap periode jam</a:t>
            </a:r>
            <a:endParaRPr sz="2800">
              <a:latin typeface="Century Gothic"/>
              <a:cs typeface="Century Gothic"/>
            </a:endParaRPr>
          </a:p>
          <a:p>
            <a:pPr marL="12700" marR="65398">
              <a:lnSpc>
                <a:spcPts val="3025"/>
              </a:lnSpc>
              <a:spcBef>
                <a:spcPts val="0"/>
              </a:spcBef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pengamatan selama tanggal 1-4-2016</a:t>
            </a:r>
            <a:endParaRPr sz="2800">
              <a:latin typeface="Century Gothic"/>
              <a:cs typeface="Century Gothic"/>
            </a:endParaRPr>
          </a:p>
          <a:p>
            <a:pPr marL="12700" marR="452492">
              <a:lnSpc>
                <a:spcPts val="3020"/>
              </a:lnSpc>
              <a:spcBef>
                <a:spcPts val="1001"/>
              </a:spcBef>
            </a:pP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Hitung berapa % kenaikan dari 1 jam sebelum sibuk ke saat jam sibuk pada seluruh hari pengamatan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448"/>
              </a:spcBef>
            </a:pP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Gambarkan grafik rata-rata trafik harian, dan trafik pada</a:t>
            </a:r>
            <a:endParaRPr sz="2800">
              <a:latin typeface="Century Gothic"/>
              <a:cs typeface="Century Gothic"/>
            </a:endParaRPr>
          </a:p>
          <a:p>
            <a:pPr marL="12700" marR="65398">
              <a:lnSpc>
                <a:spcPts val="3015"/>
              </a:lnSpc>
              <a:spcBef>
                <a:spcPts val="150"/>
              </a:spcBef>
            </a:pP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jam sibuk pada periode 1 minggu pengamatan tersebut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0331" y="1851810"/>
            <a:ext cx="376558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3.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0331" y="2746148"/>
            <a:ext cx="376524" cy="380796"/>
          </a:xfrm>
          <a:prstGeom prst="rect">
            <a:avLst/>
          </a:prstGeom>
        </p:spPr>
        <p:txBody>
          <a:bodyPr wrap="square" lIns="0" tIns="19050" rIns="0" bIns="0" rtlCol="0">
            <a:noAutofit/>
          </a:bodyPr>
          <a:lstStyle/>
          <a:p>
            <a:pPr marL="12700">
              <a:lnSpc>
                <a:spcPts val="3000"/>
              </a:lnSpc>
            </a:pP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4.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1157</Words>
  <Application>Microsoft Office PowerPoint</Application>
  <PresentationFormat>Widescreen</PresentationFormat>
  <Paragraphs>407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MS PGothic</vt:lpstr>
      <vt:lpstr>Arial</vt:lpstr>
      <vt:lpstr>Calibri</vt:lpstr>
      <vt:lpstr>Century Gothic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tb utomo</cp:lastModifiedBy>
  <cp:revision>2</cp:revision>
  <dcterms:modified xsi:type="dcterms:W3CDTF">2023-09-25T04:57:55Z</dcterms:modified>
</cp:coreProperties>
</file>