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12192000" cy="6858000"/>
  <p:embeddedFontLst>
    <p:embeddedFont>
      <p:font typeface="Noto Sans Symbols"/>
      <p:regular r:id="rId40"/>
      <p:bold r:id="rId41"/>
    </p:embeddedFont>
    <p:embeddedFont>
      <p:font typeface="Cambria Math"/>
      <p:regular r:id="rId42"/>
    </p:embeddedFon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hK2o9wOcf2oe2a2lYUk49Trpjg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ymbols-regular.fntdata"/><Relationship Id="rId20" Type="http://schemas.openxmlformats.org/officeDocument/2006/relationships/slide" Target="slides/slide15.xml"/><Relationship Id="rId42" Type="http://schemas.openxmlformats.org/officeDocument/2006/relationships/font" Target="fonts/CambriaMath-regular.fntdata"/><Relationship Id="rId41" Type="http://schemas.openxmlformats.org/officeDocument/2006/relationships/font" Target="fonts/NotoSansSymbols-bold.fntdata"/><Relationship Id="rId22" Type="http://schemas.openxmlformats.org/officeDocument/2006/relationships/slide" Target="slides/slide17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6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9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8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10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4375403"/>
            <a:ext cx="12188952" cy="24825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844702" y="2422160"/>
            <a:ext cx="3196808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">
            <a:noAutofit/>
          </a:bodyPr>
          <a:lstStyle/>
          <a:p>
            <a:pPr indent="0" lvl="0" marL="127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</a:t>
            </a:r>
            <a:endParaRPr sz="4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4095750" y="2422160"/>
            <a:ext cx="1990883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">
            <a:noAutofit/>
          </a:bodyPr>
          <a:lstStyle/>
          <a:p>
            <a:pPr indent="0" lvl="0" marL="127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4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060805" y="3467633"/>
            <a:ext cx="1312586" cy="4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noAutofit/>
          </a:bodyPr>
          <a:lstStyle/>
          <a:p>
            <a:pPr indent="0" lvl="0" marL="1270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2380248" y="3467633"/>
            <a:ext cx="441398" cy="4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noAutofit/>
          </a:bodyPr>
          <a:lstStyle/>
          <a:p>
            <a:pPr indent="0" lvl="0" marL="1270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2830195" y="3467633"/>
            <a:ext cx="5837579" cy="4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noAutofit/>
          </a:bodyPr>
          <a:lstStyle/>
          <a:p>
            <a:pPr indent="0" lvl="0" marL="1270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Rekayasa Trafik Telekomunikasi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8552688" y="1213103"/>
            <a:ext cx="2500883" cy="360730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807821" y="599408"/>
            <a:ext cx="3730831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SATUAN TRAFIK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47776" y="1618638"/>
            <a:ext cx="5702383" cy="3581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52698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Telah dinyatakan pada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52698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pembahasan sebelumnya,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52698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bahwa intensitas trafik tidak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52698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memiliki satuan (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dimensionless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599" lvl="0" marL="241299" marR="0" rtl="0" algn="l">
              <a:lnSpc>
                <a:spcPct val="122607"/>
              </a:lnSpc>
              <a:spcBef>
                <a:spcPts val="782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Untuk menghormati jasa 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0" rtl="0" algn="l">
              <a:lnSpc>
                <a:spcPct val="122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ilmuwan Denmark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Agner Kraup 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0" rtl="0" algn="l">
              <a:lnSpc>
                <a:spcPct val="122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Erlang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(1878-1929), maka 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0" rtl="0" algn="l">
              <a:lnSpc>
                <a:spcPct val="122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diberi satuan 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299" marR="0" rtl="0" algn="l">
              <a:lnSpc>
                <a:spcPct val="122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Erlang (erl).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7489952" y="4809784"/>
            <a:ext cx="4049100" cy="12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25">
            <a:noAutofit/>
          </a:bodyPr>
          <a:lstStyle/>
          <a:p>
            <a:pPr indent="0" lvl="0" marL="1346034" marR="902555" rtl="0" algn="ctr">
              <a:lnSpc>
                <a:spcPct val="10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Agner Krarup Erlang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74326" marR="629242" rtl="0" algn="ctr">
              <a:lnSpc>
                <a:spcPct val="95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Jan 1878 in Lonborg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19898" marR="576793" rtl="0" algn="ctr">
              <a:lnSpc>
                <a:spcPct val="95825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(near Tarm), Jutland, Denmark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90237" marR="46720" rtl="0" algn="ctr">
              <a:lnSpc>
                <a:spcPct val="95825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Died: 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Feb 1929 in Copenhagen, Denmark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051" lvl="0" marL="47751" marR="0" rtl="0" algn="l">
              <a:lnSpc>
                <a:spcPct val="120000"/>
              </a:lnSpc>
              <a:spcBef>
                <a:spcPts val="417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Sumber: Originator of Teletraffic Theory, Proceedings of the IEEE ( Volume: 98, Issue 1, Jan. 2010 )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1316081" y="6221383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80389" y="1125188"/>
            <a:ext cx="10422985" cy="209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0">
            <a:noAutofit/>
          </a:bodyPr>
          <a:lstStyle/>
          <a:p>
            <a:pPr indent="0" lvl="0" marL="12700" marR="52698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ERLANG (1 E)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598" lvl="0" marL="953667" marR="0" rtl="0" algn="l">
              <a:lnSpc>
                <a:spcPct val="108214"/>
              </a:lnSpc>
              <a:spcBef>
                <a:spcPts val="3101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Lamanya waktu pendudukan sebuah circuit (jalur) untuk percakapan secara terus menerus selama 1 jam (biasanya pada jam sibuk)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764540" y="1202912"/>
            <a:ext cx="2110689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ERLANG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764540" y="2241700"/>
            <a:ext cx="2636521" cy="114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Jika intensitas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216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maka saluran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5348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jam.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3422650" y="2241700"/>
            <a:ext cx="7938283" cy="764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4224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dari sebuah saluran pelanggan 1 erlang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3262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tersebut dipakai selama 60 menit dalam 1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764540" y="3522114"/>
            <a:ext cx="10582673" cy="1278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Jika sebuah saluran tersebut digunakan 6 menit dalam satu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5380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jam maka intensitas trafiknya 100 mErlang.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3800" rtl="0" algn="l">
              <a:lnSpc>
                <a:spcPct val="102172"/>
              </a:lnSpc>
              <a:spcBef>
                <a:spcPts val="43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maksimum dari sebuah saluran 2-Mbps (30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993140" y="4800500"/>
            <a:ext cx="4060507" cy="3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PCM channels) adalah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5173726" y="4800500"/>
            <a:ext cx="5572789" cy="3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 erlang, dimana seluruh kanal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993140" y="5185179"/>
            <a:ext cx="7245262" cy="380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digunakan selama 60 menit dalam 1 jam.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16580" y="1868424"/>
            <a:ext cx="4072128" cy="233172"/>
          </a:xfrm>
          <a:custGeom>
            <a:rect b="b" l="l" r="r" t="t"/>
            <a:pathLst>
              <a:path extrusionOk="0" h="233172" w="4072128">
                <a:moveTo>
                  <a:pt x="0" y="233172"/>
                </a:moveTo>
                <a:lnTo>
                  <a:pt x="4072128" y="233172"/>
                </a:lnTo>
                <a:lnTo>
                  <a:pt x="4072128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DF2D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116580" y="1868424"/>
            <a:ext cx="4072128" cy="233172"/>
          </a:xfrm>
          <a:custGeom>
            <a:rect b="b" l="l" r="r" t="t"/>
            <a:pathLst>
              <a:path extrusionOk="0" h="233172" w="4072128">
                <a:moveTo>
                  <a:pt x="0" y="233172"/>
                </a:moveTo>
                <a:lnTo>
                  <a:pt x="4072128" y="233172"/>
                </a:lnTo>
                <a:lnTo>
                  <a:pt x="4072128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116580" y="2257043"/>
            <a:ext cx="4072128" cy="231648"/>
          </a:xfrm>
          <a:custGeom>
            <a:rect b="b" l="l" r="r" t="t"/>
            <a:pathLst>
              <a:path extrusionOk="0" h="231648" w="4072128">
                <a:moveTo>
                  <a:pt x="0" y="231648"/>
                </a:moveTo>
                <a:lnTo>
                  <a:pt x="4072128" y="231648"/>
                </a:lnTo>
                <a:lnTo>
                  <a:pt x="4072128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116580" y="2257043"/>
            <a:ext cx="4072128" cy="231648"/>
          </a:xfrm>
          <a:custGeom>
            <a:rect b="b" l="l" r="r" t="t"/>
            <a:pathLst>
              <a:path extrusionOk="0" h="231648" w="4072128">
                <a:moveTo>
                  <a:pt x="0" y="231648"/>
                </a:moveTo>
                <a:lnTo>
                  <a:pt x="4072128" y="231648"/>
                </a:lnTo>
                <a:lnTo>
                  <a:pt x="4072128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116580" y="2566416"/>
            <a:ext cx="4072128" cy="231648"/>
          </a:xfrm>
          <a:custGeom>
            <a:rect b="b" l="l" r="r" t="t"/>
            <a:pathLst>
              <a:path extrusionOk="0" h="231648" w="4072128">
                <a:moveTo>
                  <a:pt x="0" y="231648"/>
                </a:moveTo>
                <a:lnTo>
                  <a:pt x="4072128" y="231648"/>
                </a:lnTo>
                <a:lnTo>
                  <a:pt x="4072128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116580" y="2566416"/>
            <a:ext cx="4072128" cy="231648"/>
          </a:xfrm>
          <a:custGeom>
            <a:rect b="b" l="l" r="r" t="t"/>
            <a:pathLst>
              <a:path extrusionOk="0" h="231648" w="4072128">
                <a:moveTo>
                  <a:pt x="0" y="231648"/>
                </a:moveTo>
                <a:lnTo>
                  <a:pt x="4072128" y="231648"/>
                </a:lnTo>
                <a:lnTo>
                  <a:pt x="4072128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116580" y="3108960"/>
            <a:ext cx="2075688" cy="231648"/>
          </a:xfrm>
          <a:custGeom>
            <a:rect b="b" l="l" r="r" t="t"/>
            <a:pathLst>
              <a:path extrusionOk="0" h="231648" w="2075688">
                <a:moveTo>
                  <a:pt x="0" y="231648"/>
                </a:moveTo>
                <a:lnTo>
                  <a:pt x="2075688" y="231648"/>
                </a:lnTo>
                <a:lnTo>
                  <a:pt x="2075688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DF2D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116580" y="3108960"/>
            <a:ext cx="2075688" cy="231648"/>
          </a:xfrm>
          <a:custGeom>
            <a:rect b="b" l="l" r="r" t="t"/>
            <a:pathLst>
              <a:path extrusionOk="0" h="231648" w="2075688">
                <a:moveTo>
                  <a:pt x="0" y="231648"/>
                </a:moveTo>
                <a:lnTo>
                  <a:pt x="2075688" y="231648"/>
                </a:lnTo>
                <a:lnTo>
                  <a:pt x="2075688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192268" y="3108960"/>
            <a:ext cx="2077212" cy="231648"/>
          </a:xfrm>
          <a:custGeom>
            <a:rect b="b" l="l" r="r" t="t"/>
            <a:pathLst>
              <a:path extrusionOk="0" h="231648" w="2077212">
                <a:moveTo>
                  <a:pt x="0" y="231648"/>
                </a:moveTo>
                <a:lnTo>
                  <a:pt x="2077212" y="231648"/>
                </a:lnTo>
                <a:lnTo>
                  <a:pt x="207721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192268" y="3108960"/>
            <a:ext cx="2077212" cy="231648"/>
          </a:xfrm>
          <a:custGeom>
            <a:rect b="b" l="l" r="r" t="t"/>
            <a:pathLst>
              <a:path extrusionOk="0" h="231648" w="2077212">
                <a:moveTo>
                  <a:pt x="0" y="231648"/>
                </a:moveTo>
                <a:lnTo>
                  <a:pt x="2077212" y="231648"/>
                </a:lnTo>
                <a:lnTo>
                  <a:pt x="207721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116580" y="3496055"/>
            <a:ext cx="4152900" cy="233172"/>
          </a:xfrm>
          <a:custGeom>
            <a:rect b="b" l="l" r="r" t="t"/>
            <a:pathLst>
              <a:path extrusionOk="0" h="233172" w="4152900">
                <a:moveTo>
                  <a:pt x="0" y="233172"/>
                </a:moveTo>
                <a:lnTo>
                  <a:pt x="4152900" y="233172"/>
                </a:lnTo>
                <a:lnTo>
                  <a:pt x="4152900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116580" y="3496055"/>
            <a:ext cx="4152900" cy="233172"/>
          </a:xfrm>
          <a:custGeom>
            <a:rect b="b" l="l" r="r" t="t"/>
            <a:pathLst>
              <a:path extrusionOk="0" h="233172" w="4152900">
                <a:moveTo>
                  <a:pt x="0" y="233172"/>
                </a:moveTo>
                <a:lnTo>
                  <a:pt x="4152900" y="233172"/>
                </a:lnTo>
                <a:lnTo>
                  <a:pt x="4152900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116580" y="3883152"/>
            <a:ext cx="2075688" cy="233172"/>
          </a:xfrm>
          <a:custGeom>
            <a:rect b="b" l="l" r="r" t="t"/>
            <a:pathLst>
              <a:path extrusionOk="0" h="233172" w="2075688">
                <a:moveTo>
                  <a:pt x="0" y="233172"/>
                </a:moveTo>
                <a:lnTo>
                  <a:pt x="2075688" y="233172"/>
                </a:lnTo>
                <a:lnTo>
                  <a:pt x="2075688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116580" y="3883152"/>
            <a:ext cx="2075688" cy="233172"/>
          </a:xfrm>
          <a:custGeom>
            <a:rect b="b" l="l" r="r" t="t"/>
            <a:pathLst>
              <a:path extrusionOk="0" h="233172" w="2075688">
                <a:moveTo>
                  <a:pt x="0" y="233172"/>
                </a:moveTo>
                <a:lnTo>
                  <a:pt x="2075688" y="233172"/>
                </a:lnTo>
                <a:lnTo>
                  <a:pt x="2075688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192268" y="3883152"/>
            <a:ext cx="2077212" cy="233172"/>
          </a:xfrm>
          <a:custGeom>
            <a:rect b="b" l="l" r="r" t="t"/>
            <a:pathLst>
              <a:path extrusionOk="0" h="233172" w="2077212">
                <a:moveTo>
                  <a:pt x="0" y="233172"/>
                </a:moveTo>
                <a:lnTo>
                  <a:pt x="2077212" y="233172"/>
                </a:lnTo>
                <a:lnTo>
                  <a:pt x="2077212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DF2D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192268" y="3883152"/>
            <a:ext cx="2077212" cy="233172"/>
          </a:xfrm>
          <a:custGeom>
            <a:rect b="b" l="l" r="r" t="t"/>
            <a:pathLst>
              <a:path extrusionOk="0" h="233172" w="2077212">
                <a:moveTo>
                  <a:pt x="0" y="233172"/>
                </a:moveTo>
                <a:lnTo>
                  <a:pt x="2077212" y="233172"/>
                </a:lnTo>
                <a:lnTo>
                  <a:pt x="2077212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116580" y="4347972"/>
            <a:ext cx="1037844" cy="310895"/>
          </a:xfrm>
          <a:custGeom>
            <a:rect b="b" l="l" r="r" t="t"/>
            <a:pathLst>
              <a:path extrusionOk="0" h="310896" w="1037844">
                <a:moveTo>
                  <a:pt x="0" y="310895"/>
                </a:moveTo>
                <a:lnTo>
                  <a:pt x="1037844" y="310895"/>
                </a:lnTo>
                <a:lnTo>
                  <a:pt x="1037844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DF2D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116580" y="4347972"/>
            <a:ext cx="1037844" cy="310895"/>
          </a:xfrm>
          <a:custGeom>
            <a:rect b="b" l="l" r="r" t="t"/>
            <a:pathLst>
              <a:path extrusionOk="0" h="310896" w="1037844">
                <a:moveTo>
                  <a:pt x="0" y="310895"/>
                </a:moveTo>
                <a:lnTo>
                  <a:pt x="1037844" y="310895"/>
                </a:lnTo>
                <a:lnTo>
                  <a:pt x="1037844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154424" y="4347972"/>
            <a:ext cx="1037844" cy="310895"/>
          </a:xfrm>
          <a:custGeom>
            <a:rect b="b" l="l" r="r" t="t"/>
            <a:pathLst>
              <a:path extrusionOk="0" h="310896" w="1037844">
                <a:moveTo>
                  <a:pt x="0" y="310895"/>
                </a:moveTo>
                <a:lnTo>
                  <a:pt x="1037844" y="310895"/>
                </a:lnTo>
                <a:lnTo>
                  <a:pt x="1037844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154424" y="4347972"/>
            <a:ext cx="1037844" cy="310895"/>
          </a:xfrm>
          <a:custGeom>
            <a:rect b="b" l="l" r="r" t="t"/>
            <a:pathLst>
              <a:path extrusionOk="0" h="310896" w="1037844">
                <a:moveTo>
                  <a:pt x="0" y="310895"/>
                </a:moveTo>
                <a:lnTo>
                  <a:pt x="1037844" y="310895"/>
                </a:lnTo>
                <a:lnTo>
                  <a:pt x="1037844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192268" y="4347972"/>
            <a:ext cx="1037843" cy="310895"/>
          </a:xfrm>
          <a:custGeom>
            <a:rect b="b" l="l" r="r" t="t"/>
            <a:pathLst>
              <a:path extrusionOk="0" h="310896" w="1037843">
                <a:moveTo>
                  <a:pt x="0" y="310895"/>
                </a:moveTo>
                <a:lnTo>
                  <a:pt x="1037843" y="310895"/>
                </a:lnTo>
                <a:lnTo>
                  <a:pt x="1037843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192268" y="4347972"/>
            <a:ext cx="1037843" cy="310895"/>
          </a:xfrm>
          <a:custGeom>
            <a:rect b="b" l="l" r="r" t="t"/>
            <a:pathLst>
              <a:path extrusionOk="0" h="310896" w="1037843">
                <a:moveTo>
                  <a:pt x="0" y="310895"/>
                </a:moveTo>
                <a:lnTo>
                  <a:pt x="1037843" y="310895"/>
                </a:lnTo>
                <a:lnTo>
                  <a:pt x="1037843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230112" y="4347972"/>
            <a:ext cx="1039367" cy="310895"/>
          </a:xfrm>
          <a:custGeom>
            <a:rect b="b" l="l" r="r" t="t"/>
            <a:pathLst>
              <a:path extrusionOk="0" h="310896" w="1039367">
                <a:moveTo>
                  <a:pt x="0" y="310895"/>
                </a:moveTo>
                <a:lnTo>
                  <a:pt x="1039367" y="310895"/>
                </a:lnTo>
                <a:lnTo>
                  <a:pt x="1039367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230112" y="4347972"/>
            <a:ext cx="1039367" cy="310895"/>
          </a:xfrm>
          <a:custGeom>
            <a:rect b="b" l="l" r="r" t="t"/>
            <a:pathLst>
              <a:path extrusionOk="0" h="310896" w="1039367">
                <a:moveTo>
                  <a:pt x="0" y="310895"/>
                </a:moveTo>
                <a:lnTo>
                  <a:pt x="1039367" y="310895"/>
                </a:lnTo>
                <a:lnTo>
                  <a:pt x="1039367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116580" y="4812792"/>
            <a:ext cx="1037844" cy="310895"/>
          </a:xfrm>
          <a:custGeom>
            <a:rect b="b" l="l" r="r" t="t"/>
            <a:pathLst>
              <a:path extrusionOk="0" h="310896" w="1037844">
                <a:moveTo>
                  <a:pt x="0" y="310895"/>
                </a:moveTo>
                <a:lnTo>
                  <a:pt x="1037844" y="310895"/>
                </a:lnTo>
                <a:lnTo>
                  <a:pt x="1037844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116580" y="4812792"/>
            <a:ext cx="1037844" cy="310895"/>
          </a:xfrm>
          <a:custGeom>
            <a:rect b="b" l="l" r="r" t="t"/>
            <a:pathLst>
              <a:path extrusionOk="0" h="310896" w="1037844">
                <a:moveTo>
                  <a:pt x="0" y="310895"/>
                </a:moveTo>
                <a:lnTo>
                  <a:pt x="1037844" y="310895"/>
                </a:lnTo>
                <a:lnTo>
                  <a:pt x="1037844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154424" y="4812792"/>
            <a:ext cx="1037844" cy="310895"/>
          </a:xfrm>
          <a:custGeom>
            <a:rect b="b" l="l" r="r" t="t"/>
            <a:pathLst>
              <a:path extrusionOk="0" h="310896" w="1037844">
                <a:moveTo>
                  <a:pt x="0" y="310895"/>
                </a:moveTo>
                <a:lnTo>
                  <a:pt x="1037844" y="310895"/>
                </a:lnTo>
                <a:lnTo>
                  <a:pt x="1037844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DF2D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154424" y="4812792"/>
            <a:ext cx="1037844" cy="310895"/>
          </a:xfrm>
          <a:custGeom>
            <a:rect b="b" l="l" r="r" t="t"/>
            <a:pathLst>
              <a:path extrusionOk="0" h="310896" w="1037844">
                <a:moveTo>
                  <a:pt x="0" y="310895"/>
                </a:moveTo>
                <a:lnTo>
                  <a:pt x="1037844" y="310895"/>
                </a:lnTo>
                <a:lnTo>
                  <a:pt x="1037844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192268" y="4812792"/>
            <a:ext cx="1037843" cy="310895"/>
          </a:xfrm>
          <a:custGeom>
            <a:rect b="b" l="l" r="r" t="t"/>
            <a:pathLst>
              <a:path extrusionOk="0" h="310896" w="1037843">
                <a:moveTo>
                  <a:pt x="0" y="310895"/>
                </a:moveTo>
                <a:lnTo>
                  <a:pt x="1037843" y="310895"/>
                </a:lnTo>
                <a:lnTo>
                  <a:pt x="1037843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192268" y="4812792"/>
            <a:ext cx="1037843" cy="310895"/>
          </a:xfrm>
          <a:custGeom>
            <a:rect b="b" l="l" r="r" t="t"/>
            <a:pathLst>
              <a:path extrusionOk="0" h="310896" w="1037843">
                <a:moveTo>
                  <a:pt x="0" y="310895"/>
                </a:moveTo>
                <a:lnTo>
                  <a:pt x="1037843" y="310895"/>
                </a:lnTo>
                <a:lnTo>
                  <a:pt x="1037843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230112" y="4812792"/>
            <a:ext cx="1039367" cy="310895"/>
          </a:xfrm>
          <a:custGeom>
            <a:rect b="b" l="l" r="r" t="t"/>
            <a:pathLst>
              <a:path extrusionOk="0" h="310896" w="1039367">
                <a:moveTo>
                  <a:pt x="0" y="310895"/>
                </a:moveTo>
                <a:lnTo>
                  <a:pt x="1039367" y="310895"/>
                </a:lnTo>
                <a:lnTo>
                  <a:pt x="1039367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230112" y="4812792"/>
            <a:ext cx="1039367" cy="310895"/>
          </a:xfrm>
          <a:custGeom>
            <a:rect b="b" l="l" r="r" t="t"/>
            <a:pathLst>
              <a:path extrusionOk="0" h="310896" w="1039367">
                <a:moveTo>
                  <a:pt x="0" y="310895"/>
                </a:moveTo>
                <a:lnTo>
                  <a:pt x="1039367" y="310895"/>
                </a:lnTo>
                <a:lnTo>
                  <a:pt x="1039367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116580" y="5279136"/>
            <a:ext cx="1037844" cy="309372"/>
          </a:xfrm>
          <a:custGeom>
            <a:rect b="b" l="l" r="r" t="t"/>
            <a:pathLst>
              <a:path extrusionOk="0" h="309372" w="1037844">
                <a:moveTo>
                  <a:pt x="0" y="309372"/>
                </a:moveTo>
                <a:lnTo>
                  <a:pt x="1037844" y="309372"/>
                </a:lnTo>
                <a:lnTo>
                  <a:pt x="1037844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solidFill>
            <a:srgbClr val="DF2D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116580" y="5279136"/>
            <a:ext cx="1037844" cy="309372"/>
          </a:xfrm>
          <a:custGeom>
            <a:rect b="b" l="l" r="r" t="t"/>
            <a:pathLst>
              <a:path extrusionOk="0" h="309372" w="1037844">
                <a:moveTo>
                  <a:pt x="0" y="309372"/>
                </a:moveTo>
                <a:lnTo>
                  <a:pt x="1037844" y="309372"/>
                </a:lnTo>
                <a:lnTo>
                  <a:pt x="1037844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154424" y="5279136"/>
            <a:ext cx="1037844" cy="309372"/>
          </a:xfrm>
          <a:custGeom>
            <a:rect b="b" l="l" r="r" t="t"/>
            <a:pathLst>
              <a:path extrusionOk="0" h="309372" w="1037844">
                <a:moveTo>
                  <a:pt x="0" y="309372"/>
                </a:moveTo>
                <a:lnTo>
                  <a:pt x="1037844" y="309372"/>
                </a:lnTo>
                <a:lnTo>
                  <a:pt x="1037844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154424" y="5279136"/>
            <a:ext cx="1037844" cy="309372"/>
          </a:xfrm>
          <a:custGeom>
            <a:rect b="b" l="l" r="r" t="t"/>
            <a:pathLst>
              <a:path extrusionOk="0" h="309372" w="1037844">
                <a:moveTo>
                  <a:pt x="0" y="309372"/>
                </a:moveTo>
                <a:lnTo>
                  <a:pt x="1037844" y="309372"/>
                </a:lnTo>
                <a:lnTo>
                  <a:pt x="1037844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192268" y="5279136"/>
            <a:ext cx="1037843" cy="309372"/>
          </a:xfrm>
          <a:custGeom>
            <a:rect b="b" l="l" r="r" t="t"/>
            <a:pathLst>
              <a:path extrusionOk="0" h="309372" w="1037843">
                <a:moveTo>
                  <a:pt x="0" y="309372"/>
                </a:moveTo>
                <a:lnTo>
                  <a:pt x="1037843" y="309372"/>
                </a:lnTo>
                <a:lnTo>
                  <a:pt x="1037843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192268" y="5279136"/>
            <a:ext cx="1037843" cy="309372"/>
          </a:xfrm>
          <a:custGeom>
            <a:rect b="b" l="l" r="r" t="t"/>
            <a:pathLst>
              <a:path extrusionOk="0" h="309372" w="1037843">
                <a:moveTo>
                  <a:pt x="0" y="309372"/>
                </a:moveTo>
                <a:lnTo>
                  <a:pt x="1037843" y="309372"/>
                </a:lnTo>
                <a:lnTo>
                  <a:pt x="1037843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230112" y="5279136"/>
            <a:ext cx="1039367" cy="309372"/>
          </a:xfrm>
          <a:custGeom>
            <a:rect b="b" l="l" r="r" t="t"/>
            <a:pathLst>
              <a:path extrusionOk="0" h="309372" w="1039367">
                <a:moveTo>
                  <a:pt x="0" y="309372"/>
                </a:moveTo>
                <a:lnTo>
                  <a:pt x="1039367" y="309372"/>
                </a:lnTo>
                <a:lnTo>
                  <a:pt x="1039367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solidFill>
            <a:srgbClr val="DF2D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230112" y="5279136"/>
            <a:ext cx="1039367" cy="309372"/>
          </a:xfrm>
          <a:custGeom>
            <a:rect b="b" l="l" r="r" t="t"/>
            <a:pathLst>
              <a:path extrusionOk="0" h="309372" w="1039367">
                <a:moveTo>
                  <a:pt x="0" y="309372"/>
                </a:moveTo>
                <a:lnTo>
                  <a:pt x="1039367" y="309372"/>
                </a:lnTo>
                <a:lnTo>
                  <a:pt x="1039367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1276858" y="994759"/>
            <a:ext cx="382990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698837" y="994759"/>
            <a:ext cx="2110689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ERLANG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2844165" y="1740844"/>
            <a:ext cx="18679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2844165" y="2206045"/>
            <a:ext cx="202666" cy="564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28575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5875" rtl="0" algn="l">
              <a:lnSpc>
                <a:spcPct val="95825"/>
              </a:lnSpc>
              <a:spcBef>
                <a:spcPts val="273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7970647" y="2206045"/>
            <a:ext cx="90985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Erlang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2860040" y="3058596"/>
            <a:ext cx="266889" cy="9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92583" marR="215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583" marR="0" rtl="0" algn="l">
              <a:lnSpc>
                <a:spcPct val="95825"/>
              </a:lnSpc>
              <a:spcBef>
                <a:spcPts val="273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4335" rtl="0" algn="l">
              <a:lnSpc>
                <a:spcPct val="95825"/>
              </a:lnSpc>
              <a:spcBef>
                <a:spcPts val="983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8130285" y="3523670"/>
            <a:ext cx="90985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Erlang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2876804" y="4342312"/>
            <a:ext cx="186791" cy="64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95825"/>
              </a:lnSpc>
              <a:spcBef>
                <a:spcPts val="884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8210169" y="4686228"/>
            <a:ext cx="90985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Erlang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2860040" y="5306496"/>
            <a:ext cx="18679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3099562" y="5848989"/>
            <a:ext cx="18679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4856480" y="5848989"/>
            <a:ext cx="56055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7251954" y="5848989"/>
            <a:ext cx="199364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00">
            <a:noAutofit/>
          </a:bodyPr>
          <a:lstStyle/>
          <a:p>
            <a:pPr indent="0" lvl="0" marL="12700" marR="0" rtl="0" algn="l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116580" y="5279136"/>
            <a:ext cx="1037844" cy="30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4154424" y="5279136"/>
            <a:ext cx="1037844" cy="30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5192268" y="5279136"/>
            <a:ext cx="1037843" cy="30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6230111" y="5279136"/>
            <a:ext cx="1039368" cy="30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3116580" y="4812792"/>
            <a:ext cx="1037844" cy="31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4154424" y="4812792"/>
            <a:ext cx="1037844" cy="31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5192268" y="4812792"/>
            <a:ext cx="1037843" cy="31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6230111" y="4812792"/>
            <a:ext cx="1039368" cy="31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3116580" y="4347972"/>
            <a:ext cx="1037844" cy="31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154424" y="4347972"/>
            <a:ext cx="1037844" cy="31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5192268" y="4347972"/>
            <a:ext cx="1037843" cy="31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6230111" y="4347972"/>
            <a:ext cx="1039368" cy="31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3116580" y="3883152"/>
            <a:ext cx="2075688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5192268" y="3883152"/>
            <a:ext cx="207721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116580" y="3496055"/>
            <a:ext cx="41529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3116580" y="3108960"/>
            <a:ext cx="2075688" cy="231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5192268" y="3108960"/>
            <a:ext cx="2077211" cy="231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3116580" y="2566416"/>
            <a:ext cx="4072128" cy="231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3116580" y="2257043"/>
            <a:ext cx="4072128" cy="231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3116580" y="1868424"/>
            <a:ext cx="4072128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764540" y="1124934"/>
            <a:ext cx="3780702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 SOAL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764540" y="2241700"/>
            <a:ext cx="376558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1279652" y="2241700"/>
            <a:ext cx="10113686" cy="114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Dalam sebuah group jalur, masing-masing dipakai selama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3262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 menit dalam pengamatan 2 jam. Hitung trafik yang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3262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dibawa oleh group tersebut.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7"/>
          <p:cNvGrpSpPr/>
          <p:nvPr/>
        </p:nvGrpSpPr>
        <p:grpSpPr>
          <a:xfrm>
            <a:off x="381000" y="4285001"/>
            <a:ext cx="9942992" cy="1787475"/>
            <a:chOff x="764540" y="4032654"/>
            <a:chExt cx="9942992" cy="1787475"/>
          </a:xfrm>
        </p:grpSpPr>
        <p:sp>
          <p:nvSpPr>
            <p:cNvPr id="147" name="Google Shape;147;p7"/>
            <p:cNvSpPr txBox="1"/>
            <p:nvPr/>
          </p:nvSpPr>
          <p:spPr>
            <a:xfrm>
              <a:off x="764540" y="4032654"/>
              <a:ext cx="6153205" cy="1275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9100">
              <a:noAutofit/>
            </a:bodyPr>
            <a:lstStyle/>
            <a:p>
              <a:pPr indent="0" lvl="0" marL="12700" marR="52698" rtl="0" algn="l">
                <a:lnSpc>
                  <a:spcPct val="10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sz="2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2800" u="sng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Jawab:</a:t>
              </a:r>
              <a:endParaRPr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814323" marR="0" rtl="0" algn="l">
                <a:lnSpc>
                  <a:spcPct val="108214"/>
                </a:lnSpc>
                <a:spcBef>
                  <a:spcPts val="98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Trafik yang dibawa oleh group total durasi</a:t>
              </a:r>
              <a:endParaRPr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8" name="Google Shape;148;p7"/>
            <p:cNvSpPr txBox="1"/>
            <p:nvPr/>
          </p:nvSpPr>
          <p:spPr>
            <a:xfrm>
              <a:off x="6937961" y="4543194"/>
              <a:ext cx="3769571" cy="380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9000">
              <a:noAutofit/>
            </a:bodyPr>
            <a:lstStyle/>
            <a:p>
              <a:pPr indent="0" lvl="0" marL="12700" marR="0" rtl="0" algn="l">
                <a:lnSpc>
                  <a:spcPct val="106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 durasi pemakaian /</a:t>
              </a:r>
              <a:endParaRPr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9" name="Google Shape;149;p7"/>
            <p:cNvSpPr txBox="1"/>
            <p:nvPr/>
          </p:nvSpPr>
          <p:spPr>
            <a:xfrm>
              <a:off x="3507994" y="5439637"/>
              <a:ext cx="6142555" cy="380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9000">
              <a:noAutofit/>
            </a:bodyPr>
            <a:lstStyle/>
            <a:p>
              <a:pPr indent="0" lvl="0" marL="12700" marR="0" rtl="0" algn="l">
                <a:lnSpc>
                  <a:spcPct val="106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 30 menit / 120 menit = 0,25 Erlang</a:t>
              </a:r>
              <a:endParaRPr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412495" y="307363"/>
            <a:ext cx="376558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869696" y="307363"/>
            <a:ext cx="10608236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950">
            <a:noAutofit/>
          </a:bodyPr>
          <a:lstStyle/>
          <a:p>
            <a:pPr indent="0" lvl="0" marL="12700" marR="0" rtl="0" algn="l">
              <a:lnSpc>
                <a:spcPct val="106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group yang terdiri dari 20 server membawa trafik 10 E</a:t>
            </a: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1468241" y="307363"/>
            <a:ext cx="177020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869696" y="691411"/>
            <a:ext cx="6045299" cy="764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jika rata-rata durasi dari panggilan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7206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 panggilan yangdilewatkan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6937629" y="691411"/>
            <a:ext cx="1634863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 3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8592693" y="691411"/>
            <a:ext cx="2330196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menit, hitung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911721" y="1075459"/>
            <a:ext cx="830309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oleh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7763636" y="1075459"/>
            <a:ext cx="795263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satu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8578977" y="1075459"/>
            <a:ext cx="1087438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server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9688994" y="1075459"/>
            <a:ext cx="781045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dan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0492212" y="1075459"/>
            <a:ext cx="830665" cy="3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oleh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869696" y="1459257"/>
            <a:ext cx="4533891" cy="3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group tsb selama periode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425567" y="1459257"/>
            <a:ext cx="275670" cy="3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719836" y="1459257"/>
            <a:ext cx="729118" cy="380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no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jam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9"/>
          <p:cNvGrpSpPr/>
          <p:nvPr/>
        </p:nvGrpSpPr>
        <p:grpSpPr>
          <a:xfrm>
            <a:off x="2766044" y="1676400"/>
            <a:ext cx="6659911" cy="3988438"/>
            <a:chOff x="412495" y="2424692"/>
            <a:chExt cx="6659911" cy="3988438"/>
          </a:xfrm>
        </p:grpSpPr>
        <p:sp>
          <p:nvSpPr>
            <p:cNvPr id="175" name="Google Shape;175;p9"/>
            <p:cNvSpPr txBox="1"/>
            <p:nvPr/>
          </p:nvSpPr>
          <p:spPr>
            <a:xfrm>
              <a:off x="412495" y="2424692"/>
              <a:ext cx="2056479" cy="1427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12700" marR="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2400" u="sng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Jawab: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12700" rtl="0" algn="r">
                <a:lnSpc>
                  <a:spcPct val="120000"/>
                </a:lnSpc>
                <a:spcBef>
                  <a:spcPts val="14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Trafik per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29844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30029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9"/>
            <p:cNvSpPr txBox="1"/>
            <p:nvPr/>
          </p:nvSpPr>
          <p:spPr>
            <a:xfrm>
              <a:off x="2509737" y="2790452"/>
              <a:ext cx="1492142" cy="1061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31024" marR="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server (A)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12700" marR="45720" rtl="0" algn="l">
                <a:lnSpc>
                  <a:spcPct val="120000"/>
                </a:lnSpc>
                <a:spcBef>
                  <a:spcPts val="14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10 / 20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12736" marR="4572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0,5 E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9"/>
            <p:cNvSpPr txBox="1"/>
            <p:nvPr/>
          </p:nvSpPr>
          <p:spPr>
            <a:xfrm>
              <a:off x="1122984" y="3887986"/>
              <a:ext cx="3604677" cy="3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12700" marR="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Jumlah panggilan yang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9"/>
            <p:cNvSpPr txBox="1"/>
            <p:nvPr/>
          </p:nvSpPr>
          <p:spPr>
            <a:xfrm>
              <a:off x="4736719" y="3887986"/>
              <a:ext cx="1132525" cy="3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12700" marR="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melalui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9"/>
            <p:cNvSpPr txBox="1"/>
            <p:nvPr/>
          </p:nvSpPr>
          <p:spPr>
            <a:xfrm>
              <a:off x="5879719" y="3887986"/>
              <a:ext cx="1192687" cy="3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12700" marR="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 server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9"/>
            <p:cNvSpPr txBox="1"/>
            <p:nvPr/>
          </p:nvSpPr>
          <p:spPr>
            <a:xfrm>
              <a:off x="2241550" y="4253746"/>
              <a:ext cx="256046" cy="1062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12700" marR="23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12700" marR="0" rtl="0" algn="l">
                <a:lnSpc>
                  <a:spcPct val="120000"/>
                </a:lnSpc>
                <a:spcBef>
                  <a:spcPts val="14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12700" marR="230" rtl="0" algn="l">
                <a:lnSpc>
                  <a:spcPct val="120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2509737" y="4253746"/>
              <a:ext cx="2021225" cy="1062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12736" marR="4572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A. T / h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12700" marR="15023" rtl="0" algn="l">
                <a:lnSpc>
                  <a:spcPct val="120000"/>
                </a:lnSpc>
                <a:spcBef>
                  <a:spcPts val="14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( 0,5 x 60 ) / 3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12736" marR="0" rtl="0" algn="l">
                <a:lnSpc>
                  <a:spcPct val="120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10 panggilan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1122984" y="5351356"/>
              <a:ext cx="3581817" cy="10617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0" marR="0" rtl="0" algn="ctr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Jumlah panggilan yang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1131265" marR="22860" rtl="0" algn="l">
                <a:lnSpc>
                  <a:spcPct val="120000"/>
                </a:lnSpc>
                <a:spcBef>
                  <a:spcPts val="14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 10 x 20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1131265" marR="4592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= 200 panggilan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9"/>
            <p:cNvSpPr txBox="1"/>
            <p:nvPr/>
          </p:nvSpPr>
          <p:spPr>
            <a:xfrm>
              <a:off x="4736719" y="5351356"/>
              <a:ext cx="1148343" cy="3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12700" marR="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lewat 1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p9"/>
            <p:cNvSpPr txBox="1"/>
            <p:nvPr/>
          </p:nvSpPr>
          <p:spPr>
            <a:xfrm>
              <a:off x="5896483" y="5351356"/>
              <a:ext cx="961480" cy="3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475">
              <a:noAutofit/>
            </a:bodyPr>
            <a:lstStyle/>
            <a:p>
              <a:pPr indent="0" lvl="0" marL="12700" marR="0" rtl="0" algn="l">
                <a:lnSpc>
                  <a:spcPct val="108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group</a:t>
              </a:r>
              <a:endPara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764540" y="668242"/>
            <a:ext cx="5366682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SATUAN TRAFIK YANG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6172815" y="668242"/>
            <a:ext cx="1202209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LAIN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8080629" y="668242"/>
            <a:ext cx="1262464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(1/2)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764540" y="1709304"/>
            <a:ext cx="4373264" cy="33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Ukuran trafik yang lain yaitu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1474724" y="2165612"/>
            <a:ext cx="223718" cy="1243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98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98" rtl="0" algn="l">
              <a:lnSpc>
                <a:spcPct val="102172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657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710944" y="2165612"/>
            <a:ext cx="3985333" cy="1243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CCS (centum call second)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2172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CS (call second)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2172"/>
              </a:lnSpc>
              <a:spcBef>
                <a:spcPts val="657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CM (call menit)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764540" y="3534418"/>
            <a:ext cx="25582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1032763" y="3534418"/>
            <a:ext cx="602205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 semuanya menunjukkan perkalian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7063867" y="3534418"/>
            <a:ext cx="16015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panggilan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8678037" y="3534418"/>
            <a:ext cx="67402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9362313" y="3534418"/>
            <a:ext cx="97420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10350246" y="3534418"/>
            <a:ext cx="1555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1474724" y="3990094"/>
            <a:ext cx="223519" cy="1243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527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64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1710944" y="3990094"/>
            <a:ext cx="5127153" cy="1243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CCS diukur dalam setiap 100 detik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2172"/>
              </a:lnSpc>
              <a:spcBef>
                <a:spcPts val="527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CS dalam setiap detik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2172"/>
              </a:lnSpc>
              <a:spcBef>
                <a:spcPts val="648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CM setiap menit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1708785" y="5809522"/>
            <a:ext cx="6274158" cy="43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12700" marR="0" rtl="0" algn="l">
              <a:lnSpc>
                <a:spcPct val="106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E = 36 CCS = 3600 CS = 60 CM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764540" y="668242"/>
            <a:ext cx="6610484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SATUAN TRAFIK YANG LAIN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8080629" y="668242"/>
            <a:ext cx="1262464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(2/2)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279603" y="1903626"/>
            <a:ext cx="11480183" cy="191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53846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CCS/jam = 100 call seconds / (1 jamx60 men/jamx60 det/jam)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158796" marR="53846" rtl="0" algn="l">
              <a:lnSpc>
                <a:spcPct val="102172"/>
              </a:lnSpc>
              <a:spcBef>
                <a:spcPts val="448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=0,027E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586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36 CCS/jam = 3600 call seconds/(1 jamx60 men/jamx60 det/jam)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344724" marR="53846" rtl="0" algn="l">
              <a:lnSpc>
                <a:spcPct val="122142"/>
              </a:lnSpc>
              <a:spcBef>
                <a:spcPts val="7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1E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779475" y="1125188"/>
            <a:ext cx="3780753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 SOAL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735279" y="2010802"/>
            <a:ext cx="32499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1192479" y="2010802"/>
            <a:ext cx="10227421" cy="91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900">
            <a:noAutofit/>
          </a:bodyPr>
          <a:lstStyle/>
          <a:p>
            <a:pPr indent="0" lvl="0" marL="12700" marR="0" rtl="0" algn="l">
              <a:lnSpc>
                <a:spcPct val="104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Seorang pelanggan membuat 3 panggilan telepon, selama 3 menit,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65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 menit dan 2 menit dalam periode 1 jam. Hitung trafik pelanggan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65" rtl="0" algn="l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dalam erlang, CCS, CS dan CM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735279" y="3434472"/>
            <a:ext cx="9565806" cy="2848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4618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Jawab: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00152" marR="46180" rtl="0" algn="l">
              <a:lnSpc>
                <a:spcPct val="102172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pelanggan dalam erlang = ( 3 + 4 + 2) menit /60 menit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886502" marR="3503243" rtl="0" algn="ctr">
              <a:lnSpc>
                <a:spcPct val="102172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0,15 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00152" marR="0" rtl="0" algn="l">
              <a:lnSpc>
                <a:spcPct val="102172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pelanggan dalam CCS = (3 + 4 + 2) x 60 detik / 100 detik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886502" marR="3187497" rtl="0" algn="ctr">
              <a:lnSpc>
                <a:spcPct val="102172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5,4 CCS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00152" marR="46180" rtl="0" algn="l">
              <a:lnSpc>
                <a:spcPct val="102172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pelanggan dalam CS = (3 + 4 + 2) x 60 detik / 1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886502" marR="3560606" rtl="0" algn="ctr">
              <a:lnSpc>
                <a:spcPct val="102172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9 CM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846320" y="3788664"/>
            <a:ext cx="1863852" cy="711707"/>
          </a:xfrm>
          <a:custGeom>
            <a:rect b="b" l="l" r="r" t="t"/>
            <a:pathLst>
              <a:path extrusionOk="0" h="711707" w="1863852">
                <a:moveTo>
                  <a:pt x="0" y="711707"/>
                </a:moveTo>
                <a:lnTo>
                  <a:pt x="1863852" y="711707"/>
                </a:lnTo>
                <a:lnTo>
                  <a:pt x="1863852" y="0"/>
                </a:lnTo>
                <a:lnTo>
                  <a:pt x="0" y="0"/>
                </a:lnTo>
                <a:lnTo>
                  <a:pt x="0" y="7117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5532120" y="5189220"/>
            <a:ext cx="2455164" cy="711708"/>
          </a:xfrm>
          <a:custGeom>
            <a:rect b="b" l="l" r="r" t="t"/>
            <a:pathLst>
              <a:path extrusionOk="0" h="711708" w="2455164">
                <a:moveTo>
                  <a:pt x="0" y="711707"/>
                </a:moveTo>
                <a:lnTo>
                  <a:pt x="2455164" y="711707"/>
                </a:lnTo>
                <a:lnTo>
                  <a:pt x="2455164" y="0"/>
                </a:lnTo>
                <a:lnTo>
                  <a:pt x="0" y="0"/>
                </a:lnTo>
                <a:lnTo>
                  <a:pt x="0" y="7117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978814" y="772425"/>
            <a:ext cx="32499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1435989" y="772425"/>
            <a:ext cx="8977995" cy="98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4572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sentral diasumsikan memiliki 100 panggilan dalam 1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jam, dimana rata-rata lamanya panggilan yang menduduki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circuit adalah 3 menit.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1298829" y="1822966"/>
            <a:ext cx="365168" cy="723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233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1756410" y="1822966"/>
            <a:ext cx="3824551" cy="1052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21138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Hitung intensitas trafiknya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Hitung intensitas trafik jika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6056" rtl="0" algn="l">
              <a:lnSpc>
                <a:spcPct val="108124"/>
              </a:lnSpc>
              <a:spcBef>
                <a:spcPts val="12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menjadi 10 menit.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5577332" y="2215907"/>
            <a:ext cx="1396395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6985761" y="2215907"/>
            <a:ext cx="974207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7973314" y="2215907"/>
            <a:ext cx="1999343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pendudukan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9986899" y="2215907"/>
            <a:ext cx="682581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933094" y="3396115"/>
            <a:ext cx="1379462" cy="33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Jawab: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1298829" y="3787532"/>
            <a:ext cx="364857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1756410" y="3787532"/>
            <a:ext cx="2779134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trafiknya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4899532" y="3995093"/>
            <a:ext cx="432344" cy="300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00">
            <a:noAutofit/>
          </a:bodyPr>
          <a:lstStyle/>
          <a:p>
            <a:pPr indent="0" lvl="0" marL="12700" marR="0" rtl="0" algn="l">
              <a:lnSpc>
                <a:spcPct val="107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215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6065414" y="3995093"/>
            <a:ext cx="639160" cy="300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00">
            <a:noAutofit/>
          </a:bodyPr>
          <a:lstStyle/>
          <a:p>
            <a:pPr indent="0" lvl="0" marL="12700" marR="0" rtl="0" algn="l">
              <a:lnSpc>
                <a:spcPct val="107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 E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1298829" y="4636905"/>
            <a:ext cx="36524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1756410" y="4636905"/>
            <a:ext cx="303465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Jika rata-rata waktu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4804664" y="4636905"/>
            <a:ext cx="565692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pendudukan menjadi 10 menit, maka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1756410" y="4966089"/>
            <a:ext cx="359237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menjadi: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6276599" y="5611549"/>
            <a:ext cx="336088" cy="2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00">
            <a:noAutofit/>
          </a:bodyPr>
          <a:lstStyle/>
          <a:p>
            <a:pPr indent="0" lvl="0" marL="12700" marR="0" rtl="0" algn="l">
              <a:lnSpc>
                <a:spcPct val="10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5532120" y="5189220"/>
            <a:ext cx="4297680" cy="867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0">
            <a:noAutofit/>
          </a:bodyPr>
          <a:lstStyle/>
          <a:p>
            <a:pPr indent="0" lvl="0" marL="65980" marR="0" rtl="0" algn="l">
              <a:lnSpc>
                <a:spcPct val="768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US" sz="2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16,67 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5980" marR="0" rtl="0" algn="l">
              <a:lnSpc>
                <a:spcPct val="95825"/>
              </a:lnSpc>
              <a:spcBef>
                <a:spcPts val="135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4846320" y="3788664"/>
            <a:ext cx="1863852" cy="711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noAutofit/>
          </a:bodyPr>
          <a:lstStyle/>
          <a:p>
            <a:pPr indent="0" lvl="0" marL="449878" marR="668617" rtl="0" algn="ctr">
              <a:lnSpc>
                <a:spcPct val="95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i="1"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62951" marR="865028" rtl="0" algn="ctr">
              <a:lnSpc>
                <a:spcPct val="95825"/>
              </a:lnSpc>
              <a:spcBef>
                <a:spcPts val="597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1394587" y="954032"/>
            <a:ext cx="32503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1851787" y="954032"/>
            <a:ext cx="8985310" cy="131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45765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PABX perusahaan mencatat bahwa rata-rata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panggilan keluar terjadi sebanyak 120 kali pada 1 jam sibuk.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65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 setiap panggilan menduduki sirkit selama 2 menit.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65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Sedangkan pada arah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incoming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PABX tersebut menerima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1851787" y="2271022"/>
            <a:ext cx="3598205" cy="65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 200 panggilan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Hitunglah: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5462397" y="2271022"/>
            <a:ext cx="126528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dengan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6735318" y="2271022"/>
            <a:ext cx="94509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durasi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7693914" y="2271022"/>
            <a:ext cx="139599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9102039" y="2271022"/>
            <a:ext cx="24003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9355328" y="2271022"/>
            <a:ext cx="9937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1882267" y="2992255"/>
            <a:ext cx="364935" cy="1116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051" rtl="0" algn="l">
              <a:lnSpc>
                <a:spcPct val="129166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 c.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2339467" y="2992255"/>
            <a:ext cx="2418681" cy="1116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Outgoing traffic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0390" rtl="0" algn="l">
              <a:lnSpc>
                <a:spcPct val="102172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Incoming traffic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2172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traffic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1394587" y="4627761"/>
            <a:ext cx="115004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Jawab: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1882267" y="5019429"/>
            <a:ext cx="375583" cy="111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0648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4166" rtl="0" algn="l">
              <a:lnSpc>
                <a:spcPct val="102172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2339467" y="5019429"/>
            <a:ext cx="2418681" cy="723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Outgoing traffic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0726" rtl="0" algn="l">
              <a:lnSpc>
                <a:spcPct val="102172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Incoming traffic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4746117" y="5019429"/>
            <a:ext cx="3314918" cy="723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3556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 120x2/60 = 4 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3164" rtl="0" algn="l">
              <a:lnSpc>
                <a:spcPct val="102172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 200x3/60=10 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2339467" y="5805562"/>
            <a:ext cx="3686088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traffic = 4+10 = 14 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916635" y="454878"/>
            <a:ext cx="5080018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PERLUASAN ERLANG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916635" y="1177994"/>
            <a:ext cx="164846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875">
            <a:noAutofit/>
          </a:bodyPr>
          <a:lstStyle/>
          <a:p>
            <a:pPr indent="0" lvl="0" marL="12700" marR="0" rtl="0" algn="l">
              <a:lnSpc>
                <a:spcPct val="106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1145235" y="1175184"/>
            <a:ext cx="10223612" cy="3275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38684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Satuan erlang pada awalnya digunakan untuk menyatakan besaran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8684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telepon, namun seiring berjalannya waktu, data trafik tidak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8684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hanya mencakup trafik telepon saja, namun juga trafik data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20347" rtl="0" algn="l">
              <a:lnSpc>
                <a:spcPct val="108181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Erlang dapat digunakan untuk menyatakan ukuran intensitas trafik data dengan aturan sebagai berikut: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2590"/>
              </a:lnSpc>
              <a:spcBef>
                <a:spcPts val="827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data sebesar B bit pada pengukuran 1 jam dinyatakan dalam B/3600 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2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bps. Untuk mengubah ke dalam bentuk erlang, maka besaran trafik data 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2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tersebut harus dibagi dengan satuan bps pula (seperti halnya besaran 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2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telepon yang diamati dalam satuan waktu 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2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pendudukan/waktu pengamatan).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916635" y="2211647"/>
            <a:ext cx="164846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875">
            <a:noAutofit/>
          </a:bodyPr>
          <a:lstStyle/>
          <a:p>
            <a:pPr indent="0" lvl="0" marL="12700" marR="0" rtl="0" algn="l">
              <a:lnSpc>
                <a:spcPct val="106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916635" y="2941396"/>
            <a:ext cx="164998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00">
            <a:noAutofit/>
          </a:bodyPr>
          <a:lstStyle/>
          <a:p>
            <a:pPr indent="0" lvl="0" marL="12700" marR="0" rtl="0" algn="l">
              <a:lnSpc>
                <a:spcPct val="10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962355" y="5004361"/>
            <a:ext cx="9916218" cy="1574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38684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652830" marR="0" rtl="0" algn="l">
              <a:lnSpc>
                <a:spcPct val="108181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	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perangkat server memiliki kapasitas 5000 Mbps digunakan untuk mengirim sejumlah 1000 bit data per detik ( 1 Mbps), maka intensitas trafik perangkat server tersebut adalah 1 Mbps/5000 Mbps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52830" marR="38684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0,0002 E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10892835" y="5971902"/>
            <a:ext cx="236460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8090916" y="4799076"/>
            <a:ext cx="1949196" cy="509016"/>
          </a:xfrm>
          <a:custGeom>
            <a:rect b="b" l="l" r="r" t="t"/>
            <a:pathLst>
              <a:path extrusionOk="0" h="509015" w="1949196">
                <a:moveTo>
                  <a:pt x="0" y="509016"/>
                </a:moveTo>
                <a:lnTo>
                  <a:pt x="1949196" y="509016"/>
                </a:lnTo>
                <a:lnTo>
                  <a:pt x="1949196" y="0"/>
                </a:lnTo>
                <a:lnTo>
                  <a:pt x="0" y="0"/>
                </a:lnTo>
                <a:lnTo>
                  <a:pt x="0" y="5090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8086344" y="4794504"/>
            <a:ext cx="1958340" cy="518160"/>
          </a:xfrm>
          <a:custGeom>
            <a:rect b="b" l="l" r="r" t="t"/>
            <a:pathLst>
              <a:path extrusionOk="0" h="518160" w="1958340">
                <a:moveTo>
                  <a:pt x="0" y="518160"/>
                </a:moveTo>
                <a:lnTo>
                  <a:pt x="1958340" y="518160"/>
                </a:lnTo>
                <a:lnTo>
                  <a:pt x="1958340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3154679" y="4248912"/>
            <a:ext cx="2161032" cy="1429512"/>
          </a:xfrm>
          <a:custGeom>
            <a:rect b="b" l="l" r="r" t="t"/>
            <a:pathLst>
              <a:path extrusionOk="0" h="1429512" w="2161031">
                <a:moveTo>
                  <a:pt x="0" y="1429512"/>
                </a:moveTo>
                <a:lnTo>
                  <a:pt x="2161032" y="1429512"/>
                </a:lnTo>
                <a:lnTo>
                  <a:pt x="2161032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solidFill>
            <a:srgbClr val="3D3D3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154679" y="4248912"/>
            <a:ext cx="2161032" cy="1429512"/>
          </a:xfrm>
          <a:custGeom>
            <a:rect b="b" l="l" r="r" t="t"/>
            <a:pathLst>
              <a:path extrusionOk="0" h="1429512" w="2161031">
                <a:moveTo>
                  <a:pt x="0" y="1429512"/>
                </a:moveTo>
                <a:lnTo>
                  <a:pt x="2161032" y="1429512"/>
                </a:lnTo>
                <a:lnTo>
                  <a:pt x="2161032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noFill/>
          <a:ln cap="flat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3515105" y="4537710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60045" y="0"/>
                </a:lnTo>
              </a:path>
            </a:pathLst>
          </a:custGeom>
          <a:noFill/>
          <a:ln cap="flat" cmpd="sng" w="28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3876294" y="4537710"/>
            <a:ext cx="648081" cy="792099"/>
          </a:xfrm>
          <a:custGeom>
            <a:rect b="b" l="l" r="r" t="t"/>
            <a:pathLst>
              <a:path extrusionOk="0" h="792099" w="648080">
                <a:moveTo>
                  <a:pt x="0" y="0"/>
                </a:moveTo>
                <a:lnTo>
                  <a:pt x="648081" y="792099"/>
                </a:lnTo>
              </a:path>
            </a:pathLst>
          </a:custGeom>
          <a:noFill/>
          <a:ln cap="flat" cmpd="sng" w="28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4523994" y="5328666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60045" y="0"/>
                </a:lnTo>
              </a:path>
            </a:pathLst>
          </a:custGeom>
          <a:noFill/>
          <a:ln cap="flat" cmpd="sng" w="28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4618482" y="4537710"/>
            <a:ext cx="395732" cy="0"/>
          </a:xfrm>
          <a:custGeom>
            <a:rect b="b" l="l" r="r" t="t"/>
            <a:pathLst>
              <a:path extrusionOk="0" h="120000" w="395732">
                <a:moveTo>
                  <a:pt x="395732" y="0"/>
                </a:moveTo>
                <a:lnTo>
                  <a:pt x="0" y="0"/>
                </a:lnTo>
              </a:path>
            </a:pathLst>
          </a:custGeom>
          <a:noFill/>
          <a:ln cap="flat" cmpd="sng" w="28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3906774" y="4537710"/>
            <a:ext cx="712343" cy="792099"/>
          </a:xfrm>
          <a:custGeom>
            <a:rect b="b" l="l" r="r" t="t"/>
            <a:pathLst>
              <a:path extrusionOk="0" h="792099" w="712343">
                <a:moveTo>
                  <a:pt x="712342" y="0"/>
                </a:moveTo>
                <a:lnTo>
                  <a:pt x="0" y="792099"/>
                </a:lnTo>
              </a:path>
            </a:pathLst>
          </a:custGeom>
          <a:noFill/>
          <a:ln cap="flat" cmpd="sng" w="28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3510533" y="5328666"/>
            <a:ext cx="395732" cy="0"/>
          </a:xfrm>
          <a:custGeom>
            <a:rect b="b" l="l" r="r" t="t"/>
            <a:pathLst>
              <a:path extrusionOk="0" h="120000" w="395732">
                <a:moveTo>
                  <a:pt x="395732" y="0"/>
                </a:moveTo>
                <a:lnTo>
                  <a:pt x="0" y="0"/>
                </a:lnTo>
              </a:path>
            </a:pathLst>
          </a:custGeom>
          <a:noFill/>
          <a:ln cap="flat" cmpd="sng" w="28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1623822" y="4892548"/>
            <a:ext cx="1584198" cy="144779"/>
          </a:xfrm>
          <a:custGeom>
            <a:rect b="b" l="l" r="r" t="t"/>
            <a:pathLst>
              <a:path extrusionOk="0" h="144779" w="1584198">
                <a:moveTo>
                  <a:pt x="1584198" y="71881"/>
                </a:moveTo>
                <a:lnTo>
                  <a:pt x="1439164" y="0"/>
                </a:lnTo>
                <a:lnTo>
                  <a:pt x="1453769" y="57784"/>
                </a:lnTo>
                <a:lnTo>
                  <a:pt x="1453896" y="86740"/>
                </a:lnTo>
                <a:lnTo>
                  <a:pt x="1439672" y="144779"/>
                </a:lnTo>
                <a:lnTo>
                  <a:pt x="1584198" y="71881"/>
                </a:lnTo>
                <a:close/>
              </a:path>
              <a:path extrusionOk="0" h="144779" w="1584198">
                <a:moveTo>
                  <a:pt x="1439468" y="86787"/>
                </a:moveTo>
                <a:lnTo>
                  <a:pt x="1439672" y="144779"/>
                </a:lnTo>
                <a:lnTo>
                  <a:pt x="1453896" y="86740"/>
                </a:lnTo>
                <a:lnTo>
                  <a:pt x="1453769" y="57784"/>
                </a:lnTo>
                <a:lnTo>
                  <a:pt x="1439164" y="0"/>
                </a:lnTo>
                <a:lnTo>
                  <a:pt x="1439366" y="57831"/>
                </a:lnTo>
                <a:lnTo>
                  <a:pt x="0" y="62483"/>
                </a:lnTo>
                <a:lnTo>
                  <a:pt x="0" y="91439"/>
                </a:lnTo>
                <a:lnTo>
                  <a:pt x="1439468" y="867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5316474" y="4892548"/>
            <a:ext cx="1584198" cy="144779"/>
          </a:xfrm>
          <a:custGeom>
            <a:rect b="b" l="l" r="r" t="t"/>
            <a:pathLst>
              <a:path extrusionOk="0" h="144779" w="1584198">
                <a:moveTo>
                  <a:pt x="1584198" y="71881"/>
                </a:moveTo>
                <a:lnTo>
                  <a:pt x="1439164" y="0"/>
                </a:lnTo>
                <a:lnTo>
                  <a:pt x="1453769" y="57784"/>
                </a:lnTo>
                <a:lnTo>
                  <a:pt x="1453896" y="86740"/>
                </a:lnTo>
                <a:lnTo>
                  <a:pt x="1439672" y="144779"/>
                </a:lnTo>
                <a:lnTo>
                  <a:pt x="1584198" y="71881"/>
                </a:lnTo>
                <a:close/>
              </a:path>
              <a:path extrusionOk="0" h="144779" w="1584198">
                <a:moveTo>
                  <a:pt x="1439468" y="86787"/>
                </a:moveTo>
                <a:lnTo>
                  <a:pt x="1439672" y="144779"/>
                </a:lnTo>
                <a:lnTo>
                  <a:pt x="1453896" y="86740"/>
                </a:lnTo>
                <a:lnTo>
                  <a:pt x="1453769" y="57784"/>
                </a:lnTo>
                <a:lnTo>
                  <a:pt x="1439164" y="0"/>
                </a:lnTo>
                <a:lnTo>
                  <a:pt x="1439366" y="57831"/>
                </a:lnTo>
                <a:lnTo>
                  <a:pt x="0" y="62483"/>
                </a:lnTo>
                <a:lnTo>
                  <a:pt x="0" y="91439"/>
                </a:lnTo>
                <a:lnTo>
                  <a:pt x="1439468" y="867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4407281" y="5680684"/>
            <a:ext cx="300736" cy="613206"/>
          </a:xfrm>
          <a:custGeom>
            <a:rect b="b" l="l" r="r" t="t"/>
            <a:pathLst>
              <a:path extrusionOk="0" h="613206" w="300736">
                <a:moveTo>
                  <a:pt x="228219" y="501256"/>
                </a:moveTo>
                <a:lnTo>
                  <a:pt x="222081" y="488104"/>
                </a:lnTo>
                <a:lnTo>
                  <a:pt x="169545" y="512622"/>
                </a:lnTo>
                <a:lnTo>
                  <a:pt x="296418" y="613206"/>
                </a:lnTo>
                <a:lnTo>
                  <a:pt x="228219" y="501256"/>
                </a:lnTo>
                <a:close/>
              </a:path>
              <a:path extrusionOk="0" h="613206" w="300736">
                <a:moveTo>
                  <a:pt x="254381" y="489000"/>
                </a:moveTo>
                <a:lnTo>
                  <a:pt x="300736" y="451396"/>
                </a:lnTo>
                <a:lnTo>
                  <a:pt x="248260" y="475886"/>
                </a:lnTo>
                <a:lnTo>
                  <a:pt x="254381" y="489000"/>
                </a:lnTo>
                <a:close/>
              </a:path>
              <a:path extrusionOk="0" h="613206" w="300736">
                <a:moveTo>
                  <a:pt x="26162" y="0"/>
                </a:moveTo>
                <a:lnTo>
                  <a:pt x="0" y="12242"/>
                </a:lnTo>
                <a:lnTo>
                  <a:pt x="222081" y="488104"/>
                </a:lnTo>
                <a:lnTo>
                  <a:pt x="228219" y="501256"/>
                </a:lnTo>
                <a:lnTo>
                  <a:pt x="296418" y="613206"/>
                </a:lnTo>
                <a:lnTo>
                  <a:pt x="300736" y="451396"/>
                </a:lnTo>
                <a:lnTo>
                  <a:pt x="254381" y="489000"/>
                </a:lnTo>
                <a:lnTo>
                  <a:pt x="248260" y="475886"/>
                </a:lnTo>
                <a:lnTo>
                  <a:pt x="261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1065276" y="3860291"/>
            <a:ext cx="6469380" cy="2737104"/>
          </a:xfrm>
          <a:custGeom>
            <a:rect b="b" l="l" r="r" t="t"/>
            <a:pathLst>
              <a:path extrusionOk="0" h="2737104" w="6469380">
                <a:moveTo>
                  <a:pt x="0" y="2737104"/>
                </a:moveTo>
                <a:lnTo>
                  <a:pt x="6469380" y="2737104"/>
                </a:lnTo>
                <a:lnTo>
                  <a:pt x="6469380" y="0"/>
                </a:lnTo>
                <a:lnTo>
                  <a:pt x="0" y="0"/>
                </a:lnTo>
                <a:lnTo>
                  <a:pt x="0" y="2737104"/>
                </a:lnTo>
                <a:close/>
              </a:path>
            </a:pathLst>
          </a:custGeom>
          <a:noFill/>
          <a:ln cap="flat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1090066" y="938240"/>
            <a:ext cx="8629013" cy="1668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0">
            <a:noAutofit/>
          </a:bodyPr>
          <a:lstStyle/>
          <a:p>
            <a:pPr indent="0" lvl="0" marL="12700" marR="56056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JENIS TRAFIK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2369" marR="0" rtl="0" algn="l">
              <a:lnSpc>
                <a:spcPct val="102172"/>
              </a:lnSpc>
              <a:spcBef>
                <a:spcPts val="28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Berdasarkan lokasi panggilan pada perangkat switching,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2369" marR="56056" rtl="0" algn="l">
              <a:lnSpc>
                <a:spcPct val="120208"/>
              </a:lnSpc>
              <a:spcBef>
                <a:spcPts val="14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 3 jenis trafik: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1189736" y="2642624"/>
            <a:ext cx="325035" cy="10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8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1646936" y="2642624"/>
            <a:ext cx="822410" cy="10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0336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9854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2470150" y="2642624"/>
            <a:ext cx="844051" cy="10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10336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9527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3315970" y="2642624"/>
            <a:ext cx="4661055" cy="10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7268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ditawarkan (Offered Traffic) : 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65" rtl="0" algn="l">
              <a:lnSpc>
                <a:spcPct val="120000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dibawa (Carried Traffic) : Y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ditolak (Lost/Blocked Traffic) : R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8086344" y="4794504"/>
            <a:ext cx="1958340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900">
            <a:noAutofit/>
          </a:bodyPr>
          <a:lstStyle/>
          <a:p>
            <a:pPr indent="0" lvl="0" marL="118411" marR="0" rtl="0" algn="l">
              <a:lnSpc>
                <a:spcPct val="1102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US" sz="3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3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3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3154680" y="4248912"/>
            <a:ext cx="2161032" cy="142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1065276" y="3860291"/>
            <a:ext cx="6469380" cy="2737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34061" marR="0" rtl="0" algn="l">
              <a:lnSpc>
                <a:spcPct val="122041"/>
              </a:lnSpc>
              <a:spcBef>
                <a:spcPts val="4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Offered Traffic                                  </a:t>
            </a:r>
            <a:r>
              <a:rPr lang="en-US" sz="24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Carried Traffic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31850" marR="0" rtl="0" algn="l">
              <a:lnSpc>
                <a:spcPct val="122583"/>
              </a:lnSpc>
              <a:spcBef>
                <a:spcPts val="1252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(A)                                           </a:t>
            </a:r>
            <a:r>
              <a:rPr lang="en-US" sz="2400">
                <a:solidFill>
                  <a:srgbClr val="00AF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(Y)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3689134" marR="908844" rtl="0" algn="ctr">
              <a:lnSpc>
                <a:spcPct val="101725"/>
              </a:lnSpc>
              <a:spcBef>
                <a:spcPts val="3761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Blocked Traffic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632773" rtl="0" algn="r">
              <a:lnSpc>
                <a:spcPct val="1125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(R)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787704" y="990822"/>
            <a:ext cx="2769989" cy="1360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0">
            <a:noAutofit/>
          </a:bodyPr>
          <a:lstStyle/>
          <a:p>
            <a:pPr indent="0" lvl="0" marL="12700" marR="50106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DEFINISI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48335" marR="0" rtl="0" algn="l">
              <a:lnSpc>
                <a:spcPct val="102172"/>
              </a:lnSpc>
              <a:spcBef>
                <a:spcPts val="3026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n-US" sz="26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Traffic: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0" name="Google Shape;330;p17"/>
          <p:cNvSpPr txBox="1"/>
          <p:nvPr/>
        </p:nvSpPr>
        <p:spPr>
          <a:xfrm>
            <a:off x="923340" y="2450300"/>
            <a:ext cx="3450727" cy="88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378409" marR="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yang menuju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9606" rtl="0" algn="l">
              <a:lnSpc>
                <a:spcPct val="102172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n-US" sz="26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Carried Traffic: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4386199" y="2450300"/>
            <a:ext cx="1506341" cy="35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 sistem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923340" y="3433661"/>
            <a:ext cx="4252496" cy="88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378409" marR="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yang dimuat atau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9606" rtl="0" algn="l">
              <a:lnSpc>
                <a:spcPct val="102172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n-US" sz="26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Lost/Blocked Traffic: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5186553" y="3433661"/>
            <a:ext cx="901065" cy="356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6105525" y="3433661"/>
            <a:ext cx="721081" cy="356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bisa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6844665" y="3433661"/>
            <a:ext cx="1463371" cy="356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terlayani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8326374" y="3433661"/>
            <a:ext cx="1934529" cy="356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oleh system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1289050" y="4416391"/>
            <a:ext cx="3889061" cy="35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yang ditolakl atau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5191125" y="4416391"/>
            <a:ext cx="872521" cy="35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tidak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6078093" y="4416391"/>
            <a:ext cx="720230" cy="35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bisa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6815708" y="4416391"/>
            <a:ext cx="1463338" cy="35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terlayani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8297418" y="4416391"/>
            <a:ext cx="1825925" cy="35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oleh sistem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632561" y="5605420"/>
            <a:ext cx="4509749" cy="585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38176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Note: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Hanya Carried Traffic saja yang bisa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5145786" y="5910775"/>
            <a:ext cx="6106924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diukur, sedang 2 jenis trafik lainnya harus dihitung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2374922" y="2135886"/>
            <a:ext cx="897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2359940" y="3118866"/>
            <a:ext cx="926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3233626" y="4102227"/>
            <a:ext cx="9252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5230368" y="5088636"/>
            <a:ext cx="333756" cy="1370076"/>
          </a:xfrm>
          <a:custGeom>
            <a:rect b="b" l="l" r="r" t="t"/>
            <a:pathLst>
              <a:path extrusionOk="0" h="1370076" w="333756">
                <a:moveTo>
                  <a:pt x="0" y="1370076"/>
                </a:moveTo>
                <a:lnTo>
                  <a:pt x="333756" y="1370076"/>
                </a:lnTo>
                <a:lnTo>
                  <a:pt x="333756" y="0"/>
                </a:lnTo>
                <a:lnTo>
                  <a:pt x="0" y="0"/>
                </a:lnTo>
                <a:lnTo>
                  <a:pt x="0" y="13700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4981956" y="5271516"/>
            <a:ext cx="248411" cy="0"/>
          </a:xfrm>
          <a:custGeom>
            <a:rect b="b" l="l" r="r" t="t"/>
            <a:pathLst>
              <a:path extrusionOk="0" h="120000" w="248412">
                <a:moveTo>
                  <a:pt x="248412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4981956" y="6275832"/>
            <a:ext cx="248411" cy="0"/>
          </a:xfrm>
          <a:custGeom>
            <a:rect b="b" l="l" r="r" t="t"/>
            <a:pathLst>
              <a:path extrusionOk="0" h="120000" w="248412">
                <a:moveTo>
                  <a:pt x="248412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5564124" y="5271516"/>
            <a:ext cx="248411" cy="0"/>
          </a:xfrm>
          <a:custGeom>
            <a:rect b="b" l="l" r="r" t="t"/>
            <a:pathLst>
              <a:path extrusionOk="0" h="120000" w="248412">
                <a:moveTo>
                  <a:pt x="248412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5564124" y="6275832"/>
            <a:ext cx="248411" cy="0"/>
          </a:xfrm>
          <a:custGeom>
            <a:rect b="b" l="l" r="r" t="t"/>
            <a:pathLst>
              <a:path extrusionOk="0" h="120000" w="248412">
                <a:moveTo>
                  <a:pt x="248412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4622292" y="5201412"/>
            <a:ext cx="327660" cy="216408"/>
          </a:xfrm>
          <a:custGeom>
            <a:rect b="b" l="l" r="r" t="t"/>
            <a:pathLst>
              <a:path extrusionOk="0" h="216408" w="327660">
                <a:moveTo>
                  <a:pt x="303022" y="141350"/>
                </a:moveTo>
                <a:lnTo>
                  <a:pt x="327660" y="44449"/>
                </a:lnTo>
                <a:lnTo>
                  <a:pt x="216661" y="5841"/>
                </a:lnTo>
                <a:lnTo>
                  <a:pt x="121285" y="0"/>
                </a:lnTo>
                <a:lnTo>
                  <a:pt x="109601" y="50291"/>
                </a:lnTo>
                <a:lnTo>
                  <a:pt x="0" y="86232"/>
                </a:lnTo>
                <a:lnTo>
                  <a:pt x="0" y="103758"/>
                </a:lnTo>
                <a:lnTo>
                  <a:pt x="80137" y="216407"/>
                </a:lnTo>
                <a:lnTo>
                  <a:pt x="303022" y="141350"/>
                </a:lnTo>
                <a:close/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565904" y="5221224"/>
            <a:ext cx="411480" cy="236219"/>
          </a:xfrm>
          <a:custGeom>
            <a:rect b="b" l="l" r="r" t="t"/>
            <a:pathLst>
              <a:path extrusionOk="0" h="236220" w="411479">
                <a:moveTo>
                  <a:pt x="191135" y="11937"/>
                </a:moveTo>
                <a:lnTo>
                  <a:pt x="169164" y="7746"/>
                </a:lnTo>
                <a:lnTo>
                  <a:pt x="165735" y="30987"/>
                </a:lnTo>
                <a:lnTo>
                  <a:pt x="195072" y="39242"/>
                </a:lnTo>
                <a:lnTo>
                  <a:pt x="227329" y="24637"/>
                </a:lnTo>
                <a:lnTo>
                  <a:pt x="316611" y="73532"/>
                </a:lnTo>
                <a:lnTo>
                  <a:pt x="300228" y="89280"/>
                </a:lnTo>
                <a:lnTo>
                  <a:pt x="285623" y="112775"/>
                </a:lnTo>
                <a:lnTo>
                  <a:pt x="297561" y="125475"/>
                </a:lnTo>
                <a:lnTo>
                  <a:pt x="238760" y="109727"/>
                </a:lnTo>
                <a:lnTo>
                  <a:pt x="139827" y="156971"/>
                </a:lnTo>
                <a:lnTo>
                  <a:pt x="172085" y="169036"/>
                </a:lnTo>
                <a:lnTo>
                  <a:pt x="140462" y="183133"/>
                </a:lnTo>
                <a:lnTo>
                  <a:pt x="28575" y="74040"/>
                </a:lnTo>
                <a:lnTo>
                  <a:pt x="0" y="98678"/>
                </a:lnTo>
                <a:lnTo>
                  <a:pt x="13335" y="123824"/>
                </a:lnTo>
                <a:lnTo>
                  <a:pt x="33020" y="114934"/>
                </a:lnTo>
                <a:lnTo>
                  <a:pt x="68580" y="147573"/>
                </a:lnTo>
                <a:lnTo>
                  <a:pt x="105918" y="190626"/>
                </a:lnTo>
                <a:lnTo>
                  <a:pt x="101854" y="201929"/>
                </a:lnTo>
                <a:lnTo>
                  <a:pt x="127889" y="236219"/>
                </a:lnTo>
                <a:lnTo>
                  <a:pt x="160147" y="197865"/>
                </a:lnTo>
                <a:lnTo>
                  <a:pt x="335534" y="141731"/>
                </a:lnTo>
                <a:lnTo>
                  <a:pt x="400177" y="140588"/>
                </a:lnTo>
                <a:lnTo>
                  <a:pt x="409194" y="107441"/>
                </a:lnTo>
                <a:lnTo>
                  <a:pt x="411480" y="57784"/>
                </a:lnTo>
                <a:lnTo>
                  <a:pt x="373507" y="15239"/>
                </a:lnTo>
                <a:lnTo>
                  <a:pt x="340614" y="24002"/>
                </a:lnTo>
                <a:lnTo>
                  <a:pt x="348234" y="42798"/>
                </a:lnTo>
                <a:lnTo>
                  <a:pt x="306959" y="26288"/>
                </a:lnTo>
                <a:lnTo>
                  <a:pt x="212725" y="0"/>
                </a:lnTo>
                <a:lnTo>
                  <a:pt x="188722" y="507"/>
                </a:lnTo>
                <a:lnTo>
                  <a:pt x="191135" y="11937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4760976" y="5253228"/>
            <a:ext cx="109728" cy="70104"/>
          </a:xfrm>
          <a:custGeom>
            <a:rect b="b" l="l" r="r" t="t"/>
            <a:pathLst>
              <a:path extrusionOk="0" h="70103" w="109727">
                <a:moveTo>
                  <a:pt x="0" y="6985"/>
                </a:moveTo>
                <a:lnTo>
                  <a:pt x="83058" y="70104"/>
                </a:lnTo>
                <a:lnTo>
                  <a:pt x="109728" y="34417"/>
                </a:lnTo>
                <a:lnTo>
                  <a:pt x="29718" y="0"/>
                </a:lnTo>
                <a:lnTo>
                  <a:pt x="0" y="6985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4693920" y="5346192"/>
            <a:ext cx="242315" cy="115823"/>
          </a:xfrm>
          <a:custGeom>
            <a:rect b="b" l="l" r="r" t="t"/>
            <a:pathLst>
              <a:path extrusionOk="0" h="115824" w="242315">
                <a:moveTo>
                  <a:pt x="0" y="115824"/>
                </a:moveTo>
                <a:lnTo>
                  <a:pt x="53213" y="105156"/>
                </a:lnTo>
                <a:lnTo>
                  <a:pt x="57150" y="77851"/>
                </a:lnTo>
                <a:lnTo>
                  <a:pt x="179197" y="51181"/>
                </a:lnTo>
                <a:lnTo>
                  <a:pt x="182880" y="64643"/>
                </a:lnTo>
                <a:lnTo>
                  <a:pt x="242315" y="47498"/>
                </a:lnTo>
                <a:lnTo>
                  <a:pt x="224028" y="14859"/>
                </a:lnTo>
                <a:lnTo>
                  <a:pt x="170180" y="0"/>
                </a:lnTo>
                <a:lnTo>
                  <a:pt x="12573" y="49149"/>
                </a:lnTo>
                <a:lnTo>
                  <a:pt x="0" y="1158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4654296" y="5279136"/>
            <a:ext cx="181356" cy="100584"/>
          </a:xfrm>
          <a:custGeom>
            <a:rect b="b" l="l" r="r" t="t"/>
            <a:pathLst>
              <a:path extrusionOk="0" h="100584" w="181355">
                <a:moveTo>
                  <a:pt x="19050" y="14731"/>
                </a:moveTo>
                <a:lnTo>
                  <a:pt x="0" y="13588"/>
                </a:lnTo>
                <a:lnTo>
                  <a:pt x="71247" y="71881"/>
                </a:lnTo>
                <a:lnTo>
                  <a:pt x="56261" y="81914"/>
                </a:lnTo>
                <a:lnTo>
                  <a:pt x="46482" y="100583"/>
                </a:lnTo>
                <a:lnTo>
                  <a:pt x="181356" y="58292"/>
                </a:lnTo>
                <a:lnTo>
                  <a:pt x="159893" y="44830"/>
                </a:lnTo>
                <a:lnTo>
                  <a:pt x="128778" y="52323"/>
                </a:lnTo>
                <a:lnTo>
                  <a:pt x="51562" y="4190"/>
                </a:lnTo>
                <a:lnTo>
                  <a:pt x="28067" y="0"/>
                </a:lnTo>
                <a:lnTo>
                  <a:pt x="112141" y="57149"/>
                </a:lnTo>
                <a:lnTo>
                  <a:pt x="86614" y="63499"/>
                </a:lnTo>
                <a:lnTo>
                  <a:pt x="19050" y="147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4672584" y="5306568"/>
            <a:ext cx="115823" cy="39624"/>
          </a:xfrm>
          <a:custGeom>
            <a:rect b="b" l="l" r="r" t="t"/>
            <a:pathLst>
              <a:path extrusionOk="0" h="39624" w="115824">
                <a:moveTo>
                  <a:pt x="97028" y="9017"/>
                </a:moveTo>
                <a:lnTo>
                  <a:pt x="115823" y="7747"/>
                </a:lnTo>
                <a:lnTo>
                  <a:pt x="97028" y="0"/>
                </a:lnTo>
                <a:lnTo>
                  <a:pt x="8255" y="24257"/>
                </a:lnTo>
                <a:lnTo>
                  <a:pt x="0" y="39624"/>
                </a:lnTo>
                <a:lnTo>
                  <a:pt x="97028" y="90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4722876" y="5230368"/>
            <a:ext cx="147828" cy="92964"/>
          </a:xfrm>
          <a:custGeom>
            <a:rect b="b" l="l" r="r" t="t"/>
            <a:pathLst>
              <a:path extrusionOk="0" h="92963" w="147827">
                <a:moveTo>
                  <a:pt x="65786" y="43179"/>
                </a:moveTo>
                <a:lnTo>
                  <a:pt x="121285" y="57784"/>
                </a:lnTo>
                <a:lnTo>
                  <a:pt x="121285" y="92963"/>
                </a:lnTo>
                <a:lnTo>
                  <a:pt x="147828" y="57276"/>
                </a:lnTo>
                <a:lnTo>
                  <a:pt x="64389" y="4698"/>
                </a:lnTo>
                <a:lnTo>
                  <a:pt x="46863" y="0"/>
                </a:lnTo>
                <a:lnTo>
                  <a:pt x="41529" y="18795"/>
                </a:lnTo>
                <a:lnTo>
                  <a:pt x="0" y="15747"/>
                </a:lnTo>
                <a:lnTo>
                  <a:pt x="41148" y="45592"/>
                </a:lnTo>
                <a:lnTo>
                  <a:pt x="65786" y="431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4707636" y="5180076"/>
            <a:ext cx="281940" cy="169164"/>
          </a:xfrm>
          <a:custGeom>
            <a:rect b="b" l="l" r="r" t="t"/>
            <a:pathLst>
              <a:path extrusionOk="0" h="169163" w="281939">
                <a:moveTo>
                  <a:pt x="14604" y="50927"/>
                </a:moveTo>
                <a:lnTo>
                  <a:pt x="18288" y="33020"/>
                </a:lnTo>
                <a:lnTo>
                  <a:pt x="39116" y="46228"/>
                </a:lnTo>
                <a:lnTo>
                  <a:pt x="27178" y="17399"/>
                </a:lnTo>
                <a:lnTo>
                  <a:pt x="40513" y="12065"/>
                </a:lnTo>
                <a:lnTo>
                  <a:pt x="131318" y="27813"/>
                </a:lnTo>
                <a:lnTo>
                  <a:pt x="225933" y="65532"/>
                </a:lnTo>
                <a:lnTo>
                  <a:pt x="251079" y="89281"/>
                </a:lnTo>
                <a:lnTo>
                  <a:pt x="262382" y="112141"/>
                </a:lnTo>
                <a:lnTo>
                  <a:pt x="225933" y="110998"/>
                </a:lnTo>
                <a:lnTo>
                  <a:pt x="176784" y="76581"/>
                </a:lnTo>
                <a:lnTo>
                  <a:pt x="118745" y="60325"/>
                </a:lnTo>
                <a:lnTo>
                  <a:pt x="198628" y="110998"/>
                </a:lnTo>
                <a:lnTo>
                  <a:pt x="172847" y="134747"/>
                </a:lnTo>
                <a:lnTo>
                  <a:pt x="165227" y="155702"/>
                </a:lnTo>
                <a:lnTo>
                  <a:pt x="203327" y="169164"/>
                </a:lnTo>
                <a:lnTo>
                  <a:pt x="234822" y="167259"/>
                </a:lnTo>
                <a:lnTo>
                  <a:pt x="248411" y="151511"/>
                </a:lnTo>
                <a:lnTo>
                  <a:pt x="229489" y="147701"/>
                </a:lnTo>
                <a:lnTo>
                  <a:pt x="215265" y="136652"/>
                </a:lnTo>
                <a:lnTo>
                  <a:pt x="260985" y="129540"/>
                </a:lnTo>
                <a:lnTo>
                  <a:pt x="263652" y="162560"/>
                </a:lnTo>
                <a:lnTo>
                  <a:pt x="281940" y="126238"/>
                </a:lnTo>
                <a:lnTo>
                  <a:pt x="275590" y="91186"/>
                </a:lnTo>
                <a:lnTo>
                  <a:pt x="255397" y="61976"/>
                </a:lnTo>
                <a:lnTo>
                  <a:pt x="96520" y="3302"/>
                </a:lnTo>
                <a:lnTo>
                  <a:pt x="19558" y="0"/>
                </a:lnTo>
                <a:lnTo>
                  <a:pt x="4953" y="17399"/>
                </a:lnTo>
                <a:lnTo>
                  <a:pt x="0" y="56261"/>
                </a:lnTo>
                <a:lnTo>
                  <a:pt x="14604" y="509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4622292" y="6207252"/>
            <a:ext cx="327660" cy="214884"/>
          </a:xfrm>
          <a:custGeom>
            <a:rect b="b" l="l" r="r" t="t"/>
            <a:pathLst>
              <a:path extrusionOk="0" h="214884" w="327660">
                <a:moveTo>
                  <a:pt x="303022" y="140309"/>
                </a:moveTo>
                <a:lnTo>
                  <a:pt x="327660" y="44196"/>
                </a:lnTo>
                <a:lnTo>
                  <a:pt x="216661" y="5803"/>
                </a:lnTo>
                <a:lnTo>
                  <a:pt x="121285" y="0"/>
                </a:lnTo>
                <a:lnTo>
                  <a:pt x="109601" y="49987"/>
                </a:lnTo>
                <a:lnTo>
                  <a:pt x="0" y="85623"/>
                </a:lnTo>
                <a:lnTo>
                  <a:pt x="0" y="103022"/>
                </a:lnTo>
                <a:lnTo>
                  <a:pt x="80137" y="214884"/>
                </a:lnTo>
                <a:lnTo>
                  <a:pt x="303022" y="140309"/>
                </a:lnTo>
                <a:close/>
              </a:path>
            </a:pathLst>
          </a:custGeom>
          <a:solidFill>
            <a:srgbClr val="DFD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4565904" y="6225540"/>
            <a:ext cx="411480" cy="237744"/>
          </a:xfrm>
          <a:custGeom>
            <a:rect b="b" l="l" r="r" t="t"/>
            <a:pathLst>
              <a:path extrusionOk="0" h="237743" w="411479">
                <a:moveTo>
                  <a:pt x="191135" y="11950"/>
                </a:moveTo>
                <a:lnTo>
                  <a:pt x="169164" y="7785"/>
                </a:lnTo>
                <a:lnTo>
                  <a:pt x="165735" y="31140"/>
                </a:lnTo>
                <a:lnTo>
                  <a:pt x="195072" y="39484"/>
                </a:lnTo>
                <a:lnTo>
                  <a:pt x="227329" y="24752"/>
                </a:lnTo>
                <a:lnTo>
                  <a:pt x="316611" y="73964"/>
                </a:lnTo>
                <a:lnTo>
                  <a:pt x="300228" y="89814"/>
                </a:lnTo>
                <a:lnTo>
                  <a:pt x="285623" y="113449"/>
                </a:lnTo>
                <a:lnTo>
                  <a:pt x="297561" y="126238"/>
                </a:lnTo>
                <a:lnTo>
                  <a:pt x="238760" y="110388"/>
                </a:lnTo>
                <a:lnTo>
                  <a:pt x="139827" y="157937"/>
                </a:lnTo>
                <a:lnTo>
                  <a:pt x="172085" y="170180"/>
                </a:lnTo>
                <a:lnTo>
                  <a:pt x="140462" y="184353"/>
                </a:lnTo>
                <a:lnTo>
                  <a:pt x="28575" y="74523"/>
                </a:lnTo>
                <a:lnTo>
                  <a:pt x="0" y="99263"/>
                </a:lnTo>
                <a:lnTo>
                  <a:pt x="13335" y="124574"/>
                </a:lnTo>
                <a:lnTo>
                  <a:pt x="33020" y="115671"/>
                </a:lnTo>
                <a:lnTo>
                  <a:pt x="68580" y="148488"/>
                </a:lnTo>
                <a:lnTo>
                  <a:pt x="105918" y="191858"/>
                </a:lnTo>
                <a:lnTo>
                  <a:pt x="101854" y="203263"/>
                </a:lnTo>
                <a:lnTo>
                  <a:pt x="127889" y="237744"/>
                </a:lnTo>
                <a:lnTo>
                  <a:pt x="160147" y="199097"/>
                </a:lnTo>
                <a:lnTo>
                  <a:pt x="335534" y="142646"/>
                </a:lnTo>
                <a:lnTo>
                  <a:pt x="400177" y="141528"/>
                </a:lnTo>
                <a:lnTo>
                  <a:pt x="409194" y="108165"/>
                </a:lnTo>
                <a:lnTo>
                  <a:pt x="411480" y="58115"/>
                </a:lnTo>
                <a:lnTo>
                  <a:pt x="373507" y="15290"/>
                </a:lnTo>
                <a:lnTo>
                  <a:pt x="340614" y="24193"/>
                </a:lnTo>
                <a:lnTo>
                  <a:pt x="348234" y="43103"/>
                </a:lnTo>
                <a:lnTo>
                  <a:pt x="306959" y="26416"/>
                </a:lnTo>
                <a:lnTo>
                  <a:pt x="212725" y="0"/>
                </a:lnTo>
                <a:lnTo>
                  <a:pt x="188722" y="558"/>
                </a:lnTo>
                <a:lnTo>
                  <a:pt x="191135" y="1195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4760976" y="6259068"/>
            <a:ext cx="109728" cy="70104"/>
          </a:xfrm>
          <a:custGeom>
            <a:rect b="b" l="l" r="r" t="t"/>
            <a:pathLst>
              <a:path extrusionOk="0" h="70103" w="109727">
                <a:moveTo>
                  <a:pt x="0" y="6921"/>
                </a:moveTo>
                <a:lnTo>
                  <a:pt x="83058" y="70104"/>
                </a:lnTo>
                <a:lnTo>
                  <a:pt x="109728" y="34353"/>
                </a:lnTo>
                <a:lnTo>
                  <a:pt x="29718" y="0"/>
                </a:lnTo>
                <a:lnTo>
                  <a:pt x="0" y="6921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4693920" y="6352032"/>
            <a:ext cx="242315" cy="114300"/>
          </a:xfrm>
          <a:custGeom>
            <a:rect b="b" l="l" r="r" t="t"/>
            <a:pathLst>
              <a:path extrusionOk="0" h="114300" w="242315">
                <a:moveTo>
                  <a:pt x="0" y="114300"/>
                </a:moveTo>
                <a:lnTo>
                  <a:pt x="53213" y="103759"/>
                </a:lnTo>
                <a:lnTo>
                  <a:pt x="57150" y="76847"/>
                </a:lnTo>
                <a:lnTo>
                  <a:pt x="179197" y="50495"/>
                </a:lnTo>
                <a:lnTo>
                  <a:pt x="182880" y="63804"/>
                </a:lnTo>
                <a:lnTo>
                  <a:pt x="242315" y="46888"/>
                </a:lnTo>
                <a:lnTo>
                  <a:pt x="224028" y="14706"/>
                </a:lnTo>
                <a:lnTo>
                  <a:pt x="170180" y="0"/>
                </a:lnTo>
                <a:lnTo>
                  <a:pt x="12573" y="48552"/>
                </a:lnTo>
                <a:lnTo>
                  <a:pt x="0" y="1143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4654296" y="6284976"/>
            <a:ext cx="181356" cy="99060"/>
          </a:xfrm>
          <a:custGeom>
            <a:rect b="b" l="l" r="r" t="t"/>
            <a:pathLst>
              <a:path extrusionOk="0" h="99060" w="181355">
                <a:moveTo>
                  <a:pt x="19050" y="14541"/>
                </a:moveTo>
                <a:lnTo>
                  <a:pt x="0" y="13449"/>
                </a:lnTo>
                <a:lnTo>
                  <a:pt x="71247" y="70789"/>
                </a:lnTo>
                <a:lnTo>
                  <a:pt x="56261" y="80670"/>
                </a:lnTo>
                <a:lnTo>
                  <a:pt x="46482" y="99060"/>
                </a:lnTo>
                <a:lnTo>
                  <a:pt x="181356" y="57353"/>
                </a:lnTo>
                <a:lnTo>
                  <a:pt x="159893" y="44183"/>
                </a:lnTo>
                <a:lnTo>
                  <a:pt x="128778" y="51587"/>
                </a:lnTo>
                <a:lnTo>
                  <a:pt x="51562" y="4114"/>
                </a:lnTo>
                <a:lnTo>
                  <a:pt x="28067" y="0"/>
                </a:lnTo>
                <a:lnTo>
                  <a:pt x="112141" y="56248"/>
                </a:lnTo>
                <a:lnTo>
                  <a:pt x="86614" y="62560"/>
                </a:lnTo>
                <a:lnTo>
                  <a:pt x="19050" y="145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672584" y="6312408"/>
            <a:ext cx="115823" cy="38100"/>
          </a:xfrm>
          <a:custGeom>
            <a:rect b="b" l="l" r="r" t="t"/>
            <a:pathLst>
              <a:path extrusionOk="0" h="38100" w="115824">
                <a:moveTo>
                  <a:pt x="97028" y="8623"/>
                </a:moveTo>
                <a:lnTo>
                  <a:pt x="115823" y="7505"/>
                </a:lnTo>
                <a:lnTo>
                  <a:pt x="97028" y="0"/>
                </a:lnTo>
                <a:lnTo>
                  <a:pt x="8255" y="23355"/>
                </a:lnTo>
                <a:lnTo>
                  <a:pt x="0" y="38099"/>
                </a:lnTo>
                <a:lnTo>
                  <a:pt x="97028" y="86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4722876" y="6234684"/>
            <a:ext cx="147828" cy="94488"/>
          </a:xfrm>
          <a:custGeom>
            <a:rect b="b" l="l" r="r" t="t"/>
            <a:pathLst>
              <a:path extrusionOk="0" h="94487" w="147827">
                <a:moveTo>
                  <a:pt x="65786" y="43865"/>
                </a:moveTo>
                <a:lnTo>
                  <a:pt x="121285" y="58775"/>
                </a:lnTo>
                <a:lnTo>
                  <a:pt x="121285" y="94487"/>
                </a:lnTo>
                <a:lnTo>
                  <a:pt x="147828" y="58216"/>
                </a:lnTo>
                <a:lnTo>
                  <a:pt x="64389" y="4775"/>
                </a:lnTo>
                <a:lnTo>
                  <a:pt x="46863" y="0"/>
                </a:lnTo>
                <a:lnTo>
                  <a:pt x="41529" y="19126"/>
                </a:lnTo>
                <a:lnTo>
                  <a:pt x="0" y="16027"/>
                </a:lnTo>
                <a:lnTo>
                  <a:pt x="41148" y="46405"/>
                </a:lnTo>
                <a:lnTo>
                  <a:pt x="65786" y="438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4707636" y="6184392"/>
            <a:ext cx="281940" cy="170688"/>
          </a:xfrm>
          <a:custGeom>
            <a:rect b="b" l="l" r="r" t="t"/>
            <a:pathLst>
              <a:path extrusionOk="0" h="170687" w="281939">
                <a:moveTo>
                  <a:pt x="14604" y="51422"/>
                </a:moveTo>
                <a:lnTo>
                  <a:pt x="18288" y="33362"/>
                </a:lnTo>
                <a:lnTo>
                  <a:pt x="39116" y="46697"/>
                </a:lnTo>
                <a:lnTo>
                  <a:pt x="27178" y="17513"/>
                </a:lnTo>
                <a:lnTo>
                  <a:pt x="40513" y="12230"/>
                </a:lnTo>
                <a:lnTo>
                  <a:pt x="131318" y="28079"/>
                </a:lnTo>
                <a:lnTo>
                  <a:pt x="225933" y="66167"/>
                </a:lnTo>
                <a:lnTo>
                  <a:pt x="251079" y="90068"/>
                </a:lnTo>
                <a:lnTo>
                  <a:pt x="262382" y="113144"/>
                </a:lnTo>
                <a:lnTo>
                  <a:pt x="225933" y="112026"/>
                </a:lnTo>
                <a:lnTo>
                  <a:pt x="176784" y="77279"/>
                </a:lnTo>
                <a:lnTo>
                  <a:pt x="118745" y="60883"/>
                </a:lnTo>
                <a:lnTo>
                  <a:pt x="198628" y="112026"/>
                </a:lnTo>
                <a:lnTo>
                  <a:pt x="172847" y="135940"/>
                </a:lnTo>
                <a:lnTo>
                  <a:pt x="165227" y="157060"/>
                </a:lnTo>
                <a:lnTo>
                  <a:pt x="203327" y="170688"/>
                </a:lnTo>
                <a:lnTo>
                  <a:pt x="234822" y="168744"/>
                </a:lnTo>
                <a:lnTo>
                  <a:pt x="248411" y="152895"/>
                </a:lnTo>
                <a:lnTo>
                  <a:pt x="229489" y="149009"/>
                </a:lnTo>
                <a:lnTo>
                  <a:pt x="215265" y="137883"/>
                </a:lnTo>
                <a:lnTo>
                  <a:pt x="260985" y="130657"/>
                </a:lnTo>
                <a:lnTo>
                  <a:pt x="263652" y="164020"/>
                </a:lnTo>
                <a:lnTo>
                  <a:pt x="281940" y="127317"/>
                </a:lnTo>
                <a:lnTo>
                  <a:pt x="275590" y="92011"/>
                </a:lnTo>
                <a:lnTo>
                  <a:pt x="255397" y="62547"/>
                </a:lnTo>
                <a:lnTo>
                  <a:pt x="96520" y="3340"/>
                </a:lnTo>
                <a:lnTo>
                  <a:pt x="19558" y="0"/>
                </a:lnTo>
                <a:lnTo>
                  <a:pt x="4953" y="17513"/>
                </a:lnTo>
                <a:lnTo>
                  <a:pt x="0" y="56705"/>
                </a:lnTo>
                <a:lnTo>
                  <a:pt x="14604" y="514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4815840" y="5463540"/>
            <a:ext cx="0" cy="629412"/>
          </a:xfrm>
          <a:custGeom>
            <a:rect b="b" l="l" r="r" t="t"/>
            <a:pathLst>
              <a:path extrusionOk="0" h="629412" w="120000">
                <a:moveTo>
                  <a:pt x="0" y="0"/>
                </a:moveTo>
                <a:lnTo>
                  <a:pt x="0" y="629412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6089904" y="5347716"/>
            <a:ext cx="497598" cy="7399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764540" y="1018758"/>
            <a:ext cx="4324903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6251575" y="1018758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764540" y="2241700"/>
            <a:ext cx="10266247" cy="2555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Merupakan trafik teoritis, yaitu nilai trafik yang dibawa jika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5380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tidak terdapat blocking di dalam sistim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3800" rtl="0" algn="l">
              <a:lnSpc>
                <a:spcPct val="102172"/>
              </a:lnSpc>
              <a:spcBef>
                <a:spcPts val="447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Artinya bahwa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hanya terjadi jika tidak ada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53800" rtl="0" algn="l">
              <a:lnSpc>
                <a:spcPct val="108035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keterbatasan kapasitas dari sistim.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41300" marR="209639" rtl="0" algn="l">
              <a:lnSpc>
                <a:spcPct val="107857"/>
              </a:lnSpc>
              <a:spcBef>
                <a:spcPts val="987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Nilai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 tidak dapat diukur, hanya dapat diestimasi / dihitung berdasarkan nilai dari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Carried Traffic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18"/>
          <p:cNvSpPr txBox="1"/>
          <p:nvPr/>
        </p:nvSpPr>
        <p:spPr>
          <a:xfrm>
            <a:off x="4395597" y="5141743"/>
            <a:ext cx="152009" cy="2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0">
            <a:noAutofit/>
          </a:bodyPr>
          <a:lstStyle/>
          <a:p>
            <a:pPr indent="0" lvl="0" marL="12700" marR="0" rtl="0" algn="l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18"/>
          <p:cNvSpPr txBox="1"/>
          <p:nvPr/>
        </p:nvSpPr>
        <p:spPr>
          <a:xfrm>
            <a:off x="5875147" y="5141743"/>
            <a:ext cx="152009" cy="2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0">
            <a:noAutofit/>
          </a:bodyPr>
          <a:lstStyle/>
          <a:p>
            <a:pPr indent="0" lvl="0" marL="12700" marR="0" rtl="0" algn="l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18"/>
          <p:cNvSpPr txBox="1"/>
          <p:nvPr/>
        </p:nvSpPr>
        <p:spPr>
          <a:xfrm>
            <a:off x="6824599" y="5397105"/>
            <a:ext cx="3405739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25">
            <a:noAutofit/>
          </a:bodyPr>
          <a:lstStyle/>
          <a:p>
            <a:pPr indent="0" lvl="0" marL="12700" marR="0" rtl="0" algn="l">
              <a:lnSpc>
                <a:spcPct val="10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Artinya rasio jalur terminal dan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4290" rtl="0" algn="l">
              <a:lnSpc>
                <a:spcPct val="120000"/>
              </a:lnSpc>
              <a:spcBef>
                <a:spcPts val="9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jalur trunk = 1:1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4229481" y="6131785"/>
            <a:ext cx="353929" cy="2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0">
            <a:noAutofit/>
          </a:bodyPr>
          <a:lstStyle/>
          <a:p>
            <a:pPr indent="0" lvl="0" marL="12700" marR="0" rtl="0" algn="l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150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5892546" y="6131785"/>
            <a:ext cx="353929" cy="2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0">
            <a:noAutofit/>
          </a:bodyPr>
          <a:lstStyle/>
          <a:p>
            <a:pPr indent="0" lvl="0" marL="12700" marR="0" rtl="0" algn="l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150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4981956" y="5088636"/>
            <a:ext cx="248412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 txBox="1"/>
          <p:nvPr/>
        </p:nvSpPr>
        <p:spPr>
          <a:xfrm>
            <a:off x="5230368" y="5088636"/>
            <a:ext cx="333756" cy="1370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 txBox="1"/>
          <p:nvPr/>
        </p:nvSpPr>
        <p:spPr>
          <a:xfrm>
            <a:off x="5564124" y="5088636"/>
            <a:ext cx="248412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 txBox="1"/>
          <p:nvPr/>
        </p:nvSpPr>
        <p:spPr>
          <a:xfrm>
            <a:off x="4981956" y="5271516"/>
            <a:ext cx="248412" cy="1004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 txBox="1"/>
          <p:nvPr/>
        </p:nvSpPr>
        <p:spPr>
          <a:xfrm>
            <a:off x="5564124" y="5271516"/>
            <a:ext cx="248412" cy="1004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 txBox="1"/>
          <p:nvPr/>
        </p:nvSpPr>
        <p:spPr>
          <a:xfrm>
            <a:off x="4981956" y="6275832"/>
            <a:ext cx="2484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 txBox="1"/>
          <p:nvPr/>
        </p:nvSpPr>
        <p:spPr>
          <a:xfrm>
            <a:off x="5564124" y="6275832"/>
            <a:ext cx="2484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p19"/>
          <p:cNvSpPr txBox="1"/>
          <p:nvPr/>
        </p:nvSpPr>
        <p:spPr>
          <a:xfrm>
            <a:off x="764540" y="1018758"/>
            <a:ext cx="4324903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0" name="Google Shape;400;p19"/>
          <p:cNvSpPr txBox="1"/>
          <p:nvPr/>
        </p:nvSpPr>
        <p:spPr>
          <a:xfrm>
            <a:off x="6251575" y="1018758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19"/>
          <p:cNvSpPr txBox="1"/>
          <p:nvPr/>
        </p:nvSpPr>
        <p:spPr>
          <a:xfrm>
            <a:off x="764540" y="1966684"/>
            <a:ext cx="10822618" cy="1556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12700" marR="50106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bisa dihitung dengan dan tanpa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50106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mempertimbangkan panggilan berulang ketika panggilan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50106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sebelumnya ditolak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477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 </a:t>
            </a:r>
            <a:r>
              <a:rPr lang="en-US" sz="26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tidak memperhitungkan panggilan berulang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p19"/>
          <p:cNvSpPr txBox="1"/>
          <p:nvPr/>
        </p:nvSpPr>
        <p:spPr>
          <a:xfrm>
            <a:off x="2294636" y="3647910"/>
            <a:ext cx="7864743" cy="356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load 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Carried load / (1-blocking factor)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764540" y="4614380"/>
            <a:ext cx="9937174" cy="35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12700" marR="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 </a:t>
            </a:r>
            <a:r>
              <a:rPr lang="en-US" sz="26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memperhitungkan panggilan berulang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764540" y="5099012"/>
            <a:ext cx="10860849" cy="167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1542796" marR="49606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load = Carried Load 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 OAF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085593" marR="49606" rtl="0" algn="l">
              <a:lnSpc>
                <a:spcPct val="102172"/>
              </a:lnSpc>
              <a:spcBef>
                <a:spcPts val="476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dimana </a:t>
            </a: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OAF = Offered Load Adjustment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136898" marR="0" rtl="0" algn="l">
              <a:lnSpc>
                <a:spcPct val="102172"/>
              </a:lnSpc>
              <a:spcBef>
                <a:spcPts val="618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[1 – (R*blocking factor)]/(1-blocking factor)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9606" rtl="0" algn="l">
              <a:lnSpc>
                <a:spcPct val="102172"/>
              </a:lnSpc>
              <a:spcBef>
                <a:spcPts val="568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Contoh: R=0,6 untuk 60% probabilitas panggilan mengulang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5077904" y="3307588"/>
            <a:ext cx="887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8142418" y="3307588"/>
            <a:ext cx="8654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9884809" y="3307588"/>
            <a:ext cx="921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7255428" y="4758690"/>
            <a:ext cx="8631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 txBox="1"/>
          <p:nvPr/>
        </p:nvSpPr>
        <p:spPr>
          <a:xfrm>
            <a:off x="8997587" y="4758690"/>
            <a:ext cx="9396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4725924" y="2782824"/>
            <a:ext cx="2391155" cy="862583"/>
          </a:xfrm>
          <a:custGeom>
            <a:rect b="b" l="l" r="r" t="t"/>
            <a:pathLst>
              <a:path extrusionOk="0" h="862583" w="2391155">
                <a:moveTo>
                  <a:pt x="0" y="862583"/>
                </a:moveTo>
                <a:lnTo>
                  <a:pt x="2391155" y="862583"/>
                </a:lnTo>
                <a:lnTo>
                  <a:pt x="2391155" y="0"/>
                </a:lnTo>
                <a:lnTo>
                  <a:pt x="0" y="0"/>
                </a:lnTo>
                <a:lnTo>
                  <a:pt x="0" y="8625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4721352" y="2778252"/>
            <a:ext cx="2400300" cy="871728"/>
          </a:xfrm>
          <a:custGeom>
            <a:rect b="b" l="l" r="r" t="t"/>
            <a:pathLst>
              <a:path extrusionOk="0" h="871727" w="2400300">
                <a:moveTo>
                  <a:pt x="0" y="871728"/>
                </a:moveTo>
                <a:lnTo>
                  <a:pt x="2400300" y="871728"/>
                </a:lnTo>
                <a:lnTo>
                  <a:pt x="2400300" y="0"/>
                </a:lnTo>
                <a:lnTo>
                  <a:pt x="0" y="0"/>
                </a:lnTo>
                <a:lnTo>
                  <a:pt x="0" y="87172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764540" y="1018758"/>
            <a:ext cx="4324903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6251575" y="1018758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p20"/>
          <p:cNvSpPr txBox="1"/>
          <p:nvPr/>
        </p:nvSpPr>
        <p:spPr>
          <a:xfrm>
            <a:off x="764540" y="1968015"/>
            <a:ext cx="7208610" cy="3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bisa dinyatakan sebagai: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2" name="Google Shape;422;p20"/>
          <p:cNvSpPr txBox="1"/>
          <p:nvPr/>
        </p:nvSpPr>
        <p:spPr>
          <a:xfrm>
            <a:off x="1780794" y="4319913"/>
            <a:ext cx="6888824" cy="10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56056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Intensitas Trafik (E)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6774" marR="0" rtl="0" algn="l">
              <a:lnSpc>
                <a:spcPct val="113725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rata-rata panggilan datang dalam satuan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6056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(call/waktu) atau laju panggilan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8671687" y="4685673"/>
            <a:ext cx="97420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1780794" y="5417497"/>
            <a:ext cx="764252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rata-rata waktu pendudukan sistim (waktu/call)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20"/>
          <p:cNvSpPr txBox="1"/>
          <p:nvPr/>
        </p:nvSpPr>
        <p:spPr>
          <a:xfrm>
            <a:off x="4721352" y="2778252"/>
            <a:ext cx="2400300" cy="871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800">
            <a:noAutofit/>
          </a:bodyPr>
          <a:lstStyle/>
          <a:p>
            <a:pPr indent="0" lvl="0" marL="183051" marR="0" rtl="0" algn="l">
              <a:lnSpc>
                <a:spcPct val="1079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57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5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5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i="1" lang="en-US" sz="5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5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764540" y="1106515"/>
            <a:ext cx="4330486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CARRIED TRAFFIC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5337175" y="1106515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764540" y="2241700"/>
            <a:ext cx="9437598" cy="2044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52698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yang dapat dibawa atau dilayani oleh sebuah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52698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sistim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41300" marR="0" rtl="0" algn="l">
              <a:lnSpc>
                <a:spcPct val="122607"/>
              </a:lnSpc>
              <a:spcBef>
                <a:spcPts val="782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Jenis trafik ini dapat diukur, sedang 2 trafik lainnya 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0" rtl="0" algn="l">
              <a:lnSpc>
                <a:spcPct val="122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hanya dapat dihitung berdasarkan hasil pengukuran 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0" rtl="0" algn="l">
              <a:lnSpc>
                <a:spcPct val="122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dari </a:t>
            </a:r>
            <a:r>
              <a:rPr i="1"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Carried traffic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574548" y="2578608"/>
            <a:ext cx="11039856" cy="16032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4" name="Google Shape;444;p22"/>
          <p:cNvSpPr txBox="1"/>
          <p:nvPr/>
        </p:nvSpPr>
        <p:spPr>
          <a:xfrm>
            <a:off x="780389" y="1125188"/>
            <a:ext cx="4331478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CARRIED TRAFFIC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5352669" y="1125188"/>
            <a:ext cx="1262464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764540" y="1989463"/>
            <a:ext cx="8512337" cy="33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Dapat dinyatakan dalam diagram pendudukan circuit: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790448" y="4383397"/>
            <a:ext cx="6850924" cy="2414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38176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 = 4+7+13+6+4+11+4+13+10+2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312885" marR="3200802" rtl="0" algn="ctr">
              <a:lnSpc>
                <a:spcPct val="120250"/>
              </a:lnSpc>
              <a:spcBef>
                <a:spcPts val="11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74 menit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8276" rtl="0" algn="l">
              <a:lnSpc>
                <a:spcPct val="120000"/>
              </a:lnSpc>
              <a:spcBef>
                <a:spcPts val="3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Dengan waktu pengamatan = 1 jam (60 menit), maka: Intensitas carried traffic = 74/60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253234" marR="38176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1,233 E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8176" rtl="0" algn="l">
              <a:lnSpc>
                <a:spcPct val="120000"/>
              </a:lnSpc>
              <a:spcBef>
                <a:spcPts val="2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 layanan rata-rata = 74 menit/10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221445" marR="3149367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7,4 menit,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dimana 10 adalah call yang menduduki circuit /seizure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3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1275461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1570228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1836420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2102612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2381504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2660396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2939288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3230880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3522345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3801237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4057904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4352671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4631563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4897755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5154422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5433314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5750306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6054471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6384036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6716776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7071741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7414006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7743571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8038338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8329930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8634095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8951087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9267952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9559544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/>
          <p:nvPr/>
        </p:nvSpPr>
        <p:spPr>
          <a:xfrm>
            <a:off x="9863709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3"/>
          <p:cNvSpPr/>
          <p:nvPr/>
        </p:nvSpPr>
        <p:spPr>
          <a:xfrm>
            <a:off x="10193401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/>
          <p:nvPr/>
        </p:nvSpPr>
        <p:spPr>
          <a:xfrm>
            <a:off x="660666" y="2904744"/>
            <a:ext cx="10248887" cy="0"/>
          </a:xfrm>
          <a:custGeom>
            <a:rect b="b" l="l" r="r" t="t"/>
            <a:pathLst>
              <a:path extrusionOk="0" h="120000" w="10248887">
                <a:moveTo>
                  <a:pt x="0" y="0"/>
                </a:moveTo>
                <a:lnTo>
                  <a:pt x="10248887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660666" y="3095244"/>
            <a:ext cx="10248887" cy="0"/>
          </a:xfrm>
          <a:custGeom>
            <a:rect b="b" l="l" r="r" t="t"/>
            <a:pathLst>
              <a:path extrusionOk="0" h="120000" w="10248887">
                <a:moveTo>
                  <a:pt x="0" y="0"/>
                </a:moveTo>
                <a:lnTo>
                  <a:pt x="10248887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/>
          <p:nvPr/>
        </p:nvSpPr>
        <p:spPr>
          <a:xfrm>
            <a:off x="660666" y="3285744"/>
            <a:ext cx="10248887" cy="0"/>
          </a:xfrm>
          <a:custGeom>
            <a:rect b="b" l="l" r="r" t="t"/>
            <a:pathLst>
              <a:path extrusionOk="0" h="120000" w="10248887">
                <a:moveTo>
                  <a:pt x="0" y="0"/>
                </a:moveTo>
                <a:lnTo>
                  <a:pt x="10248887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660666" y="3476244"/>
            <a:ext cx="10248887" cy="0"/>
          </a:xfrm>
          <a:custGeom>
            <a:rect b="b" l="l" r="r" t="t"/>
            <a:pathLst>
              <a:path extrusionOk="0" h="120000" w="10248887">
                <a:moveTo>
                  <a:pt x="0" y="0"/>
                </a:moveTo>
                <a:lnTo>
                  <a:pt x="10248887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660666" y="3666744"/>
            <a:ext cx="10248887" cy="0"/>
          </a:xfrm>
          <a:custGeom>
            <a:rect b="b" l="l" r="r" t="t"/>
            <a:pathLst>
              <a:path extrusionOk="0" h="120000" w="10248887">
                <a:moveTo>
                  <a:pt x="0" y="0"/>
                </a:moveTo>
                <a:lnTo>
                  <a:pt x="10248887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667016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10903204" y="2517394"/>
            <a:ext cx="0" cy="1500505"/>
          </a:xfrm>
          <a:custGeom>
            <a:rect b="b" l="l" r="r" t="t"/>
            <a:pathLst>
              <a:path extrusionOk="0" h="1500504" w="120000">
                <a:moveTo>
                  <a:pt x="0" y="0"/>
                </a:moveTo>
                <a:lnTo>
                  <a:pt x="0" y="1500505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/>
          <p:nvPr/>
        </p:nvSpPr>
        <p:spPr>
          <a:xfrm>
            <a:off x="660666" y="2523744"/>
            <a:ext cx="10248887" cy="0"/>
          </a:xfrm>
          <a:custGeom>
            <a:rect b="b" l="l" r="r" t="t"/>
            <a:pathLst>
              <a:path extrusionOk="0" h="120000" w="10248887">
                <a:moveTo>
                  <a:pt x="0" y="0"/>
                </a:moveTo>
                <a:lnTo>
                  <a:pt x="10248887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660666" y="4011549"/>
            <a:ext cx="10248887" cy="0"/>
          </a:xfrm>
          <a:custGeom>
            <a:rect b="b" l="l" r="r" t="t"/>
            <a:pathLst>
              <a:path extrusionOk="0" h="120000" w="10248887">
                <a:moveTo>
                  <a:pt x="0" y="0"/>
                </a:moveTo>
                <a:lnTo>
                  <a:pt x="10248887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3"/>
          <p:cNvSpPr/>
          <p:nvPr/>
        </p:nvSpPr>
        <p:spPr>
          <a:xfrm>
            <a:off x="955547" y="5696712"/>
            <a:ext cx="3582924" cy="0"/>
          </a:xfrm>
          <a:custGeom>
            <a:rect b="b" l="l" r="r" t="t"/>
            <a:pathLst>
              <a:path extrusionOk="0" h="120000" w="3582924">
                <a:moveTo>
                  <a:pt x="0" y="0"/>
                </a:moveTo>
                <a:lnTo>
                  <a:pt x="3582924" y="0"/>
                </a:lnTo>
              </a:path>
            </a:pathLst>
          </a:custGeom>
          <a:noFill/>
          <a:ln cap="flat" cmpd="sng" w="9525">
            <a:solidFill>
              <a:srgbClr val="F8F8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955547" y="5215128"/>
            <a:ext cx="3582924" cy="0"/>
          </a:xfrm>
          <a:custGeom>
            <a:rect b="b" l="l" r="r" t="t"/>
            <a:pathLst>
              <a:path extrusionOk="0" h="120000" w="3582924">
                <a:moveTo>
                  <a:pt x="0" y="0"/>
                </a:moveTo>
                <a:lnTo>
                  <a:pt x="3582924" y="0"/>
                </a:lnTo>
              </a:path>
            </a:pathLst>
          </a:custGeom>
          <a:noFill/>
          <a:ln cap="flat" cmpd="sng" w="9525">
            <a:solidFill>
              <a:srgbClr val="F8F8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/>
          <p:nvPr/>
        </p:nvSpPr>
        <p:spPr>
          <a:xfrm>
            <a:off x="955547" y="4733544"/>
            <a:ext cx="3582924" cy="0"/>
          </a:xfrm>
          <a:custGeom>
            <a:rect b="b" l="l" r="r" t="t"/>
            <a:pathLst>
              <a:path extrusionOk="0" h="120000" w="3582924">
                <a:moveTo>
                  <a:pt x="0" y="0"/>
                </a:moveTo>
                <a:lnTo>
                  <a:pt x="3582924" y="0"/>
                </a:lnTo>
              </a:path>
            </a:pathLst>
          </a:custGeom>
          <a:noFill/>
          <a:ln cap="flat" cmpd="sng" w="9525">
            <a:solidFill>
              <a:srgbClr val="F8F8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/>
          <p:nvPr/>
        </p:nvSpPr>
        <p:spPr>
          <a:xfrm>
            <a:off x="981456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/>
          <p:nvPr/>
        </p:nvSpPr>
        <p:spPr>
          <a:xfrm>
            <a:off x="1101852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955547" y="4251960"/>
            <a:ext cx="3582924" cy="0"/>
          </a:xfrm>
          <a:custGeom>
            <a:rect b="b" l="l" r="r" t="t"/>
            <a:pathLst>
              <a:path extrusionOk="0" h="120000" w="3582924">
                <a:moveTo>
                  <a:pt x="0" y="0"/>
                </a:moveTo>
                <a:lnTo>
                  <a:pt x="3582924" y="0"/>
                </a:lnTo>
              </a:path>
            </a:pathLst>
          </a:custGeom>
          <a:noFill/>
          <a:ln cap="flat" cmpd="sng" w="9525">
            <a:solidFill>
              <a:srgbClr val="F8F8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3"/>
          <p:cNvSpPr/>
          <p:nvPr/>
        </p:nvSpPr>
        <p:spPr>
          <a:xfrm>
            <a:off x="1220724" y="4250436"/>
            <a:ext cx="66293" cy="193014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1339596" y="4250436"/>
            <a:ext cx="67818" cy="193014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/>
          <p:cNvSpPr/>
          <p:nvPr/>
        </p:nvSpPr>
        <p:spPr>
          <a:xfrm>
            <a:off x="1459992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1578864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/>
          <p:nvPr/>
        </p:nvSpPr>
        <p:spPr>
          <a:xfrm>
            <a:off x="1697736" y="5210556"/>
            <a:ext cx="67818" cy="9700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1818132" y="5210556"/>
            <a:ext cx="66293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3"/>
          <p:cNvSpPr/>
          <p:nvPr/>
        </p:nvSpPr>
        <p:spPr>
          <a:xfrm>
            <a:off x="1937004" y="5210556"/>
            <a:ext cx="66293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2057400" y="5210556"/>
            <a:ext cx="66293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2176272" y="5210556"/>
            <a:ext cx="66293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2295144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3"/>
          <p:cNvSpPr/>
          <p:nvPr/>
        </p:nvSpPr>
        <p:spPr>
          <a:xfrm>
            <a:off x="2415540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2534412" y="5692140"/>
            <a:ext cx="66293" cy="48844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2653284" y="5692140"/>
            <a:ext cx="66293" cy="48844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2773680" y="5210556"/>
            <a:ext cx="66293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2892552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3011424" y="4728972"/>
            <a:ext cx="67818" cy="145160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3131820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3250692" y="4728972"/>
            <a:ext cx="66293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3369564" y="4728972"/>
            <a:ext cx="67817" cy="145160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/>
          <p:nvPr/>
        </p:nvSpPr>
        <p:spPr>
          <a:xfrm>
            <a:off x="3489960" y="4728972"/>
            <a:ext cx="66294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3608832" y="5210556"/>
            <a:ext cx="66294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3729228" y="5692140"/>
            <a:ext cx="66294" cy="48844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3848100" y="5210556"/>
            <a:ext cx="66294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/>
          <p:nvPr/>
        </p:nvSpPr>
        <p:spPr>
          <a:xfrm>
            <a:off x="3966972" y="5692140"/>
            <a:ext cx="66294" cy="48844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4087367" y="5210556"/>
            <a:ext cx="66294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4206240" y="4728972"/>
            <a:ext cx="66294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4325112" y="4728972"/>
            <a:ext cx="66294" cy="14516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4445508" y="5210556"/>
            <a:ext cx="66294" cy="9700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955547" y="6178296"/>
            <a:ext cx="3582924" cy="0"/>
          </a:xfrm>
          <a:custGeom>
            <a:rect b="b" l="l" r="r" t="t"/>
            <a:pathLst>
              <a:path extrusionOk="0" h="120000" w="3582924">
                <a:moveTo>
                  <a:pt x="0" y="0"/>
                </a:moveTo>
                <a:lnTo>
                  <a:pt x="3582924" y="0"/>
                </a:lnTo>
              </a:path>
            </a:pathLst>
          </a:custGeom>
          <a:noFill/>
          <a:ln cap="flat" cmpd="sng" w="9525">
            <a:solidFill>
              <a:srgbClr val="F8F8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0" name="Google Shape;530;p23"/>
          <p:cNvSpPr txBox="1"/>
          <p:nvPr/>
        </p:nvSpPr>
        <p:spPr>
          <a:xfrm>
            <a:off x="780389" y="1125188"/>
            <a:ext cx="4331478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CARRIED TRAFFIC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1" name="Google Shape;531;p23"/>
          <p:cNvSpPr txBox="1"/>
          <p:nvPr/>
        </p:nvSpPr>
        <p:spPr>
          <a:xfrm>
            <a:off x="5352669" y="1125188"/>
            <a:ext cx="1262464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(3/3)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745947" y="2023268"/>
            <a:ext cx="17779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12700" marR="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3"/>
          <p:cNvSpPr txBox="1"/>
          <p:nvPr/>
        </p:nvSpPr>
        <p:spPr>
          <a:xfrm>
            <a:off x="974547" y="2020197"/>
            <a:ext cx="704423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Atau dalam hasil pengukuran pada worksheet: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4" name="Google Shape;534;p23"/>
          <p:cNvSpPr txBox="1"/>
          <p:nvPr/>
        </p:nvSpPr>
        <p:spPr>
          <a:xfrm>
            <a:off x="10386822" y="2727615"/>
            <a:ext cx="344639" cy="16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25">
            <a:noAutofit/>
          </a:bodyPr>
          <a:lstStyle/>
          <a:p>
            <a:pPr indent="0" lvl="0" marL="1270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5" name="Google Shape;535;p23"/>
          <p:cNvSpPr txBox="1"/>
          <p:nvPr/>
        </p:nvSpPr>
        <p:spPr>
          <a:xfrm>
            <a:off x="719124" y="4164524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6" name="Google Shape;536;p23"/>
          <p:cNvSpPr txBox="1"/>
          <p:nvPr/>
        </p:nvSpPr>
        <p:spPr>
          <a:xfrm>
            <a:off x="719124" y="4646362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7" name="Google Shape;537;p23"/>
          <p:cNvSpPr txBox="1"/>
          <p:nvPr/>
        </p:nvSpPr>
        <p:spPr>
          <a:xfrm>
            <a:off x="6173851" y="4659048"/>
            <a:ext cx="1848270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trafik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8030336" y="4659048"/>
            <a:ext cx="1468821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74 menit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9" name="Google Shape;539;p23"/>
          <p:cNvSpPr txBox="1"/>
          <p:nvPr/>
        </p:nvSpPr>
        <p:spPr>
          <a:xfrm>
            <a:off x="6173851" y="4994078"/>
            <a:ext cx="4929774" cy="975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 seizure/call = 10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227"/>
              </a:lnSpc>
              <a:spcBef>
                <a:spcPts val="1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 layanan rata-rata = 74/10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1270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7,4 menit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719124" y="5127946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719124" y="5609581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2" name="Google Shape;542;p23"/>
          <p:cNvSpPr txBox="1"/>
          <p:nvPr/>
        </p:nvSpPr>
        <p:spPr>
          <a:xfrm>
            <a:off x="719124" y="6091470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>
            <a:off x="960831" y="6287761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1199794" y="6287761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5" name="Google Shape;545;p23"/>
          <p:cNvSpPr txBox="1"/>
          <p:nvPr/>
        </p:nvSpPr>
        <p:spPr>
          <a:xfrm>
            <a:off x="1438783" y="6287761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6" name="Google Shape;546;p23"/>
          <p:cNvSpPr txBox="1"/>
          <p:nvPr/>
        </p:nvSpPr>
        <p:spPr>
          <a:xfrm>
            <a:off x="1677416" y="6287761"/>
            <a:ext cx="13271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>
            <a:off x="1916430" y="6287761"/>
            <a:ext cx="2562285" cy="401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9  11 13 15 17 19 21 23 25 27 29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26871" marR="22860" rtl="0" algn="l">
              <a:lnSpc>
                <a:spcPct val="102172"/>
              </a:lnSpc>
              <a:spcBef>
                <a:spcPts val="222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 rot="-5400000">
            <a:off x="74062" y="5130840"/>
            <a:ext cx="10968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50">
            <a:noAutofit/>
          </a:bodyPr>
          <a:lstStyle/>
          <a:p>
            <a:pPr indent="0" lvl="0" marL="127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ADAD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 Circuit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9" name="Google Shape;549;p23"/>
          <p:cNvSpPr txBox="1"/>
          <p:nvPr/>
        </p:nvSpPr>
        <p:spPr>
          <a:xfrm>
            <a:off x="667016" y="2523744"/>
            <a:ext cx="60844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639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0" name="Google Shape;550;p23"/>
          <p:cNvSpPr txBox="1"/>
          <p:nvPr/>
        </p:nvSpPr>
        <p:spPr>
          <a:xfrm>
            <a:off x="1275461" y="2523744"/>
            <a:ext cx="29476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4480" marR="8615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1" name="Google Shape;551;p23"/>
          <p:cNvSpPr txBox="1"/>
          <p:nvPr/>
        </p:nvSpPr>
        <p:spPr>
          <a:xfrm>
            <a:off x="1570228" y="2523744"/>
            <a:ext cx="2661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0764" marR="7129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2" name="Google Shape;552;p23"/>
          <p:cNvSpPr txBox="1"/>
          <p:nvPr/>
        </p:nvSpPr>
        <p:spPr>
          <a:xfrm>
            <a:off x="1836420" y="2523744"/>
            <a:ext cx="2661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1018" marR="7103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3" name="Google Shape;553;p23"/>
          <p:cNvSpPr txBox="1"/>
          <p:nvPr/>
        </p:nvSpPr>
        <p:spPr>
          <a:xfrm>
            <a:off x="2102612" y="2523744"/>
            <a:ext cx="2788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4" name="Google Shape;554;p23"/>
          <p:cNvSpPr txBox="1"/>
          <p:nvPr/>
        </p:nvSpPr>
        <p:spPr>
          <a:xfrm>
            <a:off x="2381504" y="2523744"/>
            <a:ext cx="2788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5" name="Google Shape;555;p23"/>
          <p:cNvSpPr txBox="1"/>
          <p:nvPr/>
        </p:nvSpPr>
        <p:spPr>
          <a:xfrm>
            <a:off x="2660396" y="2523744"/>
            <a:ext cx="2788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6" name="Google Shape;556;p23"/>
          <p:cNvSpPr txBox="1"/>
          <p:nvPr/>
        </p:nvSpPr>
        <p:spPr>
          <a:xfrm>
            <a:off x="2939288" y="2523744"/>
            <a:ext cx="2915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3083" marR="8437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7" name="Google Shape;557;p23"/>
          <p:cNvSpPr txBox="1"/>
          <p:nvPr/>
        </p:nvSpPr>
        <p:spPr>
          <a:xfrm>
            <a:off x="3230880" y="2523744"/>
            <a:ext cx="2914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3210" marR="8412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8" name="Google Shape;558;p23"/>
          <p:cNvSpPr txBox="1"/>
          <p:nvPr/>
        </p:nvSpPr>
        <p:spPr>
          <a:xfrm>
            <a:off x="3522345" y="2523744"/>
            <a:ext cx="2788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7241" marR="7751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3801237" y="2523744"/>
            <a:ext cx="25666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164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0" name="Google Shape;560;p23"/>
          <p:cNvSpPr txBox="1"/>
          <p:nvPr/>
        </p:nvSpPr>
        <p:spPr>
          <a:xfrm>
            <a:off x="4057904" y="2523744"/>
            <a:ext cx="29476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9976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4352671" y="2523744"/>
            <a:ext cx="2788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356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2" name="Google Shape;562;p23"/>
          <p:cNvSpPr txBox="1"/>
          <p:nvPr/>
        </p:nvSpPr>
        <p:spPr>
          <a:xfrm>
            <a:off x="4631563" y="2523744"/>
            <a:ext cx="2661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4737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4897755" y="2523744"/>
            <a:ext cx="25666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419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4" name="Google Shape;564;p23"/>
          <p:cNvSpPr txBox="1"/>
          <p:nvPr/>
        </p:nvSpPr>
        <p:spPr>
          <a:xfrm>
            <a:off x="5154422" y="2523744"/>
            <a:ext cx="2788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483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5433314" y="2523744"/>
            <a:ext cx="3169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772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6" name="Google Shape;566;p23"/>
          <p:cNvSpPr txBox="1"/>
          <p:nvPr/>
        </p:nvSpPr>
        <p:spPr>
          <a:xfrm>
            <a:off x="5750306" y="2523744"/>
            <a:ext cx="3041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676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7" name="Google Shape;567;p23"/>
          <p:cNvSpPr txBox="1"/>
          <p:nvPr/>
        </p:nvSpPr>
        <p:spPr>
          <a:xfrm>
            <a:off x="6054471" y="2523744"/>
            <a:ext cx="32956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6994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8" name="Google Shape;568;p23"/>
          <p:cNvSpPr txBox="1"/>
          <p:nvPr/>
        </p:nvSpPr>
        <p:spPr>
          <a:xfrm>
            <a:off x="6384036" y="2523744"/>
            <a:ext cx="33273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8646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6716776" y="2523744"/>
            <a:ext cx="3549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0710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0" name="Google Shape;570;p23"/>
          <p:cNvSpPr txBox="1"/>
          <p:nvPr/>
        </p:nvSpPr>
        <p:spPr>
          <a:xfrm>
            <a:off x="7071741" y="2523744"/>
            <a:ext cx="34226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3217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7414006" y="2523744"/>
            <a:ext cx="3295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7122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2" name="Google Shape;572;p23"/>
          <p:cNvSpPr txBox="1"/>
          <p:nvPr/>
        </p:nvSpPr>
        <p:spPr>
          <a:xfrm>
            <a:off x="7743571" y="2523744"/>
            <a:ext cx="29476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0611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3" name="Google Shape;573;p23"/>
          <p:cNvSpPr txBox="1"/>
          <p:nvPr/>
        </p:nvSpPr>
        <p:spPr>
          <a:xfrm>
            <a:off x="8038338" y="2523744"/>
            <a:ext cx="291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9087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4" name="Google Shape;574;p23"/>
          <p:cNvSpPr txBox="1"/>
          <p:nvPr/>
        </p:nvSpPr>
        <p:spPr>
          <a:xfrm>
            <a:off x="8329930" y="2523744"/>
            <a:ext cx="3041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929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5" name="Google Shape;575;p23"/>
          <p:cNvSpPr txBox="1"/>
          <p:nvPr/>
        </p:nvSpPr>
        <p:spPr>
          <a:xfrm>
            <a:off x="8634095" y="2523744"/>
            <a:ext cx="3169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1406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6" name="Google Shape;576;p23"/>
          <p:cNvSpPr txBox="1"/>
          <p:nvPr/>
        </p:nvSpPr>
        <p:spPr>
          <a:xfrm>
            <a:off x="8951087" y="2523744"/>
            <a:ext cx="3168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1407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27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7" name="Google Shape;577;p23"/>
          <p:cNvSpPr txBox="1"/>
          <p:nvPr/>
        </p:nvSpPr>
        <p:spPr>
          <a:xfrm>
            <a:off x="9267952" y="2523744"/>
            <a:ext cx="2915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8961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8" name="Google Shape;578;p23"/>
          <p:cNvSpPr txBox="1"/>
          <p:nvPr/>
        </p:nvSpPr>
        <p:spPr>
          <a:xfrm>
            <a:off x="9559544" y="2523744"/>
            <a:ext cx="30416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5183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29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9" name="Google Shape;579;p23"/>
          <p:cNvSpPr txBox="1"/>
          <p:nvPr/>
        </p:nvSpPr>
        <p:spPr>
          <a:xfrm>
            <a:off x="9863709" y="2523744"/>
            <a:ext cx="3296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7375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0" name="Google Shape;580;p23"/>
          <p:cNvSpPr txBox="1"/>
          <p:nvPr/>
        </p:nvSpPr>
        <p:spPr>
          <a:xfrm>
            <a:off x="10193401" y="2523744"/>
            <a:ext cx="7098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noAutofit/>
          </a:bodyPr>
          <a:lstStyle/>
          <a:p>
            <a:pPr indent="0" lvl="0" marL="94869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Holding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1" name="Google Shape;581;p23"/>
          <p:cNvSpPr txBox="1"/>
          <p:nvPr/>
        </p:nvSpPr>
        <p:spPr>
          <a:xfrm>
            <a:off x="667016" y="2904744"/>
            <a:ext cx="6084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639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Circ 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2" name="Google Shape;582;p23"/>
          <p:cNvSpPr txBox="1"/>
          <p:nvPr/>
        </p:nvSpPr>
        <p:spPr>
          <a:xfrm>
            <a:off x="1275461" y="2904744"/>
            <a:ext cx="2947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 txBox="1"/>
          <p:nvPr/>
        </p:nvSpPr>
        <p:spPr>
          <a:xfrm>
            <a:off x="1570228" y="2904744"/>
            <a:ext cx="2661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 txBox="1"/>
          <p:nvPr/>
        </p:nvSpPr>
        <p:spPr>
          <a:xfrm>
            <a:off x="1836420" y="2904744"/>
            <a:ext cx="266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1018" marR="7103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5" name="Google Shape;585;p23"/>
          <p:cNvSpPr txBox="1"/>
          <p:nvPr/>
        </p:nvSpPr>
        <p:spPr>
          <a:xfrm>
            <a:off x="2102612" y="2904744"/>
            <a:ext cx="2788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6" name="Google Shape;586;p23"/>
          <p:cNvSpPr txBox="1"/>
          <p:nvPr/>
        </p:nvSpPr>
        <p:spPr>
          <a:xfrm>
            <a:off x="2381504" y="29047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7" name="Google Shape;587;p23"/>
          <p:cNvSpPr txBox="1"/>
          <p:nvPr/>
        </p:nvSpPr>
        <p:spPr>
          <a:xfrm>
            <a:off x="2660396" y="2904744"/>
            <a:ext cx="2788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8" name="Google Shape;588;p23"/>
          <p:cNvSpPr txBox="1"/>
          <p:nvPr/>
        </p:nvSpPr>
        <p:spPr>
          <a:xfrm>
            <a:off x="2939288" y="2904744"/>
            <a:ext cx="2915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 txBox="1"/>
          <p:nvPr/>
        </p:nvSpPr>
        <p:spPr>
          <a:xfrm>
            <a:off x="3230880" y="2904744"/>
            <a:ext cx="2914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 txBox="1"/>
          <p:nvPr/>
        </p:nvSpPr>
        <p:spPr>
          <a:xfrm>
            <a:off x="3522345" y="29047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"/>
          <p:cNvSpPr txBox="1"/>
          <p:nvPr/>
        </p:nvSpPr>
        <p:spPr>
          <a:xfrm>
            <a:off x="3801237" y="2904744"/>
            <a:ext cx="256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 txBox="1"/>
          <p:nvPr/>
        </p:nvSpPr>
        <p:spPr>
          <a:xfrm>
            <a:off x="4057904" y="2904744"/>
            <a:ext cx="2947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 txBox="1"/>
          <p:nvPr/>
        </p:nvSpPr>
        <p:spPr>
          <a:xfrm>
            <a:off x="4352671" y="29047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 txBox="1"/>
          <p:nvPr/>
        </p:nvSpPr>
        <p:spPr>
          <a:xfrm>
            <a:off x="4631563" y="2904744"/>
            <a:ext cx="2661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 txBox="1"/>
          <p:nvPr/>
        </p:nvSpPr>
        <p:spPr>
          <a:xfrm>
            <a:off x="4897755" y="2904744"/>
            <a:ext cx="2566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 txBox="1"/>
          <p:nvPr/>
        </p:nvSpPr>
        <p:spPr>
          <a:xfrm>
            <a:off x="5154422" y="29047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5433314" y="2904744"/>
            <a:ext cx="316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 txBox="1"/>
          <p:nvPr/>
        </p:nvSpPr>
        <p:spPr>
          <a:xfrm>
            <a:off x="5750306" y="2904744"/>
            <a:ext cx="3041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9560" marR="904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9" name="Google Shape;599;p23"/>
          <p:cNvSpPr txBox="1"/>
          <p:nvPr/>
        </p:nvSpPr>
        <p:spPr>
          <a:xfrm>
            <a:off x="6054471" y="2904744"/>
            <a:ext cx="3295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3403" marR="102027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0" name="Google Shape;600;p23"/>
          <p:cNvSpPr txBox="1"/>
          <p:nvPr/>
        </p:nvSpPr>
        <p:spPr>
          <a:xfrm>
            <a:off x="6384036" y="2904744"/>
            <a:ext cx="3327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5054" marR="10355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1" name="Google Shape;601;p23"/>
          <p:cNvSpPr txBox="1"/>
          <p:nvPr/>
        </p:nvSpPr>
        <p:spPr>
          <a:xfrm>
            <a:off x="6716776" y="2904744"/>
            <a:ext cx="3549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15595" marR="11523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2" name="Google Shape;602;p23"/>
          <p:cNvSpPr txBox="1"/>
          <p:nvPr/>
        </p:nvSpPr>
        <p:spPr>
          <a:xfrm>
            <a:off x="7071741" y="2904744"/>
            <a:ext cx="3422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9626" marR="10850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3" name="Google Shape;603;p23"/>
          <p:cNvSpPr txBox="1"/>
          <p:nvPr/>
        </p:nvSpPr>
        <p:spPr>
          <a:xfrm>
            <a:off x="7414006" y="2904744"/>
            <a:ext cx="3295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3530" marR="10190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4" name="Google Shape;604;p23"/>
          <p:cNvSpPr txBox="1"/>
          <p:nvPr/>
        </p:nvSpPr>
        <p:spPr>
          <a:xfrm>
            <a:off x="7743571" y="2904744"/>
            <a:ext cx="2947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5496" marR="8513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5" name="Google Shape;605;p23"/>
          <p:cNvSpPr txBox="1"/>
          <p:nvPr/>
        </p:nvSpPr>
        <p:spPr>
          <a:xfrm>
            <a:off x="8038338" y="2904744"/>
            <a:ext cx="2915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 txBox="1"/>
          <p:nvPr/>
        </p:nvSpPr>
        <p:spPr>
          <a:xfrm>
            <a:off x="8329930" y="2904744"/>
            <a:ext cx="3041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8634095" y="2904744"/>
            <a:ext cx="316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8951087" y="2904744"/>
            <a:ext cx="3168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9267952" y="2904744"/>
            <a:ext cx="2915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9559544" y="2904744"/>
            <a:ext cx="3041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9863709" y="2904744"/>
            <a:ext cx="3296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10193401" y="2904744"/>
            <a:ext cx="7098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254533" marR="25333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667016" y="3095244"/>
            <a:ext cx="6084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639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Circ 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4" name="Google Shape;614;p23"/>
          <p:cNvSpPr txBox="1"/>
          <p:nvPr/>
        </p:nvSpPr>
        <p:spPr>
          <a:xfrm>
            <a:off x="1275461" y="3095244"/>
            <a:ext cx="2947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4480" marR="8615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5" name="Google Shape;615;p23"/>
          <p:cNvSpPr txBox="1"/>
          <p:nvPr/>
        </p:nvSpPr>
        <p:spPr>
          <a:xfrm>
            <a:off x="1570228" y="3095244"/>
            <a:ext cx="2661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0764" marR="7129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6" name="Google Shape;616;p23"/>
          <p:cNvSpPr txBox="1"/>
          <p:nvPr/>
        </p:nvSpPr>
        <p:spPr>
          <a:xfrm>
            <a:off x="1836420" y="3095244"/>
            <a:ext cx="266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1018" marR="7103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7" name="Google Shape;617;p23"/>
          <p:cNvSpPr txBox="1"/>
          <p:nvPr/>
        </p:nvSpPr>
        <p:spPr>
          <a:xfrm>
            <a:off x="2102612" y="3095244"/>
            <a:ext cx="2788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8" name="Google Shape;618;p23"/>
          <p:cNvSpPr txBox="1"/>
          <p:nvPr/>
        </p:nvSpPr>
        <p:spPr>
          <a:xfrm>
            <a:off x="2381504" y="30952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9" name="Google Shape;619;p23"/>
          <p:cNvSpPr txBox="1"/>
          <p:nvPr/>
        </p:nvSpPr>
        <p:spPr>
          <a:xfrm>
            <a:off x="2660396" y="3095244"/>
            <a:ext cx="2788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0" name="Google Shape;620;p23"/>
          <p:cNvSpPr txBox="1"/>
          <p:nvPr/>
        </p:nvSpPr>
        <p:spPr>
          <a:xfrm>
            <a:off x="2939288" y="3095244"/>
            <a:ext cx="2915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3083" marR="8437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1" name="Google Shape;621;p23"/>
          <p:cNvSpPr txBox="1"/>
          <p:nvPr/>
        </p:nvSpPr>
        <p:spPr>
          <a:xfrm>
            <a:off x="3230880" y="3095244"/>
            <a:ext cx="2914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3210" marR="8412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p23"/>
          <p:cNvSpPr txBox="1"/>
          <p:nvPr/>
        </p:nvSpPr>
        <p:spPr>
          <a:xfrm>
            <a:off x="3522345" y="30952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7241" marR="7751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3" name="Google Shape;623;p23"/>
          <p:cNvSpPr txBox="1"/>
          <p:nvPr/>
        </p:nvSpPr>
        <p:spPr>
          <a:xfrm>
            <a:off x="3801237" y="3095244"/>
            <a:ext cx="256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66573" marR="6595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4" name="Google Shape;624;p23"/>
          <p:cNvSpPr txBox="1"/>
          <p:nvPr/>
        </p:nvSpPr>
        <p:spPr>
          <a:xfrm>
            <a:off x="4057904" y="3095244"/>
            <a:ext cx="2947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4861" marR="85771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5" name="Google Shape;625;p23"/>
          <p:cNvSpPr txBox="1"/>
          <p:nvPr/>
        </p:nvSpPr>
        <p:spPr>
          <a:xfrm>
            <a:off x="4352671" y="30952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7241" marR="7751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6" name="Google Shape;626;p23"/>
          <p:cNvSpPr txBox="1"/>
          <p:nvPr/>
        </p:nvSpPr>
        <p:spPr>
          <a:xfrm>
            <a:off x="4631563" y="3095244"/>
            <a:ext cx="2661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1145" marR="7091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7" name="Google Shape;627;p23"/>
          <p:cNvSpPr txBox="1"/>
          <p:nvPr/>
        </p:nvSpPr>
        <p:spPr>
          <a:xfrm>
            <a:off x="4897755" y="3095244"/>
            <a:ext cx="2566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 txBox="1"/>
          <p:nvPr/>
        </p:nvSpPr>
        <p:spPr>
          <a:xfrm>
            <a:off x="5154422" y="30952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3"/>
          <p:cNvSpPr txBox="1"/>
          <p:nvPr/>
        </p:nvSpPr>
        <p:spPr>
          <a:xfrm>
            <a:off x="5433314" y="3095244"/>
            <a:ext cx="316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3"/>
          <p:cNvSpPr txBox="1"/>
          <p:nvPr/>
        </p:nvSpPr>
        <p:spPr>
          <a:xfrm>
            <a:off x="5750306" y="3095244"/>
            <a:ext cx="3041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 txBox="1"/>
          <p:nvPr/>
        </p:nvSpPr>
        <p:spPr>
          <a:xfrm>
            <a:off x="6054471" y="3095244"/>
            <a:ext cx="3295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 txBox="1"/>
          <p:nvPr/>
        </p:nvSpPr>
        <p:spPr>
          <a:xfrm>
            <a:off x="6384036" y="3095244"/>
            <a:ext cx="3327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3"/>
          <p:cNvSpPr txBox="1"/>
          <p:nvPr/>
        </p:nvSpPr>
        <p:spPr>
          <a:xfrm>
            <a:off x="6716776" y="3095244"/>
            <a:ext cx="3549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3"/>
          <p:cNvSpPr txBox="1"/>
          <p:nvPr/>
        </p:nvSpPr>
        <p:spPr>
          <a:xfrm>
            <a:off x="7071741" y="3095244"/>
            <a:ext cx="3422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3"/>
          <p:cNvSpPr txBox="1"/>
          <p:nvPr/>
        </p:nvSpPr>
        <p:spPr>
          <a:xfrm>
            <a:off x="7414006" y="3095244"/>
            <a:ext cx="3295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 txBox="1"/>
          <p:nvPr/>
        </p:nvSpPr>
        <p:spPr>
          <a:xfrm>
            <a:off x="7743571" y="3095244"/>
            <a:ext cx="2947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 txBox="1"/>
          <p:nvPr/>
        </p:nvSpPr>
        <p:spPr>
          <a:xfrm>
            <a:off x="8038338" y="3095244"/>
            <a:ext cx="2915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3"/>
          <p:cNvSpPr txBox="1"/>
          <p:nvPr/>
        </p:nvSpPr>
        <p:spPr>
          <a:xfrm>
            <a:off x="8329930" y="3095244"/>
            <a:ext cx="3041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9814" marR="9021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9" name="Google Shape;639;p23"/>
          <p:cNvSpPr txBox="1"/>
          <p:nvPr/>
        </p:nvSpPr>
        <p:spPr>
          <a:xfrm>
            <a:off x="8634095" y="3095244"/>
            <a:ext cx="316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7815" marR="9504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0" name="Google Shape;640;p23"/>
          <p:cNvSpPr txBox="1"/>
          <p:nvPr/>
        </p:nvSpPr>
        <p:spPr>
          <a:xfrm>
            <a:off x="8951087" y="3095244"/>
            <a:ext cx="3168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7434" marR="9529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1" name="Google Shape;641;p23"/>
          <p:cNvSpPr txBox="1"/>
          <p:nvPr/>
        </p:nvSpPr>
        <p:spPr>
          <a:xfrm>
            <a:off x="9267952" y="3095244"/>
            <a:ext cx="2915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3845" marR="8361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2" name="Google Shape;642;p23"/>
          <p:cNvSpPr txBox="1"/>
          <p:nvPr/>
        </p:nvSpPr>
        <p:spPr>
          <a:xfrm>
            <a:off x="9559544" y="3095244"/>
            <a:ext cx="3041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0068" marR="8996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3" name="Google Shape;643;p23"/>
          <p:cNvSpPr txBox="1"/>
          <p:nvPr/>
        </p:nvSpPr>
        <p:spPr>
          <a:xfrm>
            <a:off x="9863709" y="3095244"/>
            <a:ext cx="3296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3784" marR="10177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4" name="Google Shape;644;p23"/>
          <p:cNvSpPr txBox="1"/>
          <p:nvPr/>
        </p:nvSpPr>
        <p:spPr>
          <a:xfrm>
            <a:off x="10193401" y="3095244"/>
            <a:ext cx="7098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254533" marR="25333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5" name="Google Shape;645;p23"/>
          <p:cNvSpPr txBox="1"/>
          <p:nvPr/>
        </p:nvSpPr>
        <p:spPr>
          <a:xfrm>
            <a:off x="667016" y="3285744"/>
            <a:ext cx="6084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639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Circ 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6" name="Google Shape;646;p23"/>
          <p:cNvSpPr txBox="1"/>
          <p:nvPr/>
        </p:nvSpPr>
        <p:spPr>
          <a:xfrm>
            <a:off x="1275461" y="3285744"/>
            <a:ext cx="2947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4480" marR="8615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7" name="Google Shape;647;p23"/>
          <p:cNvSpPr txBox="1"/>
          <p:nvPr/>
        </p:nvSpPr>
        <p:spPr>
          <a:xfrm>
            <a:off x="1570228" y="3285744"/>
            <a:ext cx="2661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0764" marR="7129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8" name="Google Shape;648;p23"/>
          <p:cNvSpPr txBox="1"/>
          <p:nvPr/>
        </p:nvSpPr>
        <p:spPr>
          <a:xfrm>
            <a:off x="1836420" y="3285744"/>
            <a:ext cx="266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1018" marR="7103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9" name="Google Shape;649;p23"/>
          <p:cNvSpPr txBox="1"/>
          <p:nvPr/>
        </p:nvSpPr>
        <p:spPr>
          <a:xfrm>
            <a:off x="2102612" y="3285744"/>
            <a:ext cx="2788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0" name="Google Shape;650;p23"/>
          <p:cNvSpPr txBox="1"/>
          <p:nvPr/>
        </p:nvSpPr>
        <p:spPr>
          <a:xfrm>
            <a:off x="2381504" y="32857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3"/>
          <p:cNvSpPr txBox="1"/>
          <p:nvPr/>
        </p:nvSpPr>
        <p:spPr>
          <a:xfrm>
            <a:off x="2660396" y="3285744"/>
            <a:ext cx="2788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3"/>
          <p:cNvSpPr txBox="1"/>
          <p:nvPr/>
        </p:nvSpPr>
        <p:spPr>
          <a:xfrm>
            <a:off x="2939288" y="3285744"/>
            <a:ext cx="2915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 txBox="1"/>
          <p:nvPr/>
        </p:nvSpPr>
        <p:spPr>
          <a:xfrm>
            <a:off x="3230880" y="3285744"/>
            <a:ext cx="2914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3"/>
          <p:cNvSpPr txBox="1"/>
          <p:nvPr/>
        </p:nvSpPr>
        <p:spPr>
          <a:xfrm>
            <a:off x="3522345" y="32857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 txBox="1"/>
          <p:nvPr/>
        </p:nvSpPr>
        <p:spPr>
          <a:xfrm>
            <a:off x="3801237" y="3285744"/>
            <a:ext cx="256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3"/>
          <p:cNvSpPr txBox="1"/>
          <p:nvPr/>
        </p:nvSpPr>
        <p:spPr>
          <a:xfrm>
            <a:off x="4057904" y="3285744"/>
            <a:ext cx="2947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3"/>
          <p:cNvSpPr txBox="1"/>
          <p:nvPr/>
        </p:nvSpPr>
        <p:spPr>
          <a:xfrm>
            <a:off x="4352671" y="32857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7241" marR="7751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8" name="Google Shape;658;p23"/>
          <p:cNvSpPr txBox="1"/>
          <p:nvPr/>
        </p:nvSpPr>
        <p:spPr>
          <a:xfrm>
            <a:off x="4631563" y="3285744"/>
            <a:ext cx="2661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1145" marR="7091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9" name="Google Shape;659;p23"/>
          <p:cNvSpPr txBox="1"/>
          <p:nvPr/>
        </p:nvSpPr>
        <p:spPr>
          <a:xfrm>
            <a:off x="4897755" y="3285744"/>
            <a:ext cx="2566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66827" marR="6570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0" name="Google Shape;660;p23"/>
          <p:cNvSpPr txBox="1"/>
          <p:nvPr/>
        </p:nvSpPr>
        <p:spPr>
          <a:xfrm>
            <a:off x="5154422" y="3285744"/>
            <a:ext cx="2788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7368" marR="7738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1" name="Google Shape;661;p23"/>
          <p:cNvSpPr txBox="1"/>
          <p:nvPr/>
        </p:nvSpPr>
        <p:spPr>
          <a:xfrm>
            <a:off x="5433314" y="3285744"/>
            <a:ext cx="316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7180" marR="95677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2" name="Google Shape;662;p23"/>
          <p:cNvSpPr txBox="1"/>
          <p:nvPr/>
        </p:nvSpPr>
        <p:spPr>
          <a:xfrm>
            <a:off x="5750306" y="3285744"/>
            <a:ext cx="3041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9560" marR="904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3" name="Google Shape;663;p23"/>
          <p:cNvSpPr txBox="1"/>
          <p:nvPr/>
        </p:nvSpPr>
        <p:spPr>
          <a:xfrm>
            <a:off x="6054471" y="3285744"/>
            <a:ext cx="3295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3403" marR="102027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4" name="Google Shape;664;p23"/>
          <p:cNvSpPr txBox="1"/>
          <p:nvPr/>
        </p:nvSpPr>
        <p:spPr>
          <a:xfrm>
            <a:off x="6384036" y="3285744"/>
            <a:ext cx="3327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5054" marR="10355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5" name="Google Shape;665;p23"/>
          <p:cNvSpPr txBox="1"/>
          <p:nvPr/>
        </p:nvSpPr>
        <p:spPr>
          <a:xfrm>
            <a:off x="6716776" y="3285744"/>
            <a:ext cx="3549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15595" marR="11523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6" name="Google Shape;666;p23"/>
          <p:cNvSpPr txBox="1"/>
          <p:nvPr/>
        </p:nvSpPr>
        <p:spPr>
          <a:xfrm>
            <a:off x="7071741" y="3285744"/>
            <a:ext cx="3422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9626" marR="10850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7" name="Google Shape;667;p23"/>
          <p:cNvSpPr txBox="1"/>
          <p:nvPr/>
        </p:nvSpPr>
        <p:spPr>
          <a:xfrm>
            <a:off x="7414006" y="3285744"/>
            <a:ext cx="3295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3530" marR="10190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8" name="Google Shape;668;p23"/>
          <p:cNvSpPr txBox="1"/>
          <p:nvPr/>
        </p:nvSpPr>
        <p:spPr>
          <a:xfrm>
            <a:off x="7743571" y="3285744"/>
            <a:ext cx="2947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 txBox="1"/>
          <p:nvPr/>
        </p:nvSpPr>
        <p:spPr>
          <a:xfrm>
            <a:off x="8038338" y="3285744"/>
            <a:ext cx="2915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3"/>
          <p:cNvSpPr txBox="1"/>
          <p:nvPr/>
        </p:nvSpPr>
        <p:spPr>
          <a:xfrm>
            <a:off x="8329930" y="3285744"/>
            <a:ext cx="3041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 txBox="1"/>
          <p:nvPr/>
        </p:nvSpPr>
        <p:spPr>
          <a:xfrm>
            <a:off x="8634095" y="3285744"/>
            <a:ext cx="31699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3"/>
          <p:cNvSpPr txBox="1"/>
          <p:nvPr/>
        </p:nvSpPr>
        <p:spPr>
          <a:xfrm>
            <a:off x="8951087" y="3285744"/>
            <a:ext cx="3168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7434" marR="9529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3" name="Google Shape;673;p23"/>
          <p:cNvSpPr txBox="1"/>
          <p:nvPr/>
        </p:nvSpPr>
        <p:spPr>
          <a:xfrm>
            <a:off x="9267952" y="3285744"/>
            <a:ext cx="2915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3845" marR="8361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4" name="Google Shape;674;p23"/>
          <p:cNvSpPr txBox="1"/>
          <p:nvPr/>
        </p:nvSpPr>
        <p:spPr>
          <a:xfrm>
            <a:off x="9559544" y="3285744"/>
            <a:ext cx="3041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0068" marR="8996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5" name="Google Shape;675;p23"/>
          <p:cNvSpPr txBox="1"/>
          <p:nvPr/>
        </p:nvSpPr>
        <p:spPr>
          <a:xfrm>
            <a:off x="9863709" y="3285744"/>
            <a:ext cx="3296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3784" marR="10177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6" name="Google Shape;676;p23"/>
          <p:cNvSpPr txBox="1"/>
          <p:nvPr/>
        </p:nvSpPr>
        <p:spPr>
          <a:xfrm>
            <a:off x="10193401" y="3285744"/>
            <a:ext cx="7098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254533" marR="25333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7" name="Google Shape;677;p23"/>
          <p:cNvSpPr txBox="1"/>
          <p:nvPr/>
        </p:nvSpPr>
        <p:spPr>
          <a:xfrm>
            <a:off x="667016" y="3476244"/>
            <a:ext cx="608444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639" marR="0" rtl="0" algn="l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Circ 4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8" name="Google Shape;678;p23"/>
          <p:cNvSpPr txBox="1"/>
          <p:nvPr/>
        </p:nvSpPr>
        <p:spPr>
          <a:xfrm>
            <a:off x="1275461" y="3476244"/>
            <a:ext cx="294766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4457" marR="8596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9" name="Google Shape;679;p23"/>
          <p:cNvSpPr txBox="1"/>
          <p:nvPr/>
        </p:nvSpPr>
        <p:spPr>
          <a:xfrm>
            <a:off x="1570228" y="3476244"/>
            <a:ext cx="2661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0741" marR="71101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0" name="Google Shape;680;p23"/>
          <p:cNvSpPr txBox="1"/>
          <p:nvPr/>
        </p:nvSpPr>
        <p:spPr>
          <a:xfrm>
            <a:off x="1836420" y="3476244"/>
            <a:ext cx="266192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0995" marR="70847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1" name="Google Shape;681;p23"/>
          <p:cNvSpPr txBox="1"/>
          <p:nvPr/>
        </p:nvSpPr>
        <p:spPr>
          <a:xfrm>
            <a:off x="2102612" y="3476244"/>
            <a:ext cx="278892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64" marR="77578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2" name="Google Shape;682;p23"/>
          <p:cNvSpPr txBox="1"/>
          <p:nvPr/>
        </p:nvSpPr>
        <p:spPr>
          <a:xfrm>
            <a:off x="2381504" y="3476244"/>
            <a:ext cx="2788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64" marR="77578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3" name="Google Shape;683;p23"/>
          <p:cNvSpPr txBox="1"/>
          <p:nvPr/>
        </p:nvSpPr>
        <p:spPr>
          <a:xfrm>
            <a:off x="2660396" y="3476244"/>
            <a:ext cx="278892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6964" marR="77578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4" name="Google Shape;684;p23"/>
          <p:cNvSpPr txBox="1"/>
          <p:nvPr/>
        </p:nvSpPr>
        <p:spPr>
          <a:xfrm>
            <a:off x="2939288" y="3476244"/>
            <a:ext cx="291592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3060" marR="8418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5" name="Google Shape;685;p23"/>
          <p:cNvSpPr txBox="1"/>
          <p:nvPr/>
        </p:nvSpPr>
        <p:spPr>
          <a:xfrm>
            <a:off x="3230880" y="3476244"/>
            <a:ext cx="291465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3187" marR="83928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6" name="Google Shape;686;p23"/>
          <p:cNvSpPr txBox="1"/>
          <p:nvPr/>
        </p:nvSpPr>
        <p:spPr>
          <a:xfrm>
            <a:off x="3522345" y="3476244"/>
            <a:ext cx="2788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7218" marR="7732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7" name="Google Shape;687;p23"/>
          <p:cNvSpPr txBox="1"/>
          <p:nvPr/>
        </p:nvSpPr>
        <p:spPr>
          <a:xfrm>
            <a:off x="3801237" y="3476244"/>
            <a:ext cx="256666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66550" marR="65767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8" name="Google Shape;688;p23"/>
          <p:cNvSpPr txBox="1"/>
          <p:nvPr/>
        </p:nvSpPr>
        <p:spPr>
          <a:xfrm>
            <a:off x="4057904" y="3476244"/>
            <a:ext cx="294767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4838" marR="8557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9" name="Google Shape;689;p23"/>
          <p:cNvSpPr txBox="1"/>
          <p:nvPr/>
        </p:nvSpPr>
        <p:spPr>
          <a:xfrm>
            <a:off x="4352671" y="3476244"/>
            <a:ext cx="2788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7218" marR="7732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0" name="Google Shape;690;p23"/>
          <p:cNvSpPr txBox="1"/>
          <p:nvPr/>
        </p:nvSpPr>
        <p:spPr>
          <a:xfrm>
            <a:off x="4631563" y="3476244"/>
            <a:ext cx="2661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71122" marR="7072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1" name="Google Shape;691;p23"/>
          <p:cNvSpPr txBox="1"/>
          <p:nvPr/>
        </p:nvSpPr>
        <p:spPr>
          <a:xfrm>
            <a:off x="4897755" y="3476244"/>
            <a:ext cx="256667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3"/>
          <p:cNvSpPr txBox="1"/>
          <p:nvPr/>
        </p:nvSpPr>
        <p:spPr>
          <a:xfrm>
            <a:off x="5154422" y="3476244"/>
            <a:ext cx="2788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3"/>
          <p:cNvSpPr txBox="1"/>
          <p:nvPr/>
        </p:nvSpPr>
        <p:spPr>
          <a:xfrm>
            <a:off x="5433314" y="3476244"/>
            <a:ext cx="3169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7157" marR="9548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4" name="Google Shape;694;p23"/>
          <p:cNvSpPr txBox="1"/>
          <p:nvPr/>
        </p:nvSpPr>
        <p:spPr>
          <a:xfrm>
            <a:off x="5750306" y="3476244"/>
            <a:ext cx="304165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9537" marR="90278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5" name="Google Shape;695;p23"/>
          <p:cNvSpPr txBox="1"/>
          <p:nvPr/>
        </p:nvSpPr>
        <p:spPr>
          <a:xfrm>
            <a:off x="6054471" y="3476244"/>
            <a:ext cx="329564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3380" marR="10183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6" name="Google Shape;696;p23"/>
          <p:cNvSpPr txBox="1"/>
          <p:nvPr/>
        </p:nvSpPr>
        <p:spPr>
          <a:xfrm>
            <a:off x="6384036" y="3476244"/>
            <a:ext cx="332739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5031" marR="10335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7" name="Google Shape;697;p23"/>
          <p:cNvSpPr txBox="1"/>
          <p:nvPr/>
        </p:nvSpPr>
        <p:spPr>
          <a:xfrm>
            <a:off x="6716776" y="3476244"/>
            <a:ext cx="354965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15572" marR="11504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8" name="Google Shape;698;p23"/>
          <p:cNvSpPr txBox="1"/>
          <p:nvPr/>
        </p:nvSpPr>
        <p:spPr>
          <a:xfrm>
            <a:off x="7071741" y="3476244"/>
            <a:ext cx="342264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9603" marR="10831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9" name="Google Shape;699;p23"/>
          <p:cNvSpPr txBox="1"/>
          <p:nvPr/>
        </p:nvSpPr>
        <p:spPr>
          <a:xfrm>
            <a:off x="7414006" y="3476244"/>
            <a:ext cx="329565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103507" marR="101708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0" name="Google Shape;700;p23"/>
          <p:cNvSpPr txBox="1"/>
          <p:nvPr/>
        </p:nvSpPr>
        <p:spPr>
          <a:xfrm>
            <a:off x="7743571" y="3476244"/>
            <a:ext cx="294767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5473" marR="8494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1" name="Google Shape;701;p23"/>
          <p:cNvSpPr txBox="1"/>
          <p:nvPr/>
        </p:nvSpPr>
        <p:spPr>
          <a:xfrm>
            <a:off x="8038338" y="3476244"/>
            <a:ext cx="2915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3949" marR="8329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2" name="Google Shape;702;p23"/>
          <p:cNvSpPr txBox="1"/>
          <p:nvPr/>
        </p:nvSpPr>
        <p:spPr>
          <a:xfrm>
            <a:off x="8329930" y="3476244"/>
            <a:ext cx="304165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9791" marR="9002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3" name="Google Shape;703;p23"/>
          <p:cNvSpPr txBox="1"/>
          <p:nvPr/>
        </p:nvSpPr>
        <p:spPr>
          <a:xfrm>
            <a:off x="8634095" y="3476244"/>
            <a:ext cx="316991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3"/>
          <p:cNvSpPr txBox="1"/>
          <p:nvPr/>
        </p:nvSpPr>
        <p:spPr>
          <a:xfrm>
            <a:off x="8951087" y="3476244"/>
            <a:ext cx="316865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3"/>
          <p:cNvSpPr txBox="1"/>
          <p:nvPr/>
        </p:nvSpPr>
        <p:spPr>
          <a:xfrm>
            <a:off x="9267952" y="3476244"/>
            <a:ext cx="291592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83822" marR="8342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6" name="Google Shape;706;p23"/>
          <p:cNvSpPr txBox="1"/>
          <p:nvPr/>
        </p:nvSpPr>
        <p:spPr>
          <a:xfrm>
            <a:off x="9559544" y="3476244"/>
            <a:ext cx="304164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90045" marR="89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7" name="Google Shape;707;p23"/>
          <p:cNvSpPr txBox="1"/>
          <p:nvPr/>
        </p:nvSpPr>
        <p:spPr>
          <a:xfrm>
            <a:off x="9863709" y="3476244"/>
            <a:ext cx="329692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3"/>
          <p:cNvSpPr txBox="1"/>
          <p:nvPr/>
        </p:nvSpPr>
        <p:spPr>
          <a:xfrm>
            <a:off x="10193401" y="3476244"/>
            <a:ext cx="709802" cy="19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254510" marR="25331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9" name="Google Shape;709;p23"/>
          <p:cNvSpPr txBox="1"/>
          <p:nvPr/>
        </p:nvSpPr>
        <p:spPr>
          <a:xfrm>
            <a:off x="667016" y="3666744"/>
            <a:ext cx="60844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noAutofit/>
          </a:bodyPr>
          <a:lstStyle/>
          <a:p>
            <a:pPr indent="0" lvl="0" marL="9639" marR="15840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 waktu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0" name="Google Shape;710;p23"/>
          <p:cNvSpPr txBox="1"/>
          <p:nvPr/>
        </p:nvSpPr>
        <p:spPr>
          <a:xfrm>
            <a:off x="1275461" y="3666744"/>
            <a:ext cx="294766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4480" marR="8615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1" name="Google Shape;711;p23"/>
          <p:cNvSpPr txBox="1"/>
          <p:nvPr/>
        </p:nvSpPr>
        <p:spPr>
          <a:xfrm>
            <a:off x="1570228" y="3666744"/>
            <a:ext cx="2661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0764" marR="7129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2" name="Google Shape;712;p23"/>
          <p:cNvSpPr txBox="1"/>
          <p:nvPr/>
        </p:nvSpPr>
        <p:spPr>
          <a:xfrm>
            <a:off x="1836420" y="3666744"/>
            <a:ext cx="26619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1018" marR="7103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3" name="Google Shape;713;p23"/>
          <p:cNvSpPr txBox="1"/>
          <p:nvPr/>
        </p:nvSpPr>
        <p:spPr>
          <a:xfrm>
            <a:off x="2102612" y="3666744"/>
            <a:ext cx="27889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4" name="Google Shape;714;p23"/>
          <p:cNvSpPr txBox="1"/>
          <p:nvPr/>
        </p:nvSpPr>
        <p:spPr>
          <a:xfrm>
            <a:off x="2381504" y="3666744"/>
            <a:ext cx="2788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5" name="Google Shape;715;p23"/>
          <p:cNvSpPr txBox="1"/>
          <p:nvPr/>
        </p:nvSpPr>
        <p:spPr>
          <a:xfrm>
            <a:off x="2660396" y="3666744"/>
            <a:ext cx="27889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987" marR="777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6" name="Google Shape;716;p23"/>
          <p:cNvSpPr txBox="1"/>
          <p:nvPr/>
        </p:nvSpPr>
        <p:spPr>
          <a:xfrm>
            <a:off x="2939288" y="3666744"/>
            <a:ext cx="29159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3083" marR="8437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7" name="Google Shape;717;p23"/>
          <p:cNvSpPr txBox="1"/>
          <p:nvPr/>
        </p:nvSpPr>
        <p:spPr>
          <a:xfrm>
            <a:off x="3230880" y="3666744"/>
            <a:ext cx="291465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3210" marR="8412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8" name="Google Shape;718;p23"/>
          <p:cNvSpPr txBox="1"/>
          <p:nvPr/>
        </p:nvSpPr>
        <p:spPr>
          <a:xfrm>
            <a:off x="3522345" y="3666744"/>
            <a:ext cx="2788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7241" marR="7751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9" name="Google Shape;719;p23"/>
          <p:cNvSpPr txBox="1"/>
          <p:nvPr/>
        </p:nvSpPr>
        <p:spPr>
          <a:xfrm>
            <a:off x="3801237" y="3666744"/>
            <a:ext cx="256666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6573" marR="6595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0" name="Google Shape;720;p23"/>
          <p:cNvSpPr txBox="1"/>
          <p:nvPr/>
        </p:nvSpPr>
        <p:spPr>
          <a:xfrm>
            <a:off x="4057904" y="3666744"/>
            <a:ext cx="294767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4861" marR="85771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1" name="Google Shape;721;p23"/>
          <p:cNvSpPr txBox="1"/>
          <p:nvPr/>
        </p:nvSpPr>
        <p:spPr>
          <a:xfrm>
            <a:off x="4352671" y="3666744"/>
            <a:ext cx="2788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7241" marR="7751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2" name="Google Shape;722;p23"/>
          <p:cNvSpPr txBox="1"/>
          <p:nvPr/>
        </p:nvSpPr>
        <p:spPr>
          <a:xfrm>
            <a:off x="4631563" y="3666744"/>
            <a:ext cx="2661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1145" marR="7091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3" name="Google Shape;723;p23"/>
          <p:cNvSpPr txBox="1"/>
          <p:nvPr/>
        </p:nvSpPr>
        <p:spPr>
          <a:xfrm>
            <a:off x="4897755" y="3666744"/>
            <a:ext cx="256667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6827" marR="6570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4" name="Google Shape;724;p23"/>
          <p:cNvSpPr txBox="1"/>
          <p:nvPr/>
        </p:nvSpPr>
        <p:spPr>
          <a:xfrm>
            <a:off x="5154422" y="3666744"/>
            <a:ext cx="2788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7368" marR="77389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5" name="Google Shape;725;p23"/>
          <p:cNvSpPr txBox="1"/>
          <p:nvPr/>
        </p:nvSpPr>
        <p:spPr>
          <a:xfrm>
            <a:off x="5433314" y="3666744"/>
            <a:ext cx="3169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80" marR="95677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6" name="Google Shape;726;p23"/>
          <p:cNvSpPr txBox="1"/>
          <p:nvPr/>
        </p:nvSpPr>
        <p:spPr>
          <a:xfrm>
            <a:off x="5750306" y="3666744"/>
            <a:ext cx="304165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9560" marR="9047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7" name="Google Shape;727;p23"/>
          <p:cNvSpPr txBox="1"/>
          <p:nvPr/>
        </p:nvSpPr>
        <p:spPr>
          <a:xfrm>
            <a:off x="6054471" y="3666744"/>
            <a:ext cx="32956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3403" marR="102027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8" name="Google Shape;728;p23"/>
          <p:cNvSpPr txBox="1"/>
          <p:nvPr/>
        </p:nvSpPr>
        <p:spPr>
          <a:xfrm>
            <a:off x="6384036" y="3666744"/>
            <a:ext cx="332739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5054" marR="10355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9" name="Google Shape;729;p23"/>
          <p:cNvSpPr txBox="1"/>
          <p:nvPr/>
        </p:nvSpPr>
        <p:spPr>
          <a:xfrm>
            <a:off x="6716776" y="3666744"/>
            <a:ext cx="354965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5595" marR="11523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0" name="Google Shape;730;p23"/>
          <p:cNvSpPr txBox="1"/>
          <p:nvPr/>
        </p:nvSpPr>
        <p:spPr>
          <a:xfrm>
            <a:off x="7071741" y="3666744"/>
            <a:ext cx="34226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9626" marR="108504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1" name="Google Shape;731;p23"/>
          <p:cNvSpPr txBox="1"/>
          <p:nvPr/>
        </p:nvSpPr>
        <p:spPr>
          <a:xfrm>
            <a:off x="7414006" y="3666744"/>
            <a:ext cx="329565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3530" marR="101900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2" name="Google Shape;732;p23"/>
          <p:cNvSpPr txBox="1"/>
          <p:nvPr/>
        </p:nvSpPr>
        <p:spPr>
          <a:xfrm>
            <a:off x="7743571" y="3666744"/>
            <a:ext cx="294767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5496" marR="8513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3" name="Google Shape;733;p23"/>
          <p:cNvSpPr txBox="1"/>
          <p:nvPr/>
        </p:nvSpPr>
        <p:spPr>
          <a:xfrm>
            <a:off x="8038338" y="3666744"/>
            <a:ext cx="2915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3972" marR="8348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4" name="Google Shape;734;p23"/>
          <p:cNvSpPr txBox="1"/>
          <p:nvPr/>
        </p:nvSpPr>
        <p:spPr>
          <a:xfrm>
            <a:off x="8329930" y="3666744"/>
            <a:ext cx="304165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9814" marR="9021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5" name="Google Shape;735;p23"/>
          <p:cNvSpPr txBox="1"/>
          <p:nvPr/>
        </p:nvSpPr>
        <p:spPr>
          <a:xfrm>
            <a:off x="8634095" y="3666744"/>
            <a:ext cx="31699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815" marR="9504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6" name="Google Shape;736;p23"/>
          <p:cNvSpPr txBox="1"/>
          <p:nvPr/>
        </p:nvSpPr>
        <p:spPr>
          <a:xfrm>
            <a:off x="8951087" y="3666744"/>
            <a:ext cx="316865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434" marR="95296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7" name="Google Shape;737;p23"/>
          <p:cNvSpPr txBox="1"/>
          <p:nvPr/>
        </p:nvSpPr>
        <p:spPr>
          <a:xfrm>
            <a:off x="9267952" y="3666744"/>
            <a:ext cx="29159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3845" marR="8361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8" name="Google Shape;738;p23"/>
          <p:cNvSpPr txBox="1"/>
          <p:nvPr/>
        </p:nvSpPr>
        <p:spPr>
          <a:xfrm>
            <a:off x="9559544" y="3666744"/>
            <a:ext cx="30416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0068" marR="89962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9" name="Google Shape;739;p23"/>
          <p:cNvSpPr txBox="1"/>
          <p:nvPr/>
        </p:nvSpPr>
        <p:spPr>
          <a:xfrm>
            <a:off x="9863709" y="3666744"/>
            <a:ext cx="32969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3784" marR="101773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0" name="Google Shape;740;p23"/>
          <p:cNvSpPr txBox="1"/>
          <p:nvPr/>
        </p:nvSpPr>
        <p:spPr>
          <a:xfrm>
            <a:off x="10193401" y="3666744"/>
            <a:ext cx="70980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533" marR="253335" rtl="0" algn="ctr">
              <a:lnSpc>
                <a:spcPct val="1021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74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4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8" name="Google Shape;748;p24"/>
          <p:cNvSpPr txBox="1"/>
          <p:nvPr/>
        </p:nvSpPr>
        <p:spPr>
          <a:xfrm>
            <a:off x="764540" y="1106515"/>
            <a:ext cx="585854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LOST/BLOCKED TRAFFIC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9" name="Google Shape;749;p24"/>
          <p:cNvSpPr txBox="1"/>
          <p:nvPr/>
        </p:nvSpPr>
        <p:spPr>
          <a:xfrm>
            <a:off x="7165975" y="1106515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(1/2)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0" name="Google Shape;750;p24"/>
          <p:cNvSpPr txBox="1"/>
          <p:nvPr/>
        </p:nvSpPr>
        <p:spPr>
          <a:xfrm>
            <a:off x="764540" y="2241700"/>
            <a:ext cx="10022072" cy="1280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 yang tidak dapat dibawa oleh sistim karena diblok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1300" marR="5380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oleh sistim (kapasitas sistim sudah penuh)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3800" rtl="0" algn="l">
              <a:lnSpc>
                <a:spcPct val="102172"/>
              </a:lnSpc>
              <a:spcBef>
                <a:spcPts val="447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Selisih antara offered traffic (A) dan carried traffic (Y)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1" name="Google Shape;751;p24"/>
          <p:cNvSpPr txBox="1"/>
          <p:nvPr/>
        </p:nvSpPr>
        <p:spPr>
          <a:xfrm>
            <a:off x="3293110" y="4536626"/>
            <a:ext cx="6325003" cy="43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12700" marR="0" rtl="0" algn="l">
              <a:lnSpc>
                <a:spcPct val="106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 (lost)= A(Offered) – Y(Carried)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5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2613660" y="2852928"/>
            <a:ext cx="2375916" cy="864108"/>
          </a:xfrm>
          <a:custGeom>
            <a:rect b="b" l="l" r="r" t="t"/>
            <a:pathLst>
              <a:path extrusionOk="0" h="864108" w="2375916">
                <a:moveTo>
                  <a:pt x="0" y="864108"/>
                </a:moveTo>
                <a:lnTo>
                  <a:pt x="2375916" y="864108"/>
                </a:lnTo>
                <a:lnTo>
                  <a:pt x="2375916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2545080" y="4503420"/>
            <a:ext cx="6173724" cy="1324356"/>
          </a:xfrm>
          <a:custGeom>
            <a:rect b="b" l="l" r="r" t="t"/>
            <a:pathLst>
              <a:path extrusionOk="0" h="1324355" w="6173724">
                <a:moveTo>
                  <a:pt x="0" y="1324355"/>
                </a:moveTo>
                <a:lnTo>
                  <a:pt x="6173724" y="1324355"/>
                </a:lnTo>
                <a:lnTo>
                  <a:pt x="6173724" y="0"/>
                </a:lnTo>
                <a:lnTo>
                  <a:pt x="0" y="0"/>
                </a:lnTo>
                <a:lnTo>
                  <a:pt x="0" y="13243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5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1" name="Google Shape;761;p25"/>
          <p:cNvSpPr txBox="1"/>
          <p:nvPr/>
        </p:nvSpPr>
        <p:spPr>
          <a:xfrm>
            <a:off x="764540" y="1106515"/>
            <a:ext cx="3798167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LOST/BLOCKED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2" name="Google Shape;762;p25"/>
          <p:cNvSpPr txBox="1"/>
          <p:nvPr/>
        </p:nvSpPr>
        <p:spPr>
          <a:xfrm>
            <a:off x="4604224" y="1106515"/>
            <a:ext cx="2018859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TRAFFIC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3" name="Google Shape;763;p25"/>
          <p:cNvSpPr txBox="1"/>
          <p:nvPr/>
        </p:nvSpPr>
        <p:spPr>
          <a:xfrm>
            <a:off x="7165975" y="1106515"/>
            <a:ext cx="1261314" cy="5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25">
            <a:noAutofit/>
          </a:bodyPr>
          <a:lstStyle/>
          <a:p>
            <a:pPr indent="0" lvl="0" marL="12700" marR="0" rtl="0" algn="l">
              <a:lnSpc>
                <a:spcPct val="104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(2/2)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4" name="Google Shape;764;p25"/>
          <p:cNvSpPr txBox="1"/>
          <p:nvPr/>
        </p:nvSpPr>
        <p:spPr>
          <a:xfrm>
            <a:off x="764540" y="2241700"/>
            <a:ext cx="1655173" cy="3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Karena: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5" name="Google Shape;765;p25"/>
          <p:cNvSpPr txBox="1"/>
          <p:nvPr/>
        </p:nvSpPr>
        <p:spPr>
          <a:xfrm>
            <a:off x="764540" y="4287162"/>
            <a:ext cx="1395185" cy="3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00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Maka: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6" name="Google Shape;766;p25"/>
          <p:cNvSpPr txBox="1"/>
          <p:nvPr/>
        </p:nvSpPr>
        <p:spPr>
          <a:xfrm>
            <a:off x="2545080" y="4503420"/>
            <a:ext cx="6221758" cy="132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275">
            <a:noAutofit/>
          </a:bodyPr>
          <a:lstStyle/>
          <a:p>
            <a:pPr indent="0" lvl="0" marL="0" marR="480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6394" marR="0" rtl="0" algn="l">
              <a:lnSpc>
                <a:spcPct val="1020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Probabilitas Blocking (Congestion)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9459" marR="48034" rtl="0" algn="l">
              <a:lnSpc>
                <a:spcPct val="95825"/>
              </a:lnSpc>
              <a:spcBef>
                <a:spcPts val="983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AxP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25"/>
          <p:cNvSpPr txBox="1"/>
          <p:nvPr/>
        </p:nvSpPr>
        <p:spPr>
          <a:xfrm>
            <a:off x="2613660" y="2852928"/>
            <a:ext cx="2375916" cy="86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050">
            <a:noAutofit/>
          </a:bodyPr>
          <a:lstStyle/>
          <a:p>
            <a:pPr indent="0" lvl="0" marL="219927" marR="0" rtl="0" algn="l">
              <a:lnSpc>
                <a:spcPct val="1020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9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US" sz="39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3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3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6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6"/>
          <p:cNvSpPr/>
          <p:nvPr/>
        </p:nvSpPr>
        <p:spPr>
          <a:xfrm>
            <a:off x="3589020" y="4005072"/>
            <a:ext cx="2807207" cy="1447799"/>
          </a:xfrm>
          <a:custGeom>
            <a:rect b="b" l="l" r="r" t="t"/>
            <a:pathLst>
              <a:path extrusionOk="0" h="1447800" w="2807207">
                <a:moveTo>
                  <a:pt x="0" y="1447799"/>
                </a:moveTo>
                <a:lnTo>
                  <a:pt x="2807207" y="1447799"/>
                </a:lnTo>
                <a:lnTo>
                  <a:pt x="2807207" y="0"/>
                </a:lnTo>
                <a:lnTo>
                  <a:pt x="0" y="0"/>
                </a:lnTo>
                <a:lnTo>
                  <a:pt x="0" y="144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6" name="Google Shape;776;p26"/>
          <p:cNvSpPr txBox="1"/>
          <p:nvPr/>
        </p:nvSpPr>
        <p:spPr>
          <a:xfrm>
            <a:off x="767283" y="1125188"/>
            <a:ext cx="4353818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UTILITAS SALURAN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7" name="Google Shape;777;p26"/>
          <p:cNvSpPr txBox="1"/>
          <p:nvPr/>
        </p:nvSpPr>
        <p:spPr>
          <a:xfrm>
            <a:off x="764540" y="2227374"/>
            <a:ext cx="10041122" cy="14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75">
            <a:noAutofit/>
          </a:bodyPr>
          <a:lstStyle/>
          <a:p>
            <a:pPr indent="0" lvl="0" marL="12700" marR="53846" rtl="0" algn="l">
              <a:lnSpc>
                <a:spcPct val="107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Utilitas saluran / sirkit (</a:t>
            </a:r>
            <a:r>
              <a:rPr lang="en-US" sz="295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atau efisiensi sirkit adalah: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21360" marR="53846" rtl="0" algn="l">
              <a:lnSpc>
                <a:spcPct val="102172"/>
              </a:lnSpc>
              <a:spcBef>
                <a:spcPts val="397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Proporsi waktu dimana sebuah sirkit sedang sibuk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21360" marR="0" rtl="0" algn="l">
              <a:lnSpc>
                <a:spcPct val="102172"/>
              </a:lnSpc>
              <a:spcBef>
                <a:spcPts val="586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 proporsi waktu dimana setiap sirkit sedang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8" name="Google Shape;778;p26"/>
          <p:cNvSpPr txBox="1"/>
          <p:nvPr/>
        </p:nvSpPr>
        <p:spPr>
          <a:xfrm>
            <a:off x="1660652" y="3648606"/>
            <a:ext cx="924845" cy="380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0">
            <a:noAutofit/>
          </a:bodyPr>
          <a:lstStyle/>
          <a:p>
            <a:pPr indent="0" lvl="0" marL="12700" marR="0" rtl="0" algn="l">
              <a:lnSpc>
                <a:spcPct val="10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sibuk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9" name="Google Shape;779;p26"/>
          <p:cNvSpPr txBox="1"/>
          <p:nvPr/>
        </p:nvSpPr>
        <p:spPr>
          <a:xfrm>
            <a:off x="4364433" y="4752158"/>
            <a:ext cx="1920284" cy="415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500">
            <a:noAutofit/>
          </a:bodyPr>
          <a:lstStyle/>
          <a:p>
            <a:pPr indent="0" lvl="0" marL="12700" marR="0" rtl="0" algn="l">
              <a:lnSpc>
                <a:spcPct val="1058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jumlah trunk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0" name="Google Shape;780;p26"/>
          <p:cNvSpPr txBox="1"/>
          <p:nvPr/>
        </p:nvSpPr>
        <p:spPr>
          <a:xfrm>
            <a:off x="1473200" y="5678294"/>
            <a:ext cx="5470874" cy="399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00">
            <a:noAutofit/>
          </a:bodyPr>
          <a:lstStyle/>
          <a:p>
            <a:pPr indent="0" lvl="0" marL="12700" marR="0" rtl="0" algn="l">
              <a:lnSpc>
                <a:spcPct val="1067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Nilai utilitas ini adalah 0 &lt; </a:t>
            </a:r>
            <a:r>
              <a:rPr lang="en-US" sz="295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lang="en-US" sz="2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&lt; 1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1" name="Google Shape;781;p26"/>
          <p:cNvSpPr txBox="1"/>
          <p:nvPr/>
        </p:nvSpPr>
        <p:spPr>
          <a:xfrm>
            <a:off x="3589020" y="4005072"/>
            <a:ext cx="280720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5548" marR="0" rtl="0" algn="l">
              <a:lnSpc>
                <a:spcPct val="76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lang="en-US" sz="30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aseline="30000" i="1" lang="en-US" sz="45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7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7"/>
          <p:cNvSpPr/>
          <p:nvPr/>
        </p:nvSpPr>
        <p:spPr>
          <a:xfrm>
            <a:off x="1665732" y="4072128"/>
            <a:ext cx="4075176" cy="1911095"/>
          </a:xfrm>
          <a:custGeom>
            <a:rect b="b" l="l" r="r" t="t"/>
            <a:pathLst>
              <a:path extrusionOk="0" h="1911096" w="4075176">
                <a:moveTo>
                  <a:pt x="0" y="1911096"/>
                </a:moveTo>
                <a:lnTo>
                  <a:pt x="4075176" y="1911096"/>
                </a:lnTo>
                <a:lnTo>
                  <a:pt x="4075176" y="0"/>
                </a:lnTo>
                <a:lnTo>
                  <a:pt x="0" y="0"/>
                </a:lnTo>
                <a:lnTo>
                  <a:pt x="0" y="19110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7"/>
          <p:cNvSpPr/>
          <p:nvPr/>
        </p:nvSpPr>
        <p:spPr>
          <a:xfrm>
            <a:off x="6184392" y="4558284"/>
            <a:ext cx="1712975" cy="938783"/>
          </a:xfrm>
          <a:custGeom>
            <a:rect b="b" l="l" r="r" t="t"/>
            <a:pathLst>
              <a:path extrusionOk="0" h="938784" w="1712975">
                <a:moveTo>
                  <a:pt x="0" y="938783"/>
                </a:moveTo>
                <a:lnTo>
                  <a:pt x="1712975" y="938783"/>
                </a:lnTo>
                <a:lnTo>
                  <a:pt x="1712975" y="0"/>
                </a:lnTo>
                <a:lnTo>
                  <a:pt x="0" y="0"/>
                </a:lnTo>
                <a:lnTo>
                  <a:pt x="0" y="9387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1" name="Google Shape;791;p27"/>
          <p:cNvSpPr txBox="1"/>
          <p:nvPr/>
        </p:nvSpPr>
        <p:spPr>
          <a:xfrm>
            <a:off x="1188212" y="1020282"/>
            <a:ext cx="8732202" cy="1195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0">
            <a:noAutofit/>
          </a:bodyPr>
          <a:lstStyle/>
          <a:p>
            <a:pPr indent="0" lvl="0" marL="159257" marR="47703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 SOAL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189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Sebuah sentral menerima rata</a:t>
            </a:r>
            <a:r>
              <a:rPr lang="en-US" sz="24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‐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 2400 panggilan baru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2" name="Google Shape;792;p27"/>
          <p:cNvSpPr txBox="1"/>
          <p:nvPr/>
        </p:nvSpPr>
        <p:spPr>
          <a:xfrm>
            <a:off x="1589024" y="2202188"/>
            <a:ext cx="334506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dalam selang waktu 1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3" name="Google Shape;793;p27"/>
          <p:cNvSpPr txBox="1"/>
          <p:nvPr/>
        </p:nvSpPr>
        <p:spPr>
          <a:xfrm>
            <a:off x="4945507" y="2202188"/>
            <a:ext cx="4819885" cy="343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jam, dan rata</a:t>
            </a:r>
            <a:r>
              <a:rPr lang="en-US" sz="24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‐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 pendudukan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4" name="Google Shape;794;p27"/>
          <p:cNvSpPr txBox="1"/>
          <p:nvPr/>
        </p:nvSpPr>
        <p:spPr>
          <a:xfrm>
            <a:off x="1505204" y="2532896"/>
            <a:ext cx="140462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 5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5" name="Google Shape;795;p27"/>
          <p:cNvSpPr txBox="1"/>
          <p:nvPr/>
        </p:nvSpPr>
        <p:spPr>
          <a:xfrm>
            <a:off x="2921254" y="2532896"/>
            <a:ext cx="9937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6" name="Google Shape;796;p27"/>
          <p:cNvSpPr txBox="1"/>
          <p:nvPr/>
        </p:nvSpPr>
        <p:spPr>
          <a:xfrm>
            <a:off x="3922522" y="2532896"/>
            <a:ext cx="102383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Hitung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7" name="Google Shape;797;p27"/>
          <p:cNvSpPr txBox="1"/>
          <p:nvPr/>
        </p:nvSpPr>
        <p:spPr>
          <a:xfrm>
            <a:off x="4959223" y="2532896"/>
            <a:ext cx="122470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8" name="Google Shape;798;p27"/>
          <p:cNvSpPr txBox="1"/>
          <p:nvPr/>
        </p:nvSpPr>
        <p:spPr>
          <a:xfrm>
            <a:off x="6193663" y="2532896"/>
            <a:ext cx="95039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Traffic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9" name="Google Shape;799;p27"/>
          <p:cNvSpPr txBox="1"/>
          <p:nvPr/>
        </p:nvSpPr>
        <p:spPr>
          <a:xfrm>
            <a:off x="7155560" y="2532896"/>
            <a:ext cx="52162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(A)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0" name="Google Shape;800;p27"/>
          <p:cNvSpPr txBox="1"/>
          <p:nvPr/>
        </p:nvSpPr>
        <p:spPr>
          <a:xfrm>
            <a:off x="7690484" y="2532896"/>
            <a:ext cx="62863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nya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1" name="Google Shape;801;p27"/>
          <p:cNvSpPr txBox="1"/>
          <p:nvPr/>
        </p:nvSpPr>
        <p:spPr>
          <a:xfrm>
            <a:off x="1587500" y="3446026"/>
            <a:ext cx="115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Jawab: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2" name="Google Shape;802;p27"/>
          <p:cNvSpPr txBox="1"/>
          <p:nvPr/>
        </p:nvSpPr>
        <p:spPr>
          <a:xfrm>
            <a:off x="2560599" y="5586276"/>
            <a:ext cx="583422" cy="38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875">
            <a:no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27"/>
          <p:cNvSpPr txBox="1"/>
          <p:nvPr/>
        </p:nvSpPr>
        <p:spPr>
          <a:xfrm>
            <a:off x="6184392" y="4558284"/>
            <a:ext cx="1737967" cy="938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25">
            <a:noAutofit/>
          </a:bodyPr>
          <a:lstStyle/>
          <a:p>
            <a:pPr indent="0" lvl="0" marL="86864" marR="24991" rtl="0" algn="l">
              <a:lnSpc>
                <a:spcPct val="106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2055" marR="0" rtl="0" algn="l">
              <a:lnSpc>
                <a:spcPct val="102091"/>
              </a:lnSpc>
              <a:spcBef>
                <a:spcPts val="583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200 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27"/>
          <p:cNvSpPr txBox="1"/>
          <p:nvPr/>
        </p:nvSpPr>
        <p:spPr>
          <a:xfrm>
            <a:off x="1665732" y="4072128"/>
            <a:ext cx="4075176" cy="1911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675">
            <a:noAutofit/>
          </a:bodyPr>
          <a:lstStyle/>
          <a:p>
            <a:pPr indent="0" lvl="0" marL="32204" marR="0" rtl="0" algn="l">
              <a:lnSpc>
                <a:spcPct val="1061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44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4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i="1"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aseline="-25000" lang="en-US" sz="4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2400 call </a:t>
            </a:r>
            <a:r>
              <a:rPr baseline="-25000"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baseline="30000"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call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31665" marR="0" rtl="0" algn="l">
              <a:lnSpc>
                <a:spcPct val="89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   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menit      menit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614" marR="0" rtl="0" algn="l">
              <a:lnSpc>
                <a:spcPct val="76857"/>
              </a:lnSpc>
              <a:spcBef>
                <a:spcPts val="249"/>
              </a:spcBef>
              <a:spcAft>
                <a:spcPts val="0"/>
              </a:spcAft>
              <a:buNone/>
            </a:pPr>
            <a:r>
              <a:rPr baseline="-25000" i="1"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baseline="-25000" lang="en-US" sz="4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menit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8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6525768" y="5608320"/>
            <a:ext cx="4782312" cy="1078992"/>
          </a:xfrm>
          <a:custGeom>
            <a:rect b="b" l="l" r="r" t="t"/>
            <a:pathLst>
              <a:path extrusionOk="0" h="1078992" w="4782312">
                <a:moveTo>
                  <a:pt x="0" y="1078991"/>
                </a:moveTo>
                <a:lnTo>
                  <a:pt x="4782312" y="1078991"/>
                </a:lnTo>
                <a:lnTo>
                  <a:pt x="4782312" y="0"/>
                </a:lnTo>
                <a:lnTo>
                  <a:pt x="0" y="0"/>
                </a:lnTo>
                <a:lnTo>
                  <a:pt x="0" y="10789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8"/>
          <p:cNvSpPr/>
          <p:nvPr/>
        </p:nvSpPr>
        <p:spPr>
          <a:xfrm>
            <a:off x="4070604" y="3290316"/>
            <a:ext cx="1898903" cy="973836"/>
          </a:xfrm>
          <a:custGeom>
            <a:rect b="b" l="l" r="r" t="t"/>
            <a:pathLst>
              <a:path extrusionOk="0" h="973836" w="1898903">
                <a:moveTo>
                  <a:pt x="0" y="973836"/>
                </a:moveTo>
                <a:lnTo>
                  <a:pt x="1898903" y="973836"/>
                </a:lnTo>
                <a:lnTo>
                  <a:pt x="1898903" y="0"/>
                </a:lnTo>
                <a:lnTo>
                  <a:pt x="0" y="0"/>
                </a:lnTo>
                <a:lnTo>
                  <a:pt x="0" y="9738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8"/>
          <p:cNvSpPr/>
          <p:nvPr/>
        </p:nvSpPr>
        <p:spPr>
          <a:xfrm>
            <a:off x="6973824" y="2959607"/>
            <a:ext cx="2743200" cy="1304544"/>
          </a:xfrm>
          <a:custGeom>
            <a:rect b="b" l="l" r="r" t="t"/>
            <a:pathLst>
              <a:path extrusionOk="0" h="1304544" w="2743200">
                <a:moveTo>
                  <a:pt x="0" y="1304544"/>
                </a:moveTo>
                <a:lnTo>
                  <a:pt x="2743200" y="1304544"/>
                </a:lnTo>
                <a:lnTo>
                  <a:pt x="2743200" y="0"/>
                </a:lnTo>
                <a:lnTo>
                  <a:pt x="0" y="0"/>
                </a:lnTo>
                <a:lnTo>
                  <a:pt x="0" y="13045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8"/>
          <p:cNvSpPr/>
          <p:nvPr/>
        </p:nvSpPr>
        <p:spPr>
          <a:xfrm>
            <a:off x="7822692" y="4436364"/>
            <a:ext cx="2970276" cy="949452"/>
          </a:xfrm>
          <a:custGeom>
            <a:rect b="b" l="l" r="r" t="t"/>
            <a:pathLst>
              <a:path extrusionOk="0" h="949451" w="2970276">
                <a:moveTo>
                  <a:pt x="0" y="949452"/>
                </a:moveTo>
                <a:lnTo>
                  <a:pt x="2970276" y="949452"/>
                </a:lnTo>
                <a:lnTo>
                  <a:pt x="2970276" y="0"/>
                </a:lnTo>
                <a:lnTo>
                  <a:pt x="0" y="0"/>
                </a:lnTo>
                <a:lnTo>
                  <a:pt x="0" y="9494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8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6" name="Google Shape;816;p28"/>
          <p:cNvSpPr txBox="1"/>
          <p:nvPr/>
        </p:nvSpPr>
        <p:spPr>
          <a:xfrm>
            <a:off x="799287" y="613291"/>
            <a:ext cx="32503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7" name="Google Shape;817;p28"/>
          <p:cNvSpPr txBox="1"/>
          <p:nvPr/>
        </p:nvSpPr>
        <p:spPr>
          <a:xfrm>
            <a:off x="1198880" y="613291"/>
            <a:ext cx="106022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Dalam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8" name="Google Shape;818;p28"/>
          <p:cNvSpPr txBox="1"/>
          <p:nvPr/>
        </p:nvSpPr>
        <p:spPr>
          <a:xfrm>
            <a:off x="2422652" y="613291"/>
            <a:ext cx="97420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9" name="Google Shape;819;p28"/>
          <p:cNvSpPr txBox="1"/>
          <p:nvPr/>
        </p:nvSpPr>
        <p:spPr>
          <a:xfrm>
            <a:off x="3559555" y="613291"/>
            <a:ext cx="206878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pengamatan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0" name="Google Shape;820;p28"/>
          <p:cNvSpPr txBox="1"/>
          <p:nvPr/>
        </p:nvSpPr>
        <p:spPr>
          <a:xfrm>
            <a:off x="5787898" y="613291"/>
            <a:ext cx="40956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1" name="Google Shape;821;p28"/>
          <p:cNvSpPr txBox="1"/>
          <p:nvPr/>
        </p:nvSpPr>
        <p:spPr>
          <a:xfrm>
            <a:off x="6358255" y="613291"/>
            <a:ext cx="184544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menit,  ada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2" name="Google Shape;822;p28"/>
          <p:cNvSpPr txBox="1"/>
          <p:nvPr/>
        </p:nvSpPr>
        <p:spPr>
          <a:xfrm>
            <a:off x="8366886" y="613291"/>
            <a:ext cx="40956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40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3" name="Google Shape;823;p28"/>
          <p:cNvSpPr txBox="1"/>
          <p:nvPr/>
        </p:nvSpPr>
        <p:spPr>
          <a:xfrm>
            <a:off x="8938641" y="613291"/>
            <a:ext cx="173223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pelanggan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4" name="Google Shape;824;p28"/>
          <p:cNvSpPr txBox="1"/>
          <p:nvPr/>
        </p:nvSpPr>
        <p:spPr>
          <a:xfrm>
            <a:off x="1198880" y="942475"/>
            <a:ext cx="720159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membangkitkan call. Durasi total call 4800 detik.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5" name="Google Shape;825;p28"/>
          <p:cNvSpPr txBox="1"/>
          <p:nvPr/>
        </p:nvSpPr>
        <p:spPr>
          <a:xfrm>
            <a:off x="1198880" y="1271408"/>
            <a:ext cx="1019691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Hitung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6" name="Google Shape;826;p28"/>
          <p:cNvSpPr txBox="1"/>
          <p:nvPr/>
        </p:nvSpPr>
        <p:spPr>
          <a:xfrm>
            <a:off x="2381504" y="1271408"/>
            <a:ext cx="1076781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beban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7" name="Google Shape;827;p28"/>
          <p:cNvSpPr txBox="1"/>
          <p:nvPr/>
        </p:nvSpPr>
        <p:spPr>
          <a:xfrm>
            <a:off x="3620770" y="1271408"/>
            <a:ext cx="784791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trafik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8" name="Google Shape;828;p28"/>
          <p:cNvSpPr txBox="1"/>
          <p:nvPr/>
        </p:nvSpPr>
        <p:spPr>
          <a:xfrm>
            <a:off x="4565650" y="1271408"/>
            <a:ext cx="832662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9" name="Google Shape;829;p28"/>
          <p:cNvSpPr txBox="1"/>
          <p:nvPr/>
        </p:nvSpPr>
        <p:spPr>
          <a:xfrm>
            <a:off x="5559298" y="1271408"/>
            <a:ext cx="175194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ditawarkan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0" name="Google Shape;830;p28"/>
          <p:cNvSpPr txBox="1"/>
          <p:nvPr/>
        </p:nvSpPr>
        <p:spPr>
          <a:xfrm>
            <a:off x="7473823" y="1271408"/>
            <a:ext cx="716384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oleh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1" name="Google Shape;831;p28"/>
          <p:cNvSpPr txBox="1"/>
          <p:nvPr/>
        </p:nvSpPr>
        <p:spPr>
          <a:xfrm>
            <a:off x="8351647" y="1271408"/>
            <a:ext cx="1736022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pelanggan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2" name="Google Shape;832;p28"/>
          <p:cNvSpPr txBox="1"/>
          <p:nvPr/>
        </p:nvSpPr>
        <p:spPr>
          <a:xfrm>
            <a:off x="10247757" y="1271408"/>
            <a:ext cx="421078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3" name="Google Shape;833;p28"/>
          <p:cNvSpPr txBox="1"/>
          <p:nvPr/>
        </p:nvSpPr>
        <p:spPr>
          <a:xfrm>
            <a:off x="1198880" y="1601097"/>
            <a:ext cx="947413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jaringan (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), berapa rata-rata call yang datang,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4" name="Google Shape;834;p28"/>
          <p:cNvSpPr txBox="1"/>
          <p:nvPr/>
        </p:nvSpPr>
        <p:spPr>
          <a:xfrm>
            <a:off x="1198880" y="1930281"/>
            <a:ext cx="286854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dan berapa waktu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5" name="Google Shape;835;p28"/>
          <p:cNvSpPr txBox="1"/>
          <p:nvPr/>
        </p:nvSpPr>
        <p:spPr>
          <a:xfrm>
            <a:off x="4081017" y="1930281"/>
            <a:ext cx="139573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6" name="Google Shape;836;p28"/>
          <p:cNvSpPr txBox="1"/>
          <p:nvPr/>
        </p:nvSpPr>
        <p:spPr>
          <a:xfrm>
            <a:off x="5489194" y="1930281"/>
            <a:ext cx="199829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pendudukan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7" name="Google Shape;837;p28"/>
          <p:cNvSpPr txBox="1"/>
          <p:nvPr/>
        </p:nvSpPr>
        <p:spPr>
          <a:xfrm>
            <a:off x="7501255" y="1930281"/>
            <a:ext cx="68187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jalur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8" name="Google Shape;838;p28"/>
          <p:cNvSpPr txBox="1"/>
          <p:nvPr/>
        </p:nvSpPr>
        <p:spPr>
          <a:xfrm>
            <a:off x="8194675" y="1930281"/>
            <a:ext cx="5688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9" name="Google Shape;839;p28"/>
          <p:cNvSpPr txBox="1"/>
          <p:nvPr/>
        </p:nvSpPr>
        <p:spPr>
          <a:xfrm>
            <a:off x="8777097" y="1930281"/>
            <a:ext cx="77864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call?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0" name="Google Shape;840;p28"/>
          <p:cNvSpPr txBox="1"/>
          <p:nvPr/>
        </p:nvSpPr>
        <p:spPr>
          <a:xfrm>
            <a:off x="1198880" y="2588649"/>
            <a:ext cx="117963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Jawab: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" name="Google Shape;841;p28"/>
          <p:cNvSpPr txBox="1"/>
          <p:nvPr/>
        </p:nvSpPr>
        <p:spPr>
          <a:xfrm>
            <a:off x="1198880" y="3576455"/>
            <a:ext cx="17232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2" name="Google Shape;842;p28"/>
          <p:cNvSpPr txBox="1"/>
          <p:nvPr/>
        </p:nvSpPr>
        <p:spPr>
          <a:xfrm>
            <a:off x="1384808" y="3576455"/>
            <a:ext cx="227234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3" name="Google Shape;843;p28"/>
          <p:cNvSpPr txBox="1"/>
          <p:nvPr/>
        </p:nvSpPr>
        <p:spPr>
          <a:xfrm>
            <a:off x="1198880" y="4564388"/>
            <a:ext cx="17232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4" name="Google Shape;844;p28"/>
          <p:cNvSpPr txBox="1"/>
          <p:nvPr/>
        </p:nvSpPr>
        <p:spPr>
          <a:xfrm>
            <a:off x="1541780" y="4564388"/>
            <a:ext cx="598509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 call datang/ laju kedatangan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5" name="Google Shape;845;p28"/>
          <p:cNvSpPr txBox="1"/>
          <p:nvPr/>
        </p:nvSpPr>
        <p:spPr>
          <a:xfrm>
            <a:off x="8517385" y="5015543"/>
            <a:ext cx="1118760" cy="35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550">
            <a:noAutofit/>
          </a:bodyPr>
          <a:lstStyle/>
          <a:p>
            <a:pPr indent="0" lvl="0" marL="12700" marR="0" rtl="0" algn="l">
              <a:lnSpc>
                <a:spcPct val="1063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menit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28"/>
          <p:cNvSpPr txBox="1"/>
          <p:nvPr/>
        </p:nvSpPr>
        <p:spPr>
          <a:xfrm>
            <a:off x="9915040" y="5015543"/>
            <a:ext cx="741887" cy="35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550">
            <a:noAutofit/>
          </a:bodyPr>
          <a:lstStyle/>
          <a:p>
            <a:pPr indent="0" lvl="0" marL="12700" marR="0" rtl="0" algn="l">
              <a:lnSpc>
                <a:spcPct val="1063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menit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28"/>
          <p:cNvSpPr txBox="1"/>
          <p:nvPr/>
        </p:nvSpPr>
        <p:spPr>
          <a:xfrm>
            <a:off x="1198880" y="5551914"/>
            <a:ext cx="17232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8" name="Google Shape;848;p28"/>
          <p:cNvSpPr txBox="1"/>
          <p:nvPr/>
        </p:nvSpPr>
        <p:spPr>
          <a:xfrm>
            <a:off x="1541780" y="5551914"/>
            <a:ext cx="488134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 pendudukan jalur/ca</a:t>
            </a:r>
            <a:r>
              <a:rPr b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9" name="Google Shape;849;p28"/>
          <p:cNvSpPr txBox="1"/>
          <p:nvPr/>
        </p:nvSpPr>
        <p:spPr>
          <a:xfrm>
            <a:off x="7379614" y="6256017"/>
            <a:ext cx="828596" cy="2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noAutofit/>
          </a:bodyPr>
          <a:lstStyle/>
          <a:p>
            <a:pPr indent="0" lvl="0" marL="12700" marR="0" rtl="0" algn="l">
              <a:lnSpc>
                <a:spcPct val="106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call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0" name="Google Shape;850;p28"/>
          <p:cNvSpPr txBox="1"/>
          <p:nvPr/>
        </p:nvSpPr>
        <p:spPr>
          <a:xfrm>
            <a:off x="8906989" y="6256017"/>
            <a:ext cx="665729" cy="2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noAutofit/>
          </a:bodyPr>
          <a:lstStyle/>
          <a:p>
            <a:pPr indent="0" lvl="0" marL="12700" marR="0" rtl="0" algn="l">
              <a:lnSpc>
                <a:spcPct val="106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call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28"/>
          <p:cNvSpPr txBox="1"/>
          <p:nvPr/>
        </p:nvSpPr>
        <p:spPr>
          <a:xfrm>
            <a:off x="10373076" y="6256017"/>
            <a:ext cx="467111" cy="2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noAutofit/>
          </a:bodyPr>
          <a:lstStyle/>
          <a:p>
            <a:pPr indent="0" lvl="0" marL="12700" marR="0" rtl="0" algn="l">
              <a:lnSpc>
                <a:spcPct val="106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28"/>
          <p:cNvSpPr txBox="1"/>
          <p:nvPr/>
        </p:nvSpPr>
        <p:spPr>
          <a:xfrm>
            <a:off x="6525768" y="5608320"/>
            <a:ext cx="478231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7422" marR="0" rtl="0" algn="l">
              <a:lnSpc>
                <a:spcPct val="76868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aseline="-25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baseline="-25000" lang="en-US" sz="32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4800 detik </a:t>
            </a:r>
            <a:r>
              <a:rPr baseline="-25000" lang="en-US" sz="32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 detik </a:t>
            </a:r>
            <a:r>
              <a:rPr baseline="-25000" lang="en-US" sz="32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menit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3" name="Google Shape;853;p28"/>
          <p:cNvSpPr txBox="1"/>
          <p:nvPr/>
        </p:nvSpPr>
        <p:spPr>
          <a:xfrm>
            <a:off x="7822692" y="4436364"/>
            <a:ext cx="2970276" cy="94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8296" marR="0" rtl="0" algn="l">
              <a:lnSpc>
                <a:spcPct val="72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41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39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call  </a:t>
            </a:r>
            <a:r>
              <a:rPr baseline="-25000" lang="en-US" sz="39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call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4" name="Google Shape;854;p28"/>
          <p:cNvSpPr txBox="1"/>
          <p:nvPr/>
        </p:nvSpPr>
        <p:spPr>
          <a:xfrm>
            <a:off x="4070604" y="3290316"/>
            <a:ext cx="1898903" cy="97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175">
            <a:noAutofit/>
          </a:bodyPr>
          <a:lstStyle/>
          <a:p>
            <a:pPr indent="0" lvl="0" marL="15834" marR="14093" rtl="0" algn="ctr">
              <a:lnSpc>
                <a:spcPct val="11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i="1" lang="en-US" sz="29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aseline="-25000" lang="en-US" sz="29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29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i="1" lang="en-US" sz="29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aseline="-25000" lang="en-US" sz="29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29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29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4800 / 60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31346" marR="361726" rtl="0" algn="ctr">
              <a:lnSpc>
                <a:spcPct val="904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         </a:t>
            </a:r>
            <a:r>
              <a:rPr lang="en-US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4375" marR="0" rtl="0" algn="l">
              <a:lnSpc>
                <a:spcPct val="95825"/>
              </a:lnSpc>
              <a:spcBef>
                <a:spcPts val="181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E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28"/>
          <p:cNvSpPr txBox="1"/>
          <p:nvPr/>
        </p:nvSpPr>
        <p:spPr>
          <a:xfrm>
            <a:off x="6973824" y="2959607"/>
            <a:ext cx="2743200" cy="1304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51630" marR="0" rtl="0" algn="l">
              <a:lnSpc>
                <a:spcPct val="61261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baseline="-25000" lang="en-US" sz="27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4800 detik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4521" marR="0" rtl="0" algn="l">
              <a:lnSpc>
                <a:spcPct val="105225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baseline="30000" i="1" lang="en-US" sz="27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aseline="30000" lang="en-US" sz="277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27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       </a:t>
            </a:r>
            <a:r>
              <a:rPr baseline="30000" lang="en-US" sz="277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27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 menit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1758" marR="0" rtl="0" algn="l">
              <a:lnSpc>
                <a:spcPct val="102091"/>
              </a:lnSpc>
              <a:spcBef>
                <a:spcPts val="14"/>
              </a:spcBef>
              <a:spcAft>
                <a:spcPts val="0"/>
              </a:spcAft>
              <a:buNone/>
            </a:pPr>
            <a:r>
              <a:rPr i="1" lang="en-US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1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 menit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9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9"/>
          <p:cNvSpPr/>
          <p:nvPr/>
        </p:nvSpPr>
        <p:spPr>
          <a:xfrm>
            <a:off x="7677911" y="2816352"/>
            <a:ext cx="1872996" cy="1225296"/>
          </a:xfrm>
          <a:custGeom>
            <a:rect b="b" l="l" r="r" t="t"/>
            <a:pathLst>
              <a:path extrusionOk="0" h="1225296" w="1872996">
                <a:moveTo>
                  <a:pt x="0" y="1225296"/>
                </a:moveTo>
                <a:lnTo>
                  <a:pt x="1872996" y="1225296"/>
                </a:lnTo>
                <a:lnTo>
                  <a:pt x="1872996" y="0"/>
                </a:lnTo>
                <a:lnTo>
                  <a:pt x="0" y="0"/>
                </a:lnTo>
                <a:lnTo>
                  <a:pt x="0" y="12252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9"/>
          <p:cNvSpPr/>
          <p:nvPr/>
        </p:nvSpPr>
        <p:spPr>
          <a:xfrm>
            <a:off x="6096000" y="4924044"/>
            <a:ext cx="2665476" cy="1552956"/>
          </a:xfrm>
          <a:custGeom>
            <a:rect b="b" l="l" r="r" t="t"/>
            <a:pathLst>
              <a:path extrusionOk="0" h="1552955" w="2665476">
                <a:moveTo>
                  <a:pt x="0" y="1552955"/>
                </a:moveTo>
                <a:lnTo>
                  <a:pt x="2665476" y="1552955"/>
                </a:lnTo>
                <a:lnTo>
                  <a:pt x="2665476" y="0"/>
                </a:lnTo>
                <a:lnTo>
                  <a:pt x="0" y="0"/>
                </a:lnTo>
                <a:lnTo>
                  <a:pt x="0" y="15529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9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27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5" name="Google Shape;865;p29"/>
          <p:cNvSpPr txBox="1"/>
          <p:nvPr/>
        </p:nvSpPr>
        <p:spPr>
          <a:xfrm>
            <a:off x="1196746" y="882023"/>
            <a:ext cx="32503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6" name="Google Shape;866;p29"/>
          <p:cNvSpPr txBox="1"/>
          <p:nvPr/>
        </p:nvSpPr>
        <p:spPr>
          <a:xfrm>
            <a:off x="1653920" y="882023"/>
            <a:ext cx="91498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grup sistim terdiri dari 20 pelanggan, membangkitkan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7" name="Google Shape;867;p29"/>
          <p:cNvSpPr txBox="1"/>
          <p:nvPr/>
        </p:nvSpPr>
        <p:spPr>
          <a:xfrm>
            <a:off x="1653920" y="1211207"/>
            <a:ext cx="4896702" cy="65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50 call dengan rata-rata holding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 trafik per pelanggan ?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8" name="Google Shape;868;p29"/>
          <p:cNvSpPr txBox="1"/>
          <p:nvPr/>
        </p:nvSpPr>
        <p:spPr>
          <a:xfrm>
            <a:off x="6559448" y="1211207"/>
            <a:ext cx="9712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 3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9" name="Google Shape;869;p29"/>
          <p:cNvSpPr txBox="1"/>
          <p:nvPr/>
        </p:nvSpPr>
        <p:spPr>
          <a:xfrm>
            <a:off x="7544816" y="1211207"/>
            <a:ext cx="99243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0" name="Google Shape;870;p29"/>
          <p:cNvSpPr txBox="1"/>
          <p:nvPr/>
        </p:nvSpPr>
        <p:spPr>
          <a:xfrm>
            <a:off x="8546338" y="1211207"/>
            <a:ext cx="116024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1" name="Google Shape;871;p29"/>
          <p:cNvSpPr txBox="1"/>
          <p:nvPr/>
        </p:nvSpPr>
        <p:spPr>
          <a:xfrm>
            <a:off x="9719818" y="1211207"/>
            <a:ext cx="78497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2" name="Google Shape;872;p29"/>
          <p:cNvSpPr txBox="1"/>
          <p:nvPr/>
        </p:nvSpPr>
        <p:spPr>
          <a:xfrm>
            <a:off x="1594485" y="2453648"/>
            <a:ext cx="115004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Jawab: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3" name="Google Shape;873;p29"/>
          <p:cNvSpPr txBox="1"/>
          <p:nvPr/>
        </p:nvSpPr>
        <p:spPr>
          <a:xfrm>
            <a:off x="1516761" y="3238762"/>
            <a:ext cx="359491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(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4" name="Google Shape;874;p29"/>
          <p:cNvSpPr txBox="1"/>
          <p:nvPr/>
        </p:nvSpPr>
        <p:spPr>
          <a:xfrm>
            <a:off x="5125059" y="3238762"/>
            <a:ext cx="10641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Traffic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5" name="Google Shape;875;p29"/>
          <p:cNvSpPr txBox="1"/>
          <p:nvPr/>
        </p:nvSpPr>
        <p:spPr>
          <a:xfrm>
            <a:off x="6200648" y="3238762"/>
            <a:ext cx="13427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 sistim: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6" name="Google Shape;876;p29"/>
          <p:cNvSpPr txBox="1"/>
          <p:nvPr/>
        </p:nvSpPr>
        <p:spPr>
          <a:xfrm>
            <a:off x="1516761" y="4416814"/>
            <a:ext cx="360956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Maka </a:t>
            </a:r>
            <a:r>
              <a:rPr i="1"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7" name="Google Shape;877;p29"/>
          <p:cNvSpPr txBox="1"/>
          <p:nvPr/>
        </p:nvSpPr>
        <p:spPr>
          <a:xfrm>
            <a:off x="5139690" y="4416814"/>
            <a:ext cx="298608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pelanggan adalah: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8" name="Google Shape;878;p29"/>
          <p:cNvSpPr txBox="1"/>
          <p:nvPr/>
        </p:nvSpPr>
        <p:spPr>
          <a:xfrm>
            <a:off x="7252271" y="5261842"/>
            <a:ext cx="288732" cy="36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75">
            <a:noAutofit/>
          </a:bodyPr>
          <a:lstStyle/>
          <a:p>
            <a:pPr indent="0" lvl="0" marL="12700" marR="0" rtl="0" algn="l">
              <a:lnSpc>
                <a:spcPct val="10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27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9" name="Google Shape;879;p29"/>
          <p:cNvSpPr txBox="1"/>
          <p:nvPr/>
        </p:nvSpPr>
        <p:spPr>
          <a:xfrm>
            <a:off x="6546225" y="5267336"/>
            <a:ext cx="660685" cy="438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50">
            <a:noAutofit/>
          </a:bodyPr>
          <a:lstStyle/>
          <a:p>
            <a:pPr indent="0" lvl="0" marL="12700" marR="0" rtl="0" algn="l">
              <a:lnSpc>
                <a:spcPct val="83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4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lg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29"/>
          <p:cNvSpPr txBox="1"/>
          <p:nvPr/>
        </p:nvSpPr>
        <p:spPr>
          <a:xfrm>
            <a:off x="7642292" y="5534877"/>
            <a:ext cx="461038" cy="36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75">
            <a:noAutofit/>
          </a:bodyPr>
          <a:lstStyle/>
          <a:p>
            <a:pPr indent="0" lvl="0" marL="12700" marR="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1" name="Google Shape;881;p29"/>
          <p:cNvSpPr txBox="1"/>
          <p:nvPr/>
        </p:nvSpPr>
        <p:spPr>
          <a:xfrm>
            <a:off x="6096000" y="4924044"/>
            <a:ext cx="2665476" cy="1552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98994" marR="0" rtl="0" algn="l">
              <a:lnSpc>
                <a:spcPct val="95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2,5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28921" marR="0" rtl="0" algn="l">
              <a:lnSpc>
                <a:spcPct val="102091"/>
              </a:lnSpc>
              <a:spcBef>
                <a:spcPts val="3962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0,125  E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2" name="Google Shape;882;p29"/>
          <p:cNvSpPr txBox="1"/>
          <p:nvPr/>
        </p:nvSpPr>
        <p:spPr>
          <a:xfrm>
            <a:off x="7677911" y="2816352"/>
            <a:ext cx="1872996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7098" marR="0" rtl="0" algn="l">
              <a:lnSpc>
                <a:spcPct val="108837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baseline="-25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aseline="-25000" lang="en-US" sz="32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aseline="30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baseline="-25000" lang="en-US" sz="32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baseline="30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71843" marR="0" rtl="0" algn="l">
              <a:lnSpc>
                <a:spcPct val="888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      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24737" marR="0" rtl="0" algn="l">
              <a:lnSpc>
                <a:spcPct val="102091"/>
              </a:lnSpc>
              <a:spcBef>
                <a:spcPts val="64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2,5 E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0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0"/>
          <p:cNvSpPr/>
          <p:nvPr/>
        </p:nvSpPr>
        <p:spPr>
          <a:xfrm>
            <a:off x="4340352" y="4174236"/>
            <a:ext cx="5682996" cy="640080"/>
          </a:xfrm>
          <a:custGeom>
            <a:rect b="b" l="l" r="r" t="t"/>
            <a:pathLst>
              <a:path extrusionOk="0" h="640080" w="5682996">
                <a:moveTo>
                  <a:pt x="0" y="640080"/>
                </a:moveTo>
                <a:lnTo>
                  <a:pt x="5682996" y="640080"/>
                </a:lnTo>
                <a:lnTo>
                  <a:pt x="5682996" y="0"/>
                </a:lnTo>
                <a:lnTo>
                  <a:pt x="0" y="0"/>
                </a:lnTo>
                <a:lnTo>
                  <a:pt x="0" y="640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0"/>
          <p:cNvSpPr/>
          <p:nvPr/>
        </p:nvSpPr>
        <p:spPr>
          <a:xfrm>
            <a:off x="4340352" y="4942332"/>
            <a:ext cx="7331964" cy="598932"/>
          </a:xfrm>
          <a:custGeom>
            <a:rect b="b" l="l" r="r" t="t"/>
            <a:pathLst>
              <a:path extrusionOk="0" h="598931" w="7331964">
                <a:moveTo>
                  <a:pt x="0" y="598932"/>
                </a:moveTo>
                <a:lnTo>
                  <a:pt x="7331964" y="598932"/>
                </a:lnTo>
                <a:lnTo>
                  <a:pt x="7331964" y="0"/>
                </a:lnTo>
                <a:lnTo>
                  <a:pt x="0" y="0"/>
                </a:lnTo>
                <a:lnTo>
                  <a:pt x="0" y="5989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0"/>
          <p:cNvSpPr/>
          <p:nvPr/>
        </p:nvSpPr>
        <p:spPr>
          <a:xfrm>
            <a:off x="4340352" y="5646420"/>
            <a:ext cx="4751832" cy="734568"/>
          </a:xfrm>
          <a:custGeom>
            <a:rect b="b" l="l" r="r" t="t"/>
            <a:pathLst>
              <a:path extrusionOk="0" h="734568" w="4751832">
                <a:moveTo>
                  <a:pt x="0" y="734567"/>
                </a:moveTo>
                <a:lnTo>
                  <a:pt x="4751832" y="734567"/>
                </a:lnTo>
                <a:lnTo>
                  <a:pt x="4751832" y="0"/>
                </a:lnTo>
                <a:lnTo>
                  <a:pt x="0" y="0"/>
                </a:lnTo>
                <a:lnTo>
                  <a:pt x="0" y="7345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0"/>
          <p:cNvSpPr txBox="1"/>
          <p:nvPr/>
        </p:nvSpPr>
        <p:spPr>
          <a:xfrm>
            <a:off x="467969" y="424237"/>
            <a:ext cx="300854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3" name="Google Shape;893;p30"/>
          <p:cNvSpPr txBox="1"/>
          <p:nvPr/>
        </p:nvSpPr>
        <p:spPr>
          <a:xfrm>
            <a:off x="925169" y="424237"/>
            <a:ext cx="4364661" cy="606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Pengukuran trafik pada sebuah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1384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berikut: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4" name="Google Shape;894;p30"/>
          <p:cNvSpPr txBox="1"/>
          <p:nvPr/>
        </p:nvSpPr>
        <p:spPr>
          <a:xfrm>
            <a:off x="5290566" y="424237"/>
            <a:ext cx="953751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sentral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5" name="Google Shape;895;p30"/>
          <p:cNvSpPr txBox="1"/>
          <p:nvPr/>
        </p:nvSpPr>
        <p:spPr>
          <a:xfrm>
            <a:off x="6252210" y="424237"/>
            <a:ext cx="1125372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telepon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6" name="Google Shape;896;p30"/>
          <p:cNvSpPr txBox="1"/>
          <p:nvPr/>
        </p:nvSpPr>
        <p:spPr>
          <a:xfrm>
            <a:off x="7386320" y="424237"/>
            <a:ext cx="1895146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menghaslkan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7" name="Google Shape;897;p30"/>
          <p:cNvSpPr txBox="1"/>
          <p:nvPr/>
        </p:nvSpPr>
        <p:spPr>
          <a:xfrm>
            <a:off x="9286748" y="424237"/>
            <a:ext cx="735427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8" name="Google Shape;898;p30"/>
          <p:cNvSpPr txBox="1"/>
          <p:nvPr/>
        </p:nvSpPr>
        <p:spPr>
          <a:xfrm>
            <a:off x="10033762" y="424237"/>
            <a:ext cx="1171557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sebagai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9" name="Google Shape;899;p3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0" name="Google Shape;900;p30"/>
          <p:cNvSpPr txBox="1"/>
          <p:nvPr/>
        </p:nvSpPr>
        <p:spPr>
          <a:xfrm>
            <a:off x="784961" y="1026914"/>
            <a:ext cx="1862626" cy="1711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600">
            <a:noAutofit/>
          </a:bodyPr>
          <a:lstStyle/>
          <a:p>
            <a:pPr indent="0" lvl="0" marL="27940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Percakapan Percakapan Percakapan Percakapan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79400" marR="8836" rtl="0" algn="just">
              <a:lnSpc>
                <a:spcPct val="10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Percakapan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4013" rtl="0" algn="l">
              <a:lnSpc>
                <a:spcPct val="119772"/>
              </a:lnSpc>
              <a:spcBef>
                <a:spcPts val="23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Hitunglah: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1" name="Google Shape;901;p30"/>
          <p:cNvSpPr txBox="1"/>
          <p:nvPr/>
        </p:nvSpPr>
        <p:spPr>
          <a:xfrm>
            <a:off x="2653280" y="1026914"/>
            <a:ext cx="1867132" cy="5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3084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 menit: 4 kali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8176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 menit: 7 kali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2" name="Google Shape;902;p30"/>
          <p:cNvSpPr txBox="1"/>
          <p:nvPr/>
        </p:nvSpPr>
        <p:spPr>
          <a:xfrm>
            <a:off x="2653280" y="1575554"/>
            <a:ext cx="1394513" cy="828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 menit: 15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835" marR="209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 menit: 5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308" rtl="0" algn="l">
              <a:lnSpc>
                <a:spcPct val="108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 menit: 2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3" name="Google Shape;903;p30"/>
          <p:cNvSpPr txBox="1"/>
          <p:nvPr/>
        </p:nvSpPr>
        <p:spPr>
          <a:xfrm>
            <a:off x="4052697" y="1575554"/>
            <a:ext cx="476321" cy="828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kali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8706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kali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8537" rtl="0" algn="l">
              <a:lnSpc>
                <a:spcPct val="108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kali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4" name="Google Shape;904;p30"/>
          <p:cNvSpPr txBox="1"/>
          <p:nvPr/>
        </p:nvSpPr>
        <p:spPr>
          <a:xfrm>
            <a:off x="788009" y="2764655"/>
            <a:ext cx="316505" cy="88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8796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802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c.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5" name="Google Shape;905;p30"/>
          <p:cNvSpPr txBox="1"/>
          <p:nvPr/>
        </p:nvSpPr>
        <p:spPr>
          <a:xfrm>
            <a:off x="1245209" y="2764655"/>
            <a:ext cx="982264" cy="88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8537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813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6" name="Google Shape;906;p30"/>
          <p:cNvSpPr txBox="1"/>
          <p:nvPr/>
        </p:nvSpPr>
        <p:spPr>
          <a:xfrm>
            <a:off x="2222011" y="2764655"/>
            <a:ext cx="1847715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7" name="Google Shape;907;p30"/>
          <p:cNvSpPr txBox="1"/>
          <p:nvPr/>
        </p:nvSpPr>
        <p:spPr>
          <a:xfrm>
            <a:off x="4071266" y="2764655"/>
            <a:ext cx="699544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yang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8" name="Google Shape;908;p30"/>
          <p:cNvSpPr txBox="1"/>
          <p:nvPr/>
        </p:nvSpPr>
        <p:spPr>
          <a:xfrm>
            <a:off x="4777780" y="2764655"/>
            <a:ext cx="1256705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ditangani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9" name="Google Shape;909;p30"/>
          <p:cNvSpPr txBox="1"/>
          <p:nvPr/>
        </p:nvSpPr>
        <p:spPr>
          <a:xfrm>
            <a:off x="6038359" y="2764655"/>
            <a:ext cx="873441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sentral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0" name="Google Shape;910;p30"/>
          <p:cNvSpPr txBox="1"/>
          <p:nvPr/>
        </p:nvSpPr>
        <p:spPr>
          <a:xfrm>
            <a:off x="6912593" y="2764655"/>
            <a:ext cx="1071395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tersebut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1" name="Google Shape;911;p30"/>
          <p:cNvSpPr txBox="1"/>
          <p:nvPr/>
        </p:nvSpPr>
        <p:spPr>
          <a:xfrm>
            <a:off x="7984835" y="2764655"/>
            <a:ext cx="875317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dalam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2" name="Google Shape;912;p30"/>
          <p:cNvSpPr txBox="1"/>
          <p:nvPr/>
        </p:nvSpPr>
        <p:spPr>
          <a:xfrm>
            <a:off x="8864161" y="2764655"/>
            <a:ext cx="204624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3" name="Google Shape;913;p30"/>
          <p:cNvSpPr txBox="1"/>
          <p:nvPr/>
        </p:nvSpPr>
        <p:spPr>
          <a:xfrm>
            <a:off x="9075657" y="2764655"/>
            <a:ext cx="527854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jam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4" name="Google Shape;914;p30"/>
          <p:cNvSpPr txBox="1"/>
          <p:nvPr/>
        </p:nvSpPr>
        <p:spPr>
          <a:xfrm>
            <a:off x="9609106" y="2764655"/>
            <a:ext cx="1730314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pengamatan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5" name="Google Shape;915;p30"/>
          <p:cNvSpPr txBox="1"/>
          <p:nvPr/>
        </p:nvSpPr>
        <p:spPr>
          <a:xfrm>
            <a:off x="2222011" y="3069455"/>
            <a:ext cx="2492784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 pendudukan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6" name="Google Shape;916;p30"/>
          <p:cNvSpPr txBox="1"/>
          <p:nvPr/>
        </p:nvSpPr>
        <p:spPr>
          <a:xfrm>
            <a:off x="4717207" y="3069455"/>
            <a:ext cx="1320703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rata-rata?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7" name="Google Shape;917;p30"/>
          <p:cNvSpPr txBox="1"/>
          <p:nvPr/>
        </p:nvSpPr>
        <p:spPr>
          <a:xfrm>
            <a:off x="2222162" y="3362630"/>
            <a:ext cx="2014669" cy="29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50">
            <a:noAutofit/>
          </a:bodyPr>
          <a:lstStyle/>
          <a:p>
            <a:pPr indent="0" lvl="0" marL="12700" marR="0" rtl="0" algn="l">
              <a:lnSpc>
                <a:spcPct val="10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laju trafiknya (</a:t>
            </a:r>
            <a:r>
              <a:rPr lang="en-US" sz="21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8" name="Google Shape;918;p30"/>
          <p:cNvSpPr txBox="1"/>
          <p:nvPr/>
        </p:nvSpPr>
        <p:spPr>
          <a:xfrm>
            <a:off x="4246022" y="3374005"/>
            <a:ext cx="214170" cy="28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9" name="Google Shape;919;p30"/>
          <p:cNvSpPr txBox="1"/>
          <p:nvPr/>
        </p:nvSpPr>
        <p:spPr>
          <a:xfrm>
            <a:off x="467969" y="4082976"/>
            <a:ext cx="1054522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Jawab: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0" name="Google Shape;920;p30"/>
          <p:cNvSpPr txBox="1"/>
          <p:nvPr/>
        </p:nvSpPr>
        <p:spPr>
          <a:xfrm>
            <a:off x="788009" y="4445881"/>
            <a:ext cx="307708" cy="27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1" name="Google Shape;921;p30"/>
          <p:cNvSpPr txBox="1"/>
          <p:nvPr/>
        </p:nvSpPr>
        <p:spPr>
          <a:xfrm>
            <a:off x="1245209" y="4445881"/>
            <a:ext cx="1944829" cy="27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Trafik: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2" name="Google Shape;922;p30"/>
          <p:cNvSpPr txBox="1"/>
          <p:nvPr/>
        </p:nvSpPr>
        <p:spPr>
          <a:xfrm>
            <a:off x="788009" y="5121394"/>
            <a:ext cx="307967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3" name="Google Shape;923;p30"/>
          <p:cNvSpPr txBox="1"/>
          <p:nvPr/>
        </p:nvSpPr>
        <p:spPr>
          <a:xfrm>
            <a:off x="1245209" y="5121394"/>
            <a:ext cx="2658093" cy="27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 = jumlah menit/call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4" name="Google Shape;924;p30"/>
          <p:cNvSpPr txBox="1"/>
          <p:nvPr/>
        </p:nvSpPr>
        <p:spPr>
          <a:xfrm>
            <a:off x="5996723" y="5295726"/>
            <a:ext cx="382098" cy="25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30"/>
          <p:cNvSpPr txBox="1"/>
          <p:nvPr/>
        </p:nvSpPr>
        <p:spPr>
          <a:xfrm>
            <a:off x="7854948" y="5292083"/>
            <a:ext cx="1549342" cy="257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0">
            <a:noAutofit/>
          </a:bodyPr>
          <a:lstStyle/>
          <a:p>
            <a:pPr indent="0" lvl="0" marL="12700" marR="0" rtl="0" algn="l">
              <a:lnSpc>
                <a:spcPct val="10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30"/>
          <p:cNvSpPr txBox="1"/>
          <p:nvPr/>
        </p:nvSpPr>
        <p:spPr>
          <a:xfrm>
            <a:off x="9654518" y="5295726"/>
            <a:ext cx="287841" cy="25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12700" marR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30"/>
          <p:cNvSpPr txBox="1"/>
          <p:nvPr/>
        </p:nvSpPr>
        <p:spPr>
          <a:xfrm>
            <a:off x="788009" y="5796475"/>
            <a:ext cx="298547" cy="27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c.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8" name="Google Shape;928;p30"/>
          <p:cNvSpPr txBox="1"/>
          <p:nvPr/>
        </p:nvSpPr>
        <p:spPr>
          <a:xfrm>
            <a:off x="1245209" y="5796475"/>
            <a:ext cx="1297129" cy="27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50">
            <a:noAutofit/>
          </a:bodyPr>
          <a:lstStyle/>
          <a:p>
            <a:pPr indent="0" lvl="0" marL="12700" marR="0" rtl="0" algn="l">
              <a:lnSpc>
                <a:spcPct val="10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Laju trafik: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9" name="Google Shape;929;p30"/>
          <p:cNvSpPr txBox="1"/>
          <p:nvPr/>
        </p:nvSpPr>
        <p:spPr>
          <a:xfrm>
            <a:off x="4795362" y="6040714"/>
            <a:ext cx="1953100" cy="279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75">
            <a:noAutofit/>
          </a:bodyPr>
          <a:lstStyle/>
          <a:p>
            <a:pPr indent="0" lvl="0" marL="127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waktu pengamatan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30"/>
          <p:cNvSpPr txBox="1"/>
          <p:nvPr/>
        </p:nvSpPr>
        <p:spPr>
          <a:xfrm>
            <a:off x="6980424" y="6040714"/>
            <a:ext cx="317222" cy="279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75">
            <a:noAutofit/>
          </a:bodyPr>
          <a:lstStyle/>
          <a:p>
            <a:pPr indent="0" lvl="0" marL="127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30"/>
          <p:cNvSpPr txBox="1"/>
          <p:nvPr/>
        </p:nvSpPr>
        <p:spPr>
          <a:xfrm>
            <a:off x="4340352" y="5646420"/>
            <a:ext cx="4765840" cy="734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noAutofit/>
          </a:bodyPr>
          <a:lstStyle/>
          <a:p>
            <a:pPr indent="0" lvl="0" marL="22857" marR="0" rtl="0" algn="l">
              <a:lnSpc>
                <a:spcPct val="766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aseline="30000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jumlah call  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0,55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57" marR="0" rtl="0" algn="l">
              <a:lnSpc>
                <a:spcPct val="95825"/>
              </a:lnSpc>
              <a:spcBef>
                <a:spcPts val="12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call/menit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30"/>
          <p:cNvSpPr txBox="1"/>
          <p:nvPr/>
        </p:nvSpPr>
        <p:spPr>
          <a:xfrm>
            <a:off x="4340352" y="4942332"/>
            <a:ext cx="7363852" cy="598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noAutofit/>
          </a:bodyPr>
          <a:lstStyle/>
          <a:p>
            <a:pPr indent="0" lvl="0" marL="38073" marR="0" rtl="0" algn="l">
              <a:lnSpc>
                <a:spcPct val="76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i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baseline="-25000" lang="en-US" sz="2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jumlah waktu pendudukan </a:t>
            </a:r>
            <a:r>
              <a:rPr baseline="-25000" lang="en-US" sz="2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375           </a:t>
            </a:r>
            <a:r>
              <a:rPr baseline="-25000" lang="en-US" sz="2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375 </a:t>
            </a:r>
            <a:r>
              <a:rPr baseline="-25000" lang="en-US" sz="2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11,36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073" marR="0" rtl="0" algn="l">
              <a:lnSpc>
                <a:spcPct val="34037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baseline="-25000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menit/call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3" name="Google Shape;933;p30"/>
          <p:cNvSpPr txBox="1"/>
          <p:nvPr/>
        </p:nvSpPr>
        <p:spPr>
          <a:xfrm>
            <a:off x="4340352" y="4174236"/>
            <a:ext cx="5701252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00">
            <a:noAutofit/>
          </a:bodyPr>
          <a:lstStyle/>
          <a:p>
            <a:pPr indent="0" lvl="0" marL="439500" marR="18256" rtl="0" algn="l">
              <a:lnSpc>
                <a:spcPct val="6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i="1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   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baseline="-25000" i="1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baseline="-25000" lang="en-US" sz="2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baseline="-25000" i="1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baseline="-25000" lang="en-US" sz="2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baseline="-25000" i="1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baseline="-25000" lang="en-US" sz="2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r>
              <a:rPr baseline="-25000" i="1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baseline="-25000" lang="en-US" sz="2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</a:t>
            </a:r>
            <a:r>
              <a:rPr baseline="-25000" i="1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2    375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433" marR="0" rtl="0" algn="l">
              <a:lnSpc>
                <a:spcPct val="108596"/>
              </a:lnSpc>
              <a:spcBef>
                <a:spcPts val="57"/>
              </a:spcBef>
              <a:spcAft>
                <a:spcPts val="0"/>
              </a:spcAft>
              <a:buNone/>
            </a:pPr>
            <a:r>
              <a:rPr baseline="30000" i="1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aseline="30000" lang="en-US" sz="2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aseline="30000" lang="en-US" sz="2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                        </a:t>
            </a:r>
            <a:r>
              <a:rPr baseline="30000" lang="en-US" sz="2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 </a:t>
            </a:r>
            <a:r>
              <a:rPr baseline="30000" lang="en-US" sz="28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6, 25 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1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1"/>
          <p:cNvSpPr/>
          <p:nvPr/>
        </p:nvSpPr>
        <p:spPr>
          <a:xfrm>
            <a:off x="6525768" y="3474720"/>
            <a:ext cx="1872996" cy="1223771"/>
          </a:xfrm>
          <a:custGeom>
            <a:rect b="b" l="l" r="r" t="t"/>
            <a:pathLst>
              <a:path extrusionOk="0" h="1223772" w="1872996">
                <a:moveTo>
                  <a:pt x="0" y="1223771"/>
                </a:moveTo>
                <a:lnTo>
                  <a:pt x="1872996" y="1223771"/>
                </a:lnTo>
                <a:lnTo>
                  <a:pt x="1872996" y="0"/>
                </a:lnTo>
                <a:lnTo>
                  <a:pt x="0" y="0"/>
                </a:lnTo>
                <a:lnTo>
                  <a:pt x="0" y="12237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1"/>
          <p:cNvSpPr/>
          <p:nvPr/>
        </p:nvSpPr>
        <p:spPr>
          <a:xfrm>
            <a:off x="5141976" y="4919472"/>
            <a:ext cx="3361944" cy="542543"/>
          </a:xfrm>
          <a:custGeom>
            <a:rect b="b" l="l" r="r" t="t"/>
            <a:pathLst>
              <a:path extrusionOk="0" h="542543" w="3361944">
                <a:moveTo>
                  <a:pt x="0" y="542543"/>
                </a:moveTo>
                <a:lnTo>
                  <a:pt x="3361944" y="542543"/>
                </a:lnTo>
                <a:lnTo>
                  <a:pt x="3361944" y="0"/>
                </a:lnTo>
                <a:lnTo>
                  <a:pt x="0" y="0"/>
                </a:lnTo>
                <a:lnTo>
                  <a:pt x="0" y="54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1"/>
          <p:cNvSpPr/>
          <p:nvPr/>
        </p:nvSpPr>
        <p:spPr>
          <a:xfrm>
            <a:off x="2997708" y="5586984"/>
            <a:ext cx="2375916" cy="752856"/>
          </a:xfrm>
          <a:custGeom>
            <a:rect b="b" l="l" r="r" t="t"/>
            <a:pathLst>
              <a:path extrusionOk="0" h="752856" w="2375916">
                <a:moveTo>
                  <a:pt x="0" y="752855"/>
                </a:moveTo>
                <a:lnTo>
                  <a:pt x="2375916" y="752855"/>
                </a:lnTo>
                <a:lnTo>
                  <a:pt x="2375916" y="0"/>
                </a:lnTo>
                <a:lnTo>
                  <a:pt x="0" y="0"/>
                </a:lnTo>
                <a:lnTo>
                  <a:pt x="0" y="7528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1"/>
          <p:cNvSpPr/>
          <p:nvPr/>
        </p:nvSpPr>
        <p:spPr>
          <a:xfrm>
            <a:off x="7499604" y="5600700"/>
            <a:ext cx="4175759" cy="751332"/>
          </a:xfrm>
          <a:custGeom>
            <a:rect b="b" l="l" r="r" t="t"/>
            <a:pathLst>
              <a:path extrusionOk="0" h="751331" w="4175759">
                <a:moveTo>
                  <a:pt x="0" y="751332"/>
                </a:moveTo>
                <a:lnTo>
                  <a:pt x="4175759" y="751332"/>
                </a:lnTo>
                <a:lnTo>
                  <a:pt x="4175759" y="0"/>
                </a:lnTo>
                <a:lnTo>
                  <a:pt x="0" y="0"/>
                </a:lnTo>
                <a:lnTo>
                  <a:pt x="0" y="7513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1"/>
          <p:cNvSpPr txBox="1"/>
          <p:nvPr/>
        </p:nvSpPr>
        <p:spPr>
          <a:xfrm>
            <a:off x="489305" y="313489"/>
            <a:ext cx="300892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5" name="Google Shape;945;p31"/>
          <p:cNvSpPr txBox="1"/>
          <p:nvPr/>
        </p:nvSpPr>
        <p:spPr>
          <a:xfrm>
            <a:off x="946505" y="313489"/>
            <a:ext cx="9729805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grup sistim memiliki 20 pelanggan, dengan total 300 call dalam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6" name="Google Shape;946;p31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29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7" name="Google Shape;947;p31"/>
          <p:cNvSpPr txBox="1"/>
          <p:nvPr/>
        </p:nvSpPr>
        <p:spPr>
          <a:xfrm>
            <a:off x="946505" y="648769"/>
            <a:ext cx="9528909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periode 75 menit pengamatan, dengan durasi pendudukan rata-rata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8" name="Google Shape;948;p31"/>
          <p:cNvSpPr txBox="1"/>
          <p:nvPr/>
        </p:nvSpPr>
        <p:spPr>
          <a:xfrm>
            <a:off x="10484290" y="648769"/>
            <a:ext cx="221795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9" name="Google Shape;949;p31"/>
          <p:cNvSpPr txBox="1"/>
          <p:nvPr/>
        </p:nvSpPr>
        <p:spPr>
          <a:xfrm>
            <a:off x="891641" y="984430"/>
            <a:ext cx="5283503" cy="1983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67564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menit. Jika ada 30 call yang terbuang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54864" lvl="0" marL="12700" marR="357709" rtl="0" algn="l">
              <a:lnSpc>
                <a:spcPct val="120000"/>
              </a:lnSpc>
              <a:spcBef>
                <a:spcPts val="5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tersebut dan sistim memiliki 25 sirkit. Hitunglah: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60780" marR="41833" rtl="0" algn="l">
              <a:lnSpc>
                <a:spcPct val="11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 </a:t>
            </a: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sistim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60780" marR="41833" rtl="0" algn="l">
              <a:lnSpc>
                <a:spcPct val="120000"/>
              </a:lnSpc>
              <a:spcBef>
                <a:spcPts val="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 </a:t>
            </a: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per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pelanggan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60780" marR="4183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Utilitas sistim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0" name="Google Shape;950;p31"/>
          <p:cNvSpPr txBox="1"/>
          <p:nvPr/>
        </p:nvSpPr>
        <p:spPr>
          <a:xfrm>
            <a:off x="6186678" y="984430"/>
            <a:ext cx="829556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pada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1" name="Google Shape;951;p31"/>
          <p:cNvSpPr txBox="1"/>
          <p:nvPr/>
        </p:nvSpPr>
        <p:spPr>
          <a:xfrm>
            <a:off x="7027926" y="984430"/>
            <a:ext cx="1135598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periode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2" name="Google Shape;952;p31"/>
          <p:cNvSpPr txBox="1"/>
          <p:nvPr/>
        </p:nvSpPr>
        <p:spPr>
          <a:xfrm>
            <a:off x="8172704" y="984430"/>
            <a:ext cx="1896198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pengamatan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3" name="Google Shape;953;p31"/>
          <p:cNvSpPr txBox="1"/>
          <p:nvPr/>
        </p:nvSpPr>
        <p:spPr>
          <a:xfrm>
            <a:off x="887069" y="3333168"/>
            <a:ext cx="1055117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Jawab: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4" name="Google Shape;954;p31"/>
          <p:cNvSpPr txBox="1"/>
          <p:nvPr/>
        </p:nvSpPr>
        <p:spPr>
          <a:xfrm>
            <a:off x="809345" y="4002585"/>
            <a:ext cx="4283739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Intensitas Trafik (</a:t>
            </a: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5" name="Google Shape;955;p31"/>
          <p:cNvSpPr txBox="1"/>
          <p:nvPr/>
        </p:nvSpPr>
        <p:spPr>
          <a:xfrm>
            <a:off x="5101209" y="4002585"/>
            <a:ext cx="388886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6" name="Google Shape;956;p31"/>
          <p:cNvSpPr txBox="1"/>
          <p:nvPr/>
        </p:nvSpPr>
        <p:spPr>
          <a:xfrm>
            <a:off x="5499354" y="4002585"/>
            <a:ext cx="833294" cy="3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sistim: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7" name="Google Shape;957;p31"/>
          <p:cNvSpPr txBox="1"/>
          <p:nvPr/>
        </p:nvSpPr>
        <p:spPr>
          <a:xfrm>
            <a:off x="809345" y="5008425"/>
            <a:ext cx="4195517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 pelanggan: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8" name="Google Shape;958;p31"/>
          <p:cNvSpPr txBox="1"/>
          <p:nvPr/>
        </p:nvSpPr>
        <p:spPr>
          <a:xfrm>
            <a:off x="809345" y="5679239"/>
            <a:ext cx="2140861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Lost traffic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(R) =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9" name="Google Shape;959;p31"/>
          <p:cNvSpPr txBox="1"/>
          <p:nvPr/>
        </p:nvSpPr>
        <p:spPr>
          <a:xfrm>
            <a:off x="5529834" y="5679239"/>
            <a:ext cx="909252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Utilitas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0" name="Google Shape;960;p31"/>
          <p:cNvSpPr txBox="1"/>
          <p:nvPr/>
        </p:nvSpPr>
        <p:spPr>
          <a:xfrm>
            <a:off x="6445758" y="5679239"/>
            <a:ext cx="998230" cy="304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sistim =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1" name="Google Shape;961;p31"/>
          <p:cNvSpPr txBox="1"/>
          <p:nvPr/>
        </p:nvSpPr>
        <p:spPr>
          <a:xfrm>
            <a:off x="8039802" y="5933288"/>
            <a:ext cx="748730" cy="43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00">
            <a:noAutofit/>
          </a:bodyPr>
          <a:lstStyle/>
          <a:p>
            <a:pPr indent="0" lvl="0" marL="12700" marR="0" rtl="0" algn="l">
              <a:lnSpc>
                <a:spcPct val="10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⎢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⎣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75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31"/>
          <p:cNvSpPr txBox="1"/>
          <p:nvPr/>
        </p:nvSpPr>
        <p:spPr>
          <a:xfrm>
            <a:off x="7499604" y="5794602"/>
            <a:ext cx="4175759" cy="5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noAutofit/>
          </a:bodyPr>
          <a:lstStyle/>
          <a:p>
            <a:pPr indent="0" lvl="0" marL="126382" marR="0" rtl="0" algn="l">
              <a:lnSpc>
                <a:spcPct val="846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⎡</a:t>
            </a:r>
            <a:r>
              <a:rPr baseline="30000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 </a:t>
            </a:r>
            <a:r>
              <a:rPr baseline="30000"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30000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</a:t>
            </a: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⎤</a:t>
            </a:r>
            <a:r>
              <a:rPr baseline="30000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25 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0,576 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6382" marR="0" rtl="0" algn="l">
              <a:lnSpc>
                <a:spcPct val="95825"/>
              </a:lnSpc>
              <a:spcBef>
                <a:spcPts val="135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57, 6%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31"/>
          <p:cNvSpPr txBox="1"/>
          <p:nvPr/>
        </p:nvSpPr>
        <p:spPr>
          <a:xfrm>
            <a:off x="2997708" y="5586984"/>
            <a:ext cx="2375916" cy="752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050">
            <a:noAutofit/>
          </a:bodyPr>
          <a:lstStyle/>
          <a:p>
            <a:pPr indent="0" lvl="0" marL="238823" marR="0" rtl="0" algn="l">
              <a:lnSpc>
                <a:spcPct val="10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i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aseline="-25000"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</a:t>
            </a:r>
            <a:r>
              <a:rPr baseline="-25000" i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baseline="-25000"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1, 6 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61790" marR="0" rtl="0" algn="l">
              <a:lnSpc>
                <a:spcPct val="8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31"/>
          <p:cNvSpPr txBox="1"/>
          <p:nvPr/>
        </p:nvSpPr>
        <p:spPr>
          <a:xfrm>
            <a:off x="5141976" y="4919472"/>
            <a:ext cx="3361944" cy="542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75">
            <a:noAutofit/>
          </a:bodyPr>
          <a:lstStyle/>
          <a:p>
            <a:pPr indent="0" lvl="0" marL="88071" marR="0" rtl="0" algn="l">
              <a:lnSpc>
                <a:spcPct val="94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4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US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lg  </a:t>
            </a:r>
            <a:r>
              <a:rPr lang="en-US" sz="2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4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 / 20 </a:t>
            </a:r>
            <a:r>
              <a:rPr lang="en-US" sz="27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30000" lang="en-US" sz="4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0,8 E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5" name="Google Shape;965;p31"/>
          <p:cNvSpPr txBox="1"/>
          <p:nvPr/>
        </p:nvSpPr>
        <p:spPr>
          <a:xfrm>
            <a:off x="6525768" y="3474720"/>
            <a:ext cx="1926865" cy="1223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noAutofit/>
          </a:bodyPr>
          <a:lstStyle/>
          <a:p>
            <a:pPr indent="0" lvl="0" marL="0" marR="538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2893" marR="0" rtl="0" algn="ctr">
              <a:lnSpc>
                <a:spcPct val="108651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baseline="-25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aseline="-25000" lang="en-US" sz="32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aseline="30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baseline="-25000" lang="en-US" sz="32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 </a:t>
            </a:r>
            <a:r>
              <a:rPr baseline="-25000" i="1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32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9897" marR="410049" rtl="0" algn="ctr">
              <a:lnSpc>
                <a:spcPct val="886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      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6038" marR="53869" rtl="0" algn="l">
              <a:lnSpc>
                <a:spcPct val="102091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 E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2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2"/>
          <p:cNvSpPr/>
          <p:nvPr/>
        </p:nvSpPr>
        <p:spPr>
          <a:xfrm>
            <a:off x="2225040" y="2636520"/>
            <a:ext cx="7461504" cy="21777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2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4" name="Google Shape;974;p32"/>
          <p:cNvSpPr txBox="1"/>
          <p:nvPr/>
        </p:nvSpPr>
        <p:spPr>
          <a:xfrm>
            <a:off x="1138224" y="858488"/>
            <a:ext cx="1719942" cy="53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no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TUGAS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5" name="Google Shape;975;p32"/>
          <p:cNvSpPr txBox="1"/>
          <p:nvPr/>
        </p:nvSpPr>
        <p:spPr>
          <a:xfrm>
            <a:off x="1189736" y="1873896"/>
            <a:ext cx="32499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6" name="Google Shape;976;p32"/>
          <p:cNvSpPr txBox="1"/>
          <p:nvPr/>
        </p:nvSpPr>
        <p:spPr>
          <a:xfrm>
            <a:off x="1646936" y="1873896"/>
            <a:ext cx="3145351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Dalam pengamatan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7" name="Google Shape;977;p32"/>
          <p:cNvSpPr txBox="1"/>
          <p:nvPr/>
        </p:nvSpPr>
        <p:spPr>
          <a:xfrm>
            <a:off x="4802635" y="1873896"/>
            <a:ext cx="1033702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kinerja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8" name="Google Shape;978;p32"/>
          <p:cNvSpPr txBox="1"/>
          <p:nvPr/>
        </p:nvSpPr>
        <p:spPr>
          <a:xfrm>
            <a:off x="5845483" y="1873896"/>
            <a:ext cx="1039287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sentral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9" name="Google Shape;979;p32"/>
          <p:cNvSpPr txBox="1"/>
          <p:nvPr/>
        </p:nvSpPr>
        <p:spPr>
          <a:xfrm>
            <a:off x="6898094" y="1873896"/>
            <a:ext cx="1401976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terdapat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0" name="Google Shape;980;p32"/>
          <p:cNvSpPr txBox="1"/>
          <p:nvPr/>
        </p:nvSpPr>
        <p:spPr>
          <a:xfrm>
            <a:off x="8313475" y="1873896"/>
            <a:ext cx="801009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1" name="Google Shape;981;p32"/>
          <p:cNvSpPr txBox="1"/>
          <p:nvPr/>
        </p:nvSpPr>
        <p:spPr>
          <a:xfrm>
            <a:off x="9126274" y="1873896"/>
            <a:ext cx="1063112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2" name="Google Shape;982;p32"/>
          <p:cNvSpPr txBox="1"/>
          <p:nvPr/>
        </p:nvSpPr>
        <p:spPr>
          <a:xfrm>
            <a:off x="10198107" y="1873896"/>
            <a:ext cx="599140" cy="33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no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3" name="Google Shape;983;p32"/>
          <p:cNvSpPr txBox="1"/>
          <p:nvPr/>
        </p:nvSpPr>
        <p:spPr>
          <a:xfrm>
            <a:off x="1646936" y="2203712"/>
            <a:ext cx="12806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sebagai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4" name="Google Shape;984;p32"/>
          <p:cNvSpPr txBox="1"/>
          <p:nvPr/>
        </p:nvSpPr>
        <p:spPr>
          <a:xfrm>
            <a:off x="2938373" y="2203712"/>
            <a:ext cx="115821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berikut: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5" name="Google Shape;985;p32"/>
          <p:cNvSpPr txBox="1"/>
          <p:nvPr/>
        </p:nvSpPr>
        <p:spPr>
          <a:xfrm>
            <a:off x="1509776" y="4846250"/>
            <a:ext cx="337964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6" name="Google Shape;986;p32"/>
          <p:cNvSpPr txBox="1"/>
          <p:nvPr/>
        </p:nvSpPr>
        <p:spPr>
          <a:xfrm>
            <a:off x="1967230" y="4846250"/>
            <a:ext cx="2784833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Jika rata-rata waktu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7" name="Google Shape;987;p32"/>
          <p:cNvSpPr txBox="1"/>
          <p:nvPr/>
        </p:nvSpPr>
        <p:spPr>
          <a:xfrm>
            <a:off x="4761103" y="4846250"/>
            <a:ext cx="5393561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pendudukan sirkit untuk masing-masing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8" name="Google Shape;988;p32"/>
          <p:cNvSpPr txBox="1"/>
          <p:nvPr/>
        </p:nvSpPr>
        <p:spPr>
          <a:xfrm>
            <a:off x="10159746" y="4846250"/>
            <a:ext cx="549282" cy="30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">
            <a:noAutofit/>
          </a:bodyPr>
          <a:lstStyle/>
          <a:p>
            <a:pPr indent="0" lvl="0" marL="12700" marR="0" rtl="0" algn="l">
              <a:lnSpc>
                <a:spcPct val="10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9" name="Google Shape;989;p32"/>
          <p:cNvSpPr txBox="1"/>
          <p:nvPr/>
        </p:nvSpPr>
        <p:spPr>
          <a:xfrm>
            <a:off x="1967230" y="5182161"/>
            <a:ext cx="8871047" cy="132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 2 menit, hitung volume trafik pada hari Selasa dan Jumat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1833" rtl="0" algn="l">
              <a:lnSpc>
                <a:spcPct val="120000"/>
              </a:lnSpc>
              <a:spcBef>
                <a:spcPts val="1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jam 9.00 sampai 11.30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183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 laju kedatangan call pada jam 10.30 – 11.00?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1833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 intensitas trafik pada jam 10.30</a:t>
            </a:r>
            <a:r>
              <a:rPr lang="en-US" sz="2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‐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11.30 pada seluruh hari?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0" name="Google Shape;990;p32"/>
          <p:cNvSpPr txBox="1"/>
          <p:nvPr/>
        </p:nvSpPr>
        <p:spPr>
          <a:xfrm>
            <a:off x="1509776" y="5852670"/>
            <a:ext cx="338319" cy="638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1610" rtl="0" algn="l">
              <a:lnSpc>
                <a:spcPct val="119545"/>
              </a:lnSpc>
              <a:spcBef>
                <a:spcPts val="1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3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3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31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8" name="Google Shape;998;p33"/>
          <p:cNvSpPr txBox="1"/>
          <p:nvPr/>
        </p:nvSpPr>
        <p:spPr>
          <a:xfrm>
            <a:off x="962355" y="1169551"/>
            <a:ext cx="10211295" cy="91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225">
            <a:noAutofit/>
          </a:bodyPr>
          <a:lstStyle/>
          <a:p>
            <a:pPr indent="-457250" lvl="0" marL="469950" marR="0" rtl="0" algn="just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	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 sistim terdiri dari 20 server membawa trafik 10 E, jika rata-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69950" marR="0" rtl="0" algn="just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	durasi pendudukan masing-masing seizure adalah 4 menit,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69950" marR="0" rtl="0" algn="just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selama periode pengamatan 1 jam hitunglah: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9" name="Google Shape;999;p33"/>
          <p:cNvSpPr txBox="1"/>
          <p:nvPr/>
        </p:nvSpPr>
        <p:spPr>
          <a:xfrm>
            <a:off x="1282446" y="2113079"/>
            <a:ext cx="1506665" cy="904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0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  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453" lvl="0" marL="470153" marR="3149" rtl="0" algn="l">
              <a:lnSpc>
                <a:spcPct val="12259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 	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Jumlah 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70153" marR="3149" rtl="0" algn="l">
              <a:lnSpc>
                <a:spcPct val="122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waktu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0" name="Google Shape;1000;p33"/>
          <p:cNvSpPr txBox="1"/>
          <p:nvPr/>
        </p:nvSpPr>
        <p:spPr>
          <a:xfrm>
            <a:off x="2800604" y="2113079"/>
            <a:ext cx="8370299" cy="636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25">
            <a:noAutofit/>
          </a:bodyPr>
          <a:lstStyle/>
          <a:p>
            <a:pPr indent="0" lvl="0" marL="12700" marR="41833" rtl="0" algn="l">
              <a:lnSpc>
                <a:spcPct val="108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seizure yang dilewatkan oleh satu server per satuan waktu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2991" marR="0" rtl="0" algn="l">
              <a:lnSpc>
                <a:spcPct val="118863"/>
              </a:lnSpc>
              <a:spcBef>
                <a:spcPts val="11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panggilan yang dilewatkan oleh sistim tersebut per satuan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1" name="Google Shape;1001;p33"/>
          <p:cNvSpPr txBox="1"/>
          <p:nvPr/>
        </p:nvSpPr>
        <p:spPr>
          <a:xfrm>
            <a:off x="962355" y="3437771"/>
            <a:ext cx="166645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 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Sebuah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2" name="Google Shape;1002;p33"/>
          <p:cNvSpPr txBox="1"/>
          <p:nvPr/>
        </p:nvSpPr>
        <p:spPr>
          <a:xfrm>
            <a:off x="2840228" y="3437771"/>
            <a:ext cx="127842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jaringan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3" name="Google Shape;1003;p33"/>
          <p:cNvSpPr txBox="1"/>
          <p:nvPr/>
        </p:nvSpPr>
        <p:spPr>
          <a:xfrm>
            <a:off x="4330954" y="3437771"/>
            <a:ext cx="75235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lokal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4" name="Google Shape;1004;p33"/>
          <p:cNvSpPr txBox="1"/>
          <p:nvPr/>
        </p:nvSpPr>
        <p:spPr>
          <a:xfrm>
            <a:off x="5294122" y="3437771"/>
            <a:ext cx="185186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mempunyai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5" name="Google Shape;1005;p33"/>
          <p:cNvSpPr txBox="1"/>
          <p:nvPr/>
        </p:nvSpPr>
        <p:spPr>
          <a:xfrm>
            <a:off x="7356475" y="3437771"/>
            <a:ext cx="24003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6" name="Google Shape;1006;p33"/>
          <p:cNvSpPr txBox="1"/>
          <p:nvPr/>
        </p:nvSpPr>
        <p:spPr>
          <a:xfrm>
            <a:off x="7807579" y="3437771"/>
            <a:ext cx="85842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buah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7" name="Google Shape;1007;p33"/>
          <p:cNvSpPr txBox="1"/>
          <p:nvPr/>
        </p:nvSpPr>
        <p:spPr>
          <a:xfrm>
            <a:off x="8877427" y="3437771"/>
            <a:ext cx="102596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server.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8" name="Google Shape;1008;p33"/>
          <p:cNvSpPr txBox="1"/>
          <p:nvPr/>
        </p:nvSpPr>
        <p:spPr>
          <a:xfrm>
            <a:off x="10113645" y="3437771"/>
            <a:ext cx="106022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Dalam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9" name="Google Shape;1009;p33"/>
          <p:cNvSpPr txBox="1"/>
          <p:nvPr/>
        </p:nvSpPr>
        <p:spPr>
          <a:xfrm>
            <a:off x="1419606" y="3730379"/>
            <a:ext cx="975283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75">
            <a:noAutofit/>
          </a:bodyPr>
          <a:lstStyle/>
          <a:p>
            <a:pPr indent="0" lvl="0" marL="12700" marR="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pengamatan selama 2 jam, satu server mempunyai okupansi 20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0" name="Google Shape;1010;p33"/>
          <p:cNvSpPr txBox="1"/>
          <p:nvPr/>
        </p:nvSpPr>
        <p:spPr>
          <a:xfrm>
            <a:off x="1419606" y="4022987"/>
            <a:ext cx="9765136" cy="146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noAutofit/>
          </a:bodyPr>
          <a:lstStyle/>
          <a:p>
            <a:pPr indent="0" lvl="0" marL="127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menit,  tiga  server  yang  lain  mempunyai  okupansi  40  menit.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60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Hitunglah: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50800" marR="56056" rtl="0" algn="l">
              <a:lnSpc>
                <a:spcPct val="102172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  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 beban trafik jaringan lokal tersebut ?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50800" marR="56056" rtl="0" algn="l">
              <a:lnSpc>
                <a:spcPct val="102172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   </a:t>
            </a: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Berapa okupansi rata-rata per server?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34"/>
          <p:cNvSpPr/>
          <p:nvPr/>
        </p:nvSpPr>
        <p:spPr>
          <a:xfrm>
            <a:off x="0" y="0"/>
            <a:ext cx="12188952" cy="6858000"/>
          </a:xfrm>
          <a:custGeom>
            <a:rect b="b" l="l" r="r" t="t"/>
            <a:pathLst>
              <a:path extrusionOk="0" h="6858000" w="12188952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noAutofit/>
          </a:bodyPr>
          <a:lstStyle/>
          <a:p>
            <a:pPr indent="0" lvl="0" marL="127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32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8" name="Google Shape;1018;p34"/>
          <p:cNvSpPr txBox="1"/>
          <p:nvPr/>
        </p:nvSpPr>
        <p:spPr>
          <a:xfrm>
            <a:off x="780084" y="676110"/>
            <a:ext cx="352225" cy="35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9" name="Google Shape;1019;p34"/>
          <p:cNvSpPr txBox="1"/>
          <p:nvPr/>
        </p:nvSpPr>
        <p:spPr>
          <a:xfrm>
            <a:off x="1295527" y="676110"/>
            <a:ext cx="10104132" cy="1069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12700" marR="49606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Apabila intensitas kedatangan paket dalam sebuah router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5394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adalah 1000 packet/s dan waktu layanan rata-rata dari router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sebut adalah 500ms, berapa </a:t>
            </a: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offered traffic 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dari sistem di atas?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0" name="Google Shape;1020;p34"/>
          <p:cNvSpPr txBox="1"/>
          <p:nvPr/>
        </p:nvSpPr>
        <p:spPr>
          <a:xfrm>
            <a:off x="780084" y="2357336"/>
            <a:ext cx="352225" cy="35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00">
            <a:noAutofit/>
          </a:bodyPr>
          <a:lstStyle/>
          <a:p>
            <a:pPr indent="0" lvl="0" marL="12700" marR="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1" name="Google Shape;1021;p34"/>
          <p:cNvSpPr txBox="1"/>
          <p:nvPr/>
        </p:nvSpPr>
        <p:spPr>
          <a:xfrm>
            <a:off x="1228445" y="2357336"/>
            <a:ext cx="9924660" cy="155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79781" marR="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Selama jam sibuk di sebuah perusahaan terjadi 120 </a:t>
            </a: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outgoing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9781" marR="49606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 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dengan waktu pendudukan rata-rata 2 menit, dan 200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9781" marR="49606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incoming call </a:t>
            </a: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dengan waktu pendudukan rata-rata 3 menit.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9606" rtl="0" algn="l">
              <a:lnSpc>
                <a:spcPct val="122500"/>
              </a:lnSpc>
              <a:spcBef>
                <a:spcPts val="634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Tentukan: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2" name="Google Shape;1022;p34"/>
          <p:cNvSpPr txBox="1"/>
          <p:nvPr/>
        </p:nvSpPr>
        <p:spPr>
          <a:xfrm>
            <a:off x="1228445" y="4037165"/>
            <a:ext cx="403289" cy="1324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12700" marR="11458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2172"/>
              </a:lnSpc>
              <a:spcBef>
                <a:spcPts val="489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0934" rtl="0" algn="l">
              <a:lnSpc>
                <a:spcPct val="122500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3" name="Google Shape;1023;p34"/>
          <p:cNvSpPr txBox="1"/>
          <p:nvPr/>
        </p:nvSpPr>
        <p:spPr>
          <a:xfrm>
            <a:off x="1742058" y="4037165"/>
            <a:ext cx="2618802" cy="1324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25">
            <a:noAutofit/>
          </a:bodyPr>
          <a:lstStyle/>
          <a:p>
            <a:pPr indent="0" lvl="0" marL="12700" marR="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Outgoing traffic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0375" rtl="0" algn="l">
              <a:lnSpc>
                <a:spcPct val="102172"/>
              </a:lnSpc>
              <a:spcBef>
                <a:spcPts val="489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Incoming traffic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9606" rtl="0" algn="l">
              <a:lnSpc>
                <a:spcPct val="122500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traffic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