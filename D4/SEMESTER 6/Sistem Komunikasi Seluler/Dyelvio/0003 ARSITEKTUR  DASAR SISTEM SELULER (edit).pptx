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61" r:id="rId3"/>
    <p:sldId id="281" r:id="rId4"/>
    <p:sldId id="285" r:id="rId5"/>
    <p:sldId id="282" r:id="rId6"/>
    <p:sldId id="283" r:id="rId7"/>
    <p:sldId id="284" r:id="rId8"/>
    <p:sldId id="286" r:id="rId9"/>
    <p:sldId id="287" r:id="rId10"/>
    <p:sldId id="297" r:id="rId11"/>
    <p:sldId id="288" r:id="rId12"/>
    <p:sldId id="296" r:id="rId13"/>
    <p:sldId id="289" r:id="rId14"/>
    <p:sldId id="290" r:id="rId15"/>
    <p:sldId id="291" r:id="rId16"/>
    <p:sldId id="292" r:id="rId17"/>
    <p:sldId id="262" r:id="rId18"/>
    <p:sldId id="263" r:id="rId19"/>
    <p:sldId id="294" r:id="rId20"/>
    <p:sldId id="298" r:id="rId21"/>
    <p:sldId id="264" r:id="rId22"/>
    <p:sldId id="269" r:id="rId23"/>
    <p:sldId id="270" r:id="rId24"/>
    <p:sldId id="276" r:id="rId25"/>
    <p:sldId id="279" r:id="rId26"/>
    <p:sldId id="280" r:id="rId27"/>
  </p:sldIdLst>
  <p:sldSz cx="12192000" cy="6858000"/>
  <p:notesSz cx="6858000" cy="9144000"/>
  <p:defaultTextStyle>
    <a:defPPr>
      <a:defRPr lang="id-ID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1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3907-252C-46AF-A7A9-F1F18BCD5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D7B3A-1457-413E-A45B-4372CD32BC14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93298-AA47-4C8A-A6C0-68FF5FFD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EED91-E1E3-4183-BFB5-C2CE02EA0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C555C-C18B-4640-938E-AF16165D0D70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79475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AF885-6855-470A-891E-1A2C34B0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51DFC-4FCE-4862-94D6-D79696533502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2C6E2-44B9-49EC-AC46-6CB8366A0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4F79D-3C3B-4EB1-9B7C-F44029C9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A4000-C45E-4EC3-9038-16904E09C30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6348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E5F20-3682-4E08-B5A8-99DE767B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C8B3EE-B8DB-4DD0-9CF9-CC62C83CE9B0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2D614-DE98-44BC-948E-56BBF0252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B506F-0886-4253-BE22-1521B009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8EB55-68CD-4A82-B1F3-3B2A0582B0AD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193125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55960B-3FA3-4B89-A167-B310D42B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C36D64-93AB-41FF-BF40-562D2D7363AD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A85FD8-BB2E-4A05-BD12-9C0F65CC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882A466-8120-4FFE-8BDB-32E21CED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8F6B1-AAE0-4651-B0B2-DCCCE8CF6BDB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6396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0F3B37D-E6A3-4FD0-A946-52BB0784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BAFB6-C3A1-4F4A-8560-380677396650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42729EB-9AFA-44AB-A3E9-105F28A9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4A40A8-AEC8-4876-8A0A-40458F47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E4CF8-5FDD-4BFF-BB63-F6845390AD73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837182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D067DB4-4EED-452D-B40B-182067819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B9193-C983-43F9-BAF7-E830550A657E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20558CA-225B-417E-8FA5-0A547183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32F8132-5657-4F1D-AC34-84558280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988EA-9BA9-4A32-B2AF-228C4CD41A1B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7494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905C3D3-AB52-4B8F-9EB9-A7EE9157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1A628-052A-42D2-B798-5AC7BB837634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02D5B56-8F2B-4031-8B6B-E413B62E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E36428-F9C7-4142-9A02-82FDFCB5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C02BE-B795-4D63-A7BC-F5B86763B939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78947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4569413-79CF-4D59-BC8D-FE5AFF380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01C43-CB9D-4ACA-8D47-D21D36C5EE29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274785-E9F0-4EB8-9D40-EB90AD0F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84222BA-52F1-4599-9878-5F7B3E97A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3C1D6-B484-47DA-BE2B-F005679CCA6A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950234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d-ID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E7CC71F-E974-4D95-AF57-E25D62BA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2DD53-A2BD-44ED-A8EF-382BA8E6CD21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2FA7F7-69FC-4E74-B656-36368D27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CF7F93-03B4-44F5-8613-A78F9E6B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4406F2-6EB0-430D-AD11-537D081A8EBF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38117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BC282-AE3E-40BA-B0A1-D0754D6B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678D7-1F81-4386-BA5D-B4894E6F255C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038BC-10D2-4A49-BC43-4E783D7D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1EF3B-9EE1-4F0A-AD71-D13EF6E4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CB106-EC7E-44EE-BEA6-FB756966AEF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31786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E5336-744F-4048-9544-CAB05AC85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6F2C5-BEDA-4227-9AB2-059CAB54BD2A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48520-4A79-40EC-B36E-2D14FAE1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8032B-42A5-41B9-BCD8-D5F0F6CF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BE512-69BA-4184-BA86-7C287710AF0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1781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6AB1ED6-B967-449F-866C-0898DD1A9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/>
              <a:t>Click to edit Master title style</a:t>
            </a:r>
            <a:endParaRPr lang="id-ID" altLang="id-ID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821D363-BD3C-4FDF-898C-C6FBAB9AB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/>
              <a:t>Click to edit Master text styles</a:t>
            </a:r>
          </a:p>
          <a:p>
            <a:pPr lvl="1"/>
            <a:r>
              <a:rPr lang="en-US" altLang="id-ID"/>
              <a:t>Second level</a:t>
            </a:r>
          </a:p>
          <a:p>
            <a:pPr lvl="2"/>
            <a:r>
              <a:rPr lang="en-US" altLang="id-ID"/>
              <a:t>Third level</a:t>
            </a:r>
          </a:p>
          <a:p>
            <a:pPr lvl="3"/>
            <a:r>
              <a:rPr lang="en-US" altLang="id-ID"/>
              <a:t>Fourth level</a:t>
            </a:r>
          </a:p>
          <a:p>
            <a:pPr lvl="4"/>
            <a:r>
              <a:rPr lang="en-US" altLang="id-ID"/>
              <a:t>Fifth level</a:t>
            </a:r>
            <a:endParaRPr lang="id-ID" alt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F2246-0F17-4C7E-B6F2-61C711867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F0DC97F-F438-4431-ACCF-41A654553394}" type="datetimeFigureOut">
              <a:rPr lang="en-US"/>
              <a:pPr>
                <a:defRPr/>
              </a:pPr>
              <a:t>13-Jan-21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4ED2-3134-434A-A3CD-760818FC9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CD55E-C014-4872-80E8-75C014923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001DF1E-D4B7-4384-B7FD-942554704544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43F6-1EB6-46A4-8C5A-8601A8576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9400" y="2133600"/>
            <a:ext cx="7407275" cy="147161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C00000"/>
                </a:solidFill>
              </a:rPr>
              <a:t>ARSITEKTUR  DASAR SISTEM SELULER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BB9DEF4-A92E-44A2-9536-A7D2B8CA5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49238"/>
            <a:ext cx="11353800" cy="635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Box 4">
            <a:extLst>
              <a:ext uri="{FF2B5EF4-FFF2-40B4-BE49-F238E27FC236}">
                <a16:creationId xmlns:a16="http://schemas.microsoft.com/office/drawing/2014/main" id="{BA1F3742-2952-4517-8FDD-B81045E99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5410200"/>
            <a:ext cx="6781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id-ID" sz="1800">
                <a:latin typeface="Gill Sans MT" panose="020B0502020104020203" pitchFamily="34" charset="0"/>
                <a:cs typeface="Arial" panose="020B0604020202020204" pitchFamily="34" charset="0"/>
              </a:rPr>
              <a:t>BSS = Base Station Subsystem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id-ID" sz="1800">
                <a:latin typeface="Gill Sans MT" panose="020B0502020104020203" pitchFamily="34" charset="0"/>
                <a:cs typeface="Arial" panose="020B0604020202020204" pitchFamily="34" charset="0"/>
              </a:rPr>
              <a:t>NSS = Network Switching Subsystem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id-ID" sz="1800">
                <a:latin typeface="Gill Sans MT" panose="020B0502020104020203" pitchFamily="34" charset="0"/>
                <a:cs typeface="Arial" panose="020B0604020202020204" pitchFamily="34" charset="0"/>
              </a:rPr>
              <a:t>NMS = Network Management Subsystem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88FC-D46E-4F5B-816E-DFBF24A5C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Seluler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Analog ( 1G)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BD4DA227-0B9A-4F94-928A-F5007FC6BC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65125" indent="-282575" eaLnBrk="1" hangingPunct="1">
              <a:buFont typeface="Wingdings 2" panose="05020102010507070707" pitchFamily="18" charset="2"/>
              <a:buChar char=""/>
            </a:pPr>
            <a:r>
              <a:rPr lang="en-US" altLang="id-ID"/>
              <a:t>Mulai berkembang pertengahan tahun 1980.</a:t>
            </a:r>
          </a:p>
          <a:p>
            <a:pPr marL="365125" indent="-282575" eaLnBrk="1" hangingPunct="1">
              <a:buFont typeface="Wingdings 2" panose="05020102010507070707" pitchFamily="18" charset="2"/>
              <a:buChar char=""/>
            </a:pPr>
            <a:r>
              <a:rPr lang="en-US" altLang="id-ID"/>
              <a:t>Contoh teknologi:</a:t>
            </a:r>
          </a:p>
          <a:p>
            <a:pPr marL="639763" lvl="1" indent="-236538" eaLnBrk="1" hangingPunct="1">
              <a:buFont typeface="Verdana" panose="020B0604030504040204" pitchFamily="34" charset="0"/>
              <a:buChar char="◦"/>
            </a:pPr>
            <a:r>
              <a:rPr lang="en-US" altLang="id-ID" i="1"/>
              <a:t>Advanced Mobile Phone System (AMPS) di Amerika;</a:t>
            </a:r>
          </a:p>
          <a:p>
            <a:pPr marL="639763" lvl="1" indent="-236538" eaLnBrk="1" hangingPunct="1">
              <a:buFont typeface="Verdana" panose="020B0604030504040204" pitchFamily="34" charset="0"/>
              <a:buChar char="◦"/>
            </a:pPr>
            <a:r>
              <a:rPr lang="en-US" altLang="id-ID" i="1"/>
              <a:t>Nordic Mobile Telephone (NMT) di Inggris;</a:t>
            </a:r>
          </a:p>
          <a:p>
            <a:pPr marL="639763" lvl="1" indent="-236538" eaLnBrk="1" hangingPunct="1">
              <a:buFont typeface="Verdana" panose="020B0604030504040204" pitchFamily="34" charset="0"/>
              <a:buChar char="◦"/>
            </a:pPr>
            <a:r>
              <a:rPr lang="en-US" altLang="id-ID" i="1"/>
              <a:t>Total Access Communications System (TACS) di beberapa negara Eropa.</a:t>
            </a:r>
          </a:p>
          <a:p>
            <a:pPr marL="365125" indent="-282575" eaLnBrk="1" hangingPunct="1">
              <a:buFont typeface="Wingdings 2" panose="05020102010507070707" pitchFamily="18" charset="2"/>
              <a:buChar char=""/>
            </a:pPr>
            <a:r>
              <a:rPr lang="en-US" altLang="id-ID"/>
              <a:t>Sistem mirip, tetapi tidak saling compatible</a:t>
            </a:r>
          </a:p>
          <a:p>
            <a:pPr marL="365125" indent="-282575" eaLnBrk="1" hangingPunct="1">
              <a:buFont typeface="Wingdings 2" panose="05020102010507070707" pitchFamily="18" charset="2"/>
              <a:buChar char=""/>
            </a:pPr>
            <a:r>
              <a:rPr lang="en-US" altLang="id-ID"/>
              <a:t>Frequency band di range 800 - 900 MHz (NMT = 450 MHz)</a:t>
            </a:r>
          </a:p>
          <a:p>
            <a:pPr marL="365125" indent="-282575" eaLnBrk="1" hangingPunct="1">
              <a:buFont typeface="Wingdings 2" panose="05020102010507070707" pitchFamily="18" charset="2"/>
              <a:buChar char=""/>
            </a:pPr>
            <a:r>
              <a:rPr lang="en-US" altLang="id-ID"/>
              <a:t>FDMA</a:t>
            </a:r>
          </a:p>
          <a:p>
            <a:pPr marL="365125" indent="-282575" eaLnBrk="1" hangingPunct="1">
              <a:buFont typeface="Wingdings 2" panose="05020102010507070707" pitchFamily="18" charset="2"/>
              <a:buChar char=""/>
            </a:pPr>
            <a:endParaRPr lang="en-US" altLang="id-ID" i="1"/>
          </a:p>
          <a:p>
            <a:pPr marL="365125" indent="-282575" eaLnBrk="1" hangingPunct="1">
              <a:buFont typeface="Wingdings 2" panose="05020102010507070707" pitchFamily="18" charset="2"/>
              <a:buChar char=""/>
            </a:pPr>
            <a:endParaRPr lang="en-US" altLang="id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ECEB3660-DD38-4E46-AE69-BDFE720DC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63" y="1516063"/>
            <a:ext cx="33528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273AEB32-0FB5-4461-B7CA-65D86F7C1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0" y="652463"/>
            <a:ext cx="2462213" cy="555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BA5ACC2B-D023-4F0E-9F4F-1659253C7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181100"/>
            <a:ext cx="218598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7FDC-5197-4FC6-8E3E-B2FC0DAD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Seluler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Digital (2G)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5FB5C150-3615-4B78-B5D9-EDE06251F6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1908175"/>
          </a:xfrm>
        </p:spPr>
        <p:txBody>
          <a:bodyPr/>
          <a:lstStyle/>
          <a:p>
            <a:pPr eaLnBrk="1" hangingPunct="1"/>
            <a:r>
              <a:rPr lang="en-US" altLang="id-ID"/>
              <a:t>Berkembang tengah tahun 1990</a:t>
            </a:r>
          </a:p>
          <a:p>
            <a:pPr eaLnBrk="1" hangingPunct="1"/>
            <a:r>
              <a:rPr lang="en-US" altLang="id-ID"/>
              <a:t>Contoh:</a:t>
            </a:r>
          </a:p>
          <a:p>
            <a:pPr lvl="1" eaLnBrk="1" hangingPunct="1"/>
            <a:r>
              <a:rPr lang="en-US" altLang="id-ID"/>
              <a:t>GSM</a:t>
            </a:r>
          </a:p>
          <a:p>
            <a:pPr lvl="1" eaLnBrk="1" hangingPunct="1"/>
            <a:r>
              <a:rPr lang="en-US" altLang="id-ID"/>
              <a:t>CDMA (IS-95)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DD79-6DE5-4C4E-9CDF-A321BC5D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049000" cy="6254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GSM (Global System for Mobile Communication)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AC1524CF-9863-4E75-9F28-58BA47DBC5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pPr eaLnBrk="1" hangingPunct="1"/>
            <a:r>
              <a:rPr lang="en-US" altLang="id-ID" b="1"/>
              <a:t>2 teknologi berbasis GSM:</a:t>
            </a:r>
          </a:p>
          <a:p>
            <a:pPr lvl="1" eaLnBrk="1" hangingPunct="1"/>
            <a:r>
              <a:rPr lang="en-US" altLang="id-ID" b="1"/>
              <a:t>DCS-1800 (Digital Selular System 1800MHz) </a:t>
            </a:r>
            <a:r>
              <a:rPr lang="en-US" altLang="id-ID" b="1">
                <a:sym typeface="Wingdings" panose="05000000000000000000" pitchFamily="2" charset="2"/>
              </a:rPr>
              <a:t> Eropa,  1,8GHz band</a:t>
            </a:r>
          </a:p>
          <a:p>
            <a:pPr lvl="1" eaLnBrk="1" hangingPunct="1"/>
            <a:r>
              <a:rPr lang="en-US" altLang="id-ID" b="1">
                <a:sym typeface="Wingdings" panose="05000000000000000000" pitchFamily="2" charset="2"/>
              </a:rPr>
              <a:t>GSM-1900  Amerika, 1,9 GHz band</a:t>
            </a:r>
          </a:p>
          <a:p>
            <a:pPr lvl="1" eaLnBrk="1" hangingPunct="1"/>
            <a:r>
              <a:rPr lang="en-US" altLang="id-ID" b="1"/>
              <a:t>MS = SIM(Subscriber Identity Modul) + ME(Mobile Equipment)</a:t>
            </a:r>
          </a:p>
          <a:p>
            <a:pPr lvl="1" eaLnBrk="1" hangingPunct="1"/>
            <a:endParaRPr lang="en-US" altLang="id-ID" b="1">
              <a:sym typeface="Wingdings" panose="05000000000000000000" pitchFamily="2" charset="2"/>
            </a:endParaRPr>
          </a:p>
          <a:p>
            <a:pPr lvl="1" eaLnBrk="1" hangingPunct="1"/>
            <a:endParaRPr lang="en-US" altLang="id-ID" b="1"/>
          </a:p>
          <a:p>
            <a:pPr lvl="1" eaLnBrk="1" hangingPunct="1"/>
            <a:endParaRPr lang="en-US" altLang="id-ID" b="1"/>
          </a:p>
        </p:txBody>
      </p:sp>
      <p:pic>
        <p:nvPicPr>
          <p:cNvPr id="7172" name="Picture 2">
            <a:extLst>
              <a:ext uri="{FF2B5EF4-FFF2-40B4-BE49-F238E27FC236}">
                <a16:creationId xmlns:a16="http://schemas.microsoft.com/office/drawing/2014/main" id="{03BCC9A9-4103-4BCE-B607-685D16893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4038600"/>
            <a:ext cx="22288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3">
            <a:extLst>
              <a:ext uri="{FF2B5EF4-FFF2-40B4-BE49-F238E27FC236}">
                <a16:creationId xmlns:a16="http://schemas.microsoft.com/office/drawing/2014/main" id="{33F00DE3-74FE-4946-9A98-AD160551C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849688"/>
            <a:ext cx="21431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E1C5-82FC-40C1-BC6C-A4B448DF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4150"/>
            <a:ext cx="10515600" cy="4730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STRUKTUR JARINGAN GSM</a:t>
            </a:r>
          </a:p>
        </p:txBody>
      </p:sp>
      <p:pic>
        <p:nvPicPr>
          <p:cNvPr id="8195" name="Picture 2">
            <a:extLst>
              <a:ext uri="{FF2B5EF4-FFF2-40B4-BE49-F238E27FC236}">
                <a16:creationId xmlns:a16="http://schemas.microsoft.com/office/drawing/2014/main" id="{13A0C120-88A3-410C-8FDF-E996049CE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11430000" cy="584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FCB9-F55B-408C-91A6-B43AE409E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2">
                    <a:satMod val="13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MSC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6B66C981-B317-4707-81EF-6C7DA05C09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52538"/>
            <a:ext cx="11582400" cy="15668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MSC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menetapkan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panggilan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mengalihkan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saluran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masuk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saluran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keluar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
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juga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mengontrol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komunikasi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melepaskan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koneksi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dan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mengumpulkan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informasi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pengisian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daya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DE63-B720-4890-93CF-37AD057B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HLR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FDA80-79B4-4078-838C-70B6598E4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52538"/>
            <a:ext cx="11353800" cy="4767262"/>
          </a:xfrm>
        </p:spPr>
        <p:txBody>
          <a:bodyPr rtlCol="0">
            <a:no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Semua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parameter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pelanggan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setiap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pengguna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seluler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disimpan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secara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permanen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satu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HLR.
HLR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menyediakan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lokasi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terkenal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tetap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informasi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perutean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variabel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
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Fungsi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utama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HLR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adalah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sebagai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berikut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
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Penyimpanan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pelanggan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misalnya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tersedia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pelanggan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Pendaftaran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lokasi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penanganan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panggilan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penyimpanan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pusat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lokasi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pelanggan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Dukungan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enkripsi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otentikasi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Penanganan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tambahan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misalnya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barring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atau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transfer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panggilan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
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Dukungan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pesan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singkat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90E9-B122-4ACC-BD7F-2593DA32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312BE9F7-C9BA-4D2A-9AE1-65DD20C82A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1268" name="Picture 2">
            <a:extLst>
              <a:ext uri="{FF2B5EF4-FFF2-40B4-BE49-F238E27FC236}">
                <a16:creationId xmlns:a16="http://schemas.microsoft.com/office/drawing/2014/main" id="{1B00337F-3884-4C08-B825-6ADCE910C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365125"/>
            <a:ext cx="11826875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BD8D6-0105-45C9-BBB8-8AEA12E4B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7F25-0762-490F-A051-290612FA4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049000" cy="4462463"/>
          </a:xfrm>
        </p:spPr>
        <p:txBody>
          <a:bodyPr rtlCol="0">
            <a:normAutofit fontScale="85000" lnSpcReduction="20000"/>
          </a:bodyPr>
          <a:lstStyle/>
          <a:p>
            <a:pPr marL="539496" indent="-457200" eaLnBrk="1" fontAlgn="auto" hangingPunct="1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VLR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menyediakan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penyimpanan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lokal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semua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variabel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fungsi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diperlukan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menangani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panggilan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pelanggan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seluler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 area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terkait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VLR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tersebut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disimpan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 VLR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selama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stasiun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seluler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tetap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 area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Fungsi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utama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VLR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adalah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sebagai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berikut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882396" lvl="1" indent="-342900" eaLnBrk="1" fontAlgn="auto" hangingPunct="1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Penyimpanan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pelanggan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berada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wilayahnya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alokasi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kode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identitas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lokal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menghindari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penggunaan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identitas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global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jalur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radio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karena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alasan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keamanan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Pendaftaran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lokasi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penanganan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panggilan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Otentikasi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Dukungan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enkripsi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Dukungan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serah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terima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Penanganan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tambahan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Dukungan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977F-181D-48E1-9B9D-1E2C214B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BF84050D-564A-4F36-9145-6DEF36E998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0BC374DE-6659-4106-8368-308F28B6A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0838"/>
            <a:ext cx="11125200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F3C3-3AA7-43CE-80C3-19FEF775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AuC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2C0D0E3-C0EC-40C8-8258-780246974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keamanan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pelanggan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disimpan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AuC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berisi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kunci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keamanan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khusus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pelanggan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algoritme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enkripsi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dan generator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acak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
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AuC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menghasilkan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keamanan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khusus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pelanggan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algoritma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ditentukan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memberikannya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kepada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HLR, yang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mendistribusikannya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</a:t>
            </a:r>
            <a:r>
              <a:rPr lang="en-US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VLR.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B32D-9A9B-48EF-B073-A12A97CB7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EIR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F416A93D-97D1-464A-913D-41DCDA6796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263" y="1827213"/>
            <a:ext cx="10515600" cy="3203575"/>
          </a:xfrm>
        </p:spPr>
        <p:txBody>
          <a:bodyPr/>
          <a:lstStyle/>
          <a:p>
            <a:pPr marL="365125" indent="-282575" eaLnBrk="1" hangingPunct="1">
              <a:buFont typeface="Wingdings 2" panose="05020102010507070707" pitchFamily="18" charset="2"/>
              <a:buChar char=""/>
            </a:pPr>
            <a:r>
              <a:rPr lang="en-US" altLang="id-ID" b="1"/>
              <a:t>EIR adalah database yang berisi informasi tentang peralatan terminal seluler. 
Ada daftar putih untuk terminal yang diizinkan untuk menggunakan layanan, daftar abu-abu untuk terminal yang perlu ditahan di bawah pengawasan, dan daftar hitam untuk terminal seluler yang dicuri. 
Terminal-terminal yang nomor serinya ditemukan di daftar hitam tidak diizinkan untuk menggunakan jaringan.
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8493-CE4B-462D-817B-C4567136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Transcoder and Rate Adapter Unit (TRAU)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B7FE0-A27F-4010-B061-8AFD4E928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Transcoder (TC)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diperlukan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melakukan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konversi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pengkodean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suara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GSM (13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atau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7 Kbps) dan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pengkodean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PCM (64 Kbps),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digunakan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jaringan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tetap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Dalam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kasus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data, transcoding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dinonaktifkan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diperlukan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unit rate adaptor (RAU)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mengadaptasi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MS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layanan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disediakan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oleh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jaringan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eksternal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Fungsi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TC dan RAU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digabungkan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menjadi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satu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peralatan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disebut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transcoder dan rate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adapterunit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(TRAU).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AF80-174F-4E3D-A431-C1EC63B9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IWF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9CEB4A98-897C-4107-82C4-DF68D60138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id-ID" b="1"/>
              <a:t>IWF memungkinkan kerja bersama antara PLMN dan jaringan tetap, misalnya, ISDN, PSTN, dan jaringan data yang dialihkan publik.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1CF29F5A-E11A-4907-A37C-83A16D9A0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14400"/>
            <a:ext cx="10418763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B83E-C8BD-4867-B32C-181822A88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Fungsi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Subsistem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GSM</a:t>
            </a:r>
          </a:p>
        </p:txBody>
      </p:sp>
      <p:pic>
        <p:nvPicPr>
          <p:cNvPr id="19459" name="Picture 2">
            <a:extLst>
              <a:ext uri="{FF2B5EF4-FFF2-40B4-BE49-F238E27FC236}">
                <a16:creationId xmlns:a16="http://schemas.microsoft.com/office/drawing/2014/main" id="{E30D5375-D99E-4547-9C59-D405FD72C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989012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41A32-F38E-464D-A136-92F7A032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 </a:t>
            </a:r>
            <a:r>
              <a:rPr 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Jaringan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D8DF3-D916-41DB-91EB-25285B53C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10972800" cy="4724400"/>
          </a:xfrm>
        </p:spPr>
        <p:txBody>
          <a:bodyPr rtlCol="0">
            <a:normAutofit fontScale="92500" lnSpcReduction="1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MSC dan BSC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disebut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distandarisasi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BSS dan MSC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vendor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berbeda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berlawanan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kompatibel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berkode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PCM pada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penting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lainnya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adalah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Abis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BTS dan BSC.  Pada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pidato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berkode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GSM,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membutuhkan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kapasitas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lebih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sedikit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daripada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pengkodean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PCM. 
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Abis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tidak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sepenuhnya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sebagai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konsekuensinya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baik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BTSs dan BSC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harus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dibeli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produsen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Ater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juga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tidak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terstandardisasi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tetapi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digunakan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untuk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koneksi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terestrial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BSC dan MSC. 
Speech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adalah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GSM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berkode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Ater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-interface dan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transmisi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216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Pengenalan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kapasitas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Teknik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Jaringan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Telekomunikasi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dibutuhkan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ater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-interface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persen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kapasitas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antarmuka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5129-B4F4-4F35-88D7-526F04197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7963"/>
            <a:ext cx="10515600" cy="4730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GSM Architecture</a:t>
            </a:r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A78DC67A-F70B-4D06-A969-658ECE1A5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09600"/>
            <a:ext cx="10058400" cy="601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9A448-1A64-4494-9A38-E9081B3D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Perangkat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BTS</a:t>
            </a:r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8299A412-DCFB-4DDC-AEA7-913F02ADD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10896600" cy="466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7BE3-8552-48CD-9274-1D61A1BF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E2DEDC5B-00D7-431C-851F-1790D8C2CF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3556" name="Picture 2">
            <a:extLst>
              <a:ext uri="{FF2B5EF4-FFF2-40B4-BE49-F238E27FC236}">
                <a16:creationId xmlns:a16="http://schemas.microsoft.com/office/drawing/2014/main" id="{9543E1EF-2653-41E3-8664-C00D94C04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5125"/>
            <a:ext cx="11353800" cy="638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0F9978B2-041B-4AAB-9D30-33EB28182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7200"/>
            <a:ext cx="10515600" cy="602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Content Placeholder 4" descr="CDMAone 2G IS95-IS41 Network Architecture.jpg">
            <a:extLst>
              <a:ext uri="{FF2B5EF4-FFF2-40B4-BE49-F238E27FC236}">
                <a16:creationId xmlns:a16="http://schemas.microsoft.com/office/drawing/2014/main" id="{5F78275B-C7D4-46CE-8DBB-E19A6DCE27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65125"/>
            <a:ext cx="11506200" cy="6267450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B4AD-9517-4F3D-9B92-59A2AC3D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416B95A8-2C71-41F4-BB7F-92237C57A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6F97A0F2-4440-42FD-A280-F03885ECF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11582400" cy="631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AE8C-49A3-401F-973A-7BED7704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75D01B5-34CD-4C6D-9CB6-1155C9DF25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id-ID" altLang="id-ID"/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14420282-EE53-4E3A-BCF5-74F5F6DAB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117348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</TotalTime>
  <Words>730</Words>
  <Application>Microsoft Office PowerPoint</Application>
  <PresentationFormat>Widescreen</PresentationFormat>
  <Paragraphs>45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Calibri</vt:lpstr>
      <vt:lpstr>Arial</vt:lpstr>
      <vt:lpstr>Calibri Light</vt:lpstr>
      <vt:lpstr>Gill Sans MT</vt:lpstr>
      <vt:lpstr>Wingdings 2</vt:lpstr>
      <vt:lpstr>Verdana</vt:lpstr>
      <vt:lpstr>Wingdings</vt:lpstr>
      <vt:lpstr>Office Theme</vt:lpstr>
      <vt:lpstr>ARSITEKTUR  DASAR SISTEM SELULER</vt:lpstr>
      <vt:lpstr>PowerPoint Presentation</vt:lpstr>
      <vt:lpstr>Sistem Seluler Analog ( 1G)</vt:lpstr>
      <vt:lpstr>PowerPoint Presentation</vt:lpstr>
      <vt:lpstr>Sistem Seluler Digital (2G)</vt:lpstr>
      <vt:lpstr>GSM (Global System for Mobile Communication)</vt:lpstr>
      <vt:lpstr>STRUKTUR JARINGAN GSM</vt:lpstr>
      <vt:lpstr>MSC</vt:lpstr>
      <vt:lpstr>HLR</vt:lpstr>
      <vt:lpstr>PowerPoint Presentation</vt:lpstr>
      <vt:lpstr>VLR</vt:lpstr>
      <vt:lpstr>PowerPoint Presentation</vt:lpstr>
      <vt:lpstr>AuC</vt:lpstr>
      <vt:lpstr>EIR</vt:lpstr>
      <vt:lpstr>Transcoder and Rate Adapter Unit (TRAU)</vt:lpstr>
      <vt:lpstr>IWF</vt:lpstr>
      <vt:lpstr>PowerPoint Presentation</vt:lpstr>
      <vt:lpstr>Fungsi Subsistem GSM</vt:lpstr>
      <vt:lpstr>Interface di Jaringan GSM</vt:lpstr>
      <vt:lpstr>GSM Architecture</vt:lpstr>
      <vt:lpstr>Perangkat BTS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IT TELKOM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ARSITEKTUR  DASAR SISTEM SELULER</dc:title>
  <dc:creator>LEANNA</dc:creator>
  <cp:lastModifiedBy>tom</cp:lastModifiedBy>
  <cp:revision>61</cp:revision>
  <dcterms:created xsi:type="dcterms:W3CDTF">2012-12-09T13:39:25Z</dcterms:created>
  <dcterms:modified xsi:type="dcterms:W3CDTF">2021-01-13T16:16:08Z</dcterms:modified>
</cp:coreProperties>
</file>